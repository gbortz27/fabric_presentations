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1"/>
  </p:notes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8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9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5" r:id="rId50"/>
    <p:sldId id="322" r:id="rId51"/>
    <p:sldId id="323" r:id="rId52"/>
    <p:sldId id="331" r:id="rId53"/>
    <p:sldId id="324" r:id="rId54"/>
    <p:sldId id="330" r:id="rId55"/>
    <p:sldId id="329" r:id="rId56"/>
    <p:sldId id="328" r:id="rId57"/>
    <p:sldId id="327" r:id="rId58"/>
    <p:sldId id="326" r:id="rId59"/>
    <p:sldId id="332" r:id="rId60"/>
    <p:sldId id="333" r:id="rId61"/>
    <p:sldId id="334" r:id="rId62"/>
    <p:sldId id="335" r:id="rId63"/>
    <p:sldId id="340" r:id="rId64"/>
    <p:sldId id="336" r:id="rId65"/>
    <p:sldId id="337" r:id="rId66"/>
    <p:sldId id="338" r:id="rId67"/>
    <p:sldId id="339" r:id="rId68"/>
    <p:sldId id="341" r:id="rId69"/>
    <p:sldId id="342" r:id="rId70"/>
    <p:sldId id="346" r:id="rId71"/>
    <p:sldId id="345" r:id="rId72"/>
    <p:sldId id="344" r:id="rId73"/>
    <p:sldId id="343" r:id="rId74"/>
    <p:sldId id="347" r:id="rId75"/>
    <p:sldId id="348" r:id="rId76"/>
    <p:sldId id="349" r:id="rId77"/>
    <p:sldId id="350" r:id="rId78"/>
    <p:sldId id="351" r:id="rId79"/>
    <p:sldId id="352" r:id="rId80"/>
    <p:sldId id="354" r:id="rId81"/>
    <p:sldId id="353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  <p:sldId id="302" r:id="rId95"/>
    <p:sldId id="303" r:id="rId96"/>
    <p:sldId id="304" r:id="rId97"/>
    <p:sldId id="305" r:id="rId98"/>
    <p:sldId id="306" r:id="rId99"/>
    <p:sldId id="307" r:id="rId10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2416" autoAdjust="0"/>
  </p:normalViewPr>
  <p:slideViewPr>
    <p:cSldViewPr snapToGrid="0" showGuides="1">
      <p:cViewPr varScale="1">
        <p:scale>
          <a:sx n="59" d="100"/>
          <a:sy n="59" d="100"/>
        </p:scale>
        <p:origin x="328" y="5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681D3-1A87-4FAB-9B35-981A96E62738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EF743-4D99-42AF-8DA6-8022951B203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613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a bronze </a:t>
            </a:r>
            <a:r>
              <a:rPr lang="en-US" dirty="0" err="1"/>
              <a:t>lakehouse</a:t>
            </a:r>
            <a:r>
              <a:rPr lang="en-US" dirty="0"/>
              <a:t> , talks about medallion architecture</a:t>
            </a:r>
          </a:p>
          <a:p>
            <a:r>
              <a:rPr lang="en-US" dirty="0"/>
              <a:t>Tables and files– </a:t>
            </a:r>
            <a:r>
              <a:rPr lang="en-US" dirty="0" err="1"/>
              <a:t>flie</a:t>
            </a:r>
            <a:r>
              <a:rPr lang="en-US" dirty="0"/>
              <a:t> we are to use is on </a:t>
            </a:r>
            <a:r>
              <a:rPr lang="en-US" dirty="0" err="1"/>
              <a:t>Github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8776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the link of the raw file on </a:t>
            </a:r>
            <a:r>
              <a:rPr lang="en-US" dirty="0" err="1"/>
              <a:t>github</a:t>
            </a:r>
            <a:r>
              <a:rPr lang="en-US" dirty="0"/>
              <a:t>…</a:t>
            </a:r>
          </a:p>
          <a:p>
            <a:r>
              <a:rPr lang="en-US" dirty="0"/>
              <a:t>Click on http.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5737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and destination. Lakehouse as destination. And where to store it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4972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Rerfresh</a:t>
            </a:r>
            <a:r>
              <a:rPr lang="en-US" dirty="0"/>
              <a:t> the </a:t>
            </a:r>
            <a:r>
              <a:rPr lang="en-US" dirty="0" err="1"/>
              <a:t>lakehouse</a:t>
            </a:r>
            <a:r>
              <a:rPr lang="en-US" dirty="0"/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083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organizations : Finance , HR , Sales </a:t>
            </a:r>
            <a:r>
              <a:rPr lang="en-US" dirty="0" err="1"/>
              <a:t>etc</a:t>
            </a:r>
            <a:r>
              <a:rPr lang="en-US" dirty="0"/>
              <a:t> , </a:t>
            </a:r>
          </a:p>
          <a:p>
            <a:r>
              <a:rPr lang="en-US" dirty="0"/>
              <a:t>Create new Org:  Name must be unique  , and the location s Important.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1887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Mode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5909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Focus on Repos Tab.</a:t>
            </a:r>
          </a:p>
          <a:p>
            <a:pPr marL="228600" indent="-228600">
              <a:buAutoNum type="arabicParenR"/>
            </a:pPr>
            <a:r>
              <a:rPr lang="en-US" dirty="0"/>
              <a:t>Click on it ..we have a default Repo.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5716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create </a:t>
            </a:r>
            <a:r>
              <a:rPr lang="en-US" dirty="0" err="1"/>
              <a:t>newe</a:t>
            </a:r>
            <a:r>
              <a:rPr lang="en-US" dirty="0"/>
              <a:t>/ import repo etc.</a:t>
            </a:r>
          </a:p>
          <a:p>
            <a:r>
              <a:rPr lang="en-US" dirty="0"/>
              <a:t>Leave as default. We are ready to link to Fabric. </a:t>
            </a:r>
          </a:p>
          <a:p>
            <a:r>
              <a:rPr lang="en-US" dirty="0"/>
              <a:t>We have the workspace with only 2 items in it. We are going to </a:t>
            </a:r>
            <a:r>
              <a:rPr lang="en-US" dirty="0" err="1"/>
              <a:t>stoire</a:t>
            </a:r>
            <a:r>
              <a:rPr lang="en-US" dirty="0"/>
              <a:t> the two items in the Git repo.</a:t>
            </a:r>
          </a:p>
          <a:p>
            <a:r>
              <a:rPr lang="en-US" dirty="0"/>
              <a:t>Add the </a:t>
            </a:r>
            <a:r>
              <a:rPr lang="en-US" dirty="0" err="1"/>
              <a:t>devops</a:t>
            </a:r>
            <a:r>
              <a:rPr lang="en-US" dirty="0"/>
              <a:t> page to your </a:t>
            </a:r>
            <a:r>
              <a:rPr lang="en-US" dirty="0" err="1"/>
              <a:t>favourites</a:t>
            </a:r>
            <a:r>
              <a:rPr lang="en-US" dirty="0"/>
              <a:t> NV, see bottom right , it’s the project page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9597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Repos </a:t>
            </a:r>
            <a:r>
              <a:rPr lang="en-US" dirty="0" err="1"/>
              <a:t>page..the</a:t>
            </a:r>
            <a:r>
              <a:rPr lang="en-US" dirty="0"/>
              <a:t> default Repo. That we just created.  </a:t>
            </a:r>
            <a:r>
              <a:rPr lang="en-US" dirty="0">
                <a:solidFill>
                  <a:srgbClr val="FF0000"/>
                </a:solidFill>
              </a:rPr>
              <a:t>Click on initialize button at the bottom.</a:t>
            </a:r>
          </a:p>
          <a:p>
            <a:r>
              <a:rPr lang="en-US" dirty="0">
                <a:solidFill>
                  <a:srgbClr val="FF0000"/>
                </a:solidFill>
              </a:rPr>
              <a:t>See result on the right.  Currently to the right we only have </a:t>
            </a:r>
            <a:r>
              <a:rPr lang="en-US" dirty="0" err="1">
                <a:solidFill>
                  <a:srgbClr val="FF0000"/>
                </a:solidFill>
              </a:rPr>
              <a:t>readme.md..which</a:t>
            </a:r>
            <a:r>
              <a:rPr lang="en-US" dirty="0">
                <a:solidFill>
                  <a:srgbClr val="FF0000"/>
                </a:solidFill>
              </a:rPr>
              <a:t> contents is displayed </a:t>
            </a:r>
            <a:r>
              <a:rPr lang="en-US" dirty="0" err="1">
                <a:solidFill>
                  <a:srgbClr val="FF0000"/>
                </a:solidFill>
              </a:rPr>
              <a:t>belowe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Standard to have a </a:t>
            </a:r>
            <a:r>
              <a:rPr lang="en-US" dirty="0" err="1">
                <a:solidFill>
                  <a:srgbClr val="FF0000"/>
                </a:solidFill>
              </a:rPr>
              <a:t>redame</a:t>
            </a:r>
            <a:r>
              <a:rPr lang="en-US" dirty="0">
                <a:solidFill>
                  <a:srgbClr val="FF0000"/>
                </a:solidFill>
              </a:rPr>
              <a:t> which gives contents of got repo.  Its in MD format.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9833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go to admin portal.  To check Something.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7520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4 options you can activate </a:t>
            </a:r>
          </a:p>
          <a:p>
            <a:r>
              <a:rPr lang="en-US" dirty="0"/>
              <a:t>On the right , click enabled to synch </a:t>
            </a:r>
            <a:r>
              <a:rPr lang="en-US" dirty="0" err="1"/>
              <a:t>wspacew</a:t>
            </a:r>
            <a:r>
              <a:rPr lang="en-US" dirty="0"/>
              <a:t> to git repo.  See entire org or specific groups.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2786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left one is NB. Not in same geographic location. </a:t>
            </a:r>
          </a:p>
          <a:p>
            <a:r>
              <a:rPr lang="en-US" dirty="0"/>
              <a:t>Final option is to link workspace items with Git Repos. Very NB.</a:t>
            </a:r>
          </a:p>
          <a:p>
            <a:r>
              <a:rPr lang="en-US" dirty="0"/>
              <a:t>Must have fabric admin Role.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1412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Click on Git Integration / Azure Dev Ops and Git.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9100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 , project etc. , Note above that you see in your repo that it is the main branch. By default. On the left</a:t>
            </a:r>
          </a:p>
          <a:p>
            <a:r>
              <a:rPr lang="en-US" dirty="0"/>
              <a:t>Fill in all details in the ADO Connect Screen on the right. </a:t>
            </a:r>
          </a:p>
          <a:p>
            <a:r>
              <a:rPr lang="en-US" dirty="0"/>
              <a:t>We leave Git Folder empty </a:t>
            </a:r>
          </a:p>
          <a:p>
            <a:r>
              <a:rPr lang="en-US" dirty="0"/>
              <a:t>Connect and Synch.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12248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synchronization. In the second column.. Success .. Go back to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564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don’t see any changes , refresh page , see 2 new elements on the page , the </a:t>
            </a:r>
            <a:r>
              <a:rPr lang="en-US" dirty="0" err="1"/>
              <a:t>lakehouse</a:t>
            </a:r>
            <a:r>
              <a:rPr lang="en-US" dirty="0"/>
              <a:t> and Pipeline</a:t>
            </a:r>
          </a:p>
          <a:p>
            <a:r>
              <a:rPr lang="en-US" dirty="0"/>
              <a:t>Note the extension tells type of </a:t>
            </a:r>
            <a:r>
              <a:rPr lang="en-US" dirty="0" err="1"/>
              <a:t>Lakehoused</a:t>
            </a:r>
            <a:r>
              <a:rPr lang="en-US" dirty="0"/>
              <a:t>.</a:t>
            </a:r>
          </a:p>
          <a:p>
            <a:r>
              <a:rPr lang="en-US" dirty="0"/>
              <a:t>So if I accidently deleted elements , then I could recover them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1200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can save changes and recover from mistakes in the workspace by using the repo. </a:t>
            </a:r>
          </a:p>
          <a:p>
            <a:pPr marL="228600" indent="-228600">
              <a:buAutoNum type="arabicParenR"/>
            </a:pPr>
            <a:r>
              <a:rPr lang="en-US" dirty="0"/>
              <a:t>We create a new </a:t>
            </a:r>
            <a:r>
              <a:rPr lang="en-US" dirty="0" err="1"/>
              <a:t>lakehouse</a:t>
            </a:r>
            <a:r>
              <a:rPr lang="en-US" dirty="0"/>
              <a:t>  in the Workspace, Silver , se the </a:t>
            </a:r>
            <a:r>
              <a:rPr lang="en-US" dirty="0" err="1"/>
              <a:t>chaned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. </a:t>
            </a:r>
          </a:p>
          <a:p>
            <a:pPr marL="228600" indent="-228600">
              <a:buAutoNum type="arabicParenR"/>
            </a:pPr>
            <a:r>
              <a:rPr lang="en-US" dirty="0"/>
              <a:t>We can see a description of uncommitted , and committed to see what is new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8231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the source control button. And see screen on the right of all the elements which are not synched. Ie Green mark. Press commit </a:t>
            </a:r>
            <a:r>
              <a:rPr lang="en-US" dirty="0" err="1"/>
              <a:t>butoon</a:t>
            </a:r>
            <a:r>
              <a:rPr lang="en-US" dirty="0"/>
              <a:t>.</a:t>
            </a:r>
          </a:p>
          <a:p>
            <a:r>
              <a:rPr lang="en-US" dirty="0"/>
              <a:t>Always good policy to add a commit message as to what changes you are committing to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40735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the message add silver </a:t>
            </a:r>
            <a:r>
              <a:rPr lang="en-US" dirty="0" err="1"/>
              <a:t>lakehouse</a:t>
            </a:r>
            <a:r>
              <a:rPr lang="en-US" dirty="0"/>
              <a:t> , </a:t>
            </a:r>
            <a:r>
              <a:rPr lang="en-US" dirty="0" err="1"/>
              <a:t>Commiting</a:t>
            </a:r>
            <a:r>
              <a:rPr lang="en-US" dirty="0"/>
              <a:t> in Fabric , its now synched in Workspace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51967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the right you have the commit messages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4582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Click on History </a:t>
            </a:r>
          </a:p>
          <a:p>
            <a:pPr marL="228600" indent="-228600">
              <a:buAutoNum type="arabicParenR"/>
            </a:pPr>
            <a:r>
              <a:rPr lang="en-US" dirty="0"/>
              <a:t>Move mouse over the commit , and click on More Options on that commit – click on Browse Files </a:t>
            </a:r>
          </a:p>
          <a:p>
            <a:pPr marL="228600" indent="-228600">
              <a:buAutoNum type="arabicParenR"/>
            </a:pPr>
            <a:r>
              <a:rPr lang="en-US" dirty="0"/>
              <a:t>At present if you go on files on the left menu , you see current contents of repo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850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on the first commit and Browse files , on that commit you see the status at the time after that commit .. Ie in this case when the Workspace was empty.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7412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files to get the current contents again and then go back to Fabric to create a new item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838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going to take a file from the bronze and put in the silver in this notebook,  </a:t>
            </a:r>
          </a:p>
          <a:p>
            <a:r>
              <a:rPr lang="en-US" dirty="0"/>
              <a:t>We need to add a </a:t>
            </a:r>
            <a:r>
              <a:rPr lang="en-US" dirty="0" err="1"/>
              <a:t>lakehouse</a:t>
            </a:r>
            <a:r>
              <a:rPr lang="en-US" dirty="0"/>
              <a:t> to the notebook , it had no </a:t>
            </a:r>
            <a:r>
              <a:rPr lang="en-US" dirty="0" err="1"/>
              <a:t>lakehouse</a:t>
            </a:r>
            <a:r>
              <a:rPr lang="en-US" dirty="0"/>
              <a:t>..</a:t>
            </a:r>
          </a:p>
          <a:p>
            <a:r>
              <a:rPr lang="en-US" dirty="0"/>
              <a:t>See choosing 2 </a:t>
            </a:r>
            <a:r>
              <a:rPr lang="en-US" dirty="0" err="1"/>
              <a:t>lakehouses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9598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he uses both full paths to write to silver </a:t>
            </a:r>
            <a:r>
              <a:rPr lang="en-US" dirty="0" err="1"/>
              <a:t>lakehouse</a:t>
            </a:r>
            <a:r>
              <a:rPr lang="en-US" dirty="0"/>
              <a:t> , does not make silver default. , Note we only see the Bronze </a:t>
            </a:r>
            <a:r>
              <a:rPr lang="en-US" dirty="0" err="1"/>
              <a:t>lakehouse</a:t>
            </a:r>
            <a:r>
              <a:rPr lang="en-US" dirty="0"/>
              <a:t> here .. For the moment as a default lake house.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3558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Refresh it , see silver table  in </a:t>
            </a:r>
            <a:r>
              <a:rPr lang="en-US" dirty="0" err="1"/>
              <a:t>lakehouse</a:t>
            </a:r>
            <a:r>
              <a:rPr lang="en-US" dirty="0"/>
              <a:t>.  We rename the notebook in the workspace . Bronze to Silver Tx.</a:t>
            </a:r>
          </a:p>
          <a:p>
            <a:r>
              <a:rPr lang="en-US" dirty="0"/>
              <a:t>See the notebook in the workspace. Notebook not synched across Repo.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14931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 comment..</a:t>
            </a:r>
            <a:r>
              <a:rPr lang="en-US" dirty="0" err="1"/>
              <a:t>dont</a:t>
            </a:r>
            <a:r>
              <a:rPr lang="en-US" dirty="0"/>
              <a:t> forget that. And see the result in the content of files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58299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Yiou</a:t>
            </a:r>
            <a:r>
              <a:rPr lang="en-US" dirty="0"/>
              <a:t> can see the </a:t>
            </a:r>
            <a:r>
              <a:rPr lang="en-US" dirty="0" err="1"/>
              <a:t>lasy</a:t>
            </a:r>
            <a:r>
              <a:rPr lang="en-US" dirty="0"/>
              <a:t> commit in the history </a:t>
            </a:r>
          </a:p>
          <a:p>
            <a:r>
              <a:rPr lang="en-US" dirty="0"/>
              <a:t>To see a particular status at a particular commit.  Se the content overleaf.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718047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See you have a new table in Lakehouse</a:t>
            </a:r>
          </a:p>
          <a:p>
            <a:pPr marL="228600" indent="-228600">
              <a:buAutoNum type="arabicParenR"/>
            </a:pPr>
            <a:r>
              <a:rPr lang="en-US" dirty="0"/>
              <a:t>Go back to </a:t>
            </a:r>
            <a:r>
              <a:rPr lang="en-US" dirty="0" err="1"/>
              <a:t>Wspace</a:t>
            </a:r>
            <a:r>
              <a:rPr lang="en-US" dirty="0"/>
              <a:t> top see uncommitted notebook, you can see its uncommitted and there is a source control button.</a:t>
            </a:r>
          </a:p>
          <a:p>
            <a:pPr marL="228600" indent="-228600">
              <a:buAutoNum type="arabicParenR"/>
            </a:pPr>
            <a:r>
              <a:rPr lang="en-US" dirty="0"/>
              <a:t>After </a:t>
            </a:r>
            <a:r>
              <a:rPr lang="en-US" dirty="0" err="1"/>
              <a:t>clickjing</a:t>
            </a:r>
            <a:r>
              <a:rPr lang="en-US" dirty="0"/>
              <a:t> on </a:t>
            </a:r>
            <a:r>
              <a:rPr lang="en-US" dirty="0" err="1"/>
              <a:t>itt</a:t>
            </a:r>
            <a:r>
              <a:rPr lang="en-US" dirty="0"/>
              <a:t> ..see the image on the right and choose the uncommitted resource , add the commit message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33339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Its now Synched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63630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added asset , then click on History to see the last commit , in the image below.</a:t>
            </a:r>
          </a:p>
          <a:p>
            <a:r>
              <a:rPr lang="en-US" dirty="0"/>
              <a:t>See the add bronze to </a:t>
            </a:r>
            <a:r>
              <a:rPr lang="en-US" dirty="0" err="1"/>
              <a:t>silkver</a:t>
            </a:r>
            <a:r>
              <a:rPr lang="en-US" dirty="0"/>
              <a:t> TX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5723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Browse files to see the  commit state , of that historic commit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71217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have the previous committed </a:t>
            </a:r>
            <a:r>
              <a:rPr lang="en-US" dirty="0" err="1"/>
              <a:t>wspace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We now want to make changes to the </a:t>
            </a:r>
            <a:r>
              <a:rPr lang="en-US" dirty="0" err="1"/>
              <a:t>wspace</a:t>
            </a:r>
            <a:r>
              <a:rPr lang="en-US" dirty="0"/>
              <a:t> ..we go into the notebook ..and make changes </a:t>
            </a:r>
          </a:p>
          <a:p>
            <a:pPr marL="228600" indent="-228600">
              <a:buAutoNum type="arabicParenR"/>
            </a:pPr>
            <a:r>
              <a:rPr lang="en-US" dirty="0"/>
              <a:t>We </a:t>
            </a:r>
            <a:r>
              <a:rPr lang="en-US" dirty="0" err="1"/>
              <a:t>modofy</a:t>
            </a:r>
            <a:r>
              <a:rPr lang="en-US" dirty="0"/>
              <a:t> the code to execute another line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78387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So now we choose and commit with a message on the left. See </a:t>
            </a:r>
            <a:r>
              <a:rPr lang="en-ZA" dirty="0" err="1"/>
              <a:t>ther</a:t>
            </a:r>
            <a:r>
              <a:rPr lang="en-ZA" dirty="0"/>
              <a:t> result on the </a:t>
            </a:r>
            <a:r>
              <a:rPr lang="en-ZA" dirty="0" err="1"/>
              <a:t>righ</a:t>
            </a:r>
            <a:r>
              <a:rPr lang="en-Z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14189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1) We start in a </a:t>
            </a:r>
            <a:r>
              <a:rPr lang="en-ZA" dirty="0" err="1"/>
              <a:t>wspace</a:t>
            </a:r>
            <a:r>
              <a:rPr lang="en-ZA" dirty="0"/>
              <a:t> ,</a:t>
            </a:r>
          </a:p>
          <a:p>
            <a:r>
              <a:rPr lang="en-ZA" dirty="0"/>
              <a:t>2) Lets say we delete the notebook</a:t>
            </a:r>
          </a:p>
          <a:p>
            <a:r>
              <a:rPr lang="en-ZA" dirty="0"/>
              <a:t>3) How do we get back the notebook? </a:t>
            </a:r>
          </a:p>
          <a:p>
            <a:r>
              <a:rPr lang="en-ZA" dirty="0"/>
              <a:t>4) Wee refresh the page </a:t>
            </a:r>
            <a:r>
              <a:rPr lang="en-ZA" dirty="0" err="1"/>
              <a:t>inj</a:t>
            </a:r>
            <a:r>
              <a:rPr lang="en-ZA" dirty="0"/>
              <a:t> our </a:t>
            </a:r>
            <a:r>
              <a:rPr lang="en-ZA" dirty="0" err="1"/>
              <a:t>wspace</a:t>
            </a:r>
            <a:r>
              <a:rPr lang="en-ZA" dirty="0"/>
              <a:t> .. The Source control button is </a:t>
            </a:r>
            <a:r>
              <a:rPr lang="en-ZA" dirty="0" err="1"/>
              <a:t>rerd</a:t>
            </a:r>
            <a:r>
              <a:rPr lang="en-Z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25218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We click on source control in </a:t>
            </a:r>
            <a:r>
              <a:rPr lang="en-ZA" dirty="0" err="1"/>
              <a:t>wspace</a:t>
            </a:r>
            <a:r>
              <a:rPr lang="en-ZA" dirty="0"/>
              <a:t> and see notebook deleted message on the right. </a:t>
            </a:r>
          </a:p>
          <a:p>
            <a:pPr marL="228600" indent="-228600">
              <a:buAutoNum type="arabicParenR"/>
            </a:pPr>
            <a:r>
              <a:rPr lang="en-ZA" dirty="0"/>
              <a:t>We can commit the modification to get the </a:t>
            </a:r>
            <a:r>
              <a:rPr lang="en-ZA" dirty="0" err="1"/>
              <a:t>wspace</a:t>
            </a:r>
            <a:r>
              <a:rPr lang="en-ZA" dirty="0"/>
              <a:t> aligned , with the delete as if we wanted this , by choosing to do this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30042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See undo mod. You may need to wait a bit before button works..</a:t>
            </a:r>
          </a:p>
          <a:p>
            <a:pPr marL="228600" indent="-228600">
              <a:buAutoNum type="arabicParenR"/>
            </a:pPr>
            <a:r>
              <a:rPr lang="en-ZA" dirty="0"/>
              <a:t>You may get error ..operation blocked. </a:t>
            </a:r>
          </a:p>
          <a:p>
            <a:pPr marL="228600" indent="-228600">
              <a:buAutoNum type="arabicParenR"/>
            </a:pPr>
            <a:r>
              <a:rPr lang="en-ZA" dirty="0"/>
              <a:t>Wait a while and repeat , and see the notebook is back.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77016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Go back </a:t>
            </a:r>
            <a:r>
              <a:rPr lang="en-ZA" dirty="0" err="1"/>
              <a:t>tio</a:t>
            </a:r>
            <a:r>
              <a:rPr lang="en-ZA" dirty="0"/>
              <a:t> note book …and make modes </a:t>
            </a:r>
          </a:p>
          <a:p>
            <a:r>
              <a:rPr lang="en-ZA" dirty="0"/>
              <a:t>Click in source </a:t>
            </a:r>
            <a:r>
              <a:rPr lang="en-ZA" dirty="0" err="1"/>
              <a:t>comtrol</a:t>
            </a:r>
            <a:r>
              <a:rPr lang="en-ZA" dirty="0"/>
              <a:t> and again we can commit or undo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0496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Then we back to where we were .., go into notebook and the changes are not there</a:t>
            </a:r>
          </a:p>
          <a:p>
            <a:r>
              <a:rPr lang="en-ZA" dirty="0"/>
              <a:t>So with this feature we undo all changes 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07435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1) Say we accidently removed entire </a:t>
            </a:r>
            <a:r>
              <a:rPr lang="en-ZA" dirty="0" err="1"/>
              <a:t>wspace</a:t>
            </a:r>
            <a:r>
              <a:rPr lang="en-Z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49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07993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We connect as before to the Git Repo </a:t>
            </a:r>
          </a:p>
          <a:p>
            <a:pPr marL="228600" indent="-228600">
              <a:buAutoNum type="arabicParenR"/>
            </a:pPr>
            <a:r>
              <a:rPr lang="en-ZA" dirty="0"/>
              <a:t>Connect and Synch , and </a:t>
            </a:r>
            <a:r>
              <a:rPr lang="en-ZA" dirty="0" err="1"/>
              <a:t>yoy</a:t>
            </a:r>
            <a:r>
              <a:rPr lang="en-ZA" dirty="0"/>
              <a:t> get back everything into you workspace 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0768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Wait and then refresh the page 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80157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Multiple users working in same </a:t>
            </a:r>
            <a:r>
              <a:rPr lang="en-ZA" dirty="0" err="1"/>
              <a:t>Wspace</a:t>
            </a:r>
            <a:r>
              <a:rPr lang="en-ZA" dirty="0"/>
              <a:t> can step on each other and cause chaos.</a:t>
            </a:r>
          </a:p>
          <a:p>
            <a:pPr marL="228600" indent="-228600">
              <a:buAutoNum type="arabicParenR"/>
            </a:pPr>
            <a:r>
              <a:rPr lang="en-ZA" dirty="0"/>
              <a:t>How do we achieve this .. We create a copy of the </a:t>
            </a:r>
            <a:r>
              <a:rPr lang="en-ZA" dirty="0" err="1"/>
              <a:t>wspace</a:t>
            </a:r>
            <a:r>
              <a:rPr lang="en-ZA" dirty="0"/>
              <a:t> .. </a:t>
            </a:r>
          </a:p>
          <a:p>
            <a:pPr marL="228600" indent="-228600">
              <a:buAutoNum type="arabicParenR"/>
            </a:pPr>
            <a:r>
              <a:rPr lang="en-ZA" dirty="0"/>
              <a:t>Each developer makes a change on their own copy</a:t>
            </a:r>
          </a:p>
          <a:p>
            <a:pPr marL="228600" indent="-228600">
              <a:buAutoNum type="arabicParenR"/>
            </a:pPr>
            <a:r>
              <a:rPr lang="en-ZA" dirty="0"/>
              <a:t>We now make a </a:t>
            </a:r>
            <a:r>
              <a:rPr lang="en-ZA" dirty="0" err="1"/>
              <a:t>PowerBi</a:t>
            </a:r>
            <a:r>
              <a:rPr lang="en-ZA" dirty="0"/>
              <a:t> report in a </a:t>
            </a:r>
            <a:r>
              <a:rPr lang="en-ZA" dirty="0" err="1"/>
              <a:t>lakehouse</a:t>
            </a:r>
            <a:r>
              <a:rPr lang="en-ZA" dirty="0"/>
              <a:t> </a:t>
            </a:r>
          </a:p>
          <a:p>
            <a:pPr marL="228600" indent="-228600">
              <a:buAutoNum type="arabicParenR"/>
            </a:pPr>
            <a:r>
              <a:rPr lang="en-ZA" dirty="0"/>
              <a:t>We create a semantic model (SM) </a:t>
            </a:r>
          </a:p>
          <a:p>
            <a:pPr marL="228600" indent="-228600">
              <a:buAutoNum type="arabicParenR"/>
            </a:pPr>
            <a:r>
              <a:rPr lang="en-ZA" dirty="0"/>
              <a:t>Now its </a:t>
            </a:r>
            <a:r>
              <a:rPr lang="en-ZA" dirty="0" err="1"/>
              <a:t>uncommited</a:t>
            </a:r>
            <a:r>
              <a:rPr lang="en-ZA" dirty="0"/>
              <a:t> , we have to commit it. </a:t>
            </a:r>
          </a:p>
          <a:p>
            <a:pPr marL="228600" indent="-228600">
              <a:buAutoNum type="arabicParenR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80138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So we committed the semantic model…</a:t>
            </a:r>
          </a:p>
          <a:p>
            <a:pPr marL="228600" indent="-228600">
              <a:buAutoNum type="arabicParenR"/>
            </a:pPr>
            <a:r>
              <a:rPr lang="en-ZA" dirty="0"/>
              <a:t>Now to create the report .. Here we need to create to a </a:t>
            </a:r>
            <a:r>
              <a:rPr lang="en-ZA" dirty="0" err="1"/>
              <a:t>newcopy</a:t>
            </a:r>
            <a:r>
              <a:rPr lang="en-ZA" dirty="0"/>
              <a:t> of </a:t>
            </a:r>
            <a:r>
              <a:rPr lang="en-ZA" dirty="0" err="1"/>
              <a:t>wspace</a:t>
            </a:r>
            <a:r>
              <a:rPr lang="en-ZA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64806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ZA" dirty="0"/>
              <a:t>See option branch out to new </a:t>
            </a:r>
            <a:r>
              <a:rPr lang="en-ZA" dirty="0" err="1"/>
              <a:t>wspace</a:t>
            </a:r>
            <a:r>
              <a:rPr lang="en-ZA" dirty="0"/>
              <a:t>.. , now create the name </a:t>
            </a:r>
          </a:p>
          <a:p>
            <a:pPr marL="228600" indent="-228600">
              <a:buAutoNum type="arabicParenR"/>
            </a:pPr>
            <a:r>
              <a:rPr lang="en-ZA" dirty="0" err="1"/>
              <a:t>Creatre</a:t>
            </a:r>
            <a:r>
              <a:rPr lang="en-ZA" dirty="0"/>
              <a:t> new name to have new </a:t>
            </a:r>
            <a:r>
              <a:rPr lang="en-ZA" dirty="0" err="1"/>
              <a:t>wspace</a:t>
            </a:r>
            <a:r>
              <a:rPr lang="en-ZA" dirty="0"/>
              <a:t> , we can then merge the branches.</a:t>
            </a:r>
          </a:p>
          <a:p>
            <a:pPr marL="228600" indent="-228600">
              <a:buAutoNum type="arabicParenR"/>
            </a:pPr>
            <a:r>
              <a:rPr lang="en-ZA" dirty="0"/>
              <a:t>We specify name as feature branch. , </a:t>
            </a:r>
          </a:p>
          <a:p>
            <a:pPr marL="228600" indent="-228600">
              <a:buAutoNum type="arabicParenR"/>
            </a:pPr>
            <a:r>
              <a:rPr lang="en-ZA" dirty="0"/>
              <a:t>It must copy the main branch.</a:t>
            </a:r>
          </a:p>
          <a:p>
            <a:pPr marL="228600" indent="-228600">
              <a:buAutoNum type="arabicParenR"/>
            </a:pPr>
            <a:r>
              <a:rPr lang="en-ZA" dirty="0"/>
              <a:t>We must have </a:t>
            </a:r>
            <a:r>
              <a:rPr lang="en-ZA" dirty="0" err="1"/>
              <a:t>Wspace</a:t>
            </a:r>
            <a:r>
              <a:rPr lang="en-ZA" dirty="0"/>
              <a:t> name with feature at the end.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879151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Click Branch Out 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76911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Click on feature Branch, you get same items as main branch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7723076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refresh page of feature branch </a:t>
            </a:r>
            <a:r>
              <a:rPr lang="en-US" dirty="0" err="1"/>
              <a:t>wspaced</a:t>
            </a:r>
            <a:r>
              <a:rPr lang="en-US" dirty="0"/>
              <a:t> </a:t>
            </a:r>
          </a:p>
          <a:p>
            <a:r>
              <a:rPr lang="en-US" dirty="0"/>
              <a:t>Click on source control to prover that attached </a:t>
            </a:r>
            <a:r>
              <a:rPr lang="en-US" dirty="0" err="1"/>
              <a:t>bramch</a:t>
            </a:r>
            <a:r>
              <a:rPr lang="en-US" dirty="0"/>
              <a:t> is feature.</a:t>
            </a:r>
          </a:p>
          <a:p>
            <a:r>
              <a:rPr lang="en-US" dirty="0"/>
              <a:t>In the original </a:t>
            </a:r>
            <a:r>
              <a:rPr lang="en-US" dirty="0" err="1"/>
              <a:t>wspavce</a:t>
            </a:r>
            <a:r>
              <a:rPr lang="en-US" dirty="0"/>
              <a:t> , the branch is the main branch.(see under source control on the right.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12232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feature </a:t>
            </a:r>
            <a:r>
              <a:rPr lang="en-US" dirty="0" err="1"/>
              <a:t>wspace</a:t>
            </a:r>
            <a:r>
              <a:rPr lang="en-US" dirty="0"/>
              <a:t> that I develop on attached to feature </a:t>
            </a:r>
            <a:r>
              <a:rPr lang="en-US" dirty="0" err="1"/>
              <a:t>branck</a:t>
            </a:r>
            <a:r>
              <a:rPr lang="en-US" dirty="0"/>
              <a:t> , only I have this access to do all my work on </a:t>
            </a:r>
          </a:p>
          <a:p>
            <a:r>
              <a:rPr lang="en-US" dirty="0"/>
              <a:t>There are 4 others say working on their features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40763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We now create a blank report. Go to Semantic Model , Create Blank Report. </a:t>
            </a:r>
          </a:p>
          <a:p>
            <a:pPr marL="228600" indent="-228600">
              <a:buAutoNum type="arabicParenR"/>
            </a:pPr>
            <a:r>
              <a:rPr lang="en-US" dirty="0"/>
              <a:t>Draw up a report and save it </a:t>
            </a:r>
          </a:p>
          <a:p>
            <a:pPr marL="228600" indent="-228600">
              <a:buAutoNum type="arabicParenR"/>
            </a:pPr>
            <a:r>
              <a:rPr lang="en-US" dirty="0"/>
              <a:t>Go back to </a:t>
            </a:r>
            <a:r>
              <a:rPr lang="en-US" dirty="0" err="1"/>
              <a:t>wspace</a:t>
            </a:r>
            <a:r>
              <a:rPr lang="en-US" dirty="0"/>
              <a:t> and see the PBI Report. , in feature branch , but we un committed report to feature branch , main branch not have it.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59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19050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type the commit message on the right and commit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11538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Refresh page </a:t>
            </a:r>
          </a:p>
          <a:p>
            <a:pPr marL="228600" indent="-228600">
              <a:buAutoNum type="arabicParenR"/>
            </a:pPr>
            <a:r>
              <a:rPr lang="en-US" dirty="0"/>
              <a:t>We now have the report in feature </a:t>
            </a:r>
            <a:r>
              <a:rPr lang="en-US" dirty="0" err="1"/>
              <a:t>bramch</a:t>
            </a:r>
            <a:r>
              <a:rPr lang="en-US" dirty="0"/>
              <a:t> on Repo. Not in main branch yet </a:t>
            </a:r>
          </a:p>
          <a:p>
            <a:pPr marL="228600" indent="-228600">
              <a:buAutoNum type="arabicParenR"/>
            </a:pPr>
            <a:r>
              <a:rPr lang="en-US" dirty="0"/>
              <a:t>We now have on the right top .. </a:t>
            </a:r>
            <a:r>
              <a:rPr lang="en-US" dirty="0" err="1"/>
              <a:t>Creat</a:t>
            </a:r>
            <a:r>
              <a:rPr lang="en-US" dirty="0"/>
              <a:t> a pull request and we click on it …must fill in page ,</a:t>
            </a:r>
          </a:p>
          <a:p>
            <a:pPr marL="228600" indent="-228600">
              <a:buAutoNum type="arabicParenR"/>
            </a:pPr>
            <a:r>
              <a:rPr lang="en-US" dirty="0"/>
              <a:t>Title…, </a:t>
            </a:r>
            <a:r>
              <a:rPr lang="en-US" dirty="0" err="1"/>
              <a:t>Reviwers</a:t>
            </a:r>
            <a:r>
              <a:rPr lang="en-US" dirty="0"/>
              <a:t> ..people to check changes. Could be </a:t>
            </a:r>
            <a:r>
              <a:rPr lang="en-US" dirty="0" err="1"/>
              <a:t>yourselof</a:t>
            </a:r>
            <a:r>
              <a:rPr lang="en-US" dirty="0"/>
              <a:t> as a </a:t>
            </a:r>
            <a:r>
              <a:rPr lang="en-US" dirty="0" err="1"/>
              <a:t>viwer</a:t>
            </a: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Thyen click Create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57369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reviwerrs</a:t>
            </a:r>
            <a:r>
              <a:rPr lang="en-US" dirty="0"/>
              <a:t> will go look and approve the new pull requests , seer add power BI , you </a:t>
            </a:r>
            <a:r>
              <a:rPr lang="en-US" dirty="0" err="1"/>
              <a:t>wil</a:t>
            </a:r>
            <a:r>
              <a:rPr lang="en-US" dirty="0"/>
              <a:t> see all the info on this commit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9865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default options </a:t>
            </a:r>
            <a:r>
              <a:rPr lang="en-US" dirty="0" err="1"/>
              <a:t>hown</a:t>
            </a:r>
            <a:r>
              <a:rPr lang="en-US" dirty="0"/>
              <a:t> above on the right after selecting Complete , then click complete merge </a:t>
            </a:r>
          </a:p>
          <a:p>
            <a:r>
              <a:rPr lang="en-US" dirty="0"/>
              <a:t>Get green confirmation message that its completed.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39471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You have report in main </a:t>
            </a:r>
            <a:r>
              <a:rPr lang="en-US" dirty="0" err="1"/>
              <a:t>branmch</a:t>
            </a:r>
            <a:r>
              <a:rPr lang="en-US" dirty="0"/>
              <a:t>  BUT FEATRURE BRANCH IS GONE!!</a:t>
            </a:r>
          </a:p>
          <a:p>
            <a:pPr marL="228600" indent="-228600">
              <a:buAutoNum type="arabicParenR"/>
            </a:pPr>
            <a:r>
              <a:rPr lang="en-US" dirty="0"/>
              <a:t>For every new feature create a new branch again , rather than taking more and more feature branches.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569601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have been changes ibn the git repo , we need to synch the main </a:t>
            </a:r>
            <a:r>
              <a:rPr lang="en-US" dirty="0" err="1"/>
              <a:t>wspace</a:t>
            </a:r>
            <a:r>
              <a:rPr lang="en-US" dirty="0"/>
              <a:t> to git , there is no report in the </a:t>
            </a:r>
            <a:r>
              <a:rPr lang="en-US" dirty="0" err="1"/>
              <a:t>wspave</a:t>
            </a:r>
            <a:r>
              <a:rPr lang="en-US" dirty="0"/>
              <a:t> YET!!</a:t>
            </a:r>
          </a:p>
          <a:p>
            <a:r>
              <a:rPr lang="en-US" dirty="0"/>
              <a:t>Click on source control , </a:t>
            </a:r>
            <a:r>
              <a:rPr lang="en-US" dirty="0" err="1"/>
              <a:t>yoiy</a:t>
            </a:r>
            <a:r>
              <a:rPr lang="en-US" dirty="0"/>
              <a:t> have to </a:t>
            </a:r>
            <a:r>
              <a:rPr lang="en-US" dirty="0" err="1"/>
              <a:t>sdelect</a:t>
            </a:r>
            <a:r>
              <a:rPr lang="en-US" dirty="0"/>
              <a:t> the report and Update All button </a:t>
            </a:r>
          </a:p>
          <a:p>
            <a:r>
              <a:rPr lang="en-US" dirty="0"/>
              <a:t>Go back to main </a:t>
            </a:r>
            <a:r>
              <a:rPr lang="en-US" dirty="0" err="1"/>
              <a:t>wspace</a:t>
            </a:r>
            <a:r>
              <a:rPr lang="en-US" dirty="0"/>
              <a:t> and report is </a:t>
            </a:r>
            <a:r>
              <a:rPr lang="en-US" dirty="0" err="1"/>
              <a:t>thyere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219406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We built this report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69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97675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back to main </a:t>
            </a:r>
            <a:r>
              <a:rPr lang="en-US" dirty="0" err="1"/>
              <a:t>wspace</a:t>
            </a:r>
            <a:r>
              <a:rPr lang="en-US" dirty="0"/>
              <a:t> again </a:t>
            </a:r>
          </a:p>
          <a:p>
            <a:r>
              <a:rPr lang="en-US" dirty="0"/>
              <a:t>Click on source control in </a:t>
            </a:r>
            <a:r>
              <a:rPr lang="en-US" dirty="0" err="1"/>
              <a:t>wspace</a:t>
            </a:r>
            <a:r>
              <a:rPr lang="en-US" dirty="0"/>
              <a:t> as shown on top right of </a:t>
            </a:r>
            <a:r>
              <a:rPr lang="en-US" dirty="0" err="1"/>
              <a:t>wspace</a:t>
            </a:r>
            <a:r>
              <a:rPr lang="en-US" dirty="0"/>
              <a:t>. And the branch, branch out to </a:t>
            </a:r>
            <a:r>
              <a:rPr lang="en-US" dirty="0" err="1"/>
              <a:t>newe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 and fill in box.</a:t>
            </a:r>
          </a:p>
          <a:p>
            <a:r>
              <a:rPr lang="en-US" dirty="0"/>
              <a:t>Now he puts feature/update report there in the box. Add name of </a:t>
            </a:r>
            <a:r>
              <a:rPr lang="en-US" dirty="0" err="1"/>
              <a:t>wspace</a:t>
            </a:r>
            <a:r>
              <a:rPr lang="en-US" dirty="0"/>
              <a:t> THAT WILL BW CREATED. Branch out.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470109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elements are loaded , go back to fabric and refresh page , al elements should be there </a:t>
            </a:r>
          </a:p>
          <a:p>
            <a:r>
              <a:rPr lang="en-US" dirty="0"/>
              <a:t>Same as before but pointing to different branch .. See RHS “feature Update Report”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82709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wE</a:t>
            </a:r>
            <a:r>
              <a:rPr lang="en-US" dirty="0"/>
              <a:t> now add another chart to the report ., we save the report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93834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report and update as per </a:t>
            </a:r>
            <a:r>
              <a:rPr lang="en-US" dirty="0" err="1"/>
              <a:t>rhs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795824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message at top to create pull request , click it and see overleaf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13271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yourself for approval to complete process. And click create and then </a:t>
            </a:r>
            <a:r>
              <a:rPr lang="en-US" dirty="0" err="1"/>
              <a:t>comple</a:t>
            </a:r>
            <a:r>
              <a:rPr lang="en-US" dirty="0"/>
              <a:t> with defaults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7202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power Bi report and no more feature branch , we still have feature </a:t>
            </a:r>
            <a:r>
              <a:rPr lang="en-US" dirty="0" err="1"/>
              <a:t>wspace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35388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Notioce</a:t>
            </a:r>
            <a:r>
              <a:rPr lang="en-US" dirty="0"/>
              <a:t> message at top ..go to source control on </a:t>
            </a:r>
            <a:r>
              <a:rPr lang="en-US" dirty="0" err="1"/>
              <a:t>rhs</a:t>
            </a:r>
            <a:r>
              <a:rPr lang="en-US" dirty="0"/>
              <a:t> , notice in the n=main </a:t>
            </a:r>
            <a:r>
              <a:rPr lang="en-US" dirty="0" err="1"/>
              <a:t>wspace</a:t>
            </a:r>
            <a:r>
              <a:rPr lang="en-US" dirty="0"/>
              <a:t> next to the report it says update required .. </a:t>
            </a:r>
          </a:p>
          <a:p>
            <a:r>
              <a:rPr lang="en-US" dirty="0"/>
              <a:t>If you click the report u see old chart , not updated yet.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78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543757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want new feature create a new feature branch from main again .. Not </a:t>
            </a:r>
            <a:r>
              <a:rPr lang="en-US" dirty="0" err="1"/>
              <a:t>frokm</a:t>
            </a:r>
            <a:r>
              <a:rPr lang="en-US" dirty="0"/>
              <a:t> existing feature branch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EF743-4D99-42AF-8DA6-8022951B2038}" type="slidenum">
              <a:rPr lang="en-ZA" smtClean="0"/>
              <a:t>80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7692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F1C90-66BE-590D-C621-AA2C8CEAD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E2A06-9F2F-DAEB-6C49-B91ADE2B1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28D75-9469-FB2F-E293-0AC690B0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A207-8AD3-074E-C4F3-4BAE22D5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80064-D24E-8FEE-FE0C-4412517B0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304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383F-F4F3-F64D-AEFC-240D6DAC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7F88E-F86F-E662-CFFE-B0F2E80B7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5568F-656E-980E-BF1D-F4D15E70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50608-CABB-D3DA-6E51-F7B28785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9A000-9BF0-0D4B-EA85-9B387537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149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B550B-D42B-9C34-33C9-BA15B56A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EF26B-5D58-C7E6-8D68-16780392B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A105-BB0A-CE9F-23C1-030A07F3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46A6A-0AF6-6FF7-0AA5-E6FF55244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23A3F-F101-E86F-9B43-A22556F3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317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7BF3-2CBD-27A5-CE08-157350D7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9908-3759-CC59-DBD0-84CF3729B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6534E-FCAC-331E-8730-C6D1271A3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DA4D3-AA2E-AC86-ED41-090EA7AA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E7648-EEC2-B7AE-56DB-1F45894F6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F987E-D1F3-528D-30C2-FABBFB8C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47821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D0C7-30BB-3A94-1C50-62BE267D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3B18F-6682-8875-A7CA-F5BBF744B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2AF68-390D-8FDE-4BFD-F451F9D4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ABBAA-BF91-1152-D602-B7CAFEB2B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D944A-2617-42FF-0F39-0EEC25F74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6B912-5483-C39C-0311-BE0CA769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D3E10-68C1-F64A-64D6-8BAF76F3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8839E-C419-5031-84FB-0973168A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374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8622-1A11-E234-45FF-83D1A35C5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A9DFD-593F-A220-B752-BB8CC769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AA483-11FD-8C2E-BFB9-A4DA455C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29DDC-0511-D190-29FC-0755E5EE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628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F8DED4-3577-7763-57CA-D944DA14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6AC3C-8675-4C4B-E74A-5778877B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C154-717D-4197-AEEC-8BAA37EA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173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1622B-D98C-F595-5312-EED247E6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8EA5A-7A31-94AA-2493-CE35B3EB4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ABCF4-F67E-E269-4B83-78B615E1B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FE2B4-E475-8816-2A54-6FFBA793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4D6BA-479E-29A8-32C1-7EB3E969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D4891-189C-DDED-8CAF-47DDF542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334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D481-93B5-F765-01F4-2B1ADA283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DC8C1-0FEB-2C4F-2036-3B2C34F0C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73737-F97E-8B02-727D-27C88BD5D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78D7D-EAB5-3775-1660-48E3EE2B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6E5D0-22D2-D230-DF5D-F91FC231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D1DA6-4724-0A9D-2372-78EEBA941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69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CB90-EE0B-51D8-AD0E-B8AF17CF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70014-F634-4CA9-4760-E5959DBC6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0258C-6B69-7822-3ABF-DDF932E93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7EDF7-CEBE-0773-204E-48E94BD9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4B9EC-6D64-D501-1614-E1AD763A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7096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025AE1-4E40-99EA-7AC9-FC9A26433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D86D7-D2C4-D711-669B-EFF0B96050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210F2-DA31-1514-2EB9-04F9AC55E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E717-8091-2698-3AC0-EBA53789B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3793-3F76-9C83-FD52-D7362304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136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3804E-77C9-F815-6164-CD089D14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71412-B52D-EB89-00B1-AF8346BB7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F4A12-82A6-93E3-4A66-7C011D81C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DABD1-FA8C-49ED-AD63-4021019427FF}" type="datetimeFigureOut">
              <a:rPr lang="en-ZA" smtClean="0"/>
              <a:t>2025/10/30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8B918-A2AD-DE5A-50B5-4A4B2D7E9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A797-5A36-7CD7-D65B-92C25A6B7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54436-878B-4A10-A817-9F937B6C2F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216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58761-C309-8A5B-50B6-D0BD7A09C6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 OPS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1AF1A-1E61-4111-9B88-9BE53A52E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0121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A4B6-40DE-9F91-EDDC-D7960BD5B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6887"/>
          </a:xfrm>
        </p:spPr>
        <p:txBody>
          <a:bodyPr>
            <a:normAutofit fontScale="90000"/>
          </a:bodyPr>
          <a:lstStyle/>
          <a:p>
            <a:endParaRPr lang="en-Z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54B1CD-4EF1-5F3D-6C4C-11D37F1D82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74" y="233026"/>
            <a:ext cx="9736035" cy="432973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F96DA0-BED9-2D04-2D88-D699E1689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4" y="5310909"/>
            <a:ext cx="10013126" cy="13140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9694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6B82-86FB-9283-3321-1E0D7C23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21296-C493-57B4-D5B1-80758D6DB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4C831-448D-0F51-4949-1FD045811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242" y="1333872"/>
            <a:ext cx="7879249" cy="29341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801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4A14C-6EA0-E72F-7415-2D6B4F83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Init Workspace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1F31E-C21E-0631-B9A6-853816946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118" y="1825625"/>
            <a:ext cx="89037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3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565D-194D-D740-D6A9-8F446849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808"/>
          </a:xfrm>
        </p:spPr>
        <p:txBody>
          <a:bodyPr>
            <a:normAutofit fontScale="90000"/>
          </a:bodyPr>
          <a:lstStyle/>
          <a:p>
            <a:r>
              <a:rPr lang="en-US" dirty="0"/>
              <a:t>Lakehouse.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0223CC-CC08-3A91-D3F6-6075497F3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1675" y="1032934"/>
            <a:ext cx="2743583" cy="3077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AEECD3-D8F3-E490-E3A2-EED3510A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636" y="575734"/>
            <a:ext cx="4991775" cy="318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4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FB2A-22B0-0A23-3AF6-612250D9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3142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pipeline to ingest data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888C6-1315-8BBD-5938-FF616DE44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126" y="1095113"/>
            <a:ext cx="366894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5DF92D-9C90-04D3-CACD-F59482D23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600" y="1095113"/>
            <a:ext cx="7335274" cy="2511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CFBAAF-7D50-7BBC-03FF-33EA4CB0C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133" y="3981187"/>
            <a:ext cx="6725589" cy="251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2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B39D-1B2A-94C4-9266-6F919E46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0724-609F-CF6A-A569-629ABD7D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A8089-F3E3-98C6-F8C9-B89FF64A4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963" y="611187"/>
            <a:ext cx="5594637" cy="563562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5E1124-EB63-33AE-9508-3DE53AF8E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051" y="611187"/>
            <a:ext cx="5067986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4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42DC-7F63-AE72-639E-E42B7BF8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61407"/>
          </a:xfrm>
        </p:spPr>
        <p:txBody>
          <a:bodyPr>
            <a:normAutofit fontScale="90000"/>
          </a:bodyPr>
          <a:lstStyle/>
          <a:p>
            <a:r>
              <a:rPr lang="en-US" dirty="0"/>
              <a:t>Destination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B8673-DF7E-86A2-BA50-8D70C3218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7243" y="767291"/>
            <a:ext cx="6044356" cy="26617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CE919C-AA83-6F88-7F3C-C222F9803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43" y="3827125"/>
            <a:ext cx="9897856" cy="226358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3181C9-7CF0-F8B1-EEA4-5BD468C99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333" y="830622"/>
            <a:ext cx="3742268" cy="25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9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43E6-65A5-C0BA-7108-6C9AD0762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9EF3-B429-E151-812D-FAB51164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10. Config Azure </a:t>
            </a:r>
            <a:r>
              <a:rPr lang="en-US" sz="2400" dirty="0" err="1"/>
              <a:t>Devops</a:t>
            </a:r>
            <a:r>
              <a:rPr lang="en-US" sz="2400" dirty="0"/>
              <a:t> on Fabric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523BE3-464C-E7DD-84BD-7237A3D226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1453092"/>
            <a:ext cx="6874933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1BDDDC-B578-17B8-6407-1B5F1D99B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381" y="1453092"/>
            <a:ext cx="4753638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86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FFF43-88A8-72CC-874F-08A596081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B618-8421-9A91-FAAE-A2EFB410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3942"/>
          </a:xfrm>
        </p:spPr>
        <p:txBody>
          <a:bodyPr>
            <a:normAutofit fontScale="90000"/>
          </a:bodyPr>
          <a:lstStyle/>
          <a:p>
            <a:r>
              <a:rPr lang="en-US" dirty="0"/>
              <a:t>Land on this page..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C97E266-A645-86C3-E27F-B8EE56754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0600" y="1405794"/>
            <a:ext cx="9779000" cy="404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5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AF3ED-3F93-148B-570B-833B903C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2BC8-7887-01B0-2777-1F49884E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Project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571FA-E49F-9B1A-BD0A-37E7C2E06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2318" y="1825625"/>
            <a:ext cx="90073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523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D7B1-9106-C359-8A2A-F31D818D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3FAB-D986-3D8F-63EF-362FD7534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0075"/>
          </a:xfrm>
        </p:spPr>
        <p:txBody>
          <a:bodyPr>
            <a:normAutofit fontScale="90000"/>
          </a:bodyPr>
          <a:lstStyle/>
          <a:p>
            <a:r>
              <a:rPr lang="en-US" dirty="0"/>
              <a:t>Tabs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73D472-B775-2379-F86F-1A3D50B52E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961" y="1588558"/>
            <a:ext cx="3797811" cy="435133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DE4E9-004A-8466-3970-359D12D0C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68" y="775229"/>
            <a:ext cx="7659471" cy="55372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3609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FFCE-46FE-9056-6C1D-620477EB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DADB-DDE7-288B-7615-02C37D22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7799"/>
            <a:ext cx="10515600" cy="667808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Click on the </a:t>
            </a:r>
            <a:r>
              <a:rPr lang="en-US" sz="3100" dirty="0" err="1"/>
              <a:t>url</a:t>
            </a:r>
            <a:r>
              <a:rPr lang="en-US" sz="3100" dirty="0"/>
              <a:t> , on the fabric-computer sales part to create a new repo</a:t>
            </a:r>
            <a:r>
              <a:rPr lang="en-US" dirty="0"/>
              <a:t>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80B664-1885-5CF5-9634-FFC73DE8C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800" y="845607"/>
            <a:ext cx="10515600" cy="3303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201997-D333-737F-2269-28C68E68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08313"/>
            <a:ext cx="6146800" cy="247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9BC49-A6BF-5DEA-4138-09E594997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897" y="4308274"/>
            <a:ext cx="4766503" cy="22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60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2749A-9E45-570F-7B3A-691C12C3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2D90-A29A-F074-BFEA-F37E755E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5542"/>
          </a:xfrm>
        </p:spPr>
        <p:txBody>
          <a:bodyPr/>
          <a:lstStyle/>
          <a:p>
            <a:r>
              <a:rPr lang="en-US" dirty="0"/>
              <a:t>11. Connect Fabric </a:t>
            </a:r>
            <a:r>
              <a:rPr lang="en-US" dirty="0" err="1"/>
              <a:t>Wspace</a:t>
            </a:r>
            <a:r>
              <a:rPr lang="en-US" dirty="0"/>
              <a:t> to DevOps.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6F4ED-2BB0-E4F2-ABAD-758D932DE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629" y="1489121"/>
            <a:ext cx="5526989" cy="435133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61D27B2-77DC-8978-12E3-F32472D11255}"/>
              </a:ext>
            </a:extLst>
          </p:cNvPr>
          <p:cNvSpPr/>
          <p:nvPr/>
        </p:nvSpPr>
        <p:spPr>
          <a:xfrm>
            <a:off x="2028305" y="4222865"/>
            <a:ext cx="2360815" cy="8645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3F106-6C0B-1160-ED5B-4DAF0DA0C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05814"/>
            <a:ext cx="5526989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4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4AA3-AE34-FAC9-F469-59F376A4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D5D7-8D3E-ED46-F94C-CD0EC326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/>
          <a:lstStyle/>
          <a:p>
            <a:r>
              <a:rPr lang="en-US" dirty="0"/>
              <a:t>We are going to link Fabric  to </a:t>
            </a:r>
            <a:r>
              <a:rPr lang="en-US" dirty="0" err="1"/>
              <a:t>wspace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5357C7-E9DA-1521-0084-68815794A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5794" y="1792373"/>
            <a:ext cx="3886453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F3A6BB-80BA-48FF-633C-4041F9D09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156" y="1278875"/>
            <a:ext cx="6063354" cy="53783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447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EF0C-CB68-84B0-6BAC-A90287E6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9E65B-0A40-CD9C-70F4-B615D945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5777"/>
          </a:xfrm>
        </p:spPr>
        <p:txBody>
          <a:bodyPr>
            <a:normAutofit fontScale="90000"/>
          </a:bodyPr>
          <a:lstStyle/>
          <a:p>
            <a:r>
              <a:rPr lang="en-US" dirty="0"/>
              <a:t>Type Git to display Git settings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7ABDB-7DEC-400A-9A1D-889659E7E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200" y="1363287"/>
            <a:ext cx="5388203" cy="46640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48DF82-2CE8-4346-9B6C-86364C43C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46907"/>
            <a:ext cx="5701299" cy="53783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14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C419-14DF-3BE4-A960-E549F889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D6C11-134F-79A1-E556-7F1AC352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151"/>
          </a:xfrm>
        </p:spPr>
        <p:txBody>
          <a:bodyPr>
            <a:normAutofit fontScale="90000"/>
          </a:bodyPr>
          <a:lstStyle/>
          <a:p>
            <a:r>
              <a:rPr lang="en-US" dirty="0"/>
              <a:t>Then do the same for the next few options.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8ADE91-65D0-BBC6-3A26-33DA41827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6608" y="1559617"/>
            <a:ext cx="4197430" cy="435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CC479-08CB-1A9C-6DFC-A127B8DEE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771" y="1593195"/>
            <a:ext cx="3610214" cy="42157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A50470-6A77-F879-B7DE-98361B733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18" y="1627424"/>
            <a:ext cx="3635218" cy="42157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86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36F33-C027-96A1-F37B-39315FBAD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5246-D6A8-5AEB-DBED-EF9E902D0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</a:t>
            </a:r>
            <a:r>
              <a:rPr lang="en-US" dirty="0" err="1"/>
              <a:t>Wspace</a:t>
            </a:r>
            <a:r>
              <a:rPr lang="en-US" dirty="0"/>
              <a:t> , Workspace Settings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6D16E5-146C-70BB-7AEC-C3373227E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0298" y="1476490"/>
            <a:ext cx="518574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1CE20-3874-AD3E-0585-2BA494FFA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958" y="914400"/>
            <a:ext cx="5563376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49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8DFB5-C668-F91B-6F32-3D714C41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9F36-2402-04CE-60BA-4D5023E7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all the details as Kervin Gave me.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2FBE2E-2385-A647-53ED-DDCEFCF6A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233" y="1690688"/>
            <a:ext cx="522529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36CD3E-4221-91B8-01DA-DCE256809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076" y="1459822"/>
            <a:ext cx="4567743" cy="48130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539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6B0B6-CEF5-E9F3-A50A-927C3994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89BE-DC1E-0D6C-3116-7AAB41388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9522"/>
          </a:xfrm>
        </p:spPr>
        <p:txBody>
          <a:bodyPr>
            <a:normAutofit fontScale="90000"/>
          </a:bodyPr>
          <a:lstStyle/>
          <a:p>
            <a:r>
              <a:rPr lang="en-US" dirty="0"/>
              <a:t>See in your Repo the message on the right.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ECC07A-8BA6-259C-F721-8AAFBF227B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8464" y="1482565"/>
            <a:ext cx="10068098" cy="493133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3326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96509-266D-5CC5-43F9-BD3BA8121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51CE-2E85-ACAD-0A65-860DCC21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151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DevOps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C9CA12-4CB0-8B18-9F8F-02CC0FBEC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760" y="1762645"/>
            <a:ext cx="5519651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12A06-5FDD-CBE2-4A29-5974DE1BE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411" y="1690577"/>
            <a:ext cx="5436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34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5EB0E-0D41-825C-E503-F4226504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F5961-25D7-A4F8-D9D7-783F53F2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148"/>
          </a:xfrm>
        </p:spPr>
        <p:txBody>
          <a:bodyPr>
            <a:normAutofit fontScale="90000"/>
          </a:bodyPr>
          <a:lstStyle/>
          <a:p>
            <a:r>
              <a:rPr lang="en-US" dirty="0"/>
              <a:t>12. Commit changes to Git repo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ADA2F4-D60C-DCFA-6223-4D3735007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2463" y="1164547"/>
            <a:ext cx="7878274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4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4C01-B680-B43E-11CD-54CE0A96A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D5D5-B3E8-B840-5E23-44D85EEB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2773"/>
          </a:xfrm>
        </p:spPr>
        <p:txBody>
          <a:bodyPr>
            <a:normAutofit/>
          </a:bodyPr>
          <a:lstStyle/>
          <a:p>
            <a:r>
              <a:rPr lang="en-US" sz="2400" dirty="0"/>
              <a:t>Note at the top right we have source control , a red indicator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FBF09-E6A1-71B5-1C65-88647ED883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2070" y="1073282"/>
            <a:ext cx="10515600" cy="2006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310C6-2DBD-678A-2C47-88A107523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6" y="3429000"/>
            <a:ext cx="4897581" cy="32269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2CD00B-DDF4-35DD-59E0-344B48DEA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570" y="3428999"/>
            <a:ext cx="4003470" cy="322696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8286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8022-55B0-C7D5-1EF0-7EEEF6B87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DD3A-F448-B914-75EC-5C301299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653"/>
          </a:xfrm>
        </p:spPr>
        <p:txBody>
          <a:bodyPr>
            <a:normAutofit fontScale="90000"/>
          </a:bodyPr>
          <a:lstStyle/>
          <a:p>
            <a:r>
              <a:rPr lang="en-US" dirty="0"/>
              <a:t>Add Silver Lakehouse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F67389-40C1-0900-9F76-CB4BE6976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5760" y="1742497"/>
            <a:ext cx="177123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0BD999-6787-6F79-6649-AC609F8F5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354" y="1868761"/>
            <a:ext cx="8160446" cy="409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1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9792-109C-C820-1FC1-15643AFA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8CCE-6AAA-F1FD-058F-3ED494E9C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4911"/>
          </a:xfrm>
        </p:spPr>
        <p:txBody>
          <a:bodyPr/>
          <a:lstStyle/>
          <a:p>
            <a:r>
              <a:rPr lang="en-US" dirty="0"/>
              <a:t>Now Silver has been added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4226ED-C9FE-DD99-9A2D-546467D81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14733" y="1834875"/>
            <a:ext cx="9309427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6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C741-C4D6-A2EB-20DF-40F74D3A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C633-E640-A909-3F74-365F332BF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2896"/>
          </a:xfrm>
        </p:spPr>
        <p:txBody>
          <a:bodyPr>
            <a:normAutofit fontScale="90000"/>
          </a:bodyPr>
          <a:lstStyle/>
          <a:p>
            <a:r>
              <a:rPr lang="en-US" dirty="0"/>
              <a:t>14. Analyze commit History.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34CD89-3D5E-56E3-3E8D-C614A1358D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5320" y="1065824"/>
            <a:ext cx="10515600" cy="192675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0FC99-F7AC-B1EB-A5D9-3367D51FE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78" y="3260383"/>
            <a:ext cx="2238462" cy="329611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F3D206-8E6D-DA7A-74F9-294FD4A19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029" y="3606511"/>
            <a:ext cx="8384771" cy="2603854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1188577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2D7AF-CF99-67DC-6A4B-1C4CDAD0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6545-444E-96B0-F4C2-031F6C24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9028"/>
          </a:xfrm>
        </p:spPr>
        <p:txBody>
          <a:bodyPr>
            <a:normAutofit fontScale="90000"/>
          </a:bodyPr>
          <a:lstStyle/>
          <a:p>
            <a:r>
              <a:rPr lang="en-US" dirty="0"/>
              <a:t>But then go to History under files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79345-B8B0-28FB-321A-5021DF138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8694" y="1014155"/>
            <a:ext cx="10515600" cy="2693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3119D9-1A2A-3F66-0770-8E728381C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07" y="4107587"/>
            <a:ext cx="11536385" cy="238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15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50C8-BE4B-0E95-9BAF-83F7590C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E77F-88C1-AA0D-C7B3-56B23422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66890"/>
          </a:xfrm>
        </p:spPr>
        <p:txBody>
          <a:bodyPr>
            <a:normAutofit fontScale="90000"/>
          </a:bodyPr>
          <a:lstStyle/>
          <a:p>
            <a:r>
              <a:rPr lang="en-US" dirty="0"/>
              <a:t>Filers normally gives you the current status.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313055-A03E-0683-9A07-E8720E5AD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5443" y="942651"/>
            <a:ext cx="10515600" cy="248634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C6D0D-8FCE-1967-0DE3-B45BC7DAB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43" y="3990108"/>
            <a:ext cx="11065626" cy="25027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8348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4F6A-9AB6-7DB1-25DD-F11A1A20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35541-24A6-67B8-E5CF-552838F4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2773"/>
          </a:xfrm>
        </p:spPr>
        <p:txBody>
          <a:bodyPr>
            <a:normAutofit fontScale="90000"/>
          </a:bodyPr>
          <a:lstStyle/>
          <a:p>
            <a:r>
              <a:rPr lang="en-US" dirty="0"/>
              <a:t>We add a new item , like a notebook.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DAAF95-2E89-E74D-C758-75A83F0B8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8817" y="1046252"/>
            <a:ext cx="10515600" cy="2199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6C18E-D044-2CD9-809D-3266C294C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31" y="3668871"/>
            <a:ext cx="3700549" cy="2824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D4F5B-D7CB-0718-FC20-E8D486DBB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988" y="4054909"/>
            <a:ext cx="6051665" cy="243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45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58DB-61BA-5D80-86DC-EB8080C8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5658-23A9-016F-5CE0-471276FF5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00139"/>
          </a:xfrm>
        </p:spPr>
        <p:txBody>
          <a:bodyPr>
            <a:normAutofit fontScale="90000"/>
          </a:bodyPr>
          <a:lstStyle/>
          <a:p>
            <a:r>
              <a:rPr lang="en-US" dirty="0"/>
              <a:t>See csv in bronze </a:t>
            </a:r>
            <a:r>
              <a:rPr lang="en-US" dirty="0" err="1"/>
              <a:t>lakehouse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BB5655-CF21-2249-89EA-B8D73733D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831" y="858783"/>
            <a:ext cx="6506605" cy="251555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85FDB3-1B69-6B3C-8DE4-A8561C4ED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31" y="3612464"/>
            <a:ext cx="11161733" cy="32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66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84292-6404-E86E-B85C-68AFA045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8BB8-4A15-7765-00BD-8D8737F99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Silver </a:t>
            </a:r>
            <a:r>
              <a:rPr lang="en-US" dirty="0" err="1"/>
              <a:t>lakehouse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2ACF5-1466-5F13-2646-7C0E11005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6539" y="1113906"/>
            <a:ext cx="3181794" cy="508741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70F8F8-5FD9-DAF6-E6A1-147372345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334" y="1279134"/>
            <a:ext cx="7703127" cy="492219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049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DE82E-D64E-505C-CA46-F773C21C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3991-DCDD-3F35-573C-7242C1E0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5653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the source control button and </a:t>
            </a:r>
            <a:r>
              <a:rPr lang="en-US" dirty="0" err="1"/>
              <a:t>chosee</a:t>
            </a:r>
            <a:r>
              <a:rPr lang="en-US" dirty="0"/>
              <a:t> to commit.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94CE40-6B33-C383-0357-B5FEAAC1E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4644" y="1742498"/>
            <a:ext cx="55878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47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5A0D-9C6F-FB53-06F3-3FB41CF2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933BA-E9F6-D423-E9CF-BD18A6B4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Contents and history tabs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503648-C177-DCF2-9582-36F1E6E60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8819" y="847433"/>
            <a:ext cx="10515600" cy="2660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B7169-9736-2D09-3511-EB51807BD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744739"/>
            <a:ext cx="9552709" cy="288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8FA4D-499A-501B-C450-031F971C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1ED4-04B7-A8A1-A47A-02C137A4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See the content overleaf.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E3337-7399-6D6C-5D55-9E3A28BCB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35130"/>
            <a:ext cx="10515600" cy="249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1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F52A-FCEB-D335-DD67-49FD192F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5361"/>
          </a:xfrm>
        </p:spPr>
        <p:txBody>
          <a:bodyPr>
            <a:normAutofit fontScale="90000"/>
          </a:bodyPr>
          <a:lstStyle/>
          <a:p>
            <a:r>
              <a:rPr lang="en-US" dirty="0"/>
              <a:t>Adds a Notebook,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F9DDB0-BEB1-D147-1F6E-F0BE94804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42628"/>
            <a:ext cx="7259063" cy="2486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35EC6-F963-DA8B-EF5A-E3753B0B5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048" y="754369"/>
            <a:ext cx="1800476" cy="2105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4DA455-3FE6-9EF2-ED43-EAAA9EAFA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" y="3751142"/>
            <a:ext cx="7840169" cy="25383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5B2F52-039C-DCDB-A5C1-5F6604CB6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5981" y="3586046"/>
            <a:ext cx="2876675" cy="270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35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FE64-A6DE-00CC-D14C-563986AD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Now you see the confirmations its been committed in the workspace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5F57FF-618C-2812-BA4F-66B0C1615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18456"/>
            <a:ext cx="9354856" cy="386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91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A67C-946C-EA01-D76C-6AF51E66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Azure Dev Ops and refresh the page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F1DA63-85E2-588D-48CC-93F88CCCE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4998" y="1243602"/>
            <a:ext cx="9088118" cy="2924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8FFF3-9BF3-FF7B-3DA2-C24F62130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997" y="4736507"/>
            <a:ext cx="9088117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32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9BB8-09D2-6534-AB14-95221CC5A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button on right of the commit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4DE57F-AB36-BF9B-9EAE-F26AD0C69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90260"/>
            <a:ext cx="8202170" cy="2438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E9785B-30C8-EEEA-2825-655093E82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46602"/>
            <a:ext cx="7821116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521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DCFA-3510-8E15-2B5E-05DAD344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1"/>
            <a:ext cx="10515600" cy="505732"/>
          </a:xfrm>
        </p:spPr>
        <p:txBody>
          <a:bodyPr>
            <a:normAutofit/>
          </a:bodyPr>
          <a:lstStyle/>
          <a:p>
            <a:r>
              <a:rPr lang="en-US" sz="2400" dirty="0"/>
              <a:t>15. Resynch Fabric </a:t>
            </a:r>
            <a:r>
              <a:rPr lang="en-US" sz="2400" dirty="0" err="1"/>
              <a:t>Wspace</a:t>
            </a:r>
            <a:r>
              <a:rPr lang="en-US" sz="2400" dirty="0"/>
              <a:t> w uncommitted changes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375A57-569C-D583-D5E8-B8C3C265A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7686" y="823833"/>
            <a:ext cx="8686800" cy="27626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8C228-CFF0-530F-E94E-4A64B99B7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967944"/>
            <a:ext cx="8926286" cy="20386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35509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2335-1AFB-7F8C-D7FB-1A4708EB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6E03-B3D2-0C19-F2E6-35094344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dirty="0"/>
              <a:t>We add a column to the table +</a:t>
            </a:r>
            <a:r>
              <a:rPr lang="en-ZA" dirty="0"/>
              <a:t>display it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D4223-D95E-7C93-EDB1-EC1DEB375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8371" y="1394353"/>
            <a:ext cx="966291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565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7D77E-B3C5-59CC-92EE-59B007F61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3A16-95D2-EE30-76EE-CB25A76B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ZA" sz="2400" dirty="0"/>
              <a:t>Again we see </a:t>
            </a:r>
            <a:r>
              <a:rPr lang="en-ZA" sz="2400" dirty="0" err="1"/>
              <a:t>uncommited</a:t>
            </a:r>
            <a:r>
              <a:rPr lang="en-ZA" sz="2400" dirty="0"/>
              <a:t> and the we click on the source control , and see modified status on the right.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AA9382-8152-4BDF-A054-B503F02CD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920445"/>
            <a:ext cx="9231013" cy="2743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A39166-5773-4F21-66EC-6D3896292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15" y="4486146"/>
            <a:ext cx="2867425" cy="184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0DCCCD-A30A-50E9-945D-AB8E59A40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714" y="4255957"/>
            <a:ext cx="6787885" cy="223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3819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0228-7439-DAA2-1F2B-2AC0DEDB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1F76-1896-AFFB-284B-DA85D931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188"/>
          </a:xfrm>
        </p:spPr>
        <p:txBody>
          <a:bodyPr>
            <a:normAutofit fontScale="90000"/>
          </a:bodyPr>
          <a:lstStyle/>
          <a:p>
            <a:r>
              <a:rPr lang="en-ZA" dirty="0"/>
              <a:t>Go back to Dev Ops and refresh the page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B5989C-F573-5A32-99DD-20E011186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856" y="1131065"/>
            <a:ext cx="8230749" cy="35448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08539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42C9-64ED-CC19-20E0-D435C6809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2A53-EE29-FE4D-800D-FB0968726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4731"/>
          </a:xfrm>
        </p:spPr>
        <p:txBody>
          <a:bodyPr>
            <a:normAutofit fontScale="90000"/>
          </a:bodyPr>
          <a:lstStyle/>
          <a:p>
            <a:r>
              <a:rPr lang="en-ZA" dirty="0"/>
              <a:t>16. Undo changes in </a:t>
            </a:r>
            <a:r>
              <a:rPr lang="en-ZA" dirty="0" err="1"/>
              <a:t>wspace</a:t>
            </a:r>
            <a:r>
              <a:rPr lang="en-ZA" dirty="0"/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498C85-0B69-61CC-4B78-FD0EFF702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918" y="973740"/>
            <a:ext cx="5372850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64DAA-1E7A-D974-94BC-D0D1915AA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47" y="4727709"/>
            <a:ext cx="3677163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78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C013A-2A53-60B6-4643-1617D6CD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974A-AD7E-2159-B14B-20BBC94A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039"/>
            <a:ext cx="10515600" cy="240275"/>
          </a:xfrm>
        </p:spPr>
        <p:txBody>
          <a:bodyPr>
            <a:normAutofit fontScale="90000"/>
          </a:bodyPr>
          <a:lstStyle/>
          <a:p>
            <a:r>
              <a:rPr lang="en-ZA" dirty="0"/>
              <a:t>In </a:t>
            </a:r>
            <a:r>
              <a:rPr lang="en-ZA" dirty="0" err="1"/>
              <a:t>wspace</a:t>
            </a:r>
            <a:r>
              <a:rPr lang="en-ZA" dirty="0"/>
              <a:t> the source control is Red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68E341-356A-34F8-BBAE-C6FD0ACEB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24647" y="752101"/>
            <a:ext cx="9145276" cy="2676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045C4-B216-9489-90D5-447EB5984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7" y="3734787"/>
            <a:ext cx="9288171" cy="23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095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5A21-58B8-C89F-E049-E4915176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09E2-6D8F-823C-7BB4-E6F47BB6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40"/>
            <a:ext cx="10515600" cy="592818"/>
          </a:xfrm>
        </p:spPr>
        <p:txBody>
          <a:bodyPr>
            <a:normAutofit/>
          </a:bodyPr>
          <a:lstStyle/>
          <a:p>
            <a:r>
              <a:rPr lang="en-ZA" sz="2400" dirty="0"/>
              <a:t>Or , we don’t commit and we undo the modification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04C86C-2685-DB17-1289-E7C1712AD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70858"/>
            <a:ext cx="8527885" cy="1915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6CCF53-E572-C710-D26E-191C63ECB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" y="3429000"/>
            <a:ext cx="3439005" cy="2890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B929A1-0D37-C2F8-EDBD-74DFEA3B3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057" y="3292769"/>
            <a:ext cx="7347857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66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56B76-666F-5738-E5E3-40BEA5F76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D41D-D058-8502-5E8E-71BB7FC3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Autofit/>
          </a:bodyPr>
          <a:lstStyle/>
          <a:p>
            <a:r>
              <a:rPr lang="en-ZA" sz="2400" dirty="0"/>
              <a:t>Go back to source control menu , you no longer have changes there . The deleted element as we recovered 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05B357-BFD4-4ECD-FA6B-F970DEFEA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31" y="1178930"/>
            <a:ext cx="9307224" cy="294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12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C3656-7BC0-7418-B439-5C905B17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26EC5-5FE9-E4FA-14D8-A206D3F9C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189"/>
          </a:xfrm>
        </p:spPr>
        <p:txBody>
          <a:bodyPr>
            <a:normAutofit fontScale="90000"/>
          </a:bodyPr>
          <a:lstStyle/>
          <a:p>
            <a:r>
              <a:rPr lang="en-ZA" dirty="0"/>
              <a:t>Now we want to see how to roll back mods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644211-AFC3-2C74-EC6E-6DAB20391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5679" y="1087830"/>
            <a:ext cx="10333667" cy="2798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118CE1-A8EF-321C-0FD1-1BF1A753C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197" y="4146715"/>
            <a:ext cx="9335803" cy="199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659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487C-D614-4D52-A5AE-13EA46E1E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D29B-38F3-A55B-CEB7-F339EF5DA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 fontScale="90000"/>
          </a:bodyPr>
          <a:lstStyle/>
          <a:p>
            <a:r>
              <a:rPr lang="en-ZA" dirty="0"/>
              <a:t>Click on Undo mods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4B34E9-1443-CBBA-60BA-3FD1F9806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0476" y="1055914"/>
            <a:ext cx="914527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37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4F99-34F0-02BC-A997-8A23DD8E0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9532"/>
          </a:xfrm>
        </p:spPr>
        <p:txBody>
          <a:bodyPr>
            <a:normAutofit fontScale="90000"/>
          </a:bodyPr>
          <a:lstStyle/>
          <a:p>
            <a:r>
              <a:rPr lang="en-ZA" sz="2200" dirty="0"/>
              <a:t>17. </a:t>
            </a:r>
            <a:r>
              <a:rPr lang="en-ZA" sz="2200" dirty="0" err="1"/>
              <a:t>Retrive</a:t>
            </a:r>
            <a:r>
              <a:rPr lang="en-ZA" sz="2200" dirty="0"/>
              <a:t> all Git Synched Items in a New Workspace </a:t>
            </a:r>
            <a:r>
              <a:rPr lang="en-ZA" dirty="0"/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D5ABD-6657-D888-8C2D-79AF0985B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4353" y="1150711"/>
            <a:ext cx="89316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986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195E-5C78-A85D-3341-654764AFD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4261-06EF-2C2C-C9B9-64045D4D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3075"/>
          </a:xfrm>
        </p:spPr>
        <p:txBody>
          <a:bodyPr>
            <a:normAutofit fontScale="90000"/>
          </a:bodyPr>
          <a:lstStyle/>
          <a:p>
            <a:r>
              <a:rPr lang="en-ZA" dirty="0"/>
              <a:t>So now we click on new workspace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7229A3-0207-C78F-8FBA-5DD76C45A9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25635" y="1542597"/>
            <a:ext cx="2598216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0106B-5C98-7B07-0DAB-2E917F482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108" y="1729845"/>
            <a:ext cx="7119257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09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A309A-6A75-B8ED-ECA4-35E4A5BC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EB1D-509F-7201-7FBE-68DB161B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ZA" dirty="0"/>
              <a:t>All the items are loaded one by one to the workspace.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ECE66A-B3D9-35E5-C741-FE55C9FB1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8576" y="1406203"/>
            <a:ext cx="10741423" cy="446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969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0E47-6AFE-12E6-0D16-26110F5C5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389"/>
          </a:xfrm>
        </p:spPr>
        <p:txBody>
          <a:bodyPr>
            <a:normAutofit/>
          </a:bodyPr>
          <a:lstStyle/>
          <a:p>
            <a:r>
              <a:rPr lang="en-ZA" sz="2400" dirty="0"/>
              <a:t>18. Create new git Branch .. And attach a workspace.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139E6C-8AC4-6B42-70F6-043C27756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7557" y="1107167"/>
            <a:ext cx="5562887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7C0D22-9012-0477-CBAB-939E3A744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71" y="1107167"/>
            <a:ext cx="5464629" cy="39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340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AA70-69A4-8A3F-FE63-38F6A6F5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73D43-61CE-A8A2-B6D4-B06A830F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ZA" dirty="0"/>
              <a:t>We now commit the new element with message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8037AF-C6F1-0829-F3DC-D82A38C2E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69403"/>
            <a:ext cx="3105583" cy="4210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ADAF7B-23A9-69B2-3B4B-F462F1596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477" y="1669390"/>
            <a:ext cx="704948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714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91F2-D12F-3849-3AE2-7282D054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0418"/>
          </a:xfrm>
        </p:spPr>
        <p:txBody>
          <a:bodyPr>
            <a:normAutofit/>
          </a:bodyPr>
          <a:lstStyle/>
          <a:p>
            <a:r>
              <a:rPr lang="en-ZA" sz="2400" dirty="0"/>
              <a:t>Go to source control in </a:t>
            </a:r>
            <a:r>
              <a:rPr lang="en-ZA" sz="2400" dirty="0" err="1"/>
              <a:t>wspace</a:t>
            </a:r>
            <a:r>
              <a:rPr lang="en-ZA" sz="2400" dirty="0"/>
              <a:t> and see the Branch Icon on top right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4AD0D-9518-63D4-B71E-FADDC50C0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4164" y="1104807"/>
            <a:ext cx="9278645" cy="2962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9BD3BB-F128-1A7B-493D-2DD94AAE3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93" y="4366758"/>
            <a:ext cx="2915057" cy="22208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BFFA02-C592-3CFA-AB7B-0876C17D6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641" y="4067495"/>
            <a:ext cx="314368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11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76C8-5975-DEFD-DCDF-286EE833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618"/>
          </a:xfrm>
        </p:spPr>
        <p:txBody>
          <a:bodyPr>
            <a:normAutofit fontScale="90000"/>
          </a:bodyPr>
          <a:lstStyle/>
          <a:p>
            <a:r>
              <a:rPr lang="en-ZA" dirty="0"/>
              <a:t>Result is new </a:t>
            </a:r>
            <a:r>
              <a:rPr lang="en-ZA" dirty="0" err="1"/>
              <a:t>wspace</a:t>
            </a:r>
            <a:r>
              <a:rPr lang="en-ZA" dirty="0"/>
              <a:t> with al elements of old.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E7914-3788-3517-91DD-21979AB87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110919"/>
            <a:ext cx="7001852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02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EFE18-87F7-5BF9-5560-9E70967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Go back to Dev ops and you will see feature branch as option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185D80-E5BD-D05F-83CC-59981485E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9305" y="1690688"/>
            <a:ext cx="5391902" cy="21193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6BE9B-5AFF-01AA-20D8-E5A5AEC2D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305" y="3971700"/>
            <a:ext cx="8926171" cy="263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767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8285-B500-3FEE-9D71-282151DA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1441A-4EB1-F809-C752-8988CC684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4428" y="365125"/>
            <a:ext cx="7344800" cy="3658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8C915-6D6A-4C6B-0FA3-136DE54AD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282" y="517546"/>
            <a:ext cx="4027231" cy="3505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91BE7-8B3E-2DC9-B9BE-540129B9F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19" y="3733800"/>
            <a:ext cx="10515600" cy="260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2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B22-AB0B-15E0-B019-B36FB284E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</p:spPr>
        <p:txBody>
          <a:bodyPr>
            <a:normAutofit/>
          </a:bodyPr>
          <a:lstStyle/>
          <a:p>
            <a:r>
              <a:rPr lang="en-US" sz="2400" dirty="0"/>
              <a:t>19. Create a Pull request to merge modifications.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19916A-8DB6-19E5-C918-91CC508E5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8403" y="1253331"/>
            <a:ext cx="79122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9332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18FE-8233-B332-CD02-584C7EEDD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761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Now we go inside the feature w space , the one where we now create a </a:t>
            </a:r>
            <a:r>
              <a:rPr lang="en-US" sz="2700" dirty="0" err="1"/>
              <a:t>powerBi</a:t>
            </a:r>
            <a:r>
              <a:rPr lang="en-US" sz="2700" dirty="0"/>
              <a:t> report</a:t>
            </a:r>
            <a:r>
              <a:rPr lang="en-US" dirty="0"/>
              <a:t>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B8E859-4C8E-5CE9-6487-DEB90A048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4996" y="1219850"/>
            <a:ext cx="2333951" cy="2057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C85BB-D9EA-35B8-014F-BC5C0A7FD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4391" y="746032"/>
            <a:ext cx="6973273" cy="2682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CD2892-8C57-F5C9-0E1E-756061657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724501"/>
            <a:ext cx="978946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964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A237-3516-4063-9283-0D38D5B4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In the feature </a:t>
            </a:r>
            <a:r>
              <a:rPr lang="en-US" sz="2400" dirty="0" err="1"/>
              <a:t>branch..we</a:t>
            </a:r>
            <a:r>
              <a:rPr lang="en-US" sz="2400" dirty="0"/>
              <a:t> have uncommitted report , we go to source control to commit it.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ADC52-B9B9-E7A6-A8A5-2328F56AE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6853" y="1253331"/>
            <a:ext cx="85231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309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35E5E-490F-AF25-A9B2-3626BFCD6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D4BB9-41D2-1E67-383A-5C8D76AC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Go back to Azure Dev </a:t>
            </a:r>
            <a:r>
              <a:rPr lang="en-US" dirty="0" err="1"/>
              <a:t>Ops..feature</a:t>
            </a:r>
            <a:r>
              <a:rPr lang="en-US" dirty="0"/>
              <a:t> branch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ED219F-BE2B-634D-B125-AD2EDE510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899" y="1012936"/>
            <a:ext cx="5652958" cy="466940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E8C113-F047-C0CB-645E-8094FB8D1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513" y="859021"/>
            <a:ext cx="5341030" cy="48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95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5B5D-C8EC-0133-736F-EB87E02B3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0054-E10C-9D0E-56A2-4AA6192B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0789"/>
          </a:xfrm>
        </p:spPr>
        <p:txBody>
          <a:bodyPr>
            <a:normAutofit/>
          </a:bodyPr>
          <a:lstStyle/>
          <a:p>
            <a:r>
              <a:rPr lang="en-US" sz="2400" dirty="0"/>
              <a:t>After we created report , screen below appears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F355F4-05C6-6B70-6451-2F610574C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710519"/>
            <a:ext cx="8106906" cy="314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7DC4D-72DA-2BED-25A4-E67A71A95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18" y="3909803"/>
            <a:ext cx="9621593" cy="294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628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FDBE-DF06-5694-121E-86D03745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US" dirty="0"/>
              <a:t>Once happy </a:t>
            </a:r>
            <a:r>
              <a:rPr lang="en-US" dirty="0" err="1"/>
              <a:t>thed</a:t>
            </a:r>
            <a:r>
              <a:rPr lang="en-US" dirty="0"/>
              <a:t> </a:t>
            </a:r>
            <a:r>
              <a:rPr lang="en-US" dirty="0" err="1"/>
              <a:t>reviwers</a:t>
            </a:r>
            <a:r>
              <a:rPr lang="en-US" dirty="0"/>
              <a:t> will click on </a:t>
            </a:r>
            <a:r>
              <a:rPr lang="en-US" dirty="0" err="1"/>
              <a:t>comple</a:t>
            </a:r>
            <a:r>
              <a:rPr lang="en-US" dirty="0"/>
              <a:t> button on top right.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6D83A-7180-19EE-CCF1-E6C0211D9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8045" y="1119856"/>
            <a:ext cx="7239669" cy="1800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4ED48-91BA-1D98-7726-F8A8800FE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2910" y="1037891"/>
            <a:ext cx="2762636" cy="478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2083A6-A16D-8D6B-F5CD-06E7CB817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08" y="3428998"/>
            <a:ext cx="7597892" cy="219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949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41D7-20ED-96C9-CB65-6C1711F64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0589-8347-ABBF-D17D-7B3F46A3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5104"/>
          </a:xfrm>
        </p:spPr>
        <p:txBody>
          <a:bodyPr>
            <a:normAutofit fontScale="90000"/>
          </a:bodyPr>
          <a:lstStyle/>
          <a:p>
            <a:r>
              <a:rPr lang="en-US" dirty="0"/>
              <a:t>Back to main in ado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14BCA-E41F-02A9-BF32-000D6A6FB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472" y="947058"/>
            <a:ext cx="8087854" cy="29717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70580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CF61-1A30-37CE-2DDF-3C0AC483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7090-0B5B-B444-06CB-96EB163E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Onme</a:t>
            </a:r>
            <a:r>
              <a:rPr lang="en-US" dirty="0"/>
              <a:t> thing left , go to main workspace  and see you have updates message to synch it to the repo.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8DE45-D779-01ED-1823-0AF3C523A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028" y="1431400"/>
            <a:ext cx="8634402" cy="2657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582988-42BB-529D-D2ED-0EC0E3640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243" y="1831506"/>
            <a:ext cx="2825071" cy="2257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8690A6-7F55-BC3A-5209-8AE1AE842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000" y="4366063"/>
            <a:ext cx="9383434" cy="214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619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E1880-A214-629E-ACA5-976BE9F6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71FD-D186-69ED-69B7-232E49422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dirty="0"/>
              <a:t>We have the report in original </a:t>
            </a:r>
            <a:r>
              <a:rPr lang="en-US" dirty="0" err="1"/>
              <a:t>wspaced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B559D1-C909-0C34-D9D1-995F4353B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151" y="1477282"/>
            <a:ext cx="88596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211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8049C-BE6F-5B9C-E4E8-E88DC57B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B317-004C-2501-F58C-93C04838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/>
          <a:lstStyle/>
          <a:p>
            <a:r>
              <a:rPr lang="en-US" dirty="0"/>
              <a:t>We can return to feature </a:t>
            </a:r>
            <a:r>
              <a:rPr lang="en-US" dirty="0" err="1"/>
              <a:t>wspace</a:t>
            </a:r>
            <a:r>
              <a:rPr lang="en-US" dirty="0"/>
              <a:t> and delete it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4F6E7D-83DA-2336-2CB2-682E89FDE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5344" y="1727653"/>
            <a:ext cx="82051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70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3EBB-9AD6-C0B1-171C-C6D457A4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 create a new feature start in main branch area </a:t>
            </a:r>
            <a:r>
              <a:rPr lang="en-US" dirty="0" err="1"/>
              <a:t>a,nd</a:t>
            </a:r>
            <a:r>
              <a:rPr lang="en-US" dirty="0"/>
              <a:t> create the Source control and click on the branch button again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AD575-3548-C743-7B16-A043653414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0858" y="2023349"/>
            <a:ext cx="9354856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650675-35C4-1A62-4728-6E1FE5B27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58" y="4746171"/>
            <a:ext cx="9192908" cy="155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8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86D8C-4C60-2DD2-FBE5-CBEFFD05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189"/>
          </a:xfrm>
        </p:spPr>
        <p:txBody>
          <a:bodyPr>
            <a:normAutofit fontScale="90000"/>
          </a:bodyPr>
          <a:lstStyle/>
          <a:p>
            <a:r>
              <a:rPr lang="en-US" dirty="0"/>
              <a:t>20. Git Best </a:t>
            </a:r>
            <a:r>
              <a:rPr lang="en-US" dirty="0" err="1"/>
              <a:t>Practyices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4FDE2D-3E82-F53F-AE09-E9229674A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00087" y="1363436"/>
            <a:ext cx="69726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508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1D84-1EFB-E731-2F4B-E67D11B6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3704"/>
          </a:xfrm>
        </p:spPr>
        <p:txBody>
          <a:bodyPr>
            <a:normAutofit fontScale="90000"/>
          </a:bodyPr>
          <a:lstStyle/>
          <a:p>
            <a:r>
              <a:rPr lang="en-US" dirty="0"/>
              <a:t>Lets say we want to create a new </a:t>
            </a:r>
            <a:r>
              <a:rPr lang="en-US" dirty="0" err="1"/>
              <a:t>graoh</a:t>
            </a:r>
            <a:r>
              <a:rPr lang="en-US" dirty="0"/>
              <a:t> on this report&gt;&gt;&gt;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ACBD39-A299-33AF-9890-03295576D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2835" y="2091265"/>
            <a:ext cx="9526329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996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2938-0131-704A-567F-8147675CC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in copy of main </a:t>
            </a:r>
            <a:r>
              <a:rPr lang="en-US" dirty="0" err="1"/>
              <a:t>wspace</a:t>
            </a:r>
            <a:r>
              <a:rPr lang="en-US" dirty="0"/>
              <a:t> with feature name added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A9E99-4B45-02DC-FD8E-C61D2A00F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8911" y="1153758"/>
            <a:ext cx="7187918" cy="2275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679685-1BDB-0AF7-614C-FDE7477B2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39" y="3711900"/>
            <a:ext cx="10714889" cy="292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77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1F4E-7B6B-892E-BEEE-B9386D5A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US" dirty="0"/>
              <a:t>Go to feature </a:t>
            </a:r>
            <a:r>
              <a:rPr lang="en-US" dirty="0" err="1"/>
              <a:t>wspace</a:t>
            </a:r>
            <a:r>
              <a:rPr lang="en-US" dirty="0"/>
              <a:t> and open </a:t>
            </a:r>
            <a:r>
              <a:rPr lang="en-US" dirty="0" err="1"/>
              <a:t>pbi</a:t>
            </a:r>
            <a:r>
              <a:rPr lang="en-US" dirty="0"/>
              <a:t> report.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154A92-DD08-A26D-6326-323407953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15314" y="1499054"/>
            <a:ext cx="77325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8772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9518-391D-D855-5D1D-FBFA1F17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r>
              <a:rPr lang="en-US" dirty="0"/>
              <a:t>We now have to commit the changes to the report in feature branch .. </a:t>
            </a:r>
            <a:r>
              <a:rPr lang="en-US" dirty="0" err="1"/>
              <a:t>Sourcr</a:t>
            </a:r>
            <a:r>
              <a:rPr lang="en-US" dirty="0"/>
              <a:t> control </a:t>
            </a:r>
            <a:r>
              <a:rPr lang="en-US" dirty="0" err="1"/>
              <a:t>etc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AE0F3-5715-2D11-46CF-FA528D71D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3749" y="1825625"/>
            <a:ext cx="90445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04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DDD7-7F58-FAAF-58F2-5E458F24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EA18-324C-0582-B7BB-2202CDB2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Gpo</a:t>
            </a:r>
            <a:r>
              <a:rPr lang="en-US" dirty="0"/>
              <a:t> to ADO and refresh page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D51C-64AA-2A2A-7805-27640D1AF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14" y="1172482"/>
            <a:ext cx="10515600" cy="4351338"/>
          </a:xfrm>
        </p:spPr>
        <p:txBody>
          <a:bodyPr/>
          <a:lstStyle/>
          <a:p>
            <a:r>
              <a:rPr lang="en-US" dirty="0"/>
              <a:t>And you can see report is in the feature </a:t>
            </a:r>
            <a:r>
              <a:rPr lang="en-US" dirty="0" err="1"/>
              <a:t>brancjh</a:t>
            </a:r>
            <a:r>
              <a:rPr lang="en-US" dirty="0"/>
              <a:t> in ado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4CCFB-B7CA-A210-3B82-7AABB0A9B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7457" y="1808715"/>
            <a:ext cx="11551171" cy="41725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612CF5-39BF-A793-C67C-3CAFC9302E3E}"/>
              </a:ext>
            </a:extLst>
          </p:cNvPr>
          <p:cNvSpPr/>
          <p:nvPr/>
        </p:nvSpPr>
        <p:spPr>
          <a:xfrm>
            <a:off x="2525486" y="2797629"/>
            <a:ext cx="8688228" cy="729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84092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C318-B77C-4A83-0F95-BFAF2D676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D528-59E9-A391-0FA7-01C272BC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Filol</a:t>
            </a:r>
            <a:r>
              <a:rPr lang="en-US" dirty="0"/>
              <a:t> in pull request from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2571AE-FC34-D187-D79C-13D4B689E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557740"/>
            <a:ext cx="5468113" cy="3982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A4387-709F-7A71-CAF1-DB36D8B21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43" y="1557740"/>
            <a:ext cx="6210290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716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9F9D-116E-CAAA-1604-CDDC0F89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C1338-DF2F-8D7B-F058-0E590119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332"/>
          </a:xfrm>
        </p:spPr>
        <p:txBody>
          <a:bodyPr/>
          <a:lstStyle/>
          <a:p>
            <a:r>
              <a:rPr lang="en-US" dirty="0"/>
              <a:t>Pull has ben validated ..green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FAA84-3B7A-B55B-0750-CD11EA2CE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8451"/>
            <a:ext cx="986927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832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A7381-1961-5625-E141-247286BE5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31BC-0AB1-64ED-4694-1C571FAB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1932"/>
          </a:xfrm>
        </p:spPr>
        <p:txBody>
          <a:bodyPr>
            <a:normAutofit fontScale="90000"/>
          </a:bodyPr>
          <a:lstStyle/>
          <a:p>
            <a:r>
              <a:rPr lang="en-US" dirty="0"/>
              <a:t>Now go to files in the main branch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0A44B-6C6A-9C72-C7CA-B607147B3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36018" y="1335767"/>
            <a:ext cx="95144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541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A8BB-DCB0-B1D9-69FD-D27624785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12E8-671F-5326-8B56-D036A5C4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4846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main in Fabric , we have to update the workspace form git , </a:t>
            </a:r>
            <a:r>
              <a:rPr lang="en-US" dirty="0">
                <a:solidFill>
                  <a:srgbClr val="FF0000"/>
                </a:solidFill>
              </a:rPr>
              <a:t>the pull request only updates the repo on merge ..we have to synch the </a:t>
            </a:r>
            <a:r>
              <a:rPr lang="en-US" dirty="0" err="1">
                <a:solidFill>
                  <a:srgbClr val="FF0000"/>
                </a:solidFill>
              </a:rPr>
              <a:t>wspace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Z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C72EC-BE3E-7B9B-8B19-D9DFBFBFD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109" y="1690655"/>
            <a:ext cx="8125491" cy="209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263D5-8752-F363-E0A2-F358EE377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98293"/>
            <a:ext cx="8383170" cy="22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74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5BA1-982D-D819-2D8D-CFE6AB47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8E42-074F-B5BE-2A9E-7237FB8D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132"/>
          </a:xfrm>
        </p:spPr>
        <p:txBody>
          <a:bodyPr>
            <a:normAutofit fontScale="90000"/>
          </a:bodyPr>
          <a:lstStyle/>
          <a:p>
            <a:r>
              <a:rPr lang="en-US" dirty="0"/>
              <a:t>Source control and Update all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5B1783-25A0-AB9D-11B7-FCD204163A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087" y="1253331"/>
            <a:ext cx="81093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738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5B68B-61EA-AE70-2EB6-8FB01CFA8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7246"/>
          </a:xfrm>
        </p:spPr>
        <p:txBody>
          <a:bodyPr>
            <a:normAutofit fontScale="90000"/>
          </a:bodyPr>
          <a:lstStyle/>
          <a:p>
            <a:r>
              <a:rPr lang="en-US" dirty="0"/>
              <a:t>WE MUST DELETE THE </a:t>
            </a:r>
            <a:r>
              <a:rPr lang="en-US" dirty="0" err="1"/>
              <a:t>FEaTURE</a:t>
            </a:r>
            <a:r>
              <a:rPr lang="en-US" dirty="0"/>
              <a:t> </a:t>
            </a:r>
            <a:r>
              <a:rPr lang="en-US" dirty="0" err="1"/>
              <a:t>Wspace</a:t>
            </a:r>
            <a:r>
              <a:rPr lang="en-US" dirty="0"/>
              <a:t> ..no longer required.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25B36B-A2E3-C469-E931-7D0F6CC74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1223" y="1597025"/>
            <a:ext cx="94014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9224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2FBB-5D85-7DE7-445D-23295191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Now </a:t>
            </a:r>
            <a:r>
              <a:rPr lang="en-US" dirty="0" err="1"/>
              <a:t>gpo</a:t>
            </a:r>
            <a:r>
              <a:rPr lang="en-US" dirty="0"/>
              <a:t> to </a:t>
            </a:r>
            <a:r>
              <a:rPr lang="en-US" dirty="0" err="1"/>
              <a:t>pbi</a:t>
            </a:r>
            <a:r>
              <a:rPr lang="en-US" dirty="0"/>
              <a:t> report after message that update was executed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83C11E-AFA9-8568-F14C-A99099F4A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3520" y="1967422"/>
            <a:ext cx="7944959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7331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B8ABA-E90F-182F-7CDB-ABD0B102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6FE3-A21F-F37E-822A-CF5AEF3E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435"/>
          </a:xfrm>
        </p:spPr>
        <p:txBody>
          <a:bodyPr>
            <a:normAutofit/>
          </a:bodyPr>
          <a:lstStyle/>
          <a:p>
            <a:r>
              <a:rPr lang="en-US" sz="2800" dirty="0"/>
              <a:t>15.. Modification of existing elements (not add new elements)</a:t>
            </a:r>
            <a:endParaRPr lang="en-ZA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DBB980-483E-1C32-69A9-542B97051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6970" y="2160040"/>
            <a:ext cx="4147113" cy="292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1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FD2D-805D-57E6-C00F-4684C267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0927-02F9-B745-4F09-087B7D4D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en-US" dirty="0"/>
              <a:t>I tried the Left config , and got the response on the right 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FE946C-2BE7-CB19-C92B-33062EECF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828" y="1534887"/>
            <a:ext cx="6172200" cy="48489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5360154-FEF9-5407-428D-F752A4764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229" y="1534887"/>
            <a:ext cx="4746171" cy="473528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9701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5105-F448-250A-CD91-3A1A2C9F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26F2-A563-CA49-EA18-5B07C9EA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BFE5B-27FE-B9EE-916D-7B8B29F9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175939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BDAA-EB66-2CA5-3758-2F283FCF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301F-5025-9777-B7E7-A01F47B8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39CC4-8273-EE8A-069B-DE9634D4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80269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0CB15-76A9-27E4-6CB4-DC71E901C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78BDE-EEEF-614B-4AD6-02089A94D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28B1-F185-E0F4-1451-E2727475F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906660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A3EA-3BCB-A3FD-D75D-83030301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CDB1B-52A1-8B15-D2F8-CE364C0DE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ED730-2346-AFFB-3955-7A0389339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007708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5C73-71CA-BF77-6395-E7F6E57D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205D-AEAC-6EC8-2DBE-02186F248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221C-5046-D7E9-2861-65E7BBBE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02833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7AA6-8206-D9A4-E472-876B9716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8BD6-85AD-D871-C67F-9669235A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271BF-89FF-CD2D-F372-8F9F99648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56662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39D4-F075-B5C9-A427-68123A01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F9DE-FF45-CED4-D66F-2BCB529D8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5FA06-4C50-728C-FD09-BB0F74792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100450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03BD-8D4C-43F6-F1EF-4CA5A4F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6B96-6B60-EA97-759E-1F30AF7C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F8068-6D4C-D876-B1D0-AA53A1F5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402757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6FEA-A5F8-6E84-8291-F0BBE41C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ACF8-D634-D9D0-AE04-693703C7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371F-47EC-E9B0-5A21-23DF1EE9C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5217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E0C97-6996-AEF1-59BB-95695E6B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4E8D2-A33A-9433-DFEB-75326DFE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0BA7D-836F-D72F-9345-BB3F63BC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9483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C8C75-FB88-38C5-E1CC-5712AE17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C1F0-DEB3-E77C-3CA5-A5D32ED97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5896-9800-5801-6D75-83185BD19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457010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9511-AC93-D621-09AD-1D0718E4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5369-B91E-3B7E-1EC4-51475012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8817-6F91-3B2C-84B5-6381199F6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15461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16AF5-9415-5FE1-DF98-35E537C6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2E33-2AF9-A082-359E-E45F4D3B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9326-66EB-42B5-2505-F4F50589B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460730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A283-E4D7-CEB9-89F2-FE54BD5D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80F4-19CD-D986-0728-5E12537B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A8A6-8EB9-F2C3-B863-029F952A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775902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38D0-6439-3BBD-6628-B5589C67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8615-AB8F-3E7A-29AF-CDC5EF6D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9D1B-F050-E4F4-DDB2-A67F49C1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840638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FAE8-500A-D43D-D961-F32E2CEA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28D0-EBE0-7DAE-6DA0-465255ED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72B5E-CB89-2C7E-0562-0F626A2A4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911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11516</TotalTime>
  <Words>2639</Words>
  <Application>Microsoft Office PowerPoint</Application>
  <PresentationFormat>Widescreen</PresentationFormat>
  <Paragraphs>280</Paragraphs>
  <Slides>99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3" baseType="lpstr">
      <vt:lpstr>Aptos</vt:lpstr>
      <vt:lpstr>Aptos Display</vt:lpstr>
      <vt:lpstr>Arial</vt:lpstr>
      <vt:lpstr>Office Theme</vt:lpstr>
      <vt:lpstr>DEV OPS</vt:lpstr>
      <vt:lpstr>PowerPoint Presentation</vt:lpstr>
      <vt:lpstr>PowerPoint Presentation</vt:lpstr>
      <vt:lpstr>7. Init Workspace</vt:lpstr>
      <vt:lpstr>Lakehouse.</vt:lpstr>
      <vt:lpstr>Create pipeline to ingest data</vt:lpstr>
      <vt:lpstr>PowerPoint Presentation</vt:lpstr>
      <vt:lpstr>Destination</vt:lpstr>
      <vt:lpstr>10. Config Azure Devops on Fabric</vt:lpstr>
      <vt:lpstr>Land on this page..</vt:lpstr>
      <vt:lpstr>Creation of Project</vt:lpstr>
      <vt:lpstr>Tabs</vt:lpstr>
      <vt:lpstr>Click on the url , on the fabric-computer sales part to create a new repo.</vt:lpstr>
      <vt:lpstr>11. Connect Fabric Wspace to DevOps.</vt:lpstr>
      <vt:lpstr>We are going to link Fabric  to wspace </vt:lpstr>
      <vt:lpstr>Type Git to display Git settings </vt:lpstr>
      <vt:lpstr>Then do the same for the next few options.</vt:lpstr>
      <vt:lpstr>Go Back to Wspace , Workspace Settings </vt:lpstr>
      <vt:lpstr>Fill in all the details as Kervin Gave me.</vt:lpstr>
      <vt:lpstr>See in your Repo the message on the right. </vt:lpstr>
      <vt:lpstr>Go back to DevOps </vt:lpstr>
      <vt:lpstr>12. Commit changes to Git repo </vt:lpstr>
      <vt:lpstr>Note at the top right we have source control , a red indicator </vt:lpstr>
      <vt:lpstr>Add Silver Lakehouse </vt:lpstr>
      <vt:lpstr>Now Silver has been added </vt:lpstr>
      <vt:lpstr>14. Analyze commit History.</vt:lpstr>
      <vt:lpstr>But then go to History under files </vt:lpstr>
      <vt:lpstr>Filers normally gives you the current status.</vt:lpstr>
      <vt:lpstr>We add a new item , like a notebook. </vt:lpstr>
      <vt:lpstr>See csv in bronze lakehouse </vt:lpstr>
      <vt:lpstr>Go back to Silver lakehouse </vt:lpstr>
      <vt:lpstr>Click the source control button and chosee to commit. </vt:lpstr>
      <vt:lpstr>Go to Contents and history tabs</vt:lpstr>
      <vt:lpstr>See the content overleaf. </vt:lpstr>
      <vt:lpstr>Adds a Notebook, </vt:lpstr>
      <vt:lpstr>Now you see the confirmations its been committed in the workspace </vt:lpstr>
      <vt:lpstr>Go back to Azure Dev Ops and refresh the page </vt:lpstr>
      <vt:lpstr>Click on button on right of the commit</vt:lpstr>
      <vt:lpstr>15. Resynch Fabric Wspace w uncommitted changes </vt:lpstr>
      <vt:lpstr>We add a column to the table +display it </vt:lpstr>
      <vt:lpstr>Again we see uncommited and the we click on the source control , and see modified status on the right.</vt:lpstr>
      <vt:lpstr>Go back to Dev Ops and refresh the page </vt:lpstr>
      <vt:lpstr>16. Undo changes in wspace.</vt:lpstr>
      <vt:lpstr>In wspace the source control is Red </vt:lpstr>
      <vt:lpstr>Or , we don’t commit and we undo the modification </vt:lpstr>
      <vt:lpstr>Go back to source control menu , you no longer have changes there . The deleted element as we recovered it</vt:lpstr>
      <vt:lpstr>Now we want to see how to roll back mods </vt:lpstr>
      <vt:lpstr>Click on Undo mods </vt:lpstr>
      <vt:lpstr>17. Retrive all Git Synched Items in a New Workspace .</vt:lpstr>
      <vt:lpstr>So now we click on new workspace </vt:lpstr>
      <vt:lpstr>All the items are loaded one by one to the workspace. </vt:lpstr>
      <vt:lpstr>18. Create new git Branch .. And attach a workspace. </vt:lpstr>
      <vt:lpstr>We now commit the new element with message </vt:lpstr>
      <vt:lpstr>Go to source control in wspace and see the Branch Icon on top right </vt:lpstr>
      <vt:lpstr>Result is new wspace with al elements of old. </vt:lpstr>
      <vt:lpstr>Go back to Dev ops and you will see feature branch as option </vt:lpstr>
      <vt:lpstr>PowerPoint Presentation</vt:lpstr>
      <vt:lpstr>19. Create a Pull request to merge modifications. </vt:lpstr>
      <vt:lpstr>Now we go inside the feature w space , the one where we now create a powerBi report. </vt:lpstr>
      <vt:lpstr>In the feature branch..we have uncommitted report , we go to source control to commit it. </vt:lpstr>
      <vt:lpstr>Go back to Azure Dev Ops..feature branch </vt:lpstr>
      <vt:lpstr>After we created report , screen below appears </vt:lpstr>
      <vt:lpstr>Once happy thed reviwers will click on comple button on top right. </vt:lpstr>
      <vt:lpstr>Back to main in ado </vt:lpstr>
      <vt:lpstr>Onme thing left , go to main workspace  and see you have updates message to synch it to the repo. </vt:lpstr>
      <vt:lpstr>We have the report in original wspaced </vt:lpstr>
      <vt:lpstr>We can return to feature wspace and delete it </vt:lpstr>
      <vt:lpstr>To create a new feature start in main branch area a,nd create the Source control and click on the branch button again </vt:lpstr>
      <vt:lpstr>20. Git Best Practyices </vt:lpstr>
      <vt:lpstr>Lets say we want to create a new graoh on this report&gt;&gt;&gt; </vt:lpstr>
      <vt:lpstr>Results in copy of main wspace with feature name added </vt:lpstr>
      <vt:lpstr>Go to feature wspace and open pbi report. </vt:lpstr>
      <vt:lpstr>We now have to commit the changes to the report in feature branch .. Sourcr control etc </vt:lpstr>
      <vt:lpstr>Gpo to ADO and refresh page </vt:lpstr>
      <vt:lpstr>Filol in pull request from </vt:lpstr>
      <vt:lpstr>Pull has ben validated ..green</vt:lpstr>
      <vt:lpstr>Now go to files in the main branch </vt:lpstr>
      <vt:lpstr>Go to main in Fabric , we have to update the workspace form git , the pull request only updates the repo on merge ..we have to synch the wspace </vt:lpstr>
      <vt:lpstr>Source control and Update all </vt:lpstr>
      <vt:lpstr>WE MUST DELETE THE FEaTURE Wspace ..no longer required. </vt:lpstr>
      <vt:lpstr>Now gpo to pbi report after message that update was executed </vt:lpstr>
      <vt:lpstr>15.. Modification of existing elements (not add new elements)</vt:lpstr>
      <vt:lpstr>I tried the Left config , and got the response on the right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104</cp:revision>
  <dcterms:created xsi:type="dcterms:W3CDTF">2025-10-09T05:42:07Z</dcterms:created>
  <dcterms:modified xsi:type="dcterms:W3CDTF">2025-11-02T09:39:53Z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2025-10-09T05:42:07Z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2b6eb847-3398-4622-8d87-01ce811baeca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