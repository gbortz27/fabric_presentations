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257" r:id="rId3"/>
    <p:sldId id="258" r:id="rId4"/>
    <p:sldId id="267" r:id="rId5"/>
    <p:sldId id="268" r:id="rId6"/>
    <p:sldId id="269" r:id="rId7"/>
    <p:sldId id="270" r:id="rId8"/>
    <p:sldId id="294" r:id="rId9"/>
    <p:sldId id="259" r:id="rId10"/>
    <p:sldId id="260" r:id="rId11"/>
    <p:sldId id="261" r:id="rId12"/>
    <p:sldId id="262" r:id="rId13"/>
    <p:sldId id="263" r:id="rId14"/>
    <p:sldId id="264" r:id="rId15"/>
    <p:sldId id="265" r:id="rId16"/>
    <p:sldId id="266" r:id="rId17"/>
    <p:sldId id="272" r:id="rId18"/>
    <p:sldId id="271" r:id="rId19"/>
    <p:sldId id="273" r:id="rId20"/>
    <p:sldId id="274" r:id="rId21"/>
    <p:sldId id="275" r:id="rId22"/>
    <p:sldId id="276" r:id="rId23"/>
    <p:sldId id="293" r:id="rId24"/>
    <p:sldId id="277" r:id="rId25"/>
    <p:sldId id="278"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17B321-3F03-4844-85C6-80F034749468}">
          <p14:sldIdLst>
            <p14:sldId id="256"/>
            <p14:sldId id="257"/>
          </p14:sldIdLst>
        </p14:section>
        <p14:section name="1.0 Backtesting V1 Pipeline" id="{0DD20011-E378-4D42-AA6E-FA5E07CF8B71}">
          <p14:sldIdLst>
            <p14:sldId id="258"/>
          </p14:sldIdLst>
        </p14:section>
        <p14:section name="1.1 Pipelines" id="{0E3FC956-BA76-4F64-ACB3-36C175B9DE08}">
          <p14:sldIdLst>
            <p14:sldId id="267"/>
            <p14:sldId id="268"/>
            <p14:sldId id="269"/>
            <p14:sldId id="270"/>
            <p14:sldId id="294"/>
          </p14:sldIdLst>
        </p14:section>
        <p14:section name="1.2 Notebooks" id="{1A5B3EA4-0D15-4138-BAE4-51CC7AC62620}">
          <p14:sldIdLst>
            <p14:sldId id="259"/>
          </p14:sldIdLst>
        </p14:section>
        <p14:section name="1.2.1 Complete Notebook" id="{9CFFB5F7-FF73-4CE7-8DAC-CDE66728F3D8}">
          <p14:sldIdLst>
            <p14:sldId id="260"/>
            <p14:sldId id="261"/>
            <p14:sldId id="262"/>
            <p14:sldId id="263"/>
            <p14:sldId id="264"/>
            <p14:sldId id="265"/>
            <p14:sldId id="266"/>
            <p14:sldId id="272"/>
            <p14:sldId id="271"/>
            <p14:sldId id="273"/>
          </p14:sldIdLst>
        </p14:section>
        <p14:section name="1.2.2 Notebooks for Pipeline_Contract_BT_1" id="{1C1C51FC-BD97-4E46-824C-FE20237CBE1B}">
          <p14:sldIdLst/>
        </p14:section>
        <p14:section name="1.2.2a Bronze Layer Notebook" id="{912ECADF-2DA4-4358-95AF-1EE2E6687D57}">
          <p14:sldIdLst>
            <p14:sldId id="274"/>
            <p14:sldId id="275"/>
            <p14:sldId id="276"/>
          </p14:sldIdLst>
        </p14:section>
        <p14:section name="1.2.2b Silver Notebook" id="{0B4DA9A4-7D98-4DA9-876C-5ECDB3A31321}">
          <p14:sldIdLst>
            <p14:sldId id="293"/>
            <p14:sldId id="277"/>
            <p14:sldId id="278"/>
          </p14:sldIdLst>
        </p14:section>
        <p14:section name="1.2.2c Gold Notebook" id="{F4B821D0-6B6B-4885-AEE7-A25CA5A66D38}">
          <p14:sldIdLst>
            <p14:sldId id="280"/>
            <p14:sldId id="281"/>
            <p14:sldId id="282"/>
          </p14:sldIdLst>
        </p14:section>
        <p14:section name="1.2.3 NoteBook for Pipeline Contract_BT1_Meta" id="{C25A3AB1-FFFB-4DA7-8615-6E319A7D10A1}">
          <p14:sldIdLst>
            <p14:sldId id="283"/>
            <p14:sldId id="284"/>
          </p14:sldIdLst>
        </p14:section>
        <p14:section name="1.3 Notebooks in the Folder" id="{7B6DD83B-9D29-491E-9632-0089259FEA07}">
          <p14:sldIdLst>
            <p14:sldId id="285"/>
          </p14:sldIdLst>
        </p14:section>
        <p14:section name="1.4 Tables and Files in Lakehouse" id="{A130C154-AC7B-4D5F-9E64-A292B5130E77}">
          <p14:sldIdLst>
            <p14:sldId id="286"/>
          </p14:sldIdLst>
        </p14:section>
        <p14:section name="2.0 Automation" id="{CE1D9705-EC00-4EF1-9842-D8D7D6AA8680}">
          <p14:sldIdLst/>
        </p14:section>
        <p14:section name="2.1 Automation Backtesting  Via a Trigger" id="{33221131-C47B-4A76-8FA9-00CC39F8018A}">
          <p14:sldIdLst>
            <p14:sldId id="287"/>
            <p14:sldId id="288"/>
            <p14:sldId id="289"/>
            <p14:sldId id="290"/>
            <p14:sldId id="291"/>
          </p14:sldIdLst>
        </p14:section>
        <p14:section name="2.2 Manual Trigger with File Checking" id="{3B44D067-A7A9-4A4E-9099-3CB43786C8A3}">
          <p14:sldIdLst>
            <p14:sldId id="292"/>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8" autoAdjust="0"/>
    <p:restoredTop sz="72261" autoAdjust="0"/>
  </p:normalViewPr>
  <p:slideViewPr>
    <p:cSldViewPr snapToGrid="0">
      <p:cViewPr>
        <p:scale>
          <a:sx n="37" d="100"/>
          <a:sy n="37" d="100"/>
        </p:scale>
        <p:origin x="72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6398B-8766-4718-9B54-99CB1B92C011}" type="datetimeFigureOut">
              <a:rPr lang="en-ZA" smtClean="0"/>
              <a:t>2025/09/01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DD0C35-819F-4A9A-ADAE-9D13D00397F4}" type="slidenum">
              <a:rPr lang="en-ZA" smtClean="0"/>
              <a:t>‹#›</a:t>
            </a:fld>
            <a:endParaRPr lang="en-ZA"/>
          </a:p>
        </p:txBody>
      </p:sp>
    </p:spTree>
    <p:extLst>
      <p:ext uri="{BB962C8B-B14F-4D97-AF65-F5344CB8AC3E}">
        <p14:creationId xmlns:p14="http://schemas.microsoft.com/office/powerpoint/2010/main" val="73743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2</a:t>
            </a:fld>
            <a:endParaRPr lang="en-ZA"/>
          </a:p>
        </p:txBody>
      </p:sp>
    </p:spTree>
    <p:extLst>
      <p:ext uri="{BB962C8B-B14F-4D97-AF65-F5344CB8AC3E}">
        <p14:creationId xmlns:p14="http://schemas.microsoft.com/office/powerpoint/2010/main" val="3424413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Note how long each component took to run , especially the metadata capture </a:t>
            </a:r>
          </a:p>
          <a:p>
            <a:pPr marL="228600" indent="-228600">
              <a:buAutoNum type="arabicParenR"/>
            </a:pPr>
            <a:r>
              <a:rPr lang="en-US" dirty="0"/>
              <a:t>The wait component is necessitated by the delay to instantiate the tables. This needs to be measured by more testing as it failed when no delay was included </a:t>
            </a:r>
          </a:p>
          <a:p>
            <a:pPr marL="228600" indent="-228600">
              <a:buAutoNum type="arabicParenR"/>
            </a:pPr>
            <a:r>
              <a:rPr lang="en-US" dirty="0"/>
              <a:t>This pipeline was triggered manually. </a:t>
            </a:r>
          </a:p>
          <a:p>
            <a:pPr marL="228600" indent="-228600">
              <a:buAutoNum type="arabicParenR"/>
            </a:pPr>
            <a:r>
              <a:rPr lang="en-US" dirty="0"/>
              <a:t>The invoke pipeline blocks trigger their underlying pipelines.</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4</a:t>
            </a:fld>
            <a:endParaRPr lang="en-ZA"/>
          </a:p>
        </p:txBody>
      </p:sp>
    </p:spTree>
    <p:extLst>
      <p:ext uri="{BB962C8B-B14F-4D97-AF65-F5344CB8AC3E}">
        <p14:creationId xmlns:p14="http://schemas.microsoft.com/office/powerpoint/2010/main" val="2202011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wait on completion is set in the second pipeline but not in the first </a:t>
            </a:r>
          </a:p>
          <a:p>
            <a:r>
              <a:rPr lang="en-US" dirty="0"/>
              <a:t>Note where the pipelines are addressed in the first and 3</a:t>
            </a:r>
            <a:r>
              <a:rPr lang="en-US" baseline="30000" dirty="0"/>
              <a:t>rd</a:t>
            </a:r>
            <a:r>
              <a:rPr lang="en-US" dirty="0"/>
              <a:t> Invoke blocks.</a:t>
            </a:r>
          </a:p>
          <a:p>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5</a:t>
            </a:fld>
            <a:endParaRPr lang="en-ZA"/>
          </a:p>
        </p:txBody>
      </p:sp>
    </p:spTree>
    <p:extLst>
      <p:ext uri="{BB962C8B-B14F-4D97-AF65-F5344CB8AC3E}">
        <p14:creationId xmlns:p14="http://schemas.microsoft.com/office/powerpoint/2010/main" val="578574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Note the referral to the notebooks </a:t>
            </a:r>
          </a:p>
          <a:p>
            <a:pPr marL="228600" indent="-228600">
              <a:buAutoNum type="arabicParenR"/>
            </a:pPr>
            <a:r>
              <a:rPr lang="en-US" dirty="0"/>
              <a:t>They do not have folder paths, although the notebooks reside in a folder.</a:t>
            </a:r>
          </a:p>
          <a:p>
            <a:pPr marL="228600" indent="-228600">
              <a:buAutoNum type="arabicParenR"/>
            </a:pPr>
            <a:r>
              <a:rPr lang="en-US" dirty="0"/>
              <a:t>The notebook full names are listed underneath.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7</a:t>
            </a:fld>
            <a:endParaRPr lang="en-ZA"/>
          </a:p>
        </p:txBody>
      </p:sp>
    </p:spTree>
    <p:extLst>
      <p:ext uri="{BB962C8B-B14F-4D97-AF65-F5344CB8AC3E}">
        <p14:creationId xmlns:p14="http://schemas.microsoft.com/office/powerpoint/2010/main" val="2456983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Linked to Notebook: </a:t>
            </a:r>
            <a:r>
              <a:rPr lang="en-US" dirty="0" err="1"/>
              <a:t>AuditLog_Backtesting</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8</a:t>
            </a:fld>
            <a:endParaRPr lang="en-ZA"/>
          </a:p>
        </p:txBody>
      </p:sp>
    </p:spTree>
    <p:extLst>
      <p:ext uri="{BB962C8B-B14F-4D97-AF65-F5344CB8AC3E}">
        <p14:creationId xmlns:p14="http://schemas.microsoft.com/office/powerpoint/2010/main" val="3742985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Library instantiation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t>Reading the Bronze table and display  in Raw CSV (</a:t>
            </a:r>
            <a:r>
              <a:rPr lang="it-IT" sz="1200" b="0" kern="1200" dirty="0">
                <a:solidFill>
                  <a:schemeClr val="tx1"/>
                </a:solidFill>
                <a:effectLst/>
                <a:latin typeface="+mn-lt"/>
                <a:ea typeface="+mn-ea"/>
                <a:cs typeface="+mn-cs"/>
              </a:rPr>
              <a:t>20250707_115241_JSE_BT per CT.csv)</a:t>
            </a:r>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10</a:t>
            </a:fld>
            <a:endParaRPr lang="en-ZA"/>
          </a:p>
        </p:txBody>
      </p:sp>
    </p:spTree>
    <p:extLst>
      <p:ext uri="{BB962C8B-B14F-4D97-AF65-F5344CB8AC3E}">
        <p14:creationId xmlns:p14="http://schemas.microsoft.com/office/powerpoint/2010/main" val="1210128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Change column names (no spaces)</a:t>
            </a:r>
          </a:p>
          <a:p>
            <a:pPr marL="228600" indent="-228600">
              <a:buAutoNum type="arabicParenR"/>
            </a:pPr>
            <a:r>
              <a:rPr lang="en-US" dirty="0"/>
              <a:t>Check </a:t>
            </a:r>
            <a:r>
              <a:rPr lang="en-US" dirty="0" err="1"/>
              <a:t>dataframe</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11</a:t>
            </a:fld>
            <a:endParaRPr lang="en-ZA"/>
          </a:p>
        </p:txBody>
      </p:sp>
    </p:spTree>
    <p:extLst>
      <p:ext uri="{BB962C8B-B14F-4D97-AF65-F5344CB8AC3E}">
        <p14:creationId xmlns:p14="http://schemas.microsoft.com/office/powerpoint/2010/main" val="3735579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t>Save as a Bronze Table : </a:t>
            </a:r>
            <a:r>
              <a:rPr lang="en-US" sz="1200" b="0" kern="1200" dirty="0" err="1">
                <a:solidFill>
                  <a:schemeClr val="tx1"/>
                </a:solidFill>
                <a:effectLst/>
                <a:latin typeface="+mn-lt"/>
                <a:ea typeface="+mn-ea"/>
                <a:cs typeface="+mn-cs"/>
              </a:rPr>
              <a:t>df_raw_BT_CT_cCran_Bronze</a:t>
            </a:r>
            <a:endParaRPr lang="en-US" sz="1200" b="0" kern="1200" dirty="0">
              <a:solidFill>
                <a:schemeClr val="tx1"/>
              </a:solidFill>
              <a:effectLst/>
              <a:latin typeface="+mn-lt"/>
              <a:ea typeface="+mn-ea"/>
              <a:cs typeface="+mn-cs"/>
            </a:endParaRPr>
          </a:p>
          <a:p>
            <a:pPr marL="228600" indent="-228600">
              <a:buAutoNum type="arabicParenR"/>
            </a:pP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t>Read in the Positions Table and display  </a:t>
            </a:r>
            <a:r>
              <a:rPr lang="en-US" dirty="0" err="1"/>
              <a:t>ie</a:t>
            </a:r>
            <a:r>
              <a:rPr lang="en-US" dirty="0"/>
              <a:t> an excel fil: </a:t>
            </a:r>
            <a:r>
              <a:rPr lang="sv-SE" sz="1200" b="0" kern="1200" dirty="0">
                <a:solidFill>
                  <a:schemeClr val="tx1"/>
                </a:solidFill>
                <a:effectLst/>
                <a:latin typeface="+mn-lt"/>
                <a:ea typeface="+mn-ea"/>
                <a:cs typeface="+mn-cs"/>
              </a:rPr>
              <a:t>EDM_FXM_Backtesting/Positions 2025-07-04.xlsx</a:t>
            </a:r>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12</a:t>
            </a:fld>
            <a:endParaRPr lang="en-ZA"/>
          </a:p>
        </p:txBody>
      </p:sp>
    </p:spTree>
    <p:extLst>
      <p:ext uri="{BB962C8B-B14F-4D97-AF65-F5344CB8AC3E}">
        <p14:creationId xmlns:p14="http://schemas.microsoft.com/office/powerpoint/2010/main" val="464209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Convert to Spark </a:t>
            </a:r>
            <a:r>
              <a:rPr lang="en-US" dirty="0" err="1"/>
              <a:t>Dataframe</a:t>
            </a:r>
            <a:r>
              <a:rPr lang="en-US" dirty="0"/>
              <a:t> </a:t>
            </a:r>
          </a:p>
          <a:p>
            <a:pPr marL="228600" indent="-228600">
              <a:buAutoNum type="arabicParenR"/>
            </a:pPr>
            <a:r>
              <a:rPr lang="en-US" dirty="0"/>
              <a:t>Convert to a Table in the schema</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13</a:t>
            </a:fld>
            <a:endParaRPr lang="en-ZA"/>
          </a:p>
        </p:txBody>
      </p:sp>
    </p:spTree>
    <p:extLst>
      <p:ext uri="{BB962C8B-B14F-4D97-AF65-F5344CB8AC3E}">
        <p14:creationId xmlns:p14="http://schemas.microsoft.com/office/powerpoint/2010/main" val="353583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Read in the Contracts Bronze Table into a Spark </a:t>
            </a:r>
            <a:r>
              <a:rPr lang="en-US" dirty="0" err="1"/>
              <a:t>dataframe</a:t>
            </a:r>
            <a:r>
              <a:rPr lang="en-US" dirty="0"/>
              <a:t> </a:t>
            </a:r>
          </a:p>
          <a:p>
            <a:pPr marL="228600" indent="-228600">
              <a:buAutoNum type="arabicParenR"/>
            </a:pPr>
            <a:r>
              <a:rPr lang="en-US" dirty="0"/>
              <a:t>Convert the spark to Pandas</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14</a:t>
            </a:fld>
            <a:endParaRPr lang="en-ZA"/>
          </a:p>
        </p:txBody>
      </p:sp>
    </p:spTree>
    <p:extLst>
      <p:ext uri="{BB962C8B-B14F-4D97-AF65-F5344CB8AC3E}">
        <p14:creationId xmlns:p14="http://schemas.microsoft.com/office/powerpoint/2010/main" val="3883372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Process From Bronze  to Silver State (only column enrichment)</a:t>
            </a:r>
          </a:p>
          <a:p>
            <a:pPr marL="228600" indent="-228600">
              <a:buAutoNum type="arabicParenR"/>
            </a:pPr>
            <a:r>
              <a:rPr lang="en-US" dirty="0"/>
              <a:t>Save as Silver Table</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15</a:t>
            </a:fld>
            <a:endParaRPr lang="en-ZA"/>
          </a:p>
        </p:txBody>
      </p:sp>
    </p:spTree>
    <p:extLst>
      <p:ext uri="{BB962C8B-B14F-4D97-AF65-F5344CB8AC3E}">
        <p14:creationId xmlns:p14="http://schemas.microsoft.com/office/powerpoint/2010/main" val="619572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Read in the Bronze Positions Table into a Spark </a:t>
            </a:r>
            <a:r>
              <a:rPr lang="en-US" dirty="0" err="1"/>
              <a:t>df</a:t>
            </a:r>
            <a:r>
              <a:rPr lang="en-US" dirty="0"/>
              <a:t> </a:t>
            </a:r>
          </a:p>
          <a:p>
            <a:pPr marL="228600" indent="-228600">
              <a:buAutoNum type="arabicParenR"/>
            </a:pPr>
            <a:r>
              <a:rPr lang="en-US" dirty="0"/>
              <a:t>Convert to Pandas</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16</a:t>
            </a:fld>
            <a:endParaRPr lang="en-ZA"/>
          </a:p>
        </p:txBody>
      </p:sp>
    </p:spTree>
    <p:extLst>
      <p:ext uri="{BB962C8B-B14F-4D97-AF65-F5344CB8AC3E}">
        <p14:creationId xmlns:p14="http://schemas.microsoft.com/office/powerpoint/2010/main" val="4593049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Read in the Cran Silver Table </a:t>
            </a:r>
          </a:p>
          <a:p>
            <a:pPr marL="228600" indent="-228600">
              <a:buAutoNum type="arabicParenR"/>
            </a:pPr>
            <a:r>
              <a:rPr lang="en-US" dirty="0"/>
              <a:t>Convert to Pandas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17</a:t>
            </a:fld>
            <a:endParaRPr lang="en-ZA"/>
          </a:p>
        </p:txBody>
      </p:sp>
    </p:spTree>
    <p:extLst>
      <p:ext uri="{BB962C8B-B14F-4D97-AF65-F5344CB8AC3E}">
        <p14:creationId xmlns:p14="http://schemas.microsoft.com/office/powerpoint/2010/main" val="2616659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Process to gold (Aggregation and Joins )</a:t>
            </a:r>
          </a:p>
          <a:p>
            <a:pPr marL="228600" indent="-228600">
              <a:buAutoNum type="arabicParenR"/>
            </a:pPr>
            <a:r>
              <a:rPr lang="en-US" dirty="0"/>
              <a:t>Print out </a:t>
            </a:r>
            <a:r>
              <a:rPr lang="en-US" dirty="0" err="1"/>
              <a:t>resukts</a:t>
            </a:r>
            <a:r>
              <a:rPr lang="en-US" dirty="0"/>
              <a:t> to a gold table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18</a:t>
            </a:fld>
            <a:endParaRPr lang="en-ZA"/>
          </a:p>
        </p:txBody>
      </p:sp>
    </p:spTree>
    <p:extLst>
      <p:ext uri="{BB962C8B-B14F-4D97-AF65-F5344CB8AC3E}">
        <p14:creationId xmlns:p14="http://schemas.microsoft.com/office/powerpoint/2010/main" val="696871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Convert final table from Pandas to Spark</a:t>
            </a:r>
          </a:p>
          <a:p>
            <a:pPr marL="228600" indent="-228600">
              <a:buAutoNum type="arabicParenR"/>
            </a:pPr>
            <a:r>
              <a:rPr lang="en-US" dirty="0"/>
              <a:t>Save as a Gold table and Test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19</a:t>
            </a:fld>
            <a:endParaRPr lang="en-ZA"/>
          </a:p>
        </p:txBody>
      </p:sp>
    </p:spTree>
    <p:extLst>
      <p:ext uri="{BB962C8B-B14F-4D97-AF65-F5344CB8AC3E}">
        <p14:creationId xmlns:p14="http://schemas.microsoft.com/office/powerpoint/2010/main" val="20838822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outputs are hidden:</a:t>
            </a:r>
          </a:p>
          <a:p>
            <a:r>
              <a:rPr lang="en-US" dirty="0"/>
              <a:t>1) Read in Raw Cran Table from CSV </a:t>
            </a:r>
          </a:p>
          <a:p>
            <a:r>
              <a:rPr lang="en-US" dirty="0"/>
              <a:t>2) Rename the headings </a:t>
            </a:r>
          </a:p>
          <a:p>
            <a:r>
              <a:rPr lang="en-US" dirty="0"/>
              <a:t>3) Save as Bronze Table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20</a:t>
            </a:fld>
            <a:endParaRPr lang="en-ZA"/>
          </a:p>
        </p:txBody>
      </p:sp>
    </p:spTree>
    <p:extLst>
      <p:ext uri="{BB962C8B-B14F-4D97-AF65-F5344CB8AC3E}">
        <p14:creationId xmlns:p14="http://schemas.microsoft.com/office/powerpoint/2010/main" val="3325240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Read in positions Data as a Pandas </a:t>
            </a:r>
            <a:r>
              <a:rPr lang="en-US" dirty="0" err="1"/>
              <a:t>dataframe</a:t>
            </a:r>
            <a:r>
              <a:rPr lang="en-US" dirty="0"/>
              <a:t> </a:t>
            </a:r>
          </a:p>
          <a:p>
            <a:pPr marL="228600" indent="-228600">
              <a:buAutoNum type="arabicParenR"/>
            </a:pPr>
            <a:r>
              <a:rPr lang="en-US" dirty="0"/>
              <a:t>Convert to a Spark </a:t>
            </a:r>
            <a:r>
              <a:rPr lang="en-US" dirty="0" err="1"/>
              <a:t>Dataframe</a:t>
            </a:r>
            <a:r>
              <a:rPr lang="en-US" dirty="0"/>
              <a:t> </a:t>
            </a:r>
          </a:p>
          <a:p>
            <a:pPr marL="228600" indent="-228600">
              <a:buAutoNum type="arabicParenR"/>
            </a:pPr>
            <a:r>
              <a:rPr lang="en-US" dirty="0"/>
              <a:t>Convert to a Bronze Table </a:t>
            </a:r>
          </a:p>
          <a:p>
            <a:pPr marL="228600" indent="-228600">
              <a:buAutoNum type="arabicParenR"/>
            </a:pPr>
            <a:r>
              <a:rPr lang="en-US" dirty="0"/>
              <a:t>End of Bronze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21</a:t>
            </a:fld>
            <a:endParaRPr lang="en-ZA"/>
          </a:p>
        </p:txBody>
      </p:sp>
    </p:spTree>
    <p:extLst>
      <p:ext uri="{BB962C8B-B14F-4D97-AF65-F5344CB8AC3E}">
        <p14:creationId xmlns:p14="http://schemas.microsoft.com/office/powerpoint/2010/main" val="4020845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Import Library</a:t>
            </a:r>
          </a:p>
          <a:p>
            <a:pPr marL="228600" indent="-228600">
              <a:buAutoNum type="arabicParenR"/>
            </a:pPr>
            <a:r>
              <a:rPr lang="en-US" dirty="0"/>
              <a:t>Read in the Cran Table from Bronze</a:t>
            </a:r>
          </a:p>
          <a:p>
            <a:pPr marL="228600" indent="-228600">
              <a:buAutoNum type="arabicParenR"/>
            </a:pPr>
            <a:r>
              <a:rPr lang="en-US" dirty="0"/>
              <a:t>Convert Cran to Pandas</a:t>
            </a:r>
          </a:p>
          <a:p>
            <a:pPr marL="228600" indent="-228600">
              <a:buAutoNum type="arabicParenR"/>
            </a:pPr>
            <a:r>
              <a:rPr lang="en-US" dirty="0"/>
              <a:t>Read in the Positions Table From Bronze</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23</a:t>
            </a:fld>
            <a:endParaRPr lang="en-ZA"/>
          </a:p>
        </p:txBody>
      </p:sp>
    </p:spTree>
    <p:extLst>
      <p:ext uri="{BB962C8B-B14F-4D97-AF65-F5344CB8AC3E}">
        <p14:creationId xmlns:p14="http://schemas.microsoft.com/office/powerpoint/2010/main" val="3151893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Convert Positions to Pandas </a:t>
            </a:r>
          </a:p>
          <a:p>
            <a:pPr marL="228600" indent="-228600">
              <a:buAutoNum type="arabicParenR"/>
            </a:pPr>
            <a:r>
              <a:rPr lang="en-US" dirty="0"/>
              <a:t>Process to Silver</a:t>
            </a:r>
          </a:p>
          <a:p>
            <a:pPr marL="228600" indent="-228600">
              <a:buAutoNum type="arabicParenR"/>
            </a:pPr>
            <a:r>
              <a:rPr lang="en-US" dirty="0"/>
              <a:t>Convert to Spark</a:t>
            </a:r>
          </a:p>
          <a:p>
            <a:pPr marL="228600" indent="-228600">
              <a:buAutoNum type="arabicParenR"/>
            </a:pPr>
            <a:r>
              <a:rPr lang="en-US" dirty="0"/>
              <a:t>Save As a Table </a:t>
            </a:r>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24</a:t>
            </a:fld>
            <a:endParaRPr lang="en-ZA"/>
          </a:p>
        </p:txBody>
      </p:sp>
    </p:spTree>
    <p:extLst>
      <p:ext uri="{BB962C8B-B14F-4D97-AF65-F5344CB8AC3E}">
        <p14:creationId xmlns:p14="http://schemas.microsoft.com/office/powerpoint/2010/main" val="1329621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Import Libraries</a:t>
            </a:r>
          </a:p>
          <a:p>
            <a:pPr marL="228600" indent="-228600">
              <a:buAutoNum type="arabicParenR"/>
            </a:pPr>
            <a:r>
              <a:rPr lang="en-US" dirty="0"/>
              <a:t>Read in the Positions Table (from Bronze Layer) </a:t>
            </a:r>
          </a:p>
          <a:p>
            <a:pPr marL="228600" indent="-228600">
              <a:buAutoNum type="arabicParenR"/>
            </a:pPr>
            <a:r>
              <a:rPr lang="en-US" dirty="0"/>
              <a:t>Convert to Pandas</a:t>
            </a:r>
          </a:p>
          <a:p>
            <a:pPr marL="228600" indent="-228600">
              <a:buAutoNum type="arabicParenR"/>
            </a:pPr>
            <a:r>
              <a:rPr lang="en-US" dirty="0"/>
              <a:t>Read in Cran Silver Table </a:t>
            </a:r>
          </a:p>
          <a:p>
            <a:pPr marL="228600" indent="-228600">
              <a:buAutoNum type="arabicParenR"/>
            </a:pPr>
            <a:r>
              <a:rPr lang="en-US" dirty="0"/>
              <a:t>Convert Cran Silver to Pandas</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26</a:t>
            </a:fld>
            <a:endParaRPr lang="en-ZA"/>
          </a:p>
        </p:txBody>
      </p:sp>
    </p:spTree>
    <p:extLst>
      <p:ext uri="{BB962C8B-B14F-4D97-AF65-F5344CB8AC3E}">
        <p14:creationId xmlns:p14="http://schemas.microsoft.com/office/powerpoint/2010/main" val="26451000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Process to Gold Pandas Frame</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27</a:t>
            </a:fld>
            <a:endParaRPr lang="en-ZA"/>
          </a:p>
        </p:txBody>
      </p:sp>
    </p:spTree>
    <p:extLst>
      <p:ext uri="{BB962C8B-B14F-4D97-AF65-F5344CB8AC3E}">
        <p14:creationId xmlns:p14="http://schemas.microsoft.com/office/powerpoint/2010/main" val="18162765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Save results to a Table </a:t>
            </a:r>
          </a:p>
          <a:p>
            <a:pPr marL="228600" indent="-228600">
              <a:buAutoNum type="arabicParenR"/>
            </a:pPr>
            <a:r>
              <a:rPr lang="en-US" dirty="0"/>
              <a:t>Save the Gold processed frame to a </a:t>
            </a:r>
            <a:r>
              <a:rPr lang="en-US" dirty="0" err="1"/>
              <a:t>dataframe</a:t>
            </a:r>
            <a:r>
              <a:rPr lang="en-US" dirty="0"/>
              <a:t> </a:t>
            </a:r>
          </a:p>
          <a:p>
            <a:pPr marL="228600" indent="-228600">
              <a:buAutoNum type="arabicParenR"/>
            </a:pPr>
            <a:r>
              <a:rPr lang="en-US" dirty="0"/>
              <a:t>Save the </a:t>
            </a:r>
            <a:r>
              <a:rPr lang="en-US" dirty="0" err="1"/>
              <a:t>Dataframe</a:t>
            </a:r>
            <a:r>
              <a:rPr lang="en-US" dirty="0"/>
              <a:t> to a Gold Table</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28</a:t>
            </a:fld>
            <a:endParaRPr lang="en-ZA"/>
          </a:p>
        </p:txBody>
      </p:sp>
    </p:spTree>
    <p:extLst>
      <p:ext uri="{BB962C8B-B14F-4D97-AF65-F5344CB8AC3E}">
        <p14:creationId xmlns:p14="http://schemas.microsoft.com/office/powerpoint/2010/main" val="2958332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Libraries</a:t>
            </a:r>
          </a:p>
          <a:p>
            <a:pPr marL="228600" indent="-228600">
              <a:buAutoNum type="arabicParenR"/>
            </a:pPr>
            <a:r>
              <a:rPr lang="en-US" dirty="0"/>
              <a:t>Audit log creation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29</a:t>
            </a:fld>
            <a:endParaRPr lang="en-ZA"/>
          </a:p>
        </p:txBody>
      </p:sp>
    </p:spTree>
    <p:extLst>
      <p:ext uri="{BB962C8B-B14F-4D97-AF65-F5344CB8AC3E}">
        <p14:creationId xmlns:p14="http://schemas.microsoft.com/office/powerpoint/2010/main" val="16861176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err="1"/>
              <a:t>Trigered</a:t>
            </a:r>
            <a:r>
              <a:rPr lang="en-US" dirty="0"/>
              <a:t> by dropping the file into the Folder</a:t>
            </a:r>
          </a:p>
          <a:p>
            <a:pPr marL="228600" indent="-228600">
              <a:buAutoNum type="arabicParenR"/>
            </a:pPr>
            <a:r>
              <a:rPr lang="en-US" dirty="0"/>
              <a:t>The file:  </a:t>
            </a:r>
            <a:r>
              <a:rPr lang="it-IT" dirty="0"/>
              <a:t>20250707_115241_JSE_BT per CT.csv </a:t>
            </a:r>
            <a:r>
              <a:rPr lang="en-US" dirty="0"/>
              <a:t>was dropped into folder (</a:t>
            </a:r>
            <a:r>
              <a:rPr lang="en-US" dirty="0" err="1"/>
              <a:t>EDM_FXM_Backtesting</a:t>
            </a:r>
            <a:r>
              <a:rPr lang="en-US" dirty="0"/>
              <a:t>)via a copy command </a:t>
            </a:r>
          </a:p>
          <a:p>
            <a:pPr marL="228600" indent="-228600">
              <a:buAutoNum type="arabicParenR"/>
            </a:pPr>
            <a:r>
              <a:rPr lang="en-US" dirty="0"/>
              <a:t>The Move </a:t>
            </a:r>
            <a:r>
              <a:rPr lang="en-US" dirty="0" err="1"/>
              <a:t>Pipelile</a:t>
            </a:r>
            <a:r>
              <a:rPr lang="en-US" dirty="0"/>
              <a:t>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33</a:t>
            </a:fld>
            <a:endParaRPr lang="en-ZA"/>
          </a:p>
        </p:txBody>
      </p:sp>
    </p:spTree>
    <p:extLst>
      <p:ext uri="{BB962C8B-B14F-4D97-AF65-F5344CB8AC3E}">
        <p14:creationId xmlns:p14="http://schemas.microsoft.com/office/powerpoint/2010/main" val="3596772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pipeline and here is the run , successful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39</a:t>
            </a:fld>
            <a:endParaRPr lang="en-ZA"/>
          </a:p>
        </p:txBody>
      </p:sp>
    </p:spTree>
    <p:extLst>
      <p:ext uri="{BB962C8B-B14F-4D97-AF65-F5344CB8AC3E}">
        <p14:creationId xmlns:p14="http://schemas.microsoft.com/office/powerpoint/2010/main" val="33835129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how audit backlog , initiates prior to gold.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40</a:t>
            </a:fld>
            <a:endParaRPr lang="en-ZA"/>
          </a:p>
        </p:txBody>
      </p:sp>
    </p:spTree>
    <p:extLst>
      <p:ext uri="{BB962C8B-B14F-4D97-AF65-F5344CB8AC3E}">
        <p14:creationId xmlns:p14="http://schemas.microsoft.com/office/powerpoint/2010/main" val="3749808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the parameter settings: especially </a:t>
            </a:r>
            <a:r>
              <a:rPr lang="en-US" dirty="0" err="1"/>
              <a:t>p_File_Contract</a:t>
            </a:r>
            <a:r>
              <a:rPr lang="en-US" dirty="0"/>
              <a:t> and </a:t>
            </a:r>
            <a:r>
              <a:rPr lang="en-US" dirty="0" err="1"/>
              <a:t>p_File_Position</a:t>
            </a:r>
            <a:r>
              <a:rPr lang="en-US" dirty="0"/>
              <a:t> which are inputs </a:t>
            </a:r>
          </a:p>
          <a:p>
            <a:r>
              <a:rPr lang="en-US" dirty="0"/>
              <a:t>Also note the variables settings on the right ..for the Count of the files : </a:t>
            </a:r>
            <a:r>
              <a:rPr lang="en-US" dirty="0" err="1"/>
              <a:t>Count_of_Files</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41</a:t>
            </a:fld>
            <a:endParaRPr lang="en-ZA"/>
          </a:p>
        </p:txBody>
      </p:sp>
    </p:spTree>
    <p:extLst>
      <p:ext uri="{BB962C8B-B14F-4D97-AF65-F5344CB8AC3E}">
        <p14:creationId xmlns:p14="http://schemas.microsoft.com/office/powerpoint/2010/main" val="1862102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folders and its set to child items </a:t>
            </a:r>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42</a:t>
            </a:fld>
            <a:endParaRPr lang="en-ZA"/>
          </a:p>
        </p:txBody>
      </p:sp>
    </p:spTree>
    <p:extLst>
      <p:ext uri="{BB962C8B-B14F-4D97-AF65-F5344CB8AC3E}">
        <p14:creationId xmlns:p14="http://schemas.microsoft.com/office/powerpoint/2010/main" val="2109486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Chose ‘child items option’ for the items : </a:t>
            </a:r>
            <a:r>
              <a:rPr lang="en-US" sz="1200" b="0" kern="1200" dirty="0">
                <a:solidFill>
                  <a:schemeClr val="tx1"/>
                </a:solidFill>
                <a:effectLst/>
                <a:latin typeface="+mn-lt"/>
                <a:ea typeface="+mn-ea"/>
                <a:cs typeface="+mn-cs"/>
              </a:rPr>
              <a:t>@activity('Get Meta of </a:t>
            </a:r>
            <a:r>
              <a:rPr lang="en-US" sz="1200" b="0" kern="1200" dirty="0" err="1">
                <a:solidFill>
                  <a:schemeClr val="tx1"/>
                </a:solidFill>
                <a:effectLst/>
                <a:latin typeface="+mn-lt"/>
                <a:ea typeface="+mn-ea"/>
                <a:cs typeface="+mn-cs"/>
              </a:rPr>
              <a:t>Backtest_Folder</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output.childItems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Note the or function for the expression :</a:t>
            </a:r>
            <a:br>
              <a:rPr lang="en-US" sz="1200" b="0" kern="1200" dirty="0">
                <a:solidFill>
                  <a:schemeClr val="tx1"/>
                </a:solidFill>
                <a:effectLst/>
                <a:latin typeface="+mn-lt"/>
                <a:ea typeface="+mn-ea"/>
                <a:cs typeface="+mn-cs"/>
              </a:rPr>
            </a:br>
            <a:r>
              <a:rPr lang="en-ZA" sz="1200" b="0" kern="1200" dirty="0">
                <a:solidFill>
                  <a:schemeClr val="tx1"/>
                </a:solidFill>
                <a:effectLst/>
                <a:latin typeface="+mn-lt"/>
                <a:ea typeface="+mn-ea"/>
                <a:cs typeface="+mn-cs"/>
              </a:rPr>
              <a:t>@or(</a:t>
            </a:r>
          </a:p>
          <a:p>
            <a:r>
              <a:rPr lang="en-ZA" sz="1200" b="0" kern="1200" dirty="0">
                <a:solidFill>
                  <a:schemeClr val="tx1"/>
                </a:solidFill>
                <a:effectLst/>
                <a:latin typeface="+mn-lt"/>
                <a:ea typeface="+mn-ea"/>
                <a:cs typeface="+mn-cs"/>
              </a:rPr>
              <a:t>  equals(item().name, pipeline().</a:t>
            </a:r>
            <a:r>
              <a:rPr lang="en-ZA" sz="1200" b="0" kern="1200" dirty="0" err="1">
                <a:solidFill>
                  <a:schemeClr val="tx1"/>
                </a:solidFill>
                <a:effectLst/>
                <a:latin typeface="+mn-lt"/>
                <a:ea typeface="+mn-ea"/>
                <a:cs typeface="+mn-cs"/>
              </a:rPr>
              <a:t>parameters.p_File_Contract</a:t>
            </a:r>
            <a:r>
              <a:rPr lang="en-ZA" sz="1200" b="0" kern="1200" dirty="0">
                <a:solidFill>
                  <a:schemeClr val="tx1"/>
                </a:solidFill>
                <a:effectLst/>
                <a:latin typeface="+mn-lt"/>
                <a:ea typeface="+mn-ea"/>
                <a:cs typeface="+mn-cs"/>
              </a:rPr>
              <a:t>),</a:t>
            </a:r>
          </a:p>
          <a:p>
            <a:r>
              <a:rPr lang="en-ZA" sz="1200" b="0" kern="1200" dirty="0">
                <a:solidFill>
                  <a:schemeClr val="tx1"/>
                </a:solidFill>
                <a:effectLst/>
                <a:latin typeface="+mn-lt"/>
                <a:ea typeface="+mn-ea"/>
                <a:cs typeface="+mn-cs"/>
              </a:rPr>
              <a:t>  equals(item().name, pipeline().</a:t>
            </a:r>
            <a:r>
              <a:rPr lang="en-ZA" sz="1200" b="0" kern="1200" dirty="0" err="1">
                <a:solidFill>
                  <a:schemeClr val="tx1"/>
                </a:solidFill>
                <a:effectLst/>
                <a:latin typeface="+mn-lt"/>
                <a:ea typeface="+mn-ea"/>
                <a:cs typeface="+mn-cs"/>
              </a:rPr>
              <a:t>parameters.p_File_Position</a:t>
            </a:r>
            <a:r>
              <a:rPr lang="en-ZA" sz="1200" b="0" kern="1200" dirty="0">
                <a:solidFill>
                  <a:schemeClr val="tx1"/>
                </a:solidFill>
                <a:effectLst/>
                <a:latin typeface="+mn-lt"/>
                <a:ea typeface="+mn-ea"/>
                <a:cs typeface="+mn-cs"/>
              </a:rPr>
              <a:t>)</a:t>
            </a:r>
          </a:p>
          <a:p>
            <a:r>
              <a:rPr lang="en-ZA"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43</a:t>
            </a:fld>
            <a:endParaRPr lang="en-ZA"/>
          </a:p>
        </p:txBody>
      </p:sp>
    </p:spTree>
    <p:extLst>
      <p:ext uri="{BB962C8B-B14F-4D97-AF65-F5344CB8AC3E}">
        <p14:creationId xmlns:p14="http://schemas.microsoft.com/office/powerpoint/2010/main" val="32103873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a:t>
            </a:r>
            <a:r>
              <a:rPr lang="en-US" dirty="0" err="1"/>
              <a:t>Count_of_Files</a:t>
            </a:r>
            <a:r>
              <a:rPr lang="en-US" dirty="0"/>
              <a:t> , can be used as it was set as part of Pipeline variables Not parameters.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the expression to get the count using the length expression : </a:t>
            </a:r>
            <a:r>
              <a:rPr lang="en-US" sz="1200" b="0" kern="1200" dirty="0">
                <a:solidFill>
                  <a:schemeClr val="tx1"/>
                </a:solidFill>
                <a:effectLst/>
                <a:latin typeface="+mn-lt"/>
                <a:ea typeface="+mn-ea"/>
                <a:cs typeface="+mn-cs"/>
              </a:rPr>
              <a:t>@length(activity('Filter first required Files').</a:t>
            </a:r>
            <a:r>
              <a:rPr lang="en-US" sz="1200" b="0" kern="1200" dirty="0" err="1">
                <a:solidFill>
                  <a:schemeClr val="tx1"/>
                </a:solidFill>
                <a:effectLst/>
                <a:latin typeface="+mn-lt"/>
                <a:ea typeface="+mn-ea"/>
                <a:cs typeface="+mn-cs"/>
              </a:rPr>
              <a:t>output.Value</a:t>
            </a:r>
            <a:r>
              <a:rPr lang="en-US"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Note the use of .Value to get the </a:t>
            </a:r>
            <a:r>
              <a:rPr lang="en-US" sz="1200" b="0" kern="1200" dirty="0" err="1">
                <a:solidFill>
                  <a:schemeClr val="tx1"/>
                </a:solidFill>
                <a:effectLst/>
                <a:latin typeface="+mn-lt"/>
                <a:ea typeface="+mn-ea"/>
                <a:cs typeface="+mn-cs"/>
              </a:rPr>
              <a:t>crrect</a:t>
            </a:r>
            <a:r>
              <a:rPr lang="en-US" sz="1200" b="0" kern="1200" dirty="0">
                <a:solidFill>
                  <a:schemeClr val="tx1"/>
                </a:solidFill>
                <a:effectLst/>
                <a:latin typeface="+mn-lt"/>
                <a:ea typeface="+mn-ea"/>
                <a:cs typeface="+mn-cs"/>
              </a:rPr>
              <a:t>  array. The filter output is more than the Value array.</a:t>
            </a:r>
          </a:p>
          <a:p>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44</a:t>
            </a:fld>
            <a:endParaRPr lang="en-ZA"/>
          </a:p>
        </p:txBody>
      </p:sp>
    </p:spTree>
    <p:extLst>
      <p:ext uri="{BB962C8B-B14F-4D97-AF65-F5344CB8AC3E}">
        <p14:creationId xmlns:p14="http://schemas.microsoft.com/office/powerpoint/2010/main" val="476471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if condition is in the expression : </a:t>
            </a:r>
            <a:r>
              <a:rPr lang="en-ZA" sz="1200" b="0" kern="1200" dirty="0">
                <a:solidFill>
                  <a:schemeClr val="tx1"/>
                </a:solidFill>
                <a:effectLst/>
                <a:latin typeface="+mn-lt"/>
                <a:ea typeface="+mn-ea"/>
                <a:cs typeface="+mn-cs"/>
              </a:rPr>
              <a:t>@equals(variables('Count_of_Files'),2)</a:t>
            </a:r>
          </a:p>
          <a:p>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45</a:t>
            </a:fld>
            <a:endParaRPr lang="en-ZA"/>
          </a:p>
        </p:txBody>
      </p:sp>
    </p:spTree>
    <p:extLst>
      <p:ext uri="{BB962C8B-B14F-4D97-AF65-F5344CB8AC3E}">
        <p14:creationId xmlns:p14="http://schemas.microsoft.com/office/powerpoint/2010/main" val="8208939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the settings for the 2 conditions (+</a:t>
            </a:r>
            <a:r>
              <a:rPr lang="en-US" dirty="0" err="1"/>
              <a:t>ve</a:t>
            </a:r>
            <a:r>
              <a:rPr lang="en-US" dirty="0"/>
              <a:t> , left and –</a:t>
            </a:r>
            <a:r>
              <a:rPr lang="en-US" dirty="0" err="1"/>
              <a:t>ve</a:t>
            </a:r>
            <a:r>
              <a:rPr lang="en-US" dirty="0"/>
              <a:t> right) </a:t>
            </a:r>
          </a:p>
          <a:p>
            <a:r>
              <a:rPr lang="en-US" dirty="0"/>
              <a:t>The left side invokes the </a:t>
            </a:r>
            <a:r>
              <a:rPr lang="en-US" dirty="0" err="1"/>
              <a:t>pOrchestrate</a:t>
            </a:r>
            <a:r>
              <a:rPr lang="en-US" dirty="0"/>
              <a:t> </a:t>
            </a:r>
            <a:r>
              <a:rPr lang="en-US" dirty="0" err="1"/>
              <a:t>Backtesting</a:t>
            </a:r>
            <a:r>
              <a:rPr lang="en-US" dirty="0"/>
              <a:t> V2 no </a:t>
            </a:r>
            <a:r>
              <a:rPr lang="en-US" dirty="0" err="1"/>
              <a:t>trgigger</a:t>
            </a:r>
            <a:r>
              <a:rPr lang="en-US" dirty="0"/>
              <a:t> pipeline, which is similar to that discussed in the first solution , without the trigger </a:t>
            </a:r>
            <a:r>
              <a:rPr lang="en-US" dirty="0" err="1"/>
              <a:t>mecahism</a:t>
            </a:r>
            <a:r>
              <a:rPr lang="en-US" dirty="0"/>
              <a:t>.  The </a:t>
            </a:r>
            <a:r>
              <a:rPr lang="en-US" dirty="0" err="1"/>
              <a:t>setrtting</a:t>
            </a:r>
            <a:r>
              <a:rPr lang="en-US" dirty="0"/>
              <a:t> for this pipeline remain the same , except has no auto </a:t>
            </a:r>
            <a:r>
              <a:rPr lang="en-US" dirty="0" err="1"/>
              <a:t>trigeer</a:t>
            </a:r>
            <a:r>
              <a:rPr lang="en-US" dirty="0"/>
              <a:t> </a:t>
            </a:r>
          </a:p>
          <a:p>
            <a:r>
              <a:rPr lang="en-US" dirty="0"/>
              <a:t>We are going to try to trigger this pipeline with the Contracts file , and let the system wait 3 minutes </a:t>
            </a:r>
            <a:r>
              <a:rPr lang="en-US" dirty="0" err="1"/>
              <a:t>foir</a:t>
            </a:r>
            <a:r>
              <a:rPr lang="en-US" dirty="0"/>
              <a:t> the other file , before it </a:t>
            </a:r>
          </a:p>
          <a:p>
            <a:r>
              <a:rPr lang="en-US" dirty="0"/>
              <a:t>Note you must set up a connection. This was set up previously </a:t>
            </a:r>
          </a:p>
          <a:p>
            <a:r>
              <a:rPr lang="en-US" dirty="0"/>
              <a:t>The email you must sign in , and then you cant use the dynamic content list which comes </a:t>
            </a:r>
            <a:r>
              <a:rPr lang="en-US" dirty="0" err="1"/>
              <a:t>upo</a:t>
            </a:r>
            <a:r>
              <a:rPr lang="en-US" dirty="0"/>
              <a:t> with a click in the email content as shown above </a:t>
            </a:r>
          </a:p>
          <a:p>
            <a:endParaRPr lang="en-US" dirty="0"/>
          </a:p>
          <a:p>
            <a:endParaRPr lang="en-ZA" dirty="0"/>
          </a:p>
        </p:txBody>
      </p:sp>
      <p:sp>
        <p:nvSpPr>
          <p:cNvPr id="4" name="Slide Number Placeholder 3"/>
          <p:cNvSpPr>
            <a:spLocks noGrp="1"/>
          </p:cNvSpPr>
          <p:nvPr>
            <p:ph type="sldNum" sz="quarter" idx="5"/>
          </p:nvPr>
        </p:nvSpPr>
        <p:spPr/>
        <p:txBody>
          <a:bodyPr/>
          <a:lstStyle/>
          <a:p>
            <a:fld id="{E7DD0C35-819F-4A9A-ADAE-9D13D00397F4}" type="slidenum">
              <a:rPr lang="en-ZA" smtClean="0"/>
              <a:t>46</a:t>
            </a:fld>
            <a:endParaRPr lang="en-ZA"/>
          </a:p>
        </p:txBody>
      </p:sp>
    </p:spTree>
    <p:extLst>
      <p:ext uri="{BB962C8B-B14F-4D97-AF65-F5344CB8AC3E}">
        <p14:creationId xmlns:p14="http://schemas.microsoft.com/office/powerpoint/2010/main" val="4111501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7C23B-1EE9-00F3-A537-F7F8F49C6D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856BA88-F407-F338-68EB-5AB98B2945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C246A983-B0E2-4C86-3E5C-524E4679EA7A}"/>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5" name="Footer Placeholder 4">
            <a:extLst>
              <a:ext uri="{FF2B5EF4-FFF2-40B4-BE49-F238E27FC236}">
                <a16:creationId xmlns:a16="http://schemas.microsoft.com/office/drawing/2014/main" id="{E408D8B2-09E5-D661-2A6C-FD0EBF12BAC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63BC061-38E9-21A5-FF6E-6DA29EC64A29}"/>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203996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D1010-488C-A8E4-530D-C1A39CD35C1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A78490C-049D-0942-7507-E1B20BF8E6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9A61BC0-D6F5-FA57-AD4D-F2594AD908E9}"/>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5" name="Footer Placeholder 4">
            <a:extLst>
              <a:ext uri="{FF2B5EF4-FFF2-40B4-BE49-F238E27FC236}">
                <a16:creationId xmlns:a16="http://schemas.microsoft.com/office/drawing/2014/main" id="{6A664174-634B-94ED-5C2B-A5A3B6FE3A4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8EB1CED-F7D6-F4E0-BBAF-BF8BAFC5DF83}"/>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3329520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75FA5-AD22-D488-310E-CA4F34BBE8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B2488D6F-E0BA-D9AA-0BA8-5D03BCE9DB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9FEC0A-43CF-D9F0-AB6C-8B21583E19A6}"/>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5" name="Footer Placeholder 4">
            <a:extLst>
              <a:ext uri="{FF2B5EF4-FFF2-40B4-BE49-F238E27FC236}">
                <a16:creationId xmlns:a16="http://schemas.microsoft.com/office/drawing/2014/main" id="{B33740C0-FF60-26C3-C071-D87BC623950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7BE8300-230D-060D-0A36-CF94266F38D8}"/>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3450726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51272-CF98-4462-93BB-8A6C9A0693F2}"/>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2ED80ED-54DA-FF18-D87B-2A17AF48E9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B2113A00-3B32-DD5A-E835-FEBCCC60D7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DF7E8A83-CD63-2218-AABD-DC031678C2F6}"/>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6" name="Footer Placeholder 5">
            <a:extLst>
              <a:ext uri="{FF2B5EF4-FFF2-40B4-BE49-F238E27FC236}">
                <a16:creationId xmlns:a16="http://schemas.microsoft.com/office/drawing/2014/main" id="{7C6E1D3A-AEB9-5611-070C-178159623C46}"/>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B4F57057-12FE-13BF-2FC4-32880DC4331B}"/>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1109027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E3E3C-755A-7F37-E13F-F0B87146D126}"/>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ADCCEE6-A763-8C0C-611C-0A9FCFD5F2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239B58-9347-5A4B-7EC1-49422F7675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ECBA2D77-005F-9D28-8C15-2F0C2A681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08594C-2CD4-CE61-8546-DED6AF2B76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E7EF9F03-D886-E04A-D5E9-665370FBF655}"/>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8" name="Footer Placeholder 7">
            <a:extLst>
              <a:ext uri="{FF2B5EF4-FFF2-40B4-BE49-F238E27FC236}">
                <a16:creationId xmlns:a16="http://schemas.microsoft.com/office/drawing/2014/main" id="{9C23BA3D-9CBD-FA69-7CE8-1E5E43C38B18}"/>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237F46BA-1804-226C-E75C-BCB66C255C0B}"/>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3537253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11AF9-835C-2867-B8F5-621B9A429986}"/>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32D75F3E-8131-A414-5A8D-96C7D63C6A74}"/>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4" name="Footer Placeholder 3">
            <a:extLst>
              <a:ext uri="{FF2B5EF4-FFF2-40B4-BE49-F238E27FC236}">
                <a16:creationId xmlns:a16="http://schemas.microsoft.com/office/drawing/2014/main" id="{3BD859E4-11D2-8C7F-BD1F-592D829B8506}"/>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675C24D-79D4-7386-35FF-1DD2937D8EA7}"/>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2724035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B550F9-94DD-922C-E56D-3FA93BA65BEE}"/>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3" name="Footer Placeholder 2">
            <a:extLst>
              <a:ext uri="{FF2B5EF4-FFF2-40B4-BE49-F238E27FC236}">
                <a16:creationId xmlns:a16="http://schemas.microsoft.com/office/drawing/2014/main" id="{F6B91A2F-2297-CA1C-0324-E9C255A01641}"/>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5D2F6188-C48D-9E57-4C78-439D25F56BC2}"/>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156149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7F7D-C072-608C-3074-46DD4A7710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A3E01CE4-513C-D2D9-F3F1-A6A3DA235F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91309293-1B6B-2902-4E45-D19A71318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30F7F8-2625-63E8-665A-1A50AEE967B2}"/>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6" name="Footer Placeholder 5">
            <a:extLst>
              <a:ext uri="{FF2B5EF4-FFF2-40B4-BE49-F238E27FC236}">
                <a16:creationId xmlns:a16="http://schemas.microsoft.com/office/drawing/2014/main" id="{74C7797F-8F2A-EC54-92EA-4695A76D4C1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DA6CD97-E7BD-099B-0CA5-2808E984BC17}"/>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2986860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166C2-F023-B82F-1B97-310C06F112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45EFF27-8F58-7C24-5ADC-DF32B66FEF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025223AB-F3BD-5B05-CB32-4794E4DE75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E5AF63-FD5D-EF4D-37FC-ECCDDD20CE8C}"/>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6" name="Footer Placeholder 5">
            <a:extLst>
              <a:ext uri="{FF2B5EF4-FFF2-40B4-BE49-F238E27FC236}">
                <a16:creationId xmlns:a16="http://schemas.microsoft.com/office/drawing/2014/main" id="{3920E8DD-F086-E008-03C7-CA8D7F8AB9C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4DDCC4E-1DBA-371D-6ABB-F147284D2DB7}"/>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1592474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0DE4E-2AAC-228D-F0F7-E2DAD988711B}"/>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94F28BA-3B91-3BE7-F01F-0D776C0D49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366AD64-E892-4771-97E3-2FFF310E9D5E}"/>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5" name="Footer Placeholder 4">
            <a:extLst>
              <a:ext uri="{FF2B5EF4-FFF2-40B4-BE49-F238E27FC236}">
                <a16:creationId xmlns:a16="http://schemas.microsoft.com/office/drawing/2014/main" id="{EC817E94-21B0-E009-EBA8-7F9E9F59680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DEDFA60-EDEC-1E16-24D2-16EDFF39F73A}"/>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64025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00F0F6-AD6F-06A3-79BA-F2744268F4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1E797F1-43C3-7703-64C0-BC7F5B2A36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FF1EADF-4D60-EB47-F5A0-9E4B7C6BB77F}"/>
              </a:ext>
            </a:extLst>
          </p:cNvPr>
          <p:cNvSpPr>
            <a:spLocks noGrp="1"/>
          </p:cNvSpPr>
          <p:nvPr>
            <p:ph type="dt" sz="half" idx="10"/>
          </p:nvPr>
        </p:nvSpPr>
        <p:spPr/>
        <p:txBody>
          <a:bodyPr/>
          <a:lstStyle/>
          <a:p>
            <a:fld id="{FFD131A5-8EFA-46FE-9458-272BA8BC2547}" type="datetimeFigureOut">
              <a:rPr lang="en-ZA" smtClean="0"/>
              <a:t>2025/09/01</a:t>
            </a:fld>
            <a:endParaRPr lang="en-ZA"/>
          </a:p>
        </p:txBody>
      </p:sp>
      <p:sp>
        <p:nvSpPr>
          <p:cNvPr id="5" name="Footer Placeholder 4">
            <a:extLst>
              <a:ext uri="{FF2B5EF4-FFF2-40B4-BE49-F238E27FC236}">
                <a16:creationId xmlns:a16="http://schemas.microsoft.com/office/drawing/2014/main" id="{B0BCA052-7A03-07EB-00E5-509D23D2BF8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8ED0988-87F8-8823-9243-F18AF4E2F511}"/>
              </a:ext>
            </a:extLst>
          </p:cNvPr>
          <p:cNvSpPr>
            <a:spLocks noGrp="1"/>
          </p:cNvSpPr>
          <p:nvPr>
            <p:ph type="sldNum" sz="quarter" idx="12"/>
          </p:nvPr>
        </p:nvSpPr>
        <p:spPr/>
        <p:txBody>
          <a:bodyPr/>
          <a:lstStyle/>
          <a:p>
            <a:fld id="{19E149C4-2EDC-4E80-B226-B0592971E89A}" type="slidenum">
              <a:rPr lang="en-ZA" smtClean="0"/>
              <a:t>‹#›</a:t>
            </a:fld>
            <a:endParaRPr lang="en-ZA"/>
          </a:p>
        </p:txBody>
      </p:sp>
    </p:spTree>
    <p:extLst>
      <p:ext uri="{BB962C8B-B14F-4D97-AF65-F5344CB8AC3E}">
        <p14:creationId xmlns:p14="http://schemas.microsoft.com/office/powerpoint/2010/main" val="1548587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048ADF-2E0D-9E0B-9610-2DDD4E3F5D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9407ECA-197D-AEC8-D5BE-24D67B5E20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8C95E3D-BDCE-2A52-642D-A8709E747B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D131A5-8EFA-46FE-9458-272BA8BC2547}" type="datetimeFigureOut">
              <a:rPr lang="en-ZA" smtClean="0"/>
              <a:t>2025/09/01</a:t>
            </a:fld>
            <a:endParaRPr lang="en-ZA"/>
          </a:p>
        </p:txBody>
      </p:sp>
      <p:sp>
        <p:nvSpPr>
          <p:cNvPr id="5" name="Footer Placeholder 4">
            <a:extLst>
              <a:ext uri="{FF2B5EF4-FFF2-40B4-BE49-F238E27FC236}">
                <a16:creationId xmlns:a16="http://schemas.microsoft.com/office/drawing/2014/main" id="{18647C0A-B1F1-5E32-ECD5-2A3EA83E7B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02493FB9-8867-E57F-7859-9E3C77E781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E149C4-2EDC-4E80-B226-B0592971E89A}" type="slidenum">
              <a:rPr lang="en-ZA" smtClean="0"/>
              <a:t>‹#›</a:t>
            </a:fld>
            <a:endParaRPr lang="en-ZA"/>
          </a:p>
        </p:txBody>
      </p:sp>
    </p:spTree>
    <p:extLst>
      <p:ext uri="{BB962C8B-B14F-4D97-AF65-F5344CB8AC3E}">
        <p14:creationId xmlns:p14="http://schemas.microsoft.com/office/powerpoint/2010/main" val="434269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1C4C-5F5F-295A-066A-B33925544E91}"/>
              </a:ext>
            </a:extLst>
          </p:cNvPr>
          <p:cNvSpPr>
            <a:spLocks noGrp="1"/>
          </p:cNvSpPr>
          <p:nvPr>
            <p:ph type="ctrTitle"/>
          </p:nvPr>
        </p:nvSpPr>
        <p:spPr/>
        <p:txBody>
          <a:bodyPr/>
          <a:lstStyle/>
          <a:p>
            <a:r>
              <a:rPr lang="en-US" dirty="0"/>
              <a:t>Design Pipeline Options </a:t>
            </a:r>
            <a:endParaRPr lang="en-ZA" dirty="0"/>
          </a:p>
        </p:txBody>
      </p:sp>
      <p:sp>
        <p:nvSpPr>
          <p:cNvPr id="3" name="Subtitle 2">
            <a:extLst>
              <a:ext uri="{FF2B5EF4-FFF2-40B4-BE49-F238E27FC236}">
                <a16:creationId xmlns:a16="http://schemas.microsoft.com/office/drawing/2014/main" id="{AC30208B-3677-FDD0-C898-4C5A5AF49B04}"/>
              </a:ext>
            </a:extLst>
          </p:cNvPr>
          <p:cNvSpPr>
            <a:spLocks noGrp="1"/>
          </p:cNvSpPr>
          <p:nvPr>
            <p:ph type="subTitle" idx="1"/>
          </p:nvPr>
        </p:nvSpPr>
        <p:spPr/>
        <p:txBody>
          <a:bodyPr/>
          <a:lstStyle/>
          <a:p>
            <a:endParaRPr lang="en-ZA" dirty="0"/>
          </a:p>
        </p:txBody>
      </p:sp>
    </p:spTree>
    <p:extLst>
      <p:ext uri="{BB962C8B-B14F-4D97-AF65-F5344CB8AC3E}">
        <p14:creationId xmlns:p14="http://schemas.microsoft.com/office/powerpoint/2010/main" val="2244117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32ED2-3839-F3DE-EBF7-2F76CD89FFA5}"/>
              </a:ext>
            </a:extLst>
          </p:cNvPr>
          <p:cNvSpPr>
            <a:spLocks noGrp="1"/>
          </p:cNvSpPr>
          <p:nvPr>
            <p:ph type="title"/>
          </p:nvPr>
        </p:nvSpPr>
        <p:spPr/>
        <p:txBody>
          <a:bodyPr/>
          <a:lstStyle/>
          <a:p>
            <a:r>
              <a:rPr lang="en-US" dirty="0"/>
              <a:t>Pipeline Design Option</a:t>
            </a:r>
            <a:endParaRPr lang="en-ZA" dirty="0"/>
          </a:p>
        </p:txBody>
      </p:sp>
      <p:sp>
        <p:nvSpPr>
          <p:cNvPr id="3" name="Content Placeholder 2">
            <a:extLst>
              <a:ext uri="{FF2B5EF4-FFF2-40B4-BE49-F238E27FC236}">
                <a16:creationId xmlns:a16="http://schemas.microsoft.com/office/drawing/2014/main" id="{D06ED38F-91AF-648B-41C2-8874408A81D6}"/>
              </a:ext>
            </a:extLst>
          </p:cNvPr>
          <p:cNvSpPr>
            <a:spLocks noGrp="1"/>
          </p:cNvSpPr>
          <p:nvPr>
            <p:ph idx="1"/>
          </p:nvPr>
        </p:nvSpPr>
        <p:spPr/>
        <p:txBody>
          <a:bodyPr/>
          <a:lstStyle/>
          <a:p>
            <a:r>
              <a:rPr lang="en-US" dirty="0"/>
              <a:t> This document presents the design options associated with implementing the Pipelines.</a:t>
            </a:r>
          </a:p>
          <a:p>
            <a:r>
              <a:rPr lang="en-US" dirty="0"/>
              <a:t>This entails which components to use and options traded-offs </a:t>
            </a:r>
            <a:r>
              <a:rPr lang="en-US" dirty="0" err="1"/>
              <a:t>ie</a:t>
            </a:r>
            <a:r>
              <a:rPr lang="en-US" dirty="0"/>
              <a:t> what to do where </a:t>
            </a:r>
          </a:p>
          <a:p>
            <a:r>
              <a:rPr lang="en-US" dirty="0"/>
              <a:t>Triggering alternatives will be investigated as part of orchestration.</a:t>
            </a:r>
          </a:p>
          <a:p>
            <a:r>
              <a:rPr lang="en-US" dirty="0"/>
              <a:t>Performance will be measured and documented.  </a:t>
            </a:r>
          </a:p>
          <a:p>
            <a:r>
              <a:rPr lang="en-US" dirty="0"/>
              <a:t>The workspace used: </a:t>
            </a:r>
            <a:r>
              <a:rPr lang="en-US" dirty="0" err="1"/>
              <a:t>Jse</a:t>
            </a:r>
            <a:r>
              <a:rPr lang="en-US" dirty="0"/>
              <a:t> Trial Dev Network</a:t>
            </a:r>
          </a:p>
          <a:p>
            <a:r>
              <a:rPr lang="en-US" dirty="0"/>
              <a:t>Lakehouse Used: </a:t>
            </a:r>
            <a:endParaRPr lang="en-ZA" dirty="0"/>
          </a:p>
        </p:txBody>
      </p:sp>
    </p:spTree>
    <p:extLst>
      <p:ext uri="{BB962C8B-B14F-4D97-AF65-F5344CB8AC3E}">
        <p14:creationId xmlns:p14="http://schemas.microsoft.com/office/powerpoint/2010/main" val="4118204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08F2-B5F9-9FC1-D042-E2569F63175F}"/>
              </a:ext>
            </a:extLst>
          </p:cNvPr>
          <p:cNvSpPr>
            <a:spLocks noGrp="1"/>
          </p:cNvSpPr>
          <p:nvPr>
            <p:ph type="title"/>
          </p:nvPr>
        </p:nvSpPr>
        <p:spPr/>
        <p:txBody>
          <a:bodyPr/>
          <a:lstStyle/>
          <a:p>
            <a:r>
              <a:rPr lang="en-US" dirty="0"/>
              <a:t>Pipeline option 1: </a:t>
            </a:r>
            <a:r>
              <a:rPr lang="en-US" dirty="0" err="1"/>
              <a:t>Orchestrate_Backtesting</a:t>
            </a:r>
            <a:r>
              <a:rPr lang="en-US" dirty="0"/>
              <a:t> V1</a:t>
            </a:r>
            <a:endParaRPr lang="en-ZA" dirty="0"/>
          </a:p>
        </p:txBody>
      </p:sp>
      <p:sp>
        <p:nvSpPr>
          <p:cNvPr id="3" name="Content Placeholder 2">
            <a:extLst>
              <a:ext uri="{FF2B5EF4-FFF2-40B4-BE49-F238E27FC236}">
                <a16:creationId xmlns:a16="http://schemas.microsoft.com/office/drawing/2014/main" id="{53350506-9AE5-CD49-1FF8-14F81FF3D975}"/>
              </a:ext>
            </a:extLst>
          </p:cNvPr>
          <p:cNvSpPr>
            <a:spLocks noGrp="1"/>
          </p:cNvSpPr>
          <p:nvPr>
            <p:ph idx="1"/>
          </p:nvPr>
        </p:nvSpPr>
        <p:spPr/>
        <p:txBody>
          <a:bodyPr/>
          <a:lstStyle/>
          <a:p>
            <a:r>
              <a:rPr lang="en-US" dirty="0"/>
              <a:t>This is the first pipeline, and is a simple Medallion implementation with manual orchestration. </a:t>
            </a:r>
          </a:p>
          <a:p>
            <a:r>
              <a:rPr lang="en-US" dirty="0"/>
              <a:t>So they entail 3 notebooks where the code is set up in 3 notebooks based on it running in the first notebook </a:t>
            </a:r>
          </a:p>
          <a:p>
            <a:r>
              <a:rPr lang="en-US" dirty="0"/>
              <a:t>These 3 notebooks are then attached to the Notebook components that are then </a:t>
            </a:r>
          </a:p>
          <a:p>
            <a:r>
              <a:rPr lang="en-US" dirty="0"/>
              <a:t>The Orchestration  Pipeline consists of 2 pipelines encapsulates each in Invoke Pipeline Components </a:t>
            </a:r>
          </a:p>
          <a:p>
            <a:pPr lvl="1"/>
            <a:r>
              <a:rPr lang="en-US" dirty="0"/>
              <a:t>Pipeline Contract BT -1 </a:t>
            </a:r>
          </a:p>
          <a:p>
            <a:pPr lvl="1"/>
            <a:r>
              <a:rPr lang="en-US" dirty="0"/>
              <a:t>Pipeline Contract BT – 1 Meta Data</a:t>
            </a:r>
            <a:endParaRPr lang="en-ZA" dirty="0"/>
          </a:p>
        </p:txBody>
      </p:sp>
    </p:spTree>
    <p:extLst>
      <p:ext uri="{BB962C8B-B14F-4D97-AF65-F5344CB8AC3E}">
        <p14:creationId xmlns:p14="http://schemas.microsoft.com/office/powerpoint/2010/main" val="3259103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E5983-1657-C5D9-6E5A-584BC5396DEA}"/>
              </a:ext>
            </a:extLst>
          </p:cNvPr>
          <p:cNvSpPr>
            <a:spLocks noGrp="1"/>
          </p:cNvSpPr>
          <p:nvPr>
            <p:ph type="title"/>
          </p:nvPr>
        </p:nvSpPr>
        <p:spPr>
          <a:xfrm>
            <a:off x="838200" y="365126"/>
            <a:ext cx="10515600" cy="653778"/>
          </a:xfrm>
        </p:spPr>
        <p:txBody>
          <a:bodyPr>
            <a:normAutofit fontScale="90000"/>
          </a:bodyPr>
          <a:lstStyle/>
          <a:p>
            <a:r>
              <a:rPr lang="en-US" dirty="0"/>
              <a:t>Pipeline: Orchestrate_Backtesting_V1</a:t>
            </a:r>
            <a:endParaRPr lang="en-ZA" dirty="0"/>
          </a:p>
        </p:txBody>
      </p:sp>
      <p:sp>
        <p:nvSpPr>
          <p:cNvPr id="3" name="Content Placeholder 2">
            <a:extLst>
              <a:ext uri="{FF2B5EF4-FFF2-40B4-BE49-F238E27FC236}">
                <a16:creationId xmlns:a16="http://schemas.microsoft.com/office/drawing/2014/main" id="{EE71C9BD-4CEA-BA41-66D6-B7760D1C068D}"/>
              </a:ext>
            </a:extLst>
          </p:cNvPr>
          <p:cNvSpPr>
            <a:spLocks noGrp="1"/>
          </p:cNvSpPr>
          <p:nvPr>
            <p:ph idx="1"/>
          </p:nvPr>
        </p:nvSpPr>
        <p:spPr>
          <a:xfrm>
            <a:off x="838200" y="1298802"/>
            <a:ext cx="10515600" cy="4486275"/>
          </a:xfrm>
        </p:spPr>
        <p:txBody>
          <a:bodyPr/>
          <a:lstStyle/>
          <a:p>
            <a:r>
              <a:rPr lang="en-US" dirty="0"/>
              <a:t>The pipeline is shown below , with the result of a successful run  </a:t>
            </a:r>
            <a:endParaRPr lang="en-ZA" dirty="0"/>
          </a:p>
        </p:txBody>
      </p:sp>
      <p:pic>
        <p:nvPicPr>
          <p:cNvPr id="5" name="Picture 4">
            <a:extLst>
              <a:ext uri="{FF2B5EF4-FFF2-40B4-BE49-F238E27FC236}">
                <a16:creationId xmlns:a16="http://schemas.microsoft.com/office/drawing/2014/main" id="{6F80F55D-6B80-F974-7F72-1C23F5DABF1F}"/>
              </a:ext>
            </a:extLst>
          </p:cNvPr>
          <p:cNvPicPr>
            <a:picLocks noChangeAspect="1"/>
          </p:cNvPicPr>
          <p:nvPr/>
        </p:nvPicPr>
        <p:blipFill>
          <a:blip r:embed="rId3"/>
          <a:stretch>
            <a:fillRect/>
          </a:stretch>
        </p:blipFill>
        <p:spPr>
          <a:xfrm>
            <a:off x="1154520" y="2177431"/>
            <a:ext cx="9882960" cy="3607646"/>
          </a:xfrm>
          <a:prstGeom prst="rect">
            <a:avLst/>
          </a:prstGeom>
          <a:ln w="38100">
            <a:solidFill>
              <a:schemeClr val="tx1"/>
            </a:solidFill>
          </a:ln>
        </p:spPr>
      </p:pic>
    </p:spTree>
    <p:extLst>
      <p:ext uri="{BB962C8B-B14F-4D97-AF65-F5344CB8AC3E}">
        <p14:creationId xmlns:p14="http://schemas.microsoft.com/office/powerpoint/2010/main" val="3565452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91D42-6610-B859-57D0-BBC0F6CF5709}"/>
              </a:ext>
            </a:extLst>
          </p:cNvPr>
          <p:cNvSpPr>
            <a:spLocks noGrp="1"/>
          </p:cNvSpPr>
          <p:nvPr>
            <p:ph type="title"/>
          </p:nvPr>
        </p:nvSpPr>
        <p:spPr>
          <a:xfrm>
            <a:off x="838200" y="273685"/>
            <a:ext cx="10515600" cy="666841"/>
          </a:xfrm>
        </p:spPr>
        <p:txBody>
          <a:bodyPr>
            <a:normAutofit fontScale="90000"/>
          </a:bodyPr>
          <a:lstStyle/>
          <a:p>
            <a:r>
              <a:rPr lang="en-US" dirty="0"/>
              <a:t>Components Settings Captured </a:t>
            </a:r>
            <a:endParaRPr lang="en-ZA" dirty="0"/>
          </a:p>
        </p:txBody>
      </p:sp>
      <p:pic>
        <p:nvPicPr>
          <p:cNvPr id="5" name="Content Placeholder 4">
            <a:extLst>
              <a:ext uri="{FF2B5EF4-FFF2-40B4-BE49-F238E27FC236}">
                <a16:creationId xmlns:a16="http://schemas.microsoft.com/office/drawing/2014/main" id="{A6C72FA7-FB8D-4C6F-6B52-DD921D5AC2D2}"/>
              </a:ext>
            </a:extLst>
          </p:cNvPr>
          <p:cNvPicPr>
            <a:picLocks noGrp="1" noChangeAspect="1"/>
          </p:cNvPicPr>
          <p:nvPr>
            <p:ph idx="1"/>
          </p:nvPr>
        </p:nvPicPr>
        <p:blipFill>
          <a:blip r:embed="rId3"/>
          <a:stretch>
            <a:fillRect/>
          </a:stretch>
        </p:blipFill>
        <p:spPr>
          <a:xfrm>
            <a:off x="209007" y="2582913"/>
            <a:ext cx="3566159" cy="2444876"/>
          </a:xfrm>
          <a:ln w="28575">
            <a:solidFill>
              <a:schemeClr val="tx1"/>
            </a:solidFill>
          </a:ln>
        </p:spPr>
      </p:pic>
      <p:pic>
        <p:nvPicPr>
          <p:cNvPr id="7" name="Picture 6">
            <a:extLst>
              <a:ext uri="{FF2B5EF4-FFF2-40B4-BE49-F238E27FC236}">
                <a16:creationId xmlns:a16="http://schemas.microsoft.com/office/drawing/2014/main" id="{F6676EC9-91FD-9470-E57B-AFD1D1B9C530}"/>
              </a:ext>
            </a:extLst>
          </p:cNvPr>
          <p:cNvPicPr>
            <a:picLocks noChangeAspect="1"/>
          </p:cNvPicPr>
          <p:nvPr/>
        </p:nvPicPr>
        <p:blipFill>
          <a:blip r:embed="rId4"/>
          <a:stretch>
            <a:fillRect/>
          </a:stretch>
        </p:blipFill>
        <p:spPr>
          <a:xfrm>
            <a:off x="4130040" y="2582913"/>
            <a:ext cx="3720737" cy="2444876"/>
          </a:xfrm>
          <a:prstGeom prst="rect">
            <a:avLst/>
          </a:prstGeom>
          <a:ln w="28575">
            <a:solidFill>
              <a:schemeClr val="tx1"/>
            </a:solidFill>
          </a:ln>
        </p:spPr>
      </p:pic>
      <p:pic>
        <p:nvPicPr>
          <p:cNvPr id="11" name="Picture 10">
            <a:extLst>
              <a:ext uri="{FF2B5EF4-FFF2-40B4-BE49-F238E27FC236}">
                <a16:creationId xmlns:a16="http://schemas.microsoft.com/office/drawing/2014/main" id="{18A38005-1D8C-2BB9-ACC5-C71FDFCE3224}"/>
              </a:ext>
            </a:extLst>
          </p:cNvPr>
          <p:cNvPicPr>
            <a:picLocks noChangeAspect="1"/>
          </p:cNvPicPr>
          <p:nvPr/>
        </p:nvPicPr>
        <p:blipFill>
          <a:blip r:embed="rId5"/>
          <a:stretch>
            <a:fillRect/>
          </a:stretch>
        </p:blipFill>
        <p:spPr>
          <a:xfrm>
            <a:off x="8103328" y="2582913"/>
            <a:ext cx="3627118" cy="2444875"/>
          </a:xfrm>
          <a:prstGeom prst="rect">
            <a:avLst/>
          </a:prstGeom>
          <a:ln w="28575">
            <a:solidFill>
              <a:schemeClr val="tx1"/>
            </a:solidFill>
          </a:ln>
        </p:spPr>
      </p:pic>
    </p:spTree>
    <p:extLst>
      <p:ext uri="{BB962C8B-B14F-4D97-AF65-F5344CB8AC3E}">
        <p14:creationId xmlns:p14="http://schemas.microsoft.com/office/powerpoint/2010/main" val="532012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5018-7604-81AB-88A8-D3AF88DB38C7}"/>
              </a:ext>
            </a:extLst>
          </p:cNvPr>
          <p:cNvSpPr>
            <a:spLocks noGrp="1"/>
          </p:cNvSpPr>
          <p:nvPr>
            <p:ph type="title"/>
          </p:nvPr>
        </p:nvSpPr>
        <p:spPr>
          <a:xfrm>
            <a:off x="838200" y="365125"/>
            <a:ext cx="10515600" cy="666841"/>
          </a:xfrm>
        </p:spPr>
        <p:txBody>
          <a:bodyPr>
            <a:normAutofit fontScale="90000"/>
          </a:bodyPr>
          <a:lstStyle/>
          <a:p>
            <a:r>
              <a:rPr lang="en-US" dirty="0"/>
              <a:t>Pipeline_Contract_BT_1 (inside 1</a:t>
            </a:r>
            <a:r>
              <a:rPr lang="en-US" baseline="30000" dirty="0"/>
              <a:t>st</a:t>
            </a:r>
            <a:r>
              <a:rPr lang="en-US" dirty="0"/>
              <a:t> Invoke block)</a:t>
            </a:r>
            <a:endParaRPr lang="en-ZA" dirty="0"/>
          </a:p>
        </p:txBody>
      </p:sp>
      <p:sp>
        <p:nvSpPr>
          <p:cNvPr id="3" name="Content Placeholder 2">
            <a:extLst>
              <a:ext uri="{FF2B5EF4-FFF2-40B4-BE49-F238E27FC236}">
                <a16:creationId xmlns:a16="http://schemas.microsoft.com/office/drawing/2014/main" id="{94FBD585-CEF0-565D-5DD7-C56D43D2C6B5}"/>
              </a:ext>
            </a:extLst>
          </p:cNvPr>
          <p:cNvSpPr>
            <a:spLocks noGrp="1"/>
          </p:cNvSpPr>
          <p:nvPr>
            <p:ph idx="1"/>
          </p:nvPr>
        </p:nvSpPr>
        <p:spPr>
          <a:xfrm>
            <a:off x="681447" y="1551305"/>
            <a:ext cx="10515600" cy="1035141"/>
          </a:xfrm>
        </p:spPr>
        <p:txBody>
          <a:bodyPr>
            <a:normAutofit fontScale="62500" lnSpcReduction="20000"/>
          </a:bodyPr>
          <a:lstStyle/>
          <a:p>
            <a:r>
              <a:rPr lang="en-US" dirty="0"/>
              <a:t>This is the underlying pipeline of the first Invoke Block of the previously discussed pipeline</a:t>
            </a:r>
          </a:p>
          <a:p>
            <a:r>
              <a:rPr lang="en-US" dirty="0"/>
              <a:t>There are no settings required  for this pipeline as a whole , as its triggered by the invoke blocks</a:t>
            </a:r>
          </a:p>
          <a:p>
            <a:r>
              <a:rPr lang="en-US" dirty="0"/>
              <a:t>The settings of each component are set out on the following page.</a:t>
            </a:r>
          </a:p>
          <a:p>
            <a:endParaRPr lang="en-ZA" dirty="0"/>
          </a:p>
        </p:txBody>
      </p:sp>
      <p:pic>
        <p:nvPicPr>
          <p:cNvPr id="5" name="Picture 4">
            <a:extLst>
              <a:ext uri="{FF2B5EF4-FFF2-40B4-BE49-F238E27FC236}">
                <a16:creationId xmlns:a16="http://schemas.microsoft.com/office/drawing/2014/main" id="{9F912FD7-0879-6B8F-9716-1F3883328483}"/>
              </a:ext>
            </a:extLst>
          </p:cNvPr>
          <p:cNvPicPr>
            <a:picLocks noChangeAspect="1"/>
          </p:cNvPicPr>
          <p:nvPr/>
        </p:nvPicPr>
        <p:blipFill>
          <a:blip r:embed="rId2"/>
          <a:stretch>
            <a:fillRect/>
          </a:stretch>
        </p:blipFill>
        <p:spPr>
          <a:xfrm>
            <a:off x="1087629" y="2731777"/>
            <a:ext cx="9009960" cy="2574918"/>
          </a:xfrm>
          <a:prstGeom prst="rect">
            <a:avLst/>
          </a:prstGeom>
          <a:ln w="38100">
            <a:solidFill>
              <a:schemeClr val="tx1"/>
            </a:solidFill>
          </a:ln>
        </p:spPr>
      </p:pic>
    </p:spTree>
    <p:extLst>
      <p:ext uri="{BB962C8B-B14F-4D97-AF65-F5344CB8AC3E}">
        <p14:creationId xmlns:p14="http://schemas.microsoft.com/office/powerpoint/2010/main" val="1845639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EC433-57AE-EE75-5E57-4B4C4A1FC36D}"/>
              </a:ext>
            </a:extLst>
          </p:cNvPr>
          <p:cNvSpPr>
            <a:spLocks noGrp="1"/>
          </p:cNvSpPr>
          <p:nvPr>
            <p:ph type="title"/>
          </p:nvPr>
        </p:nvSpPr>
        <p:spPr/>
        <p:txBody>
          <a:bodyPr/>
          <a:lstStyle/>
          <a:p>
            <a:r>
              <a:rPr lang="en-US" dirty="0"/>
              <a:t>Component settings of each Block</a:t>
            </a:r>
            <a:endParaRPr lang="en-ZA" dirty="0"/>
          </a:p>
        </p:txBody>
      </p:sp>
      <p:pic>
        <p:nvPicPr>
          <p:cNvPr id="5" name="Content Placeholder 4">
            <a:extLst>
              <a:ext uri="{FF2B5EF4-FFF2-40B4-BE49-F238E27FC236}">
                <a16:creationId xmlns:a16="http://schemas.microsoft.com/office/drawing/2014/main" id="{7D18B4BE-379B-E9C7-C6F7-184935C861A7}"/>
              </a:ext>
            </a:extLst>
          </p:cNvPr>
          <p:cNvPicPr>
            <a:picLocks noGrp="1" noChangeAspect="1"/>
          </p:cNvPicPr>
          <p:nvPr>
            <p:ph idx="1"/>
          </p:nvPr>
        </p:nvPicPr>
        <p:blipFill>
          <a:blip r:embed="rId3"/>
          <a:stretch>
            <a:fillRect/>
          </a:stretch>
        </p:blipFill>
        <p:spPr>
          <a:xfrm>
            <a:off x="349975" y="1952851"/>
            <a:ext cx="3687535" cy="3402920"/>
          </a:xfrm>
          <a:ln w="28575">
            <a:solidFill>
              <a:schemeClr val="tx1"/>
            </a:solidFill>
          </a:ln>
        </p:spPr>
      </p:pic>
      <p:sp>
        <p:nvSpPr>
          <p:cNvPr id="9" name="TextBox 8">
            <a:extLst>
              <a:ext uri="{FF2B5EF4-FFF2-40B4-BE49-F238E27FC236}">
                <a16:creationId xmlns:a16="http://schemas.microsoft.com/office/drawing/2014/main" id="{2815861A-8731-AE3D-B283-0B0207931368}"/>
              </a:ext>
            </a:extLst>
          </p:cNvPr>
          <p:cNvSpPr txBox="1"/>
          <p:nvPr/>
        </p:nvSpPr>
        <p:spPr>
          <a:xfrm>
            <a:off x="272014" y="5769998"/>
            <a:ext cx="3765496" cy="646331"/>
          </a:xfrm>
          <a:prstGeom prst="rect">
            <a:avLst/>
          </a:prstGeom>
          <a:noFill/>
        </p:spPr>
        <p:txBody>
          <a:bodyPr wrap="square">
            <a:spAutoFit/>
          </a:bodyPr>
          <a:lstStyle/>
          <a:p>
            <a:r>
              <a:rPr lang="en-ZA" b="1" i="0" dirty="0" err="1">
                <a:effectLst/>
                <a:latin typeface="Segoe UI" panose="020B0502040204020203" pitchFamily="34" charset="0"/>
              </a:rPr>
              <a:t>ReportDataPrep_Enhancements_Contract_BT</a:t>
            </a:r>
            <a:r>
              <a:rPr lang="en-ZA" b="1" i="0" dirty="0">
                <a:effectLst/>
                <a:latin typeface="Segoe UI" panose="020B0502040204020203" pitchFamily="34" charset="0"/>
              </a:rPr>
              <a:t> 1_Bronze</a:t>
            </a:r>
            <a:endParaRPr lang="en-ZA" dirty="0"/>
          </a:p>
        </p:txBody>
      </p:sp>
      <p:pic>
        <p:nvPicPr>
          <p:cNvPr id="11" name="Picture 10">
            <a:extLst>
              <a:ext uri="{FF2B5EF4-FFF2-40B4-BE49-F238E27FC236}">
                <a16:creationId xmlns:a16="http://schemas.microsoft.com/office/drawing/2014/main" id="{EED1D771-98CD-46BF-C165-C24534928E05}"/>
              </a:ext>
            </a:extLst>
          </p:cNvPr>
          <p:cNvPicPr>
            <a:picLocks noChangeAspect="1"/>
          </p:cNvPicPr>
          <p:nvPr/>
        </p:nvPicPr>
        <p:blipFill>
          <a:blip r:embed="rId4"/>
          <a:stretch>
            <a:fillRect/>
          </a:stretch>
        </p:blipFill>
        <p:spPr>
          <a:xfrm>
            <a:off x="4268705" y="1952851"/>
            <a:ext cx="3654588" cy="3402920"/>
          </a:xfrm>
          <a:prstGeom prst="rect">
            <a:avLst/>
          </a:prstGeom>
          <a:ln w="38100">
            <a:solidFill>
              <a:schemeClr val="tx1"/>
            </a:solidFill>
          </a:ln>
        </p:spPr>
      </p:pic>
      <p:sp>
        <p:nvSpPr>
          <p:cNvPr id="12" name="TextBox 11">
            <a:extLst>
              <a:ext uri="{FF2B5EF4-FFF2-40B4-BE49-F238E27FC236}">
                <a16:creationId xmlns:a16="http://schemas.microsoft.com/office/drawing/2014/main" id="{A568648F-BEA4-1017-F872-D6B148DEC49C}"/>
              </a:ext>
            </a:extLst>
          </p:cNvPr>
          <p:cNvSpPr txBox="1"/>
          <p:nvPr/>
        </p:nvSpPr>
        <p:spPr>
          <a:xfrm>
            <a:off x="4268705" y="5750750"/>
            <a:ext cx="3765496" cy="646331"/>
          </a:xfrm>
          <a:prstGeom prst="rect">
            <a:avLst/>
          </a:prstGeom>
          <a:noFill/>
        </p:spPr>
        <p:txBody>
          <a:bodyPr wrap="square">
            <a:spAutoFit/>
          </a:bodyPr>
          <a:lstStyle/>
          <a:p>
            <a:r>
              <a:rPr lang="en-ZA" b="1" i="0" dirty="0" err="1">
                <a:effectLst/>
                <a:latin typeface="Segoe UI" panose="020B0502040204020203" pitchFamily="34" charset="0"/>
              </a:rPr>
              <a:t>ReportDataPrep_Enhancements_Contract_BT</a:t>
            </a:r>
            <a:r>
              <a:rPr lang="en-ZA" b="1" i="0" dirty="0">
                <a:effectLst/>
                <a:latin typeface="Segoe UI" panose="020B0502040204020203" pitchFamily="34" charset="0"/>
              </a:rPr>
              <a:t> 1_</a:t>
            </a:r>
            <a:r>
              <a:rPr lang="en-ZA" b="1" dirty="0">
                <a:latin typeface="Segoe UI" panose="020B0502040204020203" pitchFamily="34" charset="0"/>
              </a:rPr>
              <a:t>Silver</a:t>
            </a:r>
            <a:endParaRPr lang="en-ZA" dirty="0"/>
          </a:p>
        </p:txBody>
      </p:sp>
      <p:pic>
        <p:nvPicPr>
          <p:cNvPr id="14" name="Picture 13">
            <a:extLst>
              <a:ext uri="{FF2B5EF4-FFF2-40B4-BE49-F238E27FC236}">
                <a16:creationId xmlns:a16="http://schemas.microsoft.com/office/drawing/2014/main" id="{B06181B2-A5E1-5BF4-C0AC-F671B59BAE51}"/>
              </a:ext>
            </a:extLst>
          </p:cNvPr>
          <p:cNvPicPr>
            <a:picLocks noChangeAspect="1"/>
          </p:cNvPicPr>
          <p:nvPr/>
        </p:nvPicPr>
        <p:blipFill>
          <a:blip r:embed="rId5"/>
          <a:stretch>
            <a:fillRect/>
          </a:stretch>
        </p:blipFill>
        <p:spPr>
          <a:xfrm>
            <a:off x="8154487" y="1952851"/>
            <a:ext cx="3687537" cy="3402920"/>
          </a:xfrm>
          <a:prstGeom prst="rect">
            <a:avLst/>
          </a:prstGeom>
          <a:ln w="28575">
            <a:solidFill>
              <a:schemeClr val="tx1"/>
            </a:solidFill>
          </a:ln>
        </p:spPr>
      </p:pic>
      <p:sp>
        <p:nvSpPr>
          <p:cNvPr id="15" name="TextBox 14">
            <a:extLst>
              <a:ext uri="{FF2B5EF4-FFF2-40B4-BE49-F238E27FC236}">
                <a16:creationId xmlns:a16="http://schemas.microsoft.com/office/drawing/2014/main" id="{3E35090E-8E6C-1065-DB56-6AC73BE0B617}"/>
              </a:ext>
            </a:extLst>
          </p:cNvPr>
          <p:cNvSpPr txBox="1"/>
          <p:nvPr/>
        </p:nvSpPr>
        <p:spPr>
          <a:xfrm>
            <a:off x="8343356" y="5788677"/>
            <a:ext cx="3687537" cy="646331"/>
          </a:xfrm>
          <a:prstGeom prst="rect">
            <a:avLst/>
          </a:prstGeom>
          <a:noFill/>
        </p:spPr>
        <p:txBody>
          <a:bodyPr wrap="square">
            <a:spAutoFit/>
          </a:bodyPr>
          <a:lstStyle/>
          <a:p>
            <a:r>
              <a:rPr lang="en-ZA" b="1" i="0" dirty="0" err="1">
                <a:effectLst/>
                <a:latin typeface="Segoe UI" panose="020B0502040204020203" pitchFamily="34" charset="0"/>
              </a:rPr>
              <a:t>ReportDataPrep_Enhancements_Contract_BT</a:t>
            </a:r>
            <a:r>
              <a:rPr lang="en-ZA" b="1" i="0" dirty="0">
                <a:effectLst/>
                <a:latin typeface="Segoe UI" panose="020B0502040204020203" pitchFamily="34" charset="0"/>
              </a:rPr>
              <a:t> 1_Gold</a:t>
            </a:r>
            <a:endParaRPr lang="en-ZA" dirty="0"/>
          </a:p>
        </p:txBody>
      </p:sp>
    </p:spTree>
    <p:extLst>
      <p:ext uri="{BB962C8B-B14F-4D97-AF65-F5344CB8AC3E}">
        <p14:creationId xmlns:p14="http://schemas.microsoft.com/office/powerpoint/2010/main" val="1137466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F31DD-ADAF-C6F6-BDBC-41C7D46C0DAC}"/>
              </a:ext>
            </a:extLst>
          </p:cNvPr>
          <p:cNvSpPr>
            <a:spLocks noGrp="1"/>
          </p:cNvSpPr>
          <p:nvPr>
            <p:ph type="title"/>
          </p:nvPr>
        </p:nvSpPr>
        <p:spPr/>
        <p:txBody>
          <a:bodyPr/>
          <a:lstStyle/>
          <a:p>
            <a:r>
              <a:rPr lang="en-US" dirty="0"/>
              <a:t>Pipeline:  Contract BT1 with Meta </a:t>
            </a:r>
            <a:endParaRPr lang="en-ZA" dirty="0"/>
          </a:p>
        </p:txBody>
      </p:sp>
      <p:sp>
        <p:nvSpPr>
          <p:cNvPr id="3" name="Content Placeholder 2">
            <a:extLst>
              <a:ext uri="{FF2B5EF4-FFF2-40B4-BE49-F238E27FC236}">
                <a16:creationId xmlns:a16="http://schemas.microsoft.com/office/drawing/2014/main" id="{54B27375-F8F1-6258-6208-516388EBB71F}"/>
              </a:ext>
            </a:extLst>
          </p:cNvPr>
          <p:cNvSpPr>
            <a:spLocks noGrp="1"/>
          </p:cNvSpPr>
          <p:nvPr>
            <p:ph idx="1"/>
          </p:nvPr>
        </p:nvSpPr>
        <p:spPr/>
        <p:txBody>
          <a:bodyPr/>
          <a:lstStyle/>
          <a:p>
            <a:endParaRPr lang="en-ZA"/>
          </a:p>
        </p:txBody>
      </p:sp>
      <p:pic>
        <p:nvPicPr>
          <p:cNvPr id="5" name="Picture 4">
            <a:extLst>
              <a:ext uri="{FF2B5EF4-FFF2-40B4-BE49-F238E27FC236}">
                <a16:creationId xmlns:a16="http://schemas.microsoft.com/office/drawing/2014/main" id="{3453F734-C437-E611-0BCE-3D12E2B62C36}"/>
              </a:ext>
            </a:extLst>
          </p:cNvPr>
          <p:cNvPicPr>
            <a:picLocks noChangeAspect="1"/>
          </p:cNvPicPr>
          <p:nvPr/>
        </p:nvPicPr>
        <p:blipFill>
          <a:blip r:embed="rId3"/>
          <a:stretch>
            <a:fillRect/>
          </a:stretch>
        </p:blipFill>
        <p:spPr>
          <a:xfrm>
            <a:off x="1406440" y="2361383"/>
            <a:ext cx="7047750" cy="3279822"/>
          </a:xfrm>
          <a:prstGeom prst="rect">
            <a:avLst/>
          </a:prstGeom>
        </p:spPr>
      </p:pic>
    </p:spTree>
    <p:extLst>
      <p:ext uri="{BB962C8B-B14F-4D97-AF65-F5344CB8AC3E}">
        <p14:creationId xmlns:p14="http://schemas.microsoft.com/office/powerpoint/2010/main" val="3237177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14022-4770-C1BA-EDA5-719EBA7C4CFA}"/>
              </a:ext>
            </a:extLst>
          </p:cNvPr>
          <p:cNvSpPr>
            <a:spLocks noGrp="1"/>
          </p:cNvSpPr>
          <p:nvPr>
            <p:ph type="title"/>
          </p:nvPr>
        </p:nvSpPr>
        <p:spPr/>
        <p:txBody>
          <a:bodyPr/>
          <a:lstStyle/>
          <a:p>
            <a:r>
              <a:rPr lang="en-US" dirty="0"/>
              <a:t>Note-books for </a:t>
            </a:r>
            <a:r>
              <a:rPr lang="en-US" dirty="0" err="1"/>
              <a:t>Backtesting</a:t>
            </a:r>
            <a:r>
              <a:rPr lang="en-US" dirty="0"/>
              <a:t> V1</a:t>
            </a:r>
            <a:endParaRPr lang="en-ZA" dirty="0"/>
          </a:p>
        </p:txBody>
      </p:sp>
      <p:sp>
        <p:nvSpPr>
          <p:cNvPr id="3" name="Content Placeholder 2">
            <a:extLst>
              <a:ext uri="{FF2B5EF4-FFF2-40B4-BE49-F238E27FC236}">
                <a16:creationId xmlns:a16="http://schemas.microsoft.com/office/drawing/2014/main" id="{9CE0594D-5B35-F461-F393-5F42C67F69FF}"/>
              </a:ext>
            </a:extLst>
          </p:cNvPr>
          <p:cNvSpPr>
            <a:spLocks noGrp="1"/>
          </p:cNvSpPr>
          <p:nvPr>
            <p:ph idx="1"/>
          </p:nvPr>
        </p:nvSpPr>
        <p:spPr/>
        <p:txBody>
          <a:bodyPr/>
          <a:lstStyle/>
          <a:p>
            <a:r>
              <a:rPr lang="en-US" dirty="0"/>
              <a:t>Initially one notebook was used where all the stages in the medallion architecture  were instantiated. This is mandatory to test the entire process of table instantiation in the appropriate schema. Only once this is run then the independent notebooks at each stage can be tested</a:t>
            </a:r>
          </a:p>
          <a:p>
            <a:r>
              <a:rPr lang="en-US" dirty="0"/>
              <a:t>The notebooks were then independently run to test </a:t>
            </a:r>
          </a:p>
          <a:p>
            <a:r>
              <a:rPr lang="en-US" dirty="0"/>
              <a:t>These notebook were then attached to pipeline components (next section) and the pipeline was manually run </a:t>
            </a:r>
          </a:p>
          <a:p>
            <a:endParaRPr lang="en-ZA" dirty="0"/>
          </a:p>
        </p:txBody>
      </p:sp>
    </p:spTree>
    <p:extLst>
      <p:ext uri="{BB962C8B-B14F-4D97-AF65-F5344CB8AC3E}">
        <p14:creationId xmlns:p14="http://schemas.microsoft.com/office/powerpoint/2010/main" val="3951470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B8429-8776-6F8A-92F9-BE95B7C09AFF}"/>
              </a:ext>
            </a:extLst>
          </p:cNvPr>
          <p:cNvSpPr>
            <a:spLocks noGrp="1"/>
          </p:cNvSpPr>
          <p:nvPr>
            <p:ph type="title"/>
          </p:nvPr>
        </p:nvSpPr>
        <p:spPr>
          <a:xfrm>
            <a:off x="838200" y="365125"/>
            <a:ext cx="10515600" cy="847447"/>
          </a:xfrm>
        </p:spPr>
        <p:txBody>
          <a:bodyPr>
            <a:normAutofit/>
          </a:bodyPr>
          <a:lstStyle/>
          <a:p>
            <a:r>
              <a:rPr lang="en-US" sz="2400" dirty="0"/>
              <a:t>Full Notebook Part 1: </a:t>
            </a:r>
            <a:endParaRPr lang="en-ZA" sz="2400" dirty="0"/>
          </a:p>
        </p:txBody>
      </p:sp>
      <p:sp>
        <p:nvSpPr>
          <p:cNvPr id="5" name="TextBox 4">
            <a:extLst>
              <a:ext uri="{FF2B5EF4-FFF2-40B4-BE49-F238E27FC236}">
                <a16:creationId xmlns:a16="http://schemas.microsoft.com/office/drawing/2014/main" id="{A41B4846-0D33-43C7-87DE-823367C5FE97}"/>
              </a:ext>
            </a:extLst>
          </p:cNvPr>
          <p:cNvSpPr txBox="1"/>
          <p:nvPr/>
        </p:nvSpPr>
        <p:spPr>
          <a:xfrm>
            <a:off x="3870416" y="604182"/>
            <a:ext cx="6619059" cy="369332"/>
          </a:xfrm>
          <a:prstGeom prst="rect">
            <a:avLst/>
          </a:prstGeom>
          <a:noFill/>
        </p:spPr>
        <p:txBody>
          <a:bodyPr wrap="square">
            <a:spAutoFit/>
          </a:bodyPr>
          <a:lstStyle/>
          <a:p>
            <a:r>
              <a:rPr lang="en-ZA" b="1" i="0" dirty="0" err="1">
                <a:effectLst/>
                <a:latin typeface="Segoe UI" panose="020B0502040204020203" pitchFamily="34" charset="0"/>
              </a:rPr>
              <a:t>ReportDataPrep_Enhancements_Contract_BT</a:t>
            </a:r>
            <a:r>
              <a:rPr lang="en-ZA" b="1" i="0" dirty="0">
                <a:effectLst/>
                <a:latin typeface="Segoe UI" panose="020B0502040204020203" pitchFamily="34" charset="0"/>
              </a:rPr>
              <a:t> 1_Complete</a:t>
            </a:r>
            <a:endParaRPr lang="en-ZA" dirty="0"/>
          </a:p>
        </p:txBody>
      </p:sp>
      <p:pic>
        <p:nvPicPr>
          <p:cNvPr id="9" name="Content Placeholder 8">
            <a:extLst>
              <a:ext uri="{FF2B5EF4-FFF2-40B4-BE49-F238E27FC236}">
                <a16:creationId xmlns:a16="http://schemas.microsoft.com/office/drawing/2014/main" id="{44299BB5-AE99-2A2E-D448-98F54A945506}"/>
              </a:ext>
            </a:extLst>
          </p:cNvPr>
          <p:cNvPicPr>
            <a:picLocks noGrp="1" noChangeAspect="1"/>
          </p:cNvPicPr>
          <p:nvPr>
            <p:ph idx="1"/>
          </p:nvPr>
        </p:nvPicPr>
        <p:blipFill>
          <a:blip r:embed="rId3"/>
          <a:stretch>
            <a:fillRect/>
          </a:stretch>
        </p:blipFill>
        <p:spPr>
          <a:xfrm>
            <a:off x="1468808" y="1497349"/>
            <a:ext cx="8496737" cy="4267419"/>
          </a:xfrm>
          <a:ln w="38100">
            <a:solidFill>
              <a:schemeClr val="tx1"/>
            </a:solidFill>
          </a:ln>
        </p:spPr>
      </p:pic>
    </p:spTree>
    <p:extLst>
      <p:ext uri="{BB962C8B-B14F-4D97-AF65-F5344CB8AC3E}">
        <p14:creationId xmlns:p14="http://schemas.microsoft.com/office/powerpoint/2010/main" val="2536356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44AD2-2849-4A4C-43E8-C319FC91D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1B3BD-70D6-1D5F-A755-97AD1650E668}"/>
              </a:ext>
            </a:extLst>
          </p:cNvPr>
          <p:cNvSpPr>
            <a:spLocks noGrp="1"/>
          </p:cNvSpPr>
          <p:nvPr>
            <p:ph type="title"/>
          </p:nvPr>
        </p:nvSpPr>
        <p:spPr/>
        <p:txBody>
          <a:bodyPr/>
          <a:lstStyle/>
          <a:p>
            <a:r>
              <a:rPr lang="en-US" dirty="0"/>
              <a:t>Full Notebook Part 2: </a:t>
            </a:r>
            <a:endParaRPr lang="en-ZA" dirty="0"/>
          </a:p>
        </p:txBody>
      </p:sp>
      <p:pic>
        <p:nvPicPr>
          <p:cNvPr id="5" name="Content Placeholder 4">
            <a:extLst>
              <a:ext uri="{FF2B5EF4-FFF2-40B4-BE49-F238E27FC236}">
                <a16:creationId xmlns:a16="http://schemas.microsoft.com/office/drawing/2014/main" id="{C3791C8D-1B8C-20CE-E913-AB0456BC8EDF}"/>
              </a:ext>
            </a:extLst>
          </p:cNvPr>
          <p:cNvPicPr>
            <a:picLocks noGrp="1" noChangeAspect="1"/>
          </p:cNvPicPr>
          <p:nvPr>
            <p:ph idx="1"/>
          </p:nvPr>
        </p:nvPicPr>
        <p:blipFill>
          <a:blip r:embed="rId3"/>
          <a:stretch>
            <a:fillRect/>
          </a:stretch>
        </p:blipFill>
        <p:spPr>
          <a:xfrm>
            <a:off x="1047206" y="1922031"/>
            <a:ext cx="8236373" cy="3505380"/>
          </a:xfrm>
          <a:ln w="38100">
            <a:solidFill>
              <a:schemeClr val="tx1"/>
            </a:solidFill>
          </a:ln>
        </p:spPr>
      </p:pic>
    </p:spTree>
    <p:extLst>
      <p:ext uri="{BB962C8B-B14F-4D97-AF65-F5344CB8AC3E}">
        <p14:creationId xmlns:p14="http://schemas.microsoft.com/office/powerpoint/2010/main" val="380943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96BF1-D5F2-8A51-7890-46F57473FA92}"/>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E0C1F1B-E4CC-235E-47CF-396F0D409133}"/>
              </a:ext>
            </a:extLst>
          </p:cNvPr>
          <p:cNvPicPr>
            <a:picLocks noGrp="1" noChangeAspect="1"/>
          </p:cNvPicPr>
          <p:nvPr>
            <p:ph idx="1"/>
          </p:nvPr>
        </p:nvPicPr>
        <p:blipFill>
          <a:blip r:embed="rId3"/>
          <a:stretch>
            <a:fillRect/>
          </a:stretch>
        </p:blipFill>
        <p:spPr>
          <a:xfrm>
            <a:off x="1146137" y="1690688"/>
            <a:ext cx="8541189" cy="3454578"/>
          </a:xfrm>
          <a:ln w="28575">
            <a:solidFill>
              <a:schemeClr val="tx1"/>
            </a:solidFill>
          </a:ln>
        </p:spPr>
      </p:pic>
      <p:sp>
        <p:nvSpPr>
          <p:cNvPr id="4" name="Title 1">
            <a:extLst>
              <a:ext uri="{FF2B5EF4-FFF2-40B4-BE49-F238E27FC236}">
                <a16:creationId xmlns:a16="http://schemas.microsoft.com/office/drawing/2014/main" id="{729CBB49-2647-60EC-27E0-3428C1C88C7B}"/>
              </a:ext>
            </a:extLst>
          </p:cNvPr>
          <p:cNvSpPr>
            <a:spLocks noGrp="1"/>
          </p:cNvSpPr>
          <p:nvPr>
            <p:ph type="title"/>
          </p:nvPr>
        </p:nvSpPr>
        <p:spPr>
          <a:xfrm>
            <a:off x="838200" y="365125"/>
            <a:ext cx="10515600" cy="1325563"/>
          </a:xfrm>
        </p:spPr>
        <p:txBody>
          <a:bodyPr/>
          <a:lstStyle/>
          <a:p>
            <a:r>
              <a:rPr lang="en-US" dirty="0"/>
              <a:t>Full Notebook Part 3: </a:t>
            </a:r>
            <a:endParaRPr lang="en-ZA" dirty="0"/>
          </a:p>
        </p:txBody>
      </p:sp>
    </p:spTree>
    <p:extLst>
      <p:ext uri="{BB962C8B-B14F-4D97-AF65-F5344CB8AC3E}">
        <p14:creationId xmlns:p14="http://schemas.microsoft.com/office/powerpoint/2010/main" val="2786668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5741E-448D-A3E2-7529-B99E9341D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C11AA-1745-D8A7-1B00-0C4D68F36F69}"/>
              </a:ext>
            </a:extLst>
          </p:cNvPr>
          <p:cNvSpPr>
            <a:spLocks noGrp="1"/>
          </p:cNvSpPr>
          <p:nvPr>
            <p:ph type="title"/>
          </p:nvPr>
        </p:nvSpPr>
        <p:spPr/>
        <p:txBody>
          <a:bodyPr/>
          <a:lstStyle/>
          <a:p>
            <a:r>
              <a:rPr lang="en-US" dirty="0"/>
              <a:t>Full Notebook Part 4: </a:t>
            </a:r>
            <a:endParaRPr lang="en-ZA" dirty="0"/>
          </a:p>
        </p:txBody>
      </p:sp>
      <p:pic>
        <p:nvPicPr>
          <p:cNvPr id="5" name="Content Placeholder 4">
            <a:extLst>
              <a:ext uri="{FF2B5EF4-FFF2-40B4-BE49-F238E27FC236}">
                <a16:creationId xmlns:a16="http://schemas.microsoft.com/office/drawing/2014/main" id="{2C531AEB-B840-822F-17EC-E30F824B4BA9}"/>
              </a:ext>
            </a:extLst>
          </p:cNvPr>
          <p:cNvPicPr>
            <a:picLocks noGrp="1" noChangeAspect="1"/>
          </p:cNvPicPr>
          <p:nvPr>
            <p:ph idx="1"/>
          </p:nvPr>
        </p:nvPicPr>
        <p:blipFill>
          <a:blip r:embed="rId3"/>
          <a:stretch>
            <a:fillRect/>
          </a:stretch>
        </p:blipFill>
        <p:spPr>
          <a:xfrm>
            <a:off x="1119296" y="1581288"/>
            <a:ext cx="8638658" cy="4649695"/>
          </a:xfrm>
          <a:ln w="38100">
            <a:solidFill>
              <a:schemeClr val="tx1"/>
            </a:solidFill>
          </a:ln>
        </p:spPr>
      </p:pic>
    </p:spTree>
    <p:extLst>
      <p:ext uri="{BB962C8B-B14F-4D97-AF65-F5344CB8AC3E}">
        <p14:creationId xmlns:p14="http://schemas.microsoft.com/office/powerpoint/2010/main" val="4026811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93B7C-CC37-05D5-6C14-94245F345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0258F-BB71-4504-5973-3860320D0E81}"/>
              </a:ext>
            </a:extLst>
          </p:cNvPr>
          <p:cNvSpPr>
            <a:spLocks noGrp="1"/>
          </p:cNvSpPr>
          <p:nvPr>
            <p:ph type="title"/>
          </p:nvPr>
        </p:nvSpPr>
        <p:spPr>
          <a:xfrm>
            <a:off x="838200" y="365125"/>
            <a:ext cx="10515600" cy="640715"/>
          </a:xfrm>
        </p:spPr>
        <p:txBody>
          <a:bodyPr>
            <a:normAutofit fontScale="90000"/>
          </a:bodyPr>
          <a:lstStyle/>
          <a:p>
            <a:r>
              <a:rPr lang="en-US" dirty="0"/>
              <a:t>Complete Notebook Part 4 </a:t>
            </a:r>
            <a:endParaRPr lang="en-ZA" dirty="0"/>
          </a:p>
        </p:txBody>
      </p:sp>
      <p:pic>
        <p:nvPicPr>
          <p:cNvPr id="5" name="Content Placeholder 4">
            <a:extLst>
              <a:ext uri="{FF2B5EF4-FFF2-40B4-BE49-F238E27FC236}">
                <a16:creationId xmlns:a16="http://schemas.microsoft.com/office/drawing/2014/main" id="{8B70A6AF-A6A8-1EEC-98A4-10F7A34B8AE4}"/>
              </a:ext>
            </a:extLst>
          </p:cNvPr>
          <p:cNvPicPr>
            <a:picLocks noGrp="1" noChangeAspect="1"/>
          </p:cNvPicPr>
          <p:nvPr>
            <p:ph idx="1"/>
          </p:nvPr>
        </p:nvPicPr>
        <p:blipFill>
          <a:blip r:embed="rId3"/>
          <a:stretch>
            <a:fillRect/>
          </a:stretch>
        </p:blipFill>
        <p:spPr>
          <a:xfrm>
            <a:off x="1082360" y="1253331"/>
            <a:ext cx="8067849" cy="4351338"/>
          </a:xfrm>
          <a:ln w="28575">
            <a:solidFill>
              <a:schemeClr val="tx1"/>
            </a:solidFill>
          </a:ln>
        </p:spPr>
      </p:pic>
    </p:spTree>
    <p:extLst>
      <p:ext uri="{BB962C8B-B14F-4D97-AF65-F5344CB8AC3E}">
        <p14:creationId xmlns:p14="http://schemas.microsoft.com/office/powerpoint/2010/main" val="2113789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25265-7A99-1813-832B-7E7F0FC75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DC980-AD3A-F4B1-E14E-C878DABD5FBE}"/>
              </a:ext>
            </a:extLst>
          </p:cNvPr>
          <p:cNvSpPr>
            <a:spLocks noGrp="1"/>
          </p:cNvSpPr>
          <p:nvPr>
            <p:ph type="title"/>
          </p:nvPr>
        </p:nvSpPr>
        <p:spPr>
          <a:xfrm>
            <a:off x="838200" y="365125"/>
            <a:ext cx="10515600" cy="614589"/>
          </a:xfrm>
        </p:spPr>
        <p:txBody>
          <a:bodyPr>
            <a:normAutofit fontScale="90000"/>
          </a:bodyPr>
          <a:lstStyle/>
          <a:p>
            <a:r>
              <a:rPr lang="en-US" dirty="0"/>
              <a:t>Complete Notebook Part 5</a:t>
            </a:r>
            <a:endParaRPr lang="en-ZA" dirty="0"/>
          </a:p>
        </p:txBody>
      </p:sp>
      <p:pic>
        <p:nvPicPr>
          <p:cNvPr id="5" name="Content Placeholder 4">
            <a:extLst>
              <a:ext uri="{FF2B5EF4-FFF2-40B4-BE49-F238E27FC236}">
                <a16:creationId xmlns:a16="http://schemas.microsoft.com/office/drawing/2014/main" id="{7DD6C806-AC23-EFE9-2E55-AD33C7A8D287}"/>
              </a:ext>
            </a:extLst>
          </p:cNvPr>
          <p:cNvPicPr>
            <a:picLocks noGrp="1" noChangeAspect="1"/>
          </p:cNvPicPr>
          <p:nvPr>
            <p:ph idx="1"/>
          </p:nvPr>
        </p:nvPicPr>
        <p:blipFill>
          <a:blip r:embed="rId3"/>
          <a:stretch>
            <a:fillRect/>
          </a:stretch>
        </p:blipFill>
        <p:spPr>
          <a:xfrm>
            <a:off x="1153729" y="1285738"/>
            <a:ext cx="8969985" cy="4866867"/>
          </a:xfrm>
          <a:ln w="28575">
            <a:solidFill>
              <a:schemeClr val="tx1"/>
            </a:solidFill>
          </a:ln>
        </p:spPr>
      </p:pic>
    </p:spTree>
    <p:extLst>
      <p:ext uri="{BB962C8B-B14F-4D97-AF65-F5344CB8AC3E}">
        <p14:creationId xmlns:p14="http://schemas.microsoft.com/office/powerpoint/2010/main" val="2370098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F5179-0970-64D9-A5E8-968BE3F1C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185B4-BAB8-84E8-DF1E-0DAE8E0CA351}"/>
              </a:ext>
            </a:extLst>
          </p:cNvPr>
          <p:cNvSpPr>
            <a:spLocks noGrp="1"/>
          </p:cNvSpPr>
          <p:nvPr>
            <p:ph type="title"/>
          </p:nvPr>
        </p:nvSpPr>
        <p:spPr>
          <a:xfrm>
            <a:off x="838200" y="365126"/>
            <a:ext cx="10515600" cy="248828"/>
          </a:xfrm>
        </p:spPr>
        <p:txBody>
          <a:bodyPr>
            <a:normAutofit fontScale="90000"/>
          </a:bodyPr>
          <a:lstStyle/>
          <a:p>
            <a:r>
              <a:rPr lang="en-US" dirty="0"/>
              <a:t>Complete Notebook Part 6</a:t>
            </a:r>
            <a:endParaRPr lang="en-ZA" dirty="0"/>
          </a:p>
        </p:txBody>
      </p:sp>
      <p:pic>
        <p:nvPicPr>
          <p:cNvPr id="5" name="Content Placeholder 4">
            <a:extLst>
              <a:ext uri="{FF2B5EF4-FFF2-40B4-BE49-F238E27FC236}">
                <a16:creationId xmlns:a16="http://schemas.microsoft.com/office/drawing/2014/main" id="{B02EF6C5-7B8B-7142-9119-56409B5B615B}"/>
              </a:ext>
            </a:extLst>
          </p:cNvPr>
          <p:cNvPicPr>
            <a:picLocks noGrp="1" noChangeAspect="1"/>
          </p:cNvPicPr>
          <p:nvPr>
            <p:ph idx="1"/>
          </p:nvPr>
        </p:nvPicPr>
        <p:blipFill>
          <a:blip r:embed="rId3"/>
          <a:stretch>
            <a:fillRect/>
          </a:stretch>
        </p:blipFill>
        <p:spPr>
          <a:xfrm>
            <a:off x="942703" y="1057058"/>
            <a:ext cx="8553890" cy="4364028"/>
          </a:xfrm>
          <a:ln w="38100">
            <a:solidFill>
              <a:schemeClr val="tx1"/>
            </a:solidFill>
          </a:ln>
        </p:spPr>
      </p:pic>
    </p:spTree>
    <p:extLst>
      <p:ext uri="{BB962C8B-B14F-4D97-AF65-F5344CB8AC3E}">
        <p14:creationId xmlns:p14="http://schemas.microsoft.com/office/powerpoint/2010/main" val="1191248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6802A-2622-CA38-FB34-F62153A4F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12A1E-B9FC-6BEC-8BE7-E7FC7CE94963}"/>
              </a:ext>
            </a:extLst>
          </p:cNvPr>
          <p:cNvSpPr>
            <a:spLocks noGrp="1"/>
          </p:cNvSpPr>
          <p:nvPr>
            <p:ph type="title"/>
          </p:nvPr>
        </p:nvSpPr>
        <p:spPr>
          <a:xfrm>
            <a:off x="838200" y="365126"/>
            <a:ext cx="10515600" cy="418646"/>
          </a:xfrm>
        </p:spPr>
        <p:txBody>
          <a:bodyPr>
            <a:normAutofit fontScale="90000"/>
          </a:bodyPr>
          <a:lstStyle/>
          <a:p>
            <a:r>
              <a:rPr lang="en-US" dirty="0"/>
              <a:t>Complete Notebook Part 7</a:t>
            </a:r>
            <a:endParaRPr lang="en-ZA" dirty="0"/>
          </a:p>
        </p:txBody>
      </p:sp>
      <p:pic>
        <p:nvPicPr>
          <p:cNvPr id="5" name="Content Placeholder 4">
            <a:extLst>
              <a:ext uri="{FF2B5EF4-FFF2-40B4-BE49-F238E27FC236}">
                <a16:creationId xmlns:a16="http://schemas.microsoft.com/office/drawing/2014/main" id="{A7D43DF5-8943-DB5B-B658-536E4F92685B}"/>
              </a:ext>
            </a:extLst>
          </p:cNvPr>
          <p:cNvPicPr>
            <a:picLocks noGrp="1" noChangeAspect="1"/>
          </p:cNvPicPr>
          <p:nvPr>
            <p:ph idx="1"/>
          </p:nvPr>
        </p:nvPicPr>
        <p:blipFill>
          <a:blip r:embed="rId3"/>
          <a:stretch>
            <a:fillRect/>
          </a:stretch>
        </p:blipFill>
        <p:spPr>
          <a:xfrm>
            <a:off x="965376" y="1067979"/>
            <a:ext cx="8354071" cy="4351338"/>
          </a:xfrm>
          <a:ln w="28575">
            <a:solidFill>
              <a:schemeClr val="tx1"/>
            </a:solidFill>
          </a:ln>
        </p:spPr>
      </p:pic>
    </p:spTree>
    <p:extLst>
      <p:ext uri="{BB962C8B-B14F-4D97-AF65-F5344CB8AC3E}">
        <p14:creationId xmlns:p14="http://schemas.microsoft.com/office/powerpoint/2010/main" val="1782501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8170B-00ED-A319-AEF0-41DB18F5E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70ED6-F6FA-A0F3-122B-5544F58D19DB}"/>
              </a:ext>
            </a:extLst>
          </p:cNvPr>
          <p:cNvSpPr>
            <a:spLocks noGrp="1"/>
          </p:cNvSpPr>
          <p:nvPr>
            <p:ph type="title"/>
          </p:nvPr>
        </p:nvSpPr>
        <p:spPr>
          <a:xfrm>
            <a:off x="838200" y="365126"/>
            <a:ext cx="10515600" cy="144326"/>
          </a:xfrm>
        </p:spPr>
        <p:txBody>
          <a:bodyPr>
            <a:normAutofit fontScale="90000"/>
          </a:bodyPr>
          <a:lstStyle/>
          <a:p>
            <a:r>
              <a:rPr lang="en-US" dirty="0"/>
              <a:t>Complete Notebook Part 8</a:t>
            </a:r>
            <a:endParaRPr lang="en-ZA" dirty="0"/>
          </a:p>
        </p:txBody>
      </p:sp>
      <p:pic>
        <p:nvPicPr>
          <p:cNvPr id="5" name="Content Placeholder 4">
            <a:extLst>
              <a:ext uri="{FF2B5EF4-FFF2-40B4-BE49-F238E27FC236}">
                <a16:creationId xmlns:a16="http://schemas.microsoft.com/office/drawing/2014/main" id="{78B28BD3-BB40-7552-53B2-4044843CAF61}"/>
              </a:ext>
            </a:extLst>
          </p:cNvPr>
          <p:cNvPicPr>
            <a:picLocks noGrp="1" noChangeAspect="1"/>
          </p:cNvPicPr>
          <p:nvPr>
            <p:ph idx="1"/>
          </p:nvPr>
        </p:nvPicPr>
        <p:blipFill>
          <a:blip r:embed="rId3"/>
          <a:stretch>
            <a:fillRect/>
          </a:stretch>
        </p:blipFill>
        <p:spPr>
          <a:xfrm>
            <a:off x="1105848" y="744584"/>
            <a:ext cx="8625980" cy="3668758"/>
          </a:xfrm>
          <a:ln w="28575">
            <a:solidFill>
              <a:schemeClr val="tx1"/>
            </a:solidFill>
          </a:ln>
        </p:spPr>
      </p:pic>
      <p:pic>
        <p:nvPicPr>
          <p:cNvPr id="7" name="Picture 6">
            <a:extLst>
              <a:ext uri="{FF2B5EF4-FFF2-40B4-BE49-F238E27FC236}">
                <a16:creationId xmlns:a16="http://schemas.microsoft.com/office/drawing/2014/main" id="{51509410-EE65-483A-B212-D5171FC89813}"/>
              </a:ext>
            </a:extLst>
          </p:cNvPr>
          <p:cNvPicPr>
            <a:picLocks noChangeAspect="1"/>
          </p:cNvPicPr>
          <p:nvPr/>
        </p:nvPicPr>
        <p:blipFill>
          <a:blip r:embed="rId4"/>
          <a:stretch>
            <a:fillRect/>
          </a:stretch>
        </p:blipFill>
        <p:spPr>
          <a:xfrm>
            <a:off x="1003118" y="4648474"/>
            <a:ext cx="8728710" cy="1949550"/>
          </a:xfrm>
          <a:prstGeom prst="rect">
            <a:avLst/>
          </a:prstGeom>
          <a:ln w="28575">
            <a:solidFill>
              <a:schemeClr val="tx1"/>
            </a:solidFill>
          </a:ln>
        </p:spPr>
      </p:pic>
    </p:spTree>
    <p:extLst>
      <p:ext uri="{BB962C8B-B14F-4D97-AF65-F5344CB8AC3E}">
        <p14:creationId xmlns:p14="http://schemas.microsoft.com/office/powerpoint/2010/main" val="3233440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BAD7B-1EE1-FB97-9378-03F5A6DE3EBB}"/>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33619AF-6EF1-7521-DB18-B69570232625}"/>
              </a:ext>
            </a:extLst>
          </p:cNvPr>
          <p:cNvPicPr>
            <a:picLocks noGrp="1" noChangeAspect="1"/>
          </p:cNvPicPr>
          <p:nvPr>
            <p:ph idx="1"/>
          </p:nvPr>
        </p:nvPicPr>
        <p:blipFill>
          <a:blip r:embed="rId3"/>
          <a:stretch>
            <a:fillRect/>
          </a:stretch>
        </p:blipFill>
        <p:spPr>
          <a:xfrm>
            <a:off x="859971" y="858973"/>
            <a:ext cx="8095061" cy="2929255"/>
          </a:xfrm>
          <a:ln w="28575">
            <a:solidFill>
              <a:schemeClr val="tx1"/>
            </a:solidFill>
          </a:ln>
        </p:spPr>
      </p:pic>
      <p:sp>
        <p:nvSpPr>
          <p:cNvPr id="5" name="Title 1">
            <a:extLst>
              <a:ext uri="{FF2B5EF4-FFF2-40B4-BE49-F238E27FC236}">
                <a16:creationId xmlns:a16="http://schemas.microsoft.com/office/drawing/2014/main" id="{A57B5843-EC61-1BF3-8132-39A970E4CE1C}"/>
              </a:ext>
            </a:extLst>
          </p:cNvPr>
          <p:cNvSpPr>
            <a:spLocks noGrp="1"/>
          </p:cNvSpPr>
          <p:nvPr>
            <p:ph type="title"/>
          </p:nvPr>
        </p:nvSpPr>
        <p:spPr>
          <a:xfrm>
            <a:off x="838200" y="365126"/>
            <a:ext cx="10515600" cy="144326"/>
          </a:xfrm>
        </p:spPr>
        <p:txBody>
          <a:bodyPr>
            <a:normAutofit fontScale="90000"/>
          </a:bodyPr>
          <a:lstStyle/>
          <a:p>
            <a:r>
              <a:rPr lang="en-US" dirty="0"/>
              <a:t>Complete Notebook Part 9</a:t>
            </a:r>
            <a:endParaRPr lang="en-ZA" dirty="0"/>
          </a:p>
        </p:txBody>
      </p:sp>
      <p:pic>
        <p:nvPicPr>
          <p:cNvPr id="9" name="Picture 8">
            <a:extLst>
              <a:ext uri="{FF2B5EF4-FFF2-40B4-BE49-F238E27FC236}">
                <a16:creationId xmlns:a16="http://schemas.microsoft.com/office/drawing/2014/main" id="{FFBEAAF3-0405-18A9-8187-B0A68467C8D8}"/>
              </a:ext>
            </a:extLst>
          </p:cNvPr>
          <p:cNvPicPr>
            <a:picLocks noChangeAspect="1"/>
          </p:cNvPicPr>
          <p:nvPr/>
        </p:nvPicPr>
        <p:blipFill>
          <a:blip r:embed="rId4"/>
          <a:stretch>
            <a:fillRect/>
          </a:stretch>
        </p:blipFill>
        <p:spPr>
          <a:xfrm>
            <a:off x="876031" y="3971108"/>
            <a:ext cx="9926951" cy="2730137"/>
          </a:xfrm>
          <a:prstGeom prst="rect">
            <a:avLst/>
          </a:prstGeom>
          <a:ln w="28575">
            <a:solidFill>
              <a:schemeClr val="tx1"/>
            </a:solidFill>
          </a:ln>
        </p:spPr>
      </p:pic>
    </p:spTree>
    <p:extLst>
      <p:ext uri="{BB962C8B-B14F-4D97-AF65-F5344CB8AC3E}">
        <p14:creationId xmlns:p14="http://schemas.microsoft.com/office/powerpoint/2010/main" val="3701616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A1EAF-CC66-CFED-54BF-B562A0060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A0C0F-49A5-49E5-DED2-243B9C67D79C}"/>
              </a:ext>
            </a:extLst>
          </p:cNvPr>
          <p:cNvSpPr>
            <a:spLocks noGrp="1"/>
          </p:cNvSpPr>
          <p:nvPr>
            <p:ph type="title"/>
          </p:nvPr>
        </p:nvSpPr>
        <p:spPr>
          <a:xfrm>
            <a:off x="838200" y="365125"/>
            <a:ext cx="10515600" cy="523149"/>
          </a:xfrm>
        </p:spPr>
        <p:txBody>
          <a:bodyPr>
            <a:normAutofit/>
          </a:bodyPr>
          <a:lstStyle/>
          <a:p>
            <a:r>
              <a:rPr lang="en-ZA" sz="2400" dirty="0"/>
              <a:t>Notebook: </a:t>
            </a:r>
            <a:r>
              <a:rPr lang="en-ZA" sz="2400" dirty="0" err="1"/>
              <a:t>ReportDataPrep_Enhancements_Contract_BT</a:t>
            </a:r>
            <a:r>
              <a:rPr lang="en-ZA" sz="2400" dirty="0"/>
              <a:t> 1_Bronze (</a:t>
            </a:r>
            <a:r>
              <a:rPr lang="en-ZA" sz="2400" dirty="0" err="1"/>
              <a:t>pg</a:t>
            </a:r>
            <a:r>
              <a:rPr lang="en-ZA" sz="2400" dirty="0"/>
              <a:t> 1of 2) </a:t>
            </a:r>
          </a:p>
        </p:txBody>
      </p:sp>
      <p:pic>
        <p:nvPicPr>
          <p:cNvPr id="5" name="Content Placeholder 4">
            <a:extLst>
              <a:ext uri="{FF2B5EF4-FFF2-40B4-BE49-F238E27FC236}">
                <a16:creationId xmlns:a16="http://schemas.microsoft.com/office/drawing/2014/main" id="{1E51B4F8-6EF6-F1EE-50C3-F9039EB3A642}"/>
              </a:ext>
            </a:extLst>
          </p:cNvPr>
          <p:cNvPicPr>
            <a:picLocks noGrp="1" noChangeAspect="1"/>
          </p:cNvPicPr>
          <p:nvPr>
            <p:ph idx="1"/>
          </p:nvPr>
        </p:nvPicPr>
        <p:blipFill>
          <a:blip r:embed="rId3"/>
          <a:stretch>
            <a:fillRect/>
          </a:stretch>
        </p:blipFill>
        <p:spPr>
          <a:xfrm>
            <a:off x="1219200" y="1302476"/>
            <a:ext cx="8598568" cy="4520808"/>
          </a:xfrm>
          <a:ln w="38100">
            <a:solidFill>
              <a:schemeClr val="tx1"/>
            </a:solidFill>
          </a:ln>
        </p:spPr>
      </p:pic>
    </p:spTree>
    <p:extLst>
      <p:ext uri="{BB962C8B-B14F-4D97-AF65-F5344CB8AC3E}">
        <p14:creationId xmlns:p14="http://schemas.microsoft.com/office/powerpoint/2010/main" val="2979401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70259-49ED-9026-FF28-970A6266F3CA}"/>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BF130E8-DDE6-D13C-54AB-DB89BF055F0B}"/>
              </a:ext>
            </a:extLst>
          </p:cNvPr>
          <p:cNvPicPr>
            <a:picLocks noGrp="1" noChangeAspect="1"/>
          </p:cNvPicPr>
          <p:nvPr>
            <p:ph idx="1"/>
          </p:nvPr>
        </p:nvPicPr>
        <p:blipFill>
          <a:blip r:embed="rId3"/>
          <a:stretch>
            <a:fillRect/>
          </a:stretch>
        </p:blipFill>
        <p:spPr>
          <a:xfrm>
            <a:off x="613829" y="1459832"/>
            <a:ext cx="10326887" cy="4523873"/>
          </a:xfrm>
          <a:ln w="28575">
            <a:solidFill>
              <a:schemeClr val="tx1"/>
            </a:solidFill>
          </a:ln>
        </p:spPr>
      </p:pic>
      <p:sp>
        <p:nvSpPr>
          <p:cNvPr id="4" name="Title 1">
            <a:extLst>
              <a:ext uri="{FF2B5EF4-FFF2-40B4-BE49-F238E27FC236}">
                <a16:creationId xmlns:a16="http://schemas.microsoft.com/office/drawing/2014/main" id="{9F9C0FA9-1E08-9ED2-097E-EEC9ED0DEAA5}"/>
              </a:ext>
            </a:extLst>
          </p:cNvPr>
          <p:cNvSpPr txBox="1">
            <a:spLocks/>
          </p:cNvSpPr>
          <p:nvPr/>
        </p:nvSpPr>
        <p:spPr>
          <a:xfrm>
            <a:off x="838200" y="681037"/>
            <a:ext cx="10515600" cy="5231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ZA" sz="2400" dirty="0"/>
              <a:t>Notebook: </a:t>
            </a:r>
            <a:r>
              <a:rPr lang="en-ZA" sz="2400" dirty="0" err="1"/>
              <a:t>ReportDataPrep_Enhancements_Contract_BT</a:t>
            </a:r>
            <a:r>
              <a:rPr lang="en-ZA" sz="2400" dirty="0"/>
              <a:t> 1_Bronze (</a:t>
            </a:r>
            <a:r>
              <a:rPr lang="en-ZA" sz="2400" dirty="0" err="1"/>
              <a:t>pg</a:t>
            </a:r>
            <a:r>
              <a:rPr lang="en-ZA" sz="2400" dirty="0"/>
              <a:t> 2 of 2) </a:t>
            </a:r>
          </a:p>
        </p:txBody>
      </p:sp>
    </p:spTree>
    <p:extLst>
      <p:ext uri="{BB962C8B-B14F-4D97-AF65-F5344CB8AC3E}">
        <p14:creationId xmlns:p14="http://schemas.microsoft.com/office/powerpoint/2010/main" val="1400828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F47AA-AF9A-0286-1BEF-395807CED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A7A42-6CFD-25DD-D6AE-4F338B6D85E8}"/>
              </a:ext>
            </a:extLst>
          </p:cNvPr>
          <p:cNvSpPr>
            <a:spLocks noGrp="1"/>
          </p:cNvSpPr>
          <p:nvPr>
            <p:ph type="title"/>
          </p:nvPr>
        </p:nvSpPr>
        <p:spPr>
          <a:xfrm>
            <a:off x="3196388" y="2627062"/>
            <a:ext cx="5097379" cy="1325563"/>
          </a:xfrm>
        </p:spPr>
        <p:txBody>
          <a:bodyPr/>
          <a:lstStyle/>
          <a:p>
            <a:r>
              <a:rPr lang="en-US" dirty="0"/>
              <a:t>End of Bronze Layer </a:t>
            </a:r>
            <a:endParaRPr lang="en-ZA" dirty="0"/>
          </a:p>
        </p:txBody>
      </p:sp>
    </p:spTree>
    <p:extLst>
      <p:ext uri="{BB962C8B-B14F-4D97-AF65-F5344CB8AC3E}">
        <p14:creationId xmlns:p14="http://schemas.microsoft.com/office/powerpoint/2010/main" val="530168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4ABA-0E3B-213F-786A-9A504B0A0F36}"/>
              </a:ext>
            </a:extLst>
          </p:cNvPr>
          <p:cNvSpPr>
            <a:spLocks noGrp="1"/>
          </p:cNvSpPr>
          <p:nvPr>
            <p:ph type="title"/>
          </p:nvPr>
        </p:nvSpPr>
        <p:spPr>
          <a:xfrm>
            <a:off x="838200" y="365125"/>
            <a:ext cx="10515600" cy="565317"/>
          </a:xfrm>
        </p:spPr>
        <p:txBody>
          <a:bodyPr>
            <a:normAutofit/>
          </a:bodyPr>
          <a:lstStyle/>
          <a:p>
            <a:r>
              <a:rPr lang="en-US" sz="2400" dirty="0" err="1"/>
              <a:t>ReportDataPrep_Enhancements_Contract_BT</a:t>
            </a:r>
            <a:r>
              <a:rPr lang="en-US" sz="2400" dirty="0"/>
              <a:t> 1_Silver (Pg 1 of 2 )</a:t>
            </a:r>
            <a:endParaRPr lang="en-ZA" sz="2400" dirty="0"/>
          </a:p>
        </p:txBody>
      </p:sp>
      <p:pic>
        <p:nvPicPr>
          <p:cNvPr id="5" name="Content Placeholder 4">
            <a:extLst>
              <a:ext uri="{FF2B5EF4-FFF2-40B4-BE49-F238E27FC236}">
                <a16:creationId xmlns:a16="http://schemas.microsoft.com/office/drawing/2014/main" id="{09FFDBAE-5A93-E7E6-83D3-CC290BC474A7}"/>
              </a:ext>
            </a:extLst>
          </p:cNvPr>
          <p:cNvPicPr>
            <a:picLocks noGrp="1" noChangeAspect="1"/>
          </p:cNvPicPr>
          <p:nvPr>
            <p:ph idx="1"/>
          </p:nvPr>
        </p:nvPicPr>
        <p:blipFill>
          <a:blip r:embed="rId3"/>
          <a:stretch>
            <a:fillRect/>
          </a:stretch>
        </p:blipFill>
        <p:spPr>
          <a:xfrm>
            <a:off x="1273266" y="1171061"/>
            <a:ext cx="7501766" cy="1596085"/>
          </a:xfrm>
          <a:ln w="28575">
            <a:solidFill>
              <a:schemeClr val="tx1"/>
            </a:solidFill>
          </a:ln>
        </p:spPr>
      </p:pic>
      <p:pic>
        <p:nvPicPr>
          <p:cNvPr id="7" name="Picture 6">
            <a:extLst>
              <a:ext uri="{FF2B5EF4-FFF2-40B4-BE49-F238E27FC236}">
                <a16:creationId xmlns:a16="http://schemas.microsoft.com/office/drawing/2014/main" id="{EB77BE96-C6D6-848D-BFCF-4C759DA1C9A5}"/>
              </a:ext>
            </a:extLst>
          </p:cNvPr>
          <p:cNvPicPr>
            <a:picLocks noChangeAspect="1"/>
          </p:cNvPicPr>
          <p:nvPr/>
        </p:nvPicPr>
        <p:blipFill>
          <a:blip r:embed="rId4"/>
          <a:stretch>
            <a:fillRect/>
          </a:stretch>
        </p:blipFill>
        <p:spPr>
          <a:xfrm>
            <a:off x="990337" y="3160296"/>
            <a:ext cx="8538673" cy="3192378"/>
          </a:xfrm>
          <a:prstGeom prst="rect">
            <a:avLst/>
          </a:prstGeom>
          <a:ln w="28575">
            <a:solidFill>
              <a:schemeClr val="tx1"/>
            </a:solidFill>
          </a:ln>
        </p:spPr>
      </p:pic>
    </p:spTree>
    <p:extLst>
      <p:ext uri="{BB962C8B-B14F-4D97-AF65-F5344CB8AC3E}">
        <p14:creationId xmlns:p14="http://schemas.microsoft.com/office/powerpoint/2010/main" val="1695862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106C0-24B4-2838-34B2-451E58702E60}"/>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CF78736-100F-3909-DF6D-A8396A84B455}"/>
              </a:ext>
            </a:extLst>
          </p:cNvPr>
          <p:cNvPicPr>
            <a:picLocks noGrp="1" noChangeAspect="1"/>
          </p:cNvPicPr>
          <p:nvPr>
            <p:ph idx="1"/>
          </p:nvPr>
        </p:nvPicPr>
        <p:blipFill>
          <a:blip r:embed="rId3"/>
          <a:stretch>
            <a:fillRect/>
          </a:stretch>
        </p:blipFill>
        <p:spPr>
          <a:xfrm>
            <a:off x="838199" y="1305677"/>
            <a:ext cx="9745124" cy="2817144"/>
          </a:xfrm>
          <a:ln w="28575">
            <a:solidFill>
              <a:schemeClr val="tx1"/>
            </a:solidFill>
          </a:ln>
        </p:spPr>
      </p:pic>
      <p:sp>
        <p:nvSpPr>
          <p:cNvPr id="4" name="Title 1">
            <a:extLst>
              <a:ext uri="{FF2B5EF4-FFF2-40B4-BE49-F238E27FC236}">
                <a16:creationId xmlns:a16="http://schemas.microsoft.com/office/drawing/2014/main" id="{A44E99CF-27E4-7F70-22AD-44D1E4472584}"/>
              </a:ext>
            </a:extLst>
          </p:cNvPr>
          <p:cNvSpPr>
            <a:spLocks noGrp="1"/>
          </p:cNvSpPr>
          <p:nvPr>
            <p:ph type="title"/>
          </p:nvPr>
        </p:nvSpPr>
        <p:spPr>
          <a:xfrm>
            <a:off x="838200" y="365125"/>
            <a:ext cx="10515600" cy="1325563"/>
          </a:xfrm>
        </p:spPr>
        <p:txBody>
          <a:bodyPr>
            <a:normAutofit/>
          </a:bodyPr>
          <a:lstStyle/>
          <a:p>
            <a:r>
              <a:rPr lang="en-US" sz="2400" dirty="0" err="1"/>
              <a:t>ReportDataPrep_Enhancements_Contract_BT</a:t>
            </a:r>
            <a:r>
              <a:rPr lang="en-US" sz="2400" dirty="0"/>
              <a:t> 1_Silver (Pg 2 of 2 )</a:t>
            </a:r>
            <a:endParaRPr lang="en-ZA" sz="2400" dirty="0"/>
          </a:p>
        </p:txBody>
      </p:sp>
      <p:pic>
        <p:nvPicPr>
          <p:cNvPr id="8" name="Picture 7">
            <a:extLst>
              <a:ext uri="{FF2B5EF4-FFF2-40B4-BE49-F238E27FC236}">
                <a16:creationId xmlns:a16="http://schemas.microsoft.com/office/drawing/2014/main" id="{32C74B2A-2ECB-DF3E-308C-4F80AFC87974}"/>
              </a:ext>
            </a:extLst>
          </p:cNvPr>
          <p:cNvPicPr>
            <a:picLocks noChangeAspect="1"/>
          </p:cNvPicPr>
          <p:nvPr/>
        </p:nvPicPr>
        <p:blipFill>
          <a:blip r:embed="rId4"/>
          <a:stretch>
            <a:fillRect/>
          </a:stretch>
        </p:blipFill>
        <p:spPr>
          <a:xfrm>
            <a:off x="838198" y="4411579"/>
            <a:ext cx="9745123" cy="2446421"/>
          </a:xfrm>
          <a:prstGeom prst="rect">
            <a:avLst/>
          </a:prstGeom>
          <a:ln w="38100">
            <a:solidFill>
              <a:schemeClr val="tx1"/>
            </a:solidFill>
          </a:ln>
        </p:spPr>
      </p:pic>
    </p:spTree>
    <p:extLst>
      <p:ext uri="{BB962C8B-B14F-4D97-AF65-F5344CB8AC3E}">
        <p14:creationId xmlns:p14="http://schemas.microsoft.com/office/powerpoint/2010/main" val="2684350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64903-B96A-6280-5026-CEA05080E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C0434-0790-7A30-8B59-EA7C60F574CF}"/>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C26D9CD6-6ED2-79F7-3F68-14A52CE566F8}"/>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2851364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DAD01-F8B3-0180-9D6F-09697734B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32301D-7B6E-6B2A-83A3-2B5B483DEAC2}"/>
              </a:ext>
            </a:extLst>
          </p:cNvPr>
          <p:cNvSpPr>
            <a:spLocks noGrp="1"/>
          </p:cNvSpPr>
          <p:nvPr>
            <p:ph type="title"/>
          </p:nvPr>
        </p:nvSpPr>
        <p:spPr>
          <a:xfrm>
            <a:off x="838200" y="365126"/>
            <a:ext cx="10515600" cy="356770"/>
          </a:xfrm>
        </p:spPr>
        <p:txBody>
          <a:bodyPr>
            <a:normAutofit fontScale="90000"/>
          </a:bodyPr>
          <a:lstStyle/>
          <a:p>
            <a:r>
              <a:rPr lang="en-US" sz="2400" dirty="0" err="1"/>
              <a:t>ReportDataPrep_Enhancements_Contract_BT</a:t>
            </a:r>
            <a:r>
              <a:rPr lang="en-US" sz="2400" dirty="0"/>
              <a:t> 1_Gold </a:t>
            </a:r>
            <a:r>
              <a:rPr lang="en-US" sz="2400" dirty="0" err="1"/>
              <a:t>pg</a:t>
            </a:r>
            <a:r>
              <a:rPr lang="en-US" sz="2400" dirty="0"/>
              <a:t> 1 of 3</a:t>
            </a:r>
            <a:endParaRPr lang="en-ZA" sz="2400" dirty="0"/>
          </a:p>
        </p:txBody>
      </p:sp>
      <p:pic>
        <p:nvPicPr>
          <p:cNvPr id="5" name="Content Placeholder 4">
            <a:extLst>
              <a:ext uri="{FF2B5EF4-FFF2-40B4-BE49-F238E27FC236}">
                <a16:creationId xmlns:a16="http://schemas.microsoft.com/office/drawing/2014/main" id="{0749531E-78B7-0A31-284F-9646808651CC}"/>
              </a:ext>
            </a:extLst>
          </p:cNvPr>
          <p:cNvPicPr>
            <a:picLocks noGrp="1" noChangeAspect="1"/>
          </p:cNvPicPr>
          <p:nvPr>
            <p:ph idx="1"/>
          </p:nvPr>
        </p:nvPicPr>
        <p:blipFill>
          <a:blip r:embed="rId3"/>
          <a:stretch>
            <a:fillRect/>
          </a:stretch>
        </p:blipFill>
        <p:spPr>
          <a:xfrm>
            <a:off x="1319462" y="871389"/>
            <a:ext cx="8819147" cy="1310338"/>
          </a:xfrm>
          <a:ln w="28575">
            <a:solidFill>
              <a:schemeClr val="tx1"/>
            </a:solidFill>
          </a:ln>
        </p:spPr>
      </p:pic>
      <p:pic>
        <p:nvPicPr>
          <p:cNvPr id="7" name="Picture 6">
            <a:extLst>
              <a:ext uri="{FF2B5EF4-FFF2-40B4-BE49-F238E27FC236}">
                <a16:creationId xmlns:a16="http://schemas.microsoft.com/office/drawing/2014/main" id="{98CAEE40-AC2A-2D98-D7C2-289F37E9474D}"/>
              </a:ext>
            </a:extLst>
          </p:cNvPr>
          <p:cNvPicPr>
            <a:picLocks noChangeAspect="1"/>
          </p:cNvPicPr>
          <p:nvPr/>
        </p:nvPicPr>
        <p:blipFill>
          <a:blip r:embed="rId4"/>
          <a:stretch>
            <a:fillRect/>
          </a:stretch>
        </p:blipFill>
        <p:spPr>
          <a:xfrm>
            <a:off x="721895" y="2534653"/>
            <a:ext cx="10515600" cy="3688791"/>
          </a:xfrm>
          <a:prstGeom prst="rect">
            <a:avLst/>
          </a:prstGeom>
          <a:ln w="28575">
            <a:solidFill>
              <a:schemeClr val="tx1"/>
            </a:solidFill>
          </a:ln>
        </p:spPr>
      </p:pic>
    </p:spTree>
    <p:extLst>
      <p:ext uri="{BB962C8B-B14F-4D97-AF65-F5344CB8AC3E}">
        <p14:creationId xmlns:p14="http://schemas.microsoft.com/office/powerpoint/2010/main" val="796515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E0D33-4A5B-A80C-2133-EFC9DEA275EE}"/>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C15837D-01C4-9646-17F4-2E5AAE9C9CA7}"/>
              </a:ext>
            </a:extLst>
          </p:cNvPr>
          <p:cNvPicPr>
            <a:picLocks noGrp="1" noChangeAspect="1"/>
          </p:cNvPicPr>
          <p:nvPr>
            <p:ph idx="1"/>
          </p:nvPr>
        </p:nvPicPr>
        <p:blipFill>
          <a:blip r:embed="rId3"/>
          <a:stretch>
            <a:fillRect/>
          </a:stretch>
        </p:blipFill>
        <p:spPr>
          <a:xfrm>
            <a:off x="838200" y="1572126"/>
            <a:ext cx="11000874" cy="4337441"/>
          </a:xfrm>
          <a:ln w="28575">
            <a:solidFill>
              <a:schemeClr val="tx1"/>
            </a:solidFill>
          </a:ln>
        </p:spPr>
      </p:pic>
      <p:sp>
        <p:nvSpPr>
          <p:cNvPr id="4" name="Title 1">
            <a:extLst>
              <a:ext uri="{FF2B5EF4-FFF2-40B4-BE49-F238E27FC236}">
                <a16:creationId xmlns:a16="http://schemas.microsoft.com/office/drawing/2014/main" id="{72F22E97-C4F3-F3F4-A2B6-25FC5335C78D}"/>
              </a:ext>
            </a:extLst>
          </p:cNvPr>
          <p:cNvSpPr>
            <a:spLocks noGrp="1"/>
          </p:cNvSpPr>
          <p:nvPr>
            <p:ph type="title"/>
          </p:nvPr>
        </p:nvSpPr>
        <p:spPr>
          <a:xfrm>
            <a:off x="838200" y="365125"/>
            <a:ext cx="10515600" cy="1325563"/>
          </a:xfrm>
        </p:spPr>
        <p:txBody>
          <a:bodyPr>
            <a:normAutofit/>
          </a:bodyPr>
          <a:lstStyle/>
          <a:p>
            <a:r>
              <a:rPr lang="en-US" sz="2400" dirty="0" err="1"/>
              <a:t>ReportDataPrep_Enhancements_Contract_BT</a:t>
            </a:r>
            <a:r>
              <a:rPr lang="en-US" sz="2400" dirty="0"/>
              <a:t> 1_Gold </a:t>
            </a:r>
            <a:r>
              <a:rPr lang="en-US" sz="2400" dirty="0" err="1"/>
              <a:t>pg</a:t>
            </a:r>
            <a:r>
              <a:rPr lang="en-US" sz="2400" dirty="0"/>
              <a:t> 2 of 3</a:t>
            </a:r>
            <a:endParaRPr lang="en-ZA" sz="2400" dirty="0"/>
          </a:p>
        </p:txBody>
      </p:sp>
    </p:spTree>
    <p:extLst>
      <p:ext uri="{BB962C8B-B14F-4D97-AF65-F5344CB8AC3E}">
        <p14:creationId xmlns:p14="http://schemas.microsoft.com/office/powerpoint/2010/main" val="108501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E5D7E-34F3-7FB4-5F70-80F22C3921AE}"/>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FBBE6B4-6C3A-F705-3003-C1D5E0991386}"/>
              </a:ext>
            </a:extLst>
          </p:cNvPr>
          <p:cNvPicPr>
            <a:picLocks noGrp="1" noChangeAspect="1"/>
          </p:cNvPicPr>
          <p:nvPr>
            <p:ph idx="1"/>
          </p:nvPr>
        </p:nvPicPr>
        <p:blipFill>
          <a:blip r:embed="rId3"/>
          <a:stretch>
            <a:fillRect/>
          </a:stretch>
        </p:blipFill>
        <p:spPr>
          <a:xfrm>
            <a:off x="1133163" y="1690688"/>
            <a:ext cx="10515600" cy="4100512"/>
          </a:xfrm>
        </p:spPr>
      </p:pic>
      <p:sp>
        <p:nvSpPr>
          <p:cNvPr id="4" name="Title 1">
            <a:extLst>
              <a:ext uri="{FF2B5EF4-FFF2-40B4-BE49-F238E27FC236}">
                <a16:creationId xmlns:a16="http://schemas.microsoft.com/office/drawing/2014/main" id="{FB146875-A825-1DFD-ECE8-0F1EAF35DC1F}"/>
              </a:ext>
            </a:extLst>
          </p:cNvPr>
          <p:cNvSpPr>
            <a:spLocks noGrp="1"/>
          </p:cNvSpPr>
          <p:nvPr>
            <p:ph type="title"/>
          </p:nvPr>
        </p:nvSpPr>
        <p:spPr>
          <a:xfrm>
            <a:off x="838200" y="365125"/>
            <a:ext cx="10515600" cy="1325563"/>
          </a:xfrm>
        </p:spPr>
        <p:txBody>
          <a:bodyPr>
            <a:normAutofit/>
          </a:bodyPr>
          <a:lstStyle/>
          <a:p>
            <a:r>
              <a:rPr lang="en-US" sz="2400" dirty="0" err="1"/>
              <a:t>ReportDataPrep_Enhancements_Contract_BT</a:t>
            </a:r>
            <a:r>
              <a:rPr lang="en-US" sz="2400" dirty="0"/>
              <a:t> 1_Gold </a:t>
            </a:r>
            <a:r>
              <a:rPr lang="en-US" sz="2400" dirty="0" err="1"/>
              <a:t>pg</a:t>
            </a:r>
            <a:r>
              <a:rPr lang="en-US" sz="2400" dirty="0"/>
              <a:t>  3 of 3</a:t>
            </a:r>
            <a:endParaRPr lang="en-ZA" sz="2400" dirty="0"/>
          </a:p>
        </p:txBody>
      </p:sp>
    </p:spTree>
    <p:extLst>
      <p:ext uri="{BB962C8B-B14F-4D97-AF65-F5344CB8AC3E}">
        <p14:creationId xmlns:p14="http://schemas.microsoft.com/office/powerpoint/2010/main" val="1157582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D4EA0-3C35-B004-0FD5-663EADB32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355AD-4B1E-0586-ADEE-86C4A1139D6E}"/>
              </a:ext>
            </a:extLst>
          </p:cNvPr>
          <p:cNvSpPr>
            <a:spLocks noGrp="1"/>
          </p:cNvSpPr>
          <p:nvPr>
            <p:ph type="title"/>
          </p:nvPr>
        </p:nvSpPr>
        <p:spPr>
          <a:xfrm>
            <a:off x="838200" y="140537"/>
            <a:ext cx="10515600" cy="469064"/>
          </a:xfrm>
        </p:spPr>
        <p:txBody>
          <a:bodyPr>
            <a:normAutofit fontScale="90000"/>
          </a:bodyPr>
          <a:lstStyle/>
          <a:p>
            <a:r>
              <a:rPr lang="en-US" dirty="0"/>
              <a:t>Notebook:  </a:t>
            </a:r>
            <a:r>
              <a:rPr lang="en-US" dirty="0" err="1"/>
              <a:t>AuditLog_Backtesting</a:t>
            </a:r>
            <a:r>
              <a:rPr lang="en-US" dirty="0"/>
              <a:t> </a:t>
            </a:r>
            <a:r>
              <a:rPr lang="en-US" dirty="0" err="1"/>
              <a:t>pg</a:t>
            </a:r>
            <a:r>
              <a:rPr lang="en-US" dirty="0"/>
              <a:t> 1 of 2 </a:t>
            </a:r>
            <a:endParaRPr lang="en-ZA" dirty="0"/>
          </a:p>
        </p:txBody>
      </p:sp>
      <p:pic>
        <p:nvPicPr>
          <p:cNvPr id="5" name="Content Placeholder 4">
            <a:extLst>
              <a:ext uri="{FF2B5EF4-FFF2-40B4-BE49-F238E27FC236}">
                <a16:creationId xmlns:a16="http://schemas.microsoft.com/office/drawing/2014/main" id="{D938A828-DE52-93B6-C159-805EC82C5516}"/>
              </a:ext>
            </a:extLst>
          </p:cNvPr>
          <p:cNvPicPr>
            <a:picLocks noGrp="1" noChangeAspect="1"/>
          </p:cNvPicPr>
          <p:nvPr>
            <p:ph idx="1"/>
          </p:nvPr>
        </p:nvPicPr>
        <p:blipFill>
          <a:blip r:embed="rId3"/>
          <a:stretch>
            <a:fillRect/>
          </a:stretch>
        </p:blipFill>
        <p:spPr>
          <a:xfrm>
            <a:off x="1046746" y="850233"/>
            <a:ext cx="8899358" cy="1507957"/>
          </a:xfrm>
          <a:ln w="28575">
            <a:solidFill>
              <a:schemeClr val="tx1"/>
            </a:solidFill>
          </a:ln>
        </p:spPr>
      </p:pic>
      <p:pic>
        <p:nvPicPr>
          <p:cNvPr id="7" name="Picture 6">
            <a:extLst>
              <a:ext uri="{FF2B5EF4-FFF2-40B4-BE49-F238E27FC236}">
                <a16:creationId xmlns:a16="http://schemas.microsoft.com/office/drawing/2014/main" id="{2CA25CEA-7042-4686-1514-43919D25B8EB}"/>
              </a:ext>
            </a:extLst>
          </p:cNvPr>
          <p:cNvPicPr>
            <a:picLocks noChangeAspect="1"/>
          </p:cNvPicPr>
          <p:nvPr/>
        </p:nvPicPr>
        <p:blipFill>
          <a:blip r:embed="rId4"/>
          <a:stretch>
            <a:fillRect/>
          </a:stretch>
        </p:blipFill>
        <p:spPr>
          <a:xfrm>
            <a:off x="918411" y="2855579"/>
            <a:ext cx="9589168" cy="3288463"/>
          </a:xfrm>
          <a:prstGeom prst="rect">
            <a:avLst/>
          </a:prstGeom>
          <a:ln w="38100">
            <a:solidFill>
              <a:schemeClr val="tx1"/>
            </a:solidFill>
          </a:ln>
        </p:spPr>
      </p:pic>
    </p:spTree>
    <p:extLst>
      <p:ext uri="{BB962C8B-B14F-4D97-AF65-F5344CB8AC3E}">
        <p14:creationId xmlns:p14="http://schemas.microsoft.com/office/powerpoint/2010/main" val="1679975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1A612-D4AB-4C33-133E-41E1CE0E6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331D0-0140-DC1F-EB8D-858B0B7E7A2C}"/>
              </a:ext>
            </a:extLst>
          </p:cNvPr>
          <p:cNvSpPr>
            <a:spLocks noGrp="1"/>
          </p:cNvSpPr>
          <p:nvPr>
            <p:ph type="title"/>
          </p:nvPr>
        </p:nvSpPr>
        <p:spPr/>
        <p:txBody>
          <a:bodyPr/>
          <a:lstStyle/>
          <a:p>
            <a:r>
              <a:rPr lang="en-US" dirty="0"/>
              <a:t>Check the Table </a:t>
            </a:r>
            <a:endParaRPr lang="en-ZA" dirty="0"/>
          </a:p>
        </p:txBody>
      </p:sp>
      <p:pic>
        <p:nvPicPr>
          <p:cNvPr id="5" name="Content Placeholder 4">
            <a:extLst>
              <a:ext uri="{FF2B5EF4-FFF2-40B4-BE49-F238E27FC236}">
                <a16:creationId xmlns:a16="http://schemas.microsoft.com/office/drawing/2014/main" id="{BDC743ED-461F-FED3-1342-1F5CCAE76F44}"/>
              </a:ext>
            </a:extLst>
          </p:cNvPr>
          <p:cNvPicPr>
            <a:picLocks noGrp="1" noChangeAspect="1"/>
          </p:cNvPicPr>
          <p:nvPr>
            <p:ph idx="1"/>
          </p:nvPr>
        </p:nvPicPr>
        <p:blipFill>
          <a:blip r:embed="rId2"/>
          <a:stretch>
            <a:fillRect/>
          </a:stretch>
        </p:blipFill>
        <p:spPr>
          <a:xfrm>
            <a:off x="601825" y="1958899"/>
            <a:ext cx="10226596" cy="3960638"/>
          </a:xfrm>
        </p:spPr>
      </p:pic>
    </p:spTree>
    <p:extLst>
      <p:ext uri="{BB962C8B-B14F-4D97-AF65-F5344CB8AC3E}">
        <p14:creationId xmlns:p14="http://schemas.microsoft.com/office/powerpoint/2010/main" val="4235518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0C99B-108A-9960-0C06-1833E51D3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449CB-0718-61D2-29F6-62FADDF6D108}"/>
              </a:ext>
            </a:extLst>
          </p:cNvPr>
          <p:cNvSpPr>
            <a:spLocks noGrp="1"/>
          </p:cNvSpPr>
          <p:nvPr>
            <p:ph type="title"/>
          </p:nvPr>
        </p:nvSpPr>
        <p:spPr/>
        <p:txBody>
          <a:bodyPr/>
          <a:lstStyle/>
          <a:p>
            <a:r>
              <a:rPr lang="en-US" dirty="0"/>
              <a:t>Notebooks in Folder </a:t>
            </a:r>
            <a:endParaRPr lang="en-ZA" dirty="0"/>
          </a:p>
        </p:txBody>
      </p:sp>
      <p:pic>
        <p:nvPicPr>
          <p:cNvPr id="5" name="Picture 4">
            <a:extLst>
              <a:ext uri="{FF2B5EF4-FFF2-40B4-BE49-F238E27FC236}">
                <a16:creationId xmlns:a16="http://schemas.microsoft.com/office/drawing/2014/main" id="{6772C22D-5D3F-88C6-2CF1-E1155FB3FF1C}"/>
              </a:ext>
            </a:extLst>
          </p:cNvPr>
          <p:cNvPicPr>
            <a:picLocks noChangeAspect="1"/>
          </p:cNvPicPr>
          <p:nvPr/>
        </p:nvPicPr>
        <p:blipFill>
          <a:blip r:embed="rId2"/>
          <a:stretch>
            <a:fillRect/>
          </a:stretch>
        </p:blipFill>
        <p:spPr>
          <a:xfrm>
            <a:off x="1109773" y="1850293"/>
            <a:ext cx="8371111" cy="3524563"/>
          </a:xfrm>
          <a:prstGeom prst="rect">
            <a:avLst/>
          </a:prstGeom>
          <a:ln w="28575">
            <a:solidFill>
              <a:schemeClr val="tx1"/>
            </a:solidFill>
          </a:ln>
        </p:spPr>
      </p:pic>
    </p:spTree>
    <p:extLst>
      <p:ext uri="{BB962C8B-B14F-4D97-AF65-F5344CB8AC3E}">
        <p14:creationId xmlns:p14="http://schemas.microsoft.com/office/powerpoint/2010/main" val="25747572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DDB85-A68E-8088-906B-5C75FCC71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F7F93-A899-22DE-007C-BE63867CB52B}"/>
              </a:ext>
            </a:extLst>
          </p:cNvPr>
          <p:cNvSpPr>
            <a:spLocks noGrp="1"/>
          </p:cNvSpPr>
          <p:nvPr>
            <p:ph type="title"/>
          </p:nvPr>
        </p:nvSpPr>
        <p:spPr>
          <a:xfrm>
            <a:off x="838200" y="365125"/>
            <a:ext cx="10515600" cy="789907"/>
          </a:xfrm>
        </p:spPr>
        <p:txBody>
          <a:bodyPr/>
          <a:lstStyle/>
          <a:p>
            <a:r>
              <a:rPr lang="en-US" dirty="0"/>
              <a:t>Tables and files in Lakehouse</a:t>
            </a:r>
            <a:endParaRPr lang="en-ZA" dirty="0"/>
          </a:p>
        </p:txBody>
      </p:sp>
      <p:pic>
        <p:nvPicPr>
          <p:cNvPr id="5" name="Content Placeholder 4">
            <a:extLst>
              <a:ext uri="{FF2B5EF4-FFF2-40B4-BE49-F238E27FC236}">
                <a16:creationId xmlns:a16="http://schemas.microsoft.com/office/drawing/2014/main" id="{577BA826-2E01-0FA1-0D45-4F59E5856799}"/>
              </a:ext>
            </a:extLst>
          </p:cNvPr>
          <p:cNvPicPr>
            <a:picLocks noGrp="1" noChangeAspect="1"/>
          </p:cNvPicPr>
          <p:nvPr>
            <p:ph idx="1"/>
          </p:nvPr>
        </p:nvPicPr>
        <p:blipFill>
          <a:blip r:embed="rId2"/>
          <a:stretch>
            <a:fillRect/>
          </a:stretch>
        </p:blipFill>
        <p:spPr>
          <a:xfrm>
            <a:off x="1334617" y="1341216"/>
            <a:ext cx="8560240" cy="3740342"/>
          </a:xfrm>
          <a:ln w="38100">
            <a:solidFill>
              <a:schemeClr val="tx1"/>
            </a:solidFill>
          </a:ln>
        </p:spPr>
      </p:pic>
    </p:spTree>
    <p:extLst>
      <p:ext uri="{BB962C8B-B14F-4D97-AF65-F5344CB8AC3E}">
        <p14:creationId xmlns:p14="http://schemas.microsoft.com/office/powerpoint/2010/main" val="140022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4446F-BBBD-16BE-47D8-955A738B5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BE4417-93E0-5B4F-C4DA-4CB7288CC9E7}"/>
              </a:ext>
            </a:extLst>
          </p:cNvPr>
          <p:cNvSpPr>
            <a:spLocks noGrp="1"/>
          </p:cNvSpPr>
          <p:nvPr>
            <p:ph type="title"/>
          </p:nvPr>
        </p:nvSpPr>
        <p:spPr>
          <a:xfrm>
            <a:off x="838200" y="681037"/>
            <a:ext cx="10515600" cy="873740"/>
          </a:xfrm>
        </p:spPr>
        <p:txBody>
          <a:bodyPr>
            <a:normAutofit fontScale="90000"/>
          </a:bodyPr>
          <a:lstStyle/>
          <a:p>
            <a:r>
              <a:rPr lang="en-US" sz="2400" dirty="0"/>
              <a:t>Trigger </a:t>
            </a:r>
            <a:r>
              <a:rPr lang="en-US" sz="2400" dirty="0" err="1"/>
              <a:t>Backtesting</a:t>
            </a:r>
            <a:r>
              <a:rPr lang="en-US" sz="2400" dirty="0"/>
              <a:t> Pipeline Above by File Drop : Any File Drop</a:t>
            </a:r>
            <a:br>
              <a:rPr lang="en-US" sz="2400" dirty="0"/>
            </a:br>
            <a:r>
              <a:rPr lang="en-US" sz="2400" dirty="0"/>
              <a:t>Pipeline name :Orchestrate </a:t>
            </a:r>
            <a:r>
              <a:rPr lang="en-US" sz="2400" dirty="0" err="1"/>
              <a:t>backtesting</a:t>
            </a:r>
            <a:r>
              <a:rPr lang="en-US" sz="2400" dirty="0"/>
              <a:t> V2 With Trigger </a:t>
            </a:r>
            <a:br>
              <a:rPr lang="en-US" sz="2400" dirty="0"/>
            </a:br>
            <a:r>
              <a:rPr lang="en-US" sz="2400" dirty="0"/>
              <a:t>Move Pipeline : </a:t>
            </a:r>
            <a:r>
              <a:rPr lang="en-US" sz="2400" dirty="0" err="1"/>
              <a:t>Moving_CT_File_To_Initiate_Backtest</a:t>
            </a:r>
            <a:br>
              <a:rPr lang="en-US" sz="2400" dirty="0"/>
            </a:br>
            <a:r>
              <a:rPr lang="en-US" sz="2400" dirty="0"/>
              <a:t> </a:t>
            </a:r>
            <a:endParaRPr lang="en-ZA" sz="2400" dirty="0"/>
          </a:p>
        </p:txBody>
      </p:sp>
      <p:pic>
        <p:nvPicPr>
          <p:cNvPr id="5" name="Content Placeholder 4">
            <a:extLst>
              <a:ext uri="{FF2B5EF4-FFF2-40B4-BE49-F238E27FC236}">
                <a16:creationId xmlns:a16="http://schemas.microsoft.com/office/drawing/2014/main" id="{1EB300EC-E03C-1E68-ED30-25D7F8504574}"/>
              </a:ext>
            </a:extLst>
          </p:cNvPr>
          <p:cNvPicPr>
            <a:picLocks noGrp="1" noChangeAspect="1"/>
          </p:cNvPicPr>
          <p:nvPr>
            <p:ph idx="1"/>
          </p:nvPr>
        </p:nvPicPr>
        <p:blipFill>
          <a:blip r:embed="rId3"/>
          <a:stretch>
            <a:fillRect/>
          </a:stretch>
        </p:blipFill>
        <p:spPr>
          <a:xfrm>
            <a:off x="1013141" y="1789470"/>
            <a:ext cx="6018280" cy="4969272"/>
          </a:xfrm>
        </p:spPr>
      </p:pic>
    </p:spTree>
    <p:extLst>
      <p:ext uri="{BB962C8B-B14F-4D97-AF65-F5344CB8AC3E}">
        <p14:creationId xmlns:p14="http://schemas.microsoft.com/office/powerpoint/2010/main" val="3650550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C22B-9709-2FBE-F4E0-512E8E45B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C2709-F963-6680-1791-EC9C9946F155}"/>
              </a:ext>
            </a:extLst>
          </p:cNvPr>
          <p:cNvSpPr>
            <a:spLocks noGrp="1"/>
          </p:cNvSpPr>
          <p:nvPr>
            <p:ph type="title"/>
          </p:nvPr>
        </p:nvSpPr>
        <p:spPr>
          <a:xfrm>
            <a:off x="838200" y="365125"/>
            <a:ext cx="10515600" cy="432317"/>
          </a:xfrm>
        </p:spPr>
        <p:txBody>
          <a:bodyPr>
            <a:normAutofit fontScale="90000"/>
          </a:bodyPr>
          <a:lstStyle/>
          <a:p>
            <a:r>
              <a:rPr lang="en-US" sz="2400" dirty="0"/>
              <a:t>The Pipeline : Ran successfully </a:t>
            </a:r>
            <a:br>
              <a:rPr lang="en-ZA" sz="2400" dirty="0"/>
            </a:br>
            <a:r>
              <a:rPr lang="en-ZA" sz="2700" b="1" dirty="0"/>
              <a:t>Orchestrate_BackTesting_V2_wTrigger</a:t>
            </a:r>
            <a:endParaRPr lang="en-ZA" sz="2700" dirty="0"/>
          </a:p>
        </p:txBody>
      </p:sp>
      <p:pic>
        <p:nvPicPr>
          <p:cNvPr id="5" name="Content Placeholder 4">
            <a:extLst>
              <a:ext uri="{FF2B5EF4-FFF2-40B4-BE49-F238E27FC236}">
                <a16:creationId xmlns:a16="http://schemas.microsoft.com/office/drawing/2014/main" id="{1CDB4315-4938-5654-D149-191F15E9277C}"/>
              </a:ext>
            </a:extLst>
          </p:cNvPr>
          <p:cNvPicPr>
            <a:picLocks noGrp="1" noChangeAspect="1"/>
          </p:cNvPicPr>
          <p:nvPr>
            <p:ph idx="1"/>
          </p:nvPr>
        </p:nvPicPr>
        <p:blipFill>
          <a:blip r:embed="rId2"/>
          <a:stretch>
            <a:fillRect/>
          </a:stretch>
        </p:blipFill>
        <p:spPr>
          <a:xfrm>
            <a:off x="1283932" y="1518014"/>
            <a:ext cx="9231668" cy="3821972"/>
          </a:xfrm>
          <a:ln w="28575">
            <a:solidFill>
              <a:schemeClr val="tx1"/>
            </a:solidFill>
          </a:ln>
        </p:spPr>
      </p:pic>
    </p:spTree>
    <p:extLst>
      <p:ext uri="{BB962C8B-B14F-4D97-AF65-F5344CB8AC3E}">
        <p14:creationId xmlns:p14="http://schemas.microsoft.com/office/powerpoint/2010/main" val="34784441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0D36C-030D-C4F7-7FFF-FAF66B98B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0B121-8BC1-86D7-6C01-64A6402E49C6}"/>
              </a:ext>
            </a:extLst>
          </p:cNvPr>
          <p:cNvSpPr>
            <a:spLocks noGrp="1"/>
          </p:cNvSpPr>
          <p:nvPr>
            <p:ph type="title"/>
          </p:nvPr>
        </p:nvSpPr>
        <p:spPr>
          <a:xfrm>
            <a:off x="838200" y="406399"/>
            <a:ext cx="10515600" cy="549275"/>
          </a:xfrm>
        </p:spPr>
        <p:txBody>
          <a:bodyPr>
            <a:noAutofit/>
          </a:bodyPr>
          <a:lstStyle/>
          <a:p>
            <a:r>
              <a:rPr lang="en-US" sz="2400" dirty="0"/>
              <a:t>The Activator : </a:t>
            </a:r>
            <a:r>
              <a:rPr lang="en-US" sz="2400" dirty="0" err="1"/>
              <a:t>CT_file_Drop</a:t>
            </a:r>
            <a:r>
              <a:rPr lang="en-US" sz="2400" dirty="0"/>
              <a:t> was used to </a:t>
            </a:r>
            <a:r>
              <a:rPr lang="en-US" sz="2400" dirty="0" err="1"/>
              <a:t>triggerthe</a:t>
            </a:r>
            <a:r>
              <a:rPr lang="en-US" sz="2400" dirty="0"/>
              <a:t> pipeline and the dashboard </a:t>
            </a:r>
            <a:r>
              <a:rPr lang="en-US" sz="2400" dirty="0" err="1"/>
              <a:t>wirth</a:t>
            </a:r>
            <a:r>
              <a:rPr lang="en-US" sz="2400" dirty="0"/>
              <a:t> config on the </a:t>
            </a:r>
            <a:r>
              <a:rPr lang="en-US" sz="2400" dirty="0" err="1"/>
              <a:t>righ</a:t>
            </a:r>
            <a:r>
              <a:rPr lang="en-US" sz="2400" dirty="0"/>
              <a:t> tis shown below</a:t>
            </a:r>
            <a:endParaRPr lang="en-ZA" sz="2400" dirty="0"/>
          </a:p>
        </p:txBody>
      </p:sp>
      <p:pic>
        <p:nvPicPr>
          <p:cNvPr id="5" name="Content Placeholder 4">
            <a:extLst>
              <a:ext uri="{FF2B5EF4-FFF2-40B4-BE49-F238E27FC236}">
                <a16:creationId xmlns:a16="http://schemas.microsoft.com/office/drawing/2014/main" id="{13E23992-75A8-75B1-2AF8-F3B5D6A34800}"/>
              </a:ext>
            </a:extLst>
          </p:cNvPr>
          <p:cNvPicPr>
            <a:picLocks noGrp="1" noChangeAspect="1"/>
          </p:cNvPicPr>
          <p:nvPr>
            <p:ph idx="1"/>
          </p:nvPr>
        </p:nvPicPr>
        <p:blipFill>
          <a:blip r:embed="rId2"/>
          <a:stretch>
            <a:fillRect/>
          </a:stretch>
        </p:blipFill>
        <p:spPr>
          <a:xfrm>
            <a:off x="1187582" y="1426326"/>
            <a:ext cx="9045474" cy="4351338"/>
          </a:xfrm>
          <a:ln w="38100">
            <a:solidFill>
              <a:schemeClr val="tx1"/>
            </a:solidFill>
          </a:ln>
        </p:spPr>
      </p:pic>
    </p:spTree>
    <p:extLst>
      <p:ext uri="{BB962C8B-B14F-4D97-AF65-F5344CB8AC3E}">
        <p14:creationId xmlns:p14="http://schemas.microsoft.com/office/powerpoint/2010/main" val="12093349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D46F-26B1-A98F-2393-9A6A483E7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FC81E-3260-D9F3-5628-7143CFD7BC70}"/>
              </a:ext>
            </a:extLst>
          </p:cNvPr>
          <p:cNvSpPr>
            <a:spLocks noGrp="1"/>
          </p:cNvSpPr>
          <p:nvPr>
            <p:ph type="title"/>
          </p:nvPr>
        </p:nvSpPr>
        <p:spPr>
          <a:xfrm>
            <a:off x="838200" y="365126"/>
            <a:ext cx="10515600" cy="687820"/>
          </a:xfrm>
        </p:spPr>
        <p:txBody>
          <a:bodyPr>
            <a:normAutofit fontScale="90000"/>
          </a:bodyPr>
          <a:lstStyle/>
          <a:p>
            <a:r>
              <a:rPr lang="en-US" dirty="0"/>
              <a:t>One lake events </a:t>
            </a:r>
            <a:endParaRPr lang="en-ZA" dirty="0"/>
          </a:p>
        </p:txBody>
      </p:sp>
      <p:pic>
        <p:nvPicPr>
          <p:cNvPr id="5" name="Content Placeholder 4">
            <a:extLst>
              <a:ext uri="{FF2B5EF4-FFF2-40B4-BE49-F238E27FC236}">
                <a16:creationId xmlns:a16="http://schemas.microsoft.com/office/drawing/2014/main" id="{C7ADDB20-824F-D357-2119-4141DE0C3440}"/>
              </a:ext>
            </a:extLst>
          </p:cNvPr>
          <p:cNvPicPr>
            <a:picLocks noGrp="1" noChangeAspect="1"/>
          </p:cNvPicPr>
          <p:nvPr>
            <p:ph idx="1"/>
          </p:nvPr>
        </p:nvPicPr>
        <p:blipFill>
          <a:blip r:embed="rId2"/>
          <a:stretch>
            <a:fillRect/>
          </a:stretch>
        </p:blipFill>
        <p:spPr>
          <a:xfrm>
            <a:off x="733690" y="1364810"/>
            <a:ext cx="10306580" cy="3960952"/>
          </a:xfrm>
          <a:ln w="28575">
            <a:solidFill>
              <a:schemeClr val="tx1"/>
            </a:solidFill>
          </a:ln>
        </p:spPr>
      </p:pic>
    </p:spTree>
    <p:extLst>
      <p:ext uri="{BB962C8B-B14F-4D97-AF65-F5344CB8AC3E}">
        <p14:creationId xmlns:p14="http://schemas.microsoft.com/office/powerpoint/2010/main" val="2838079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CAAF-6628-9741-2D68-AF9290A89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6E2C0-4CDC-38CE-B84B-6913C914E24D}"/>
              </a:ext>
            </a:extLst>
          </p:cNvPr>
          <p:cNvSpPr>
            <a:spLocks noGrp="1"/>
          </p:cNvSpPr>
          <p:nvPr>
            <p:ph type="title"/>
          </p:nvPr>
        </p:nvSpPr>
        <p:spPr>
          <a:xfrm>
            <a:off x="838200" y="365125"/>
            <a:ext cx="10515600" cy="648129"/>
          </a:xfrm>
        </p:spPr>
        <p:txBody>
          <a:bodyPr>
            <a:normAutofit/>
          </a:bodyPr>
          <a:lstStyle/>
          <a:p>
            <a:r>
              <a:rPr lang="en-US" sz="2400" dirty="0"/>
              <a:t>We now create a rule to send streams message </a:t>
            </a:r>
            <a:endParaRPr lang="en-ZA" sz="2400" dirty="0"/>
          </a:p>
        </p:txBody>
      </p:sp>
      <p:pic>
        <p:nvPicPr>
          <p:cNvPr id="5" name="Content Placeholder 4">
            <a:extLst>
              <a:ext uri="{FF2B5EF4-FFF2-40B4-BE49-F238E27FC236}">
                <a16:creationId xmlns:a16="http://schemas.microsoft.com/office/drawing/2014/main" id="{DEBEDC79-BB32-4B4E-AA4A-D51E81C3402E}"/>
              </a:ext>
            </a:extLst>
          </p:cNvPr>
          <p:cNvPicPr>
            <a:picLocks noGrp="1" noChangeAspect="1"/>
          </p:cNvPicPr>
          <p:nvPr>
            <p:ph idx="1"/>
          </p:nvPr>
        </p:nvPicPr>
        <p:blipFill>
          <a:blip r:embed="rId2"/>
          <a:stretch>
            <a:fillRect/>
          </a:stretch>
        </p:blipFill>
        <p:spPr>
          <a:xfrm>
            <a:off x="1193439" y="1253331"/>
            <a:ext cx="8860018" cy="4351338"/>
          </a:xfrm>
          <a:ln w="28575">
            <a:solidFill>
              <a:schemeClr val="tx1"/>
            </a:solidFill>
          </a:ln>
        </p:spPr>
      </p:pic>
    </p:spTree>
    <p:extLst>
      <p:ext uri="{BB962C8B-B14F-4D97-AF65-F5344CB8AC3E}">
        <p14:creationId xmlns:p14="http://schemas.microsoft.com/office/powerpoint/2010/main" val="21657117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09245-D395-859C-D449-2B59BD535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2FBAC-643D-3817-6A45-2DECA0F09CDE}"/>
              </a:ext>
            </a:extLst>
          </p:cNvPr>
          <p:cNvSpPr>
            <a:spLocks noGrp="1"/>
          </p:cNvSpPr>
          <p:nvPr>
            <p:ph type="title"/>
          </p:nvPr>
        </p:nvSpPr>
        <p:spPr>
          <a:xfrm>
            <a:off x="838200" y="365125"/>
            <a:ext cx="10515600" cy="968375"/>
          </a:xfrm>
        </p:spPr>
        <p:txBody>
          <a:bodyPr/>
          <a:lstStyle/>
          <a:p>
            <a:r>
              <a:rPr lang="en-US" dirty="0"/>
              <a:t>Method</a:t>
            </a:r>
            <a:endParaRPr lang="en-ZA" dirty="0"/>
          </a:p>
        </p:txBody>
      </p:sp>
      <p:sp>
        <p:nvSpPr>
          <p:cNvPr id="3" name="Content Placeholder 2">
            <a:extLst>
              <a:ext uri="{FF2B5EF4-FFF2-40B4-BE49-F238E27FC236}">
                <a16:creationId xmlns:a16="http://schemas.microsoft.com/office/drawing/2014/main" id="{A9364887-D182-6A36-52C9-CF119717BEFA}"/>
              </a:ext>
            </a:extLst>
          </p:cNvPr>
          <p:cNvSpPr>
            <a:spLocks noGrp="1"/>
          </p:cNvSpPr>
          <p:nvPr>
            <p:ph idx="1"/>
          </p:nvPr>
        </p:nvSpPr>
        <p:spPr/>
        <p:txBody>
          <a:bodyPr/>
          <a:lstStyle/>
          <a:p>
            <a:r>
              <a:rPr lang="en-US" dirty="0"/>
              <a:t>With </a:t>
            </a:r>
            <a:r>
              <a:rPr lang="en-US" dirty="0" err="1"/>
              <a:t>Backtesting</a:t>
            </a:r>
            <a:r>
              <a:rPr lang="en-US" dirty="0"/>
              <a:t> , we need to check for presence of Both files</a:t>
            </a:r>
          </a:p>
          <a:p>
            <a:r>
              <a:rPr lang="en-US" dirty="0"/>
              <a:t>We will identify the logic of the test prior to the initiation of the </a:t>
            </a:r>
            <a:r>
              <a:rPr lang="en-US" dirty="0" err="1"/>
              <a:t>Backtest</a:t>
            </a:r>
            <a:r>
              <a:rPr lang="en-US" dirty="0"/>
              <a:t> algorithm </a:t>
            </a:r>
          </a:p>
          <a:p>
            <a:r>
              <a:rPr lang="en-US" dirty="0"/>
              <a:t>The logic had parameters that take in the filenames but these filenames are fixed in the notebooks. </a:t>
            </a:r>
            <a:r>
              <a:rPr lang="en-US" dirty="0">
                <a:solidFill>
                  <a:srgbClr val="FF0000"/>
                </a:solidFill>
              </a:rPr>
              <a:t>The Notebooks must be parameterized.</a:t>
            </a:r>
          </a:p>
          <a:p>
            <a:r>
              <a:rPr lang="en-US" dirty="0">
                <a:solidFill>
                  <a:srgbClr val="FF0000"/>
                </a:solidFill>
              </a:rPr>
              <a:t>At present we have to test the email functionality if only 1 of the 2 files are present or both are not present.</a:t>
            </a:r>
          </a:p>
          <a:p>
            <a:endParaRPr lang="en-US" dirty="0"/>
          </a:p>
          <a:p>
            <a:pPr marL="0" indent="0">
              <a:buNone/>
            </a:pPr>
            <a:endParaRPr lang="en-US" dirty="0"/>
          </a:p>
          <a:p>
            <a:endParaRPr lang="en-ZA" dirty="0"/>
          </a:p>
        </p:txBody>
      </p:sp>
    </p:spTree>
    <p:extLst>
      <p:ext uri="{BB962C8B-B14F-4D97-AF65-F5344CB8AC3E}">
        <p14:creationId xmlns:p14="http://schemas.microsoft.com/office/powerpoint/2010/main" val="1217176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5F378-541A-A8B6-467D-EA6E6265C8EF}"/>
              </a:ext>
            </a:extLst>
          </p:cNvPr>
          <p:cNvSpPr>
            <a:spLocks noGrp="1"/>
          </p:cNvSpPr>
          <p:nvPr>
            <p:ph type="title"/>
          </p:nvPr>
        </p:nvSpPr>
        <p:spPr>
          <a:xfrm>
            <a:off x="838200" y="365125"/>
            <a:ext cx="10515600" cy="574675"/>
          </a:xfrm>
        </p:spPr>
        <p:txBody>
          <a:bodyPr>
            <a:normAutofit/>
          </a:bodyPr>
          <a:lstStyle/>
          <a:p>
            <a:r>
              <a:rPr lang="en-US" sz="2400" dirty="0"/>
              <a:t>Pipeline is called :  </a:t>
            </a:r>
            <a:r>
              <a:rPr lang="en-US" sz="2400" dirty="0" err="1"/>
              <a:t>Check_presence_of</a:t>
            </a:r>
            <a:r>
              <a:rPr lang="en-US" sz="2400" dirty="0"/>
              <a:t> _</a:t>
            </a:r>
            <a:r>
              <a:rPr lang="en-US" sz="2400" dirty="0" err="1"/>
              <a:t>BackTestFiles_Using_para</a:t>
            </a:r>
            <a:endParaRPr lang="en-ZA" sz="2400" dirty="0"/>
          </a:p>
        </p:txBody>
      </p:sp>
      <p:pic>
        <p:nvPicPr>
          <p:cNvPr id="5" name="Content Placeholder 4">
            <a:extLst>
              <a:ext uri="{FF2B5EF4-FFF2-40B4-BE49-F238E27FC236}">
                <a16:creationId xmlns:a16="http://schemas.microsoft.com/office/drawing/2014/main" id="{664BBFCC-6CC8-13A4-9351-644404D7B491}"/>
              </a:ext>
            </a:extLst>
          </p:cNvPr>
          <p:cNvPicPr>
            <a:picLocks noGrp="1" noChangeAspect="1"/>
          </p:cNvPicPr>
          <p:nvPr>
            <p:ph idx="1"/>
          </p:nvPr>
        </p:nvPicPr>
        <p:blipFill>
          <a:blip r:embed="rId3"/>
          <a:stretch>
            <a:fillRect/>
          </a:stretch>
        </p:blipFill>
        <p:spPr>
          <a:xfrm>
            <a:off x="1144472" y="1314341"/>
            <a:ext cx="9903055" cy="4229317"/>
          </a:xfrm>
          <a:ln w="38100">
            <a:solidFill>
              <a:schemeClr val="tx1"/>
            </a:solidFill>
          </a:ln>
        </p:spPr>
      </p:pic>
    </p:spTree>
    <p:extLst>
      <p:ext uri="{BB962C8B-B14F-4D97-AF65-F5344CB8AC3E}">
        <p14:creationId xmlns:p14="http://schemas.microsoft.com/office/powerpoint/2010/main" val="1932973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1C18B-F9DE-F81D-A0F3-8777651FEB3D}"/>
              </a:ext>
            </a:extLst>
          </p:cNvPr>
          <p:cNvSpPr>
            <a:spLocks noGrp="1"/>
          </p:cNvSpPr>
          <p:nvPr>
            <p:ph type="title"/>
          </p:nvPr>
        </p:nvSpPr>
        <p:spPr>
          <a:xfrm>
            <a:off x="838200" y="365125"/>
            <a:ext cx="10515600" cy="638175"/>
          </a:xfrm>
        </p:spPr>
        <p:txBody>
          <a:bodyPr>
            <a:normAutofit/>
          </a:bodyPr>
          <a:lstStyle/>
          <a:p>
            <a:r>
              <a:rPr lang="en-US" sz="2400" dirty="0"/>
              <a:t>Looking at the monitor – to see the execution times in more details</a:t>
            </a:r>
            <a:endParaRPr lang="en-ZA" sz="2400" dirty="0"/>
          </a:p>
        </p:txBody>
      </p:sp>
      <p:pic>
        <p:nvPicPr>
          <p:cNvPr id="9" name="Content Placeholder 8">
            <a:extLst>
              <a:ext uri="{FF2B5EF4-FFF2-40B4-BE49-F238E27FC236}">
                <a16:creationId xmlns:a16="http://schemas.microsoft.com/office/drawing/2014/main" id="{07851022-9CC8-779D-A9E8-DFD4B89A49C2}"/>
              </a:ext>
            </a:extLst>
          </p:cNvPr>
          <p:cNvPicPr>
            <a:picLocks noGrp="1" noChangeAspect="1"/>
          </p:cNvPicPr>
          <p:nvPr>
            <p:ph idx="1"/>
          </p:nvPr>
        </p:nvPicPr>
        <p:blipFill>
          <a:blip r:embed="rId3"/>
          <a:stretch>
            <a:fillRect/>
          </a:stretch>
        </p:blipFill>
        <p:spPr>
          <a:xfrm>
            <a:off x="1126962" y="1430704"/>
            <a:ext cx="9579138" cy="4258895"/>
          </a:xfrm>
          <a:ln w="28575">
            <a:solidFill>
              <a:schemeClr val="tx1"/>
            </a:solidFill>
          </a:ln>
        </p:spPr>
      </p:pic>
    </p:spTree>
    <p:extLst>
      <p:ext uri="{BB962C8B-B14F-4D97-AF65-F5344CB8AC3E}">
        <p14:creationId xmlns:p14="http://schemas.microsoft.com/office/powerpoint/2010/main" val="516029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F2B26-54CD-8C3B-43CB-6C09C429E7CB}"/>
              </a:ext>
            </a:extLst>
          </p:cNvPr>
          <p:cNvSpPr>
            <a:spLocks noGrp="1"/>
          </p:cNvSpPr>
          <p:nvPr>
            <p:ph type="title"/>
          </p:nvPr>
        </p:nvSpPr>
        <p:spPr>
          <a:xfrm>
            <a:off x="838200" y="365125"/>
            <a:ext cx="10515600" cy="599379"/>
          </a:xfrm>
        </p:spPr>
        <p:txBody>
          <a:bodyPr>
            <a:normAutofit/>
          </a:bodyPr>
          <a:lstStyle/>
          <a:p>
            <a:r>
              <a:rPr lang="en-US" sz="2800" dirty="0"/>
              <a:t>Settings of Each Block – that achieved the results above, see parameters</a:t>
            </a:r>
            <a:endParaRPr lang="en-ZA" sz="2800" dirty="0"/>
          </a:p>
        </p:txBody>
      </p:sp>
      <p:pic>
        <p:nvPicPr>
          <p:cNvPr id="5" name="Content Placeholder 4">
            <a:extLst>
              <a:ext uri="{FF2B5EF4-FFF2-40B4-BE49-F238E27FC236}">
                <a16:creationId xmlns:a16="http://schemas.microsoft.com/office/drawing/2014/main" id="{5257EC15-4F79-C6B8-9D1A-D1AEAD19BED2}"/>
              </a:ext>
            </a:extLst>
          </p:cNvPr>
          <p:cNvPicPr>
            <a:picLocks noGrp="1" noChangeAspect="1"/>
          </p:cNvPicPr>
          <p:nvPr>
            <p:ph idx="1"/>
          </p:nvPr>
        </p:nvPicPr>
        <p:blipFill>
          <a:blip r:embed="rId3"/>
          <a:stretch>
            <a:fillRect/>
          </a:stretch>
        </p:blipFill>
        <p:spPr>
          <a:xfrm>
            <a:off x="465552" y="1473572"/>
            <a:ext cx="5346526" cy="4676707"/>
          </a:xfrm>
          <a:ln w="28575">
            <a:solidFill>
              <a:schemeClr val="tx1"/>
            </a:solidFill>
          </a:ln>
        </p:spPr>
      </p:pic>
      <p:pic>
        <p:nvPicPr>
          <p:cNvPr id="7" name="Picture 6">
            <a:extLst>
              <a:ext uri="{FF2B5EF4-FFF2-40B4-BE49-F238E27FC236}">
                <a16:creationId xmlns:a16="http://schemas.microsoft.com/office/drawing/2014/main" id="{655D02E4-D57A-9EE4-7155-1D9DC2868AF2}"/>
              </a:ext>
            </a:extLst>
          </p:cNvPr>
          <p:cNvPicPr>
            <a:picLocks noChangeAspect="1"/>
          </p:cNvPicPr>
          <p:nvPr/>
        </p:nvPicPr>
        <p:blipFill>
          <a:blip r:embed="rId4"/>
          <a:stretch>
            <a:fillRect/>
          </a:stretch>
        </p:blipFill>
        <p:spPr>
          <a:xfrm>
            <a:off x="6252575" y="1470440"/>
            <a:ext cx="5346526" cy="4676707"/>
          </a:xfrm>
          <a:prstGeom prst="rect">
            <a:avLst/>
          </a:prstGeom>
          <a:ln w="38100">
            <a:solidFill>
              <a:schemeClr val="tx1"/>
            </a:solidFill>
          </a:ln>
        </p:spPr>
      </p:pic>
    </p:spTree>
    <p:extLst>
      <p:ext uri="{BB962C8B-B14F-4D97-AF65-F5344CB8AC3E}">
        <p14:creationId xmlns:p14="http://schemas.microsoft.com/office/powerpoint/2010/main" val="1908113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DB8F6-38E1-AA58-000A-C6533411D2AC}"/>
              </a:ext>
            </a:extLst>
          </p:cNvPr>
          <p:cNvSpPr>
            <a:spLocks noGrp="1"/>
          </p:cNvSpPr>
          <p:nvPr>
            <p:ph type="title"/>
          </p:nvPr>
        </p:nvSpPr>
        <p:spPr>
          <a:xfrm>
            <a:off x="838200" y="365125"/>
            <a:ext cx="10515600" cy="611905"/>
          </a:xfrm>
        </p:spPr>
        <p:txBody>
          <a:bodyPr>
            <a:normAutofit fontScale="90000"/>
          </a:bodyPr>
          <a:lstStyle/>
          <a:p>
            <a:r>
              <a:rPr lang="en-US" dirty="0"/>
              <a:t>Get Meta data Block Settings </a:t>
            </a:r>
            <a:endParaRPr lang="en-ZA" dirty="0"/>
          </a:p>
        </p:txBody>
      </p:sp>
      <p:pic>
        <p:nvPicPr>
          <p:cNvPr id="5" name="Content Placeholder 4">
            <a:extLst>
              <a:ext uri="{FF2B5EF4-FFF2-40B4-BE49-F238E27FC236}">
                <a16:creationId xmlns:a16="http://schemas.microsoft.com/office/drawing/2014/main" id="{83EB5DB3-1AE4-2B3D-1917-7629B1080203}"/>
              </a:ext>
            </a:extLst>
          </p:cNvPr>
          <p:cNvPicPr>
            <a:picLocks noGrp="1" noChangeAspect="1"/>
          </p:cNvPicPr>
          <p:nvPr>
            <p:ph idx="1"/>
          </p:nvPr>
        </p:nvPicPr>
        <p:blipFill>
          <a:blip r:embed="rId3"/>
          <a:stretch>
            <a:fillRect/>
          </a:stretch>
        </p:blipFill>
        <p:spPr>
          <a:xfrm>
            <a:off x="1260016" y="1261766"/>
            <a:ext cx="8385023" cy="4650519"/>
          </a:xfrm>
          <a:ln w="38100">
            <a:solidFill>
              <a:schemeClr val="tx1"/>
            </a:solidFill>
          </a:ln>
        </p:spPr>
      </p:pic>
    </p:spTree>
    <p:extLst>
      <p:ext uri="{BB962C8B-B14F-4D97-AF65-F5344CB8AC3E}">
        <p14:creationId xmlns:p14="http://schemas.microsoft.com/office/powerpoint/2010/main" val="1348707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E3399-BAA6-ADF4-27AC-0F38188E84A1}"/>
              </a:ext>
            </a:extLst>
          </p:cNvPr>
          <p:cNvSpPr>
            <a:spLocks noGrp="1"/>
          </p:cNvSpPr>
          <p:nvPr>
            <p:ph type="title"/>
          </p:nvPr>
        </p:nvSpPr>
        <p:spPr>
          <a:xfrm>
            <a:off x="838200" y="365125"/>
            <a:ext cx="10515600" cy="749691"/>
          </a:xfrm>
        </p:spPr>
        <p:txBody>
          <a:bodyPr>
            <a:normAutofit/>
          </a:bodyPr>
          <a:lstStyle/>
          <a:p>
            <a:r>
              <a:rPr lang="en-US" sz="2400" dirty="0"/>
              <a:t>Filter Settings – Expression builder items on left and Condition on the right </a:t>
            </a:r>
            <a:endParaRPr lang="en-ZA" sz="2400" dirty="0"/>
          </a:p>
        </p:txBody>
      </p:sp>
      <p:pic>
        <p:nvPicPr>
          <p:cNvPr id="5" name="Content Placeholder 4">
            <a:extLst>
              <a:ext uri="{FF2B5EF4-FFF2-40B4-BE49-F238E27FC236}">
                <a16:creationId xmlns:a16="http://schemas.microsoft.com/office/drawing/2014/main" id="{A227DCED-47DA-88B3-19ED-6929ADA1F9B1}"/>
              </a:ext>
            </a:extLst>
          </p:cNvPr>
          <p:cNvPicPr>
            <a:picLocks noGrp="1" noChangeAspect="1"/>
          </p:cNvPicPr>
          <p:nvPr>
            <p:ph idx="1"/>
          </p:nvPr>
        </p:nvPicPr>
        <p:blipFill>
          <a:blip r:embed="rId3"/>
          <a:stretch>
            <a:fillRect/>
          </a:stretch>
        </p:blipFill>
        <p:spPr>
          <a:xfrm>
            <a:off x="628286" y="1632461"/>
            <a:ext cx="3643089" cy="4405083"/>
          </a:xfrm>
          <a:ln w="38100">
            <a:solidFill>
              <a:schemeClr val="tx1"/>
            </a:solidFill>
          </a:ln>
        </p:spPr>
      </p:pic>
      <p:pic>
        <p:nvPicPr>
          <p:cNvPr id="7" name="Picture 6">
            <a:extLst>
              <a:ext uri="{FF2B5EF4-FFF2-40B4-BE49-F238E27FC236}">
                <a16:creationId xmlns:a16="http://schemas.microsoft.com/office/drawing/2014/main" id="{7C5CFD51-0BE2-9DC3-4B22-27D93DC06B58}"/>
              </a:ext>
            </a:extLst>
          </p:cNvPr>
          <p:cNvPicPr>
            <a:picLocks noChangeAspect="1"/>
          </p:cNvPicPr>
          <p:nvPr/>
        </p:nvPicPr>
        <p:blipFill>
          <a:blip r:embed="rId4"/>
          <a:stretch>
            <a:fillRect/>
          </a:stretch>
        </p:blipFill>
        <p:spPr>
          <a:xfrm>
            <a:off x="4750778" y="1632461"/>
            <a:ext cx="3341036" cy="4405083"/>
          </a:xfrm>
          <a:prstGeom prst="rect">
            <a:avLst/>
          </a:prstGeom>
          <a:ln w="28575">
            <a:solidFill>
              <a:schemeClr val="tx1"/>
            </a:solidFill>
          </a:ln>
        </p:spPr>
      </p:pic>
      <p:pic>
        <p:nvPicPr>
          <p:cNvPr id="9" name="Picture 8">
            <a:extLst>
              <a:ext uri="{FF2B5EF4-FFF2-40B4-BE49-F238E27FC236}">
                <a16:creationId xmlns:a16="http://schemas.microsoft.com/office/drawing/2014/main" id="{71AE5134-A6C6-BE30-9E7C-2683073ABE5B}"/>
              </a:ext>
            </a:extLst>
          </p:cNvPr>
          <p:cNvPicPr>
            <a:picLocks noChangeAspect="1"/>
          </p:cNvPicPr>
          <p:nvPr/>
        </p:nvPicPr>
        <p:blipFill>
          <a:blip r:embed="rId5"/>
          <a:stretch>
            <a:fillRect/>
          </a:stretch>
        </p:blipFill>
        <p:spPr>
          <a:xfrm>
            <a:off x="8423381" y="1632461"/>
            <a:ext cx="3341036" cy="4530344"/>
          </a:xfrm>
          <a:prstGeom prst="rect">
            <a:avLst/>
          </a:prstGeom>
          <a:ln w="28575">
            <a:solidFill>
              <a:schemeClr val="tx1"/>
            </a:solidFill>
          </a:ln>
        </p:spPr>
      </p:pic>
    </p:spTree>
    <p:extLst>
      <p:ext uri="{BB962C8B-B14F-4D97-AF65-F5344CB8AC3E}">
        <p14:creationId xmlns:p14="http://schemas.microsoft.com/office/powerpoint/2010/main" val="2996900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1B2EB-0939-9348-DC40-44754FB11AE5}"/>
              </a:ext>
            </a:extLst>
          </p:cNvPr>
          <p:cNvSpPr>
            <a:spLocks noGrp="1"/>
          </p:cNvSpPr>
          <p:nvPr>
            <p:ph type="title"/>
          </p:nvPr>
        </p:nvSpPr>
        <p:spPr>
          <a:xfrm>
            <a:off x="838200" y="365125"/>
            <a:ext cx="10515600" cy="561801"/>
          </a:xfrm>
        </p:spPr>
        <p:txBody>
          <a:bodyPr>
            <a:normAutofit fontScale="90000"/>
          </a:bodyPr>
          <a:lstStyle/>
          <a:p>
            <a:r>
              <a:rPr lang="en-US" dirty="0"/>
              <a:t>Count of Files Block </a:t>
            </a:r>
            <a:endParaRPr lang="en-ZA" dirty="0"/>
          </a:p>
        </p:txBody>
      </p:sp>
      <p:pic>
        <p:nvPicPr>
          <p:cNvPr id="5" name="Content Placeholder 4">
            <a:extLst>
              <a:ext uri="{FF2B5EF4-FFF2-40B4-BE49-F238E27FC236}">
                <a16:creationId xmlns:a16="http://schemas.microsoft.com/office/drawing/2014/main" id="{48F84C51-18F4-83BC-989D-48910DD23E51}"/>
              </a:ext>
            </a:extLst>
          </p:cNvPr>
          <p:cNvPicPr>
            <a:picLocks noGrp="1" noChangeAspect="1"/>
          </p:cNvPicPr>
          <p:nvPr>
            <p:ph idx="1"/>
          </p:nvPr>
        </p:nvPicPr>
        <p:blipFill>
          <a:blip r:embed="rId3"/>
          <a:stretch>
            <a:fillRect/>
          </a:stretch>
        </p:blipFill>
        <p:spPr>
          <a:xfrm>
            <a:off x="838200" y="1691013"/>
            <a:ext cx="4811038" cy="4158641"/>
          </a:xfrm>
          <a:ln w="28575">
            <a:solidFill>
              <a:schemeClr val="tx1"/>
            </a:solidFill>
          </a:ln>
        </p:spPr>
      </p:pic>
      <p:pic>
        <p:nvPicPr>
          <p:cNvPr id="7" name="Picture 6">
            <a:extLst>
              <a:ext uri="{FF2B5EF4-FFF2-40B4-BE49-F238E27FC236}">
                <a16:creationId xmlns:a16="http://schemas.microsoft.com/office/drawing/2014/main" id="{ABDCEACD-B2DB-D0E9-2538-23666D2A7BA0}"/>
              </a:ext>
            </a:extLst>
          </p:cNvPr>
          <p:cNvPicPr>
            <a:picLocks noChangeAspect="1"/>
          </p:cNvPicPr>
          <p:nvPr/>
        </p:nvPicPr>
        <p:blipFill>
          <a:blip r:embed="rId4"/>
          <a:stretch>
            <a:fillRect/>
          </a:stretch>
        </p:blipFill>
        <p:spPr>
          <a:xfrm>
            <a:off x="6272603" y="1800141"/>
            <a:ext cx="4811038" cy="3936780"/>
          </a:xfrm>
          <a:prstGeom prst="rect">
            <a:avLst/>
          </a:prstGeom>
          <a:ln w="28575">
            <a:solidFill>
              <a:schemeClr val="tx1"/>
            </a:solidFill>
          </a:ln>
        </p:spPr>
      </p:pic>
    </p:spTree>
    <p:extLst>
      <p:ext uri="{BB962C8B-B14F-4D97-AF65-F5344CB8AC3E}">
        <p14:creationId xmlns:p14="http://schemas.microsoft.com/office/powerpoint/2010/main" val="2900455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4CBB1-A04A-D9B4-87C5-5AD417C28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CBE05-9C1E-048E-8550-66E26DAFD60C}"/>
              </a:ext>
            </a:extLst>
          </p:cNvPr>
          <p:cNvSpPr>
            <a:spLocks noGrp="1"/>
          </p:cNvSpPr>
          <p:nvPr>
            <p:ph type="title"/>
          </p:nvPr>
        </p:nvSpPr>
        <p:spPr/>
        <p:txBody>
          <a:bodyPr>
            <a:normAutofit/>
          </a:bodyPr>
          <a:lstStyle/>
          <a:p>
            <a:r>
              <a:rPr lang="en-US" sz="2400" dirty="0"/>
              <a:t>If condition Parent variables (note the 2 choices in the activities ), based on the output of the </a:t>
            </a:r>
            <a:r>
              <a:rPr lang="en-US" sz="2400" dirty="0" err="1"/>
              <a:t>expressioin</a:t>
            </a:r>
            <a:r>
              <a:rPr lang="en-US" sz="2400" dirty="0"/>
              <a:t>,  see notes below </a:t>
            </a:r>
            <a:endParaRPr lang="en-ZA" sz="2400" dirty="0"/>
          </a:p>
        </p:txBody>
      </p:sp>
      <p:pic>
        <p:nvPicPr>
          <p:cNvPr id="5" name="Content Placeholder 4">
            <a:extLst>
              <a:ext uri="{FF2B5EF4-FFF2-40B4-BE49-F238E27FC236}">
                <a16:creationId xmlns:a16="http://schemas.microsoft.com/office/drawing/2014/main" id="{46C70E1F-7006-79E3-95C5-252C1241D2E1}"/>
              </a:ext>
            </a:extLst>
          </p:cNvPr>
          <p:cNvPicPr>
            <a:picLocks noGrp="1" noChangeAspect="1"/>
          </p:cNvPicPr>
          <p:nvPr>
            <p:ph idx="1"/>
          </p:nvPr>
        </p:nvPicPr>
        <p:blipFill>
          <a:blip r:embed="rId3"/>
          <a:stretch>
            <a:fillRect/>
          </a:stretch>
        </p:blipFill>
        <p:spPr>
          <a:xfrm>
            <a:off x="315405" y="1690688"/>
            <a:ext cx="5245135" cy="4341812"/>
          </a:xfrm>
          <a:ln w="28575">
            <a:solidFill>
              <a:schemeClr val="tx1"/>
            </a:solidFill>
          </a:ln>
        </p:spPr>
      </p:pic>
      <p:pic>
        <p:nvPicPr>
          <p:cNvPr id="7" name="Picture 6">
            <a:extLst>
              <a:ext uri="{FF2B5EF4-FFF2-40B4-BE49-F238E27FC236}">
                <a16:creationId xmlns:a16="http://schemas.microsoft.com/office/drawing/2014/main" id="{ED62457B-0984-5713-93E4-701E339756B2}"/>
              </a:ext>
            </a:extLst>
          </p:cNvPr>
          <p:cNvPicPr>
            <a:picLocks noChangeAspect="1"/>
          </p:cNvPicPr>
          <p:nvPr/>
        </p:nvPicPr>
        <p:blipFill>
          <a:blip r:embed="rId4"/>
          <a:stretch>
            <a:fillRect/>
          </a:stretch>
        </p:blipFill>
        <p:spPr>
          <a:xfrm>
            <a:off x="6316362" y="1690688"/>
            <a:ext cx="5037438" cy="4240555"/>
          </a:xfrm>
          <a:prstGeom prst="rect">
            <a:avLst/>
          </a:prstGeom>
          <a:ln w="38100">
            <a:solidFill>
              <a:schemeClr val="tx1"/>
            </a:solidFill>
          </a:ln>
        </p:spPr>
      </p:pic>
    </p:spTree>
    <p:extLst>
      <p:ext uri="{BB962C8B-B14F-4D97-AF65-F5344CB8AC3E}">
        <p14:creationId xmlns:p14="http://schemas.microsoft.com/office/powerpoint/2010/main" val="36848525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9C45-4DC2-C667-E711-96A535CD5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3FB63-58D8-55EF-CA00-254F3757D219}"/>
              </a:ext>
            </a:extLst>
          </p:cNvPr>
          <p:cNvSpPr>
            <a:spLocks noGrp="1"/>
          </p:cNvSpPr>
          <p:nvPr>
            <p:ph type="title"/>
          </p:nvPr>
        </p:nvSpPr>
        <p:spPr/>
        <p:txBody>
          <a:bodyPr/>
          <a:lstStyle/>
          <a:p>
            <a:r>
              <a:rPr lang="en-US" dirty="0"/>
              <a:t>Go into the separate activities for the if </a:t>
            </a:r>
            <a:r>
              <a:rPr lang="en-US" dirty="0" err="1"/>
              <a:t>conmdition</a:t>
            </a:r>
            <a:r>
              <a:rPr lang="en-US" dirty="0"/>
              <a:t> </a:t>
            </a:r>
            <a:r>
              <a:rPr lang="en-US" dirty="0" err="1"/>
              <a:t>ie</a:t>
            </a:r>
            <a:r>
              <a:rPr lang="en-US" dirty="0"/>
              <a:t> grab the pencil for each</a:t>
            </a:r>
            <a:endParaRPr lang="en-ZA" dirty="0"/>
          </a:p>
        </p:txBody>
      </p:sp>
      <p:pic>
        <p:nvPicPr>
          <p:cNvPr id="5" name="Content Placeholder 4">
            <a:extLst>
              <a:ext uri="{FF2B5EF4-FFF2-40B4-BE49-F238E27FC236}">
                <a16:creationId xmlns:a16="http://schemas.microsoft.com/office/drawing/2014/main" id="{14642615-EEF2-CA07-C925-514B76A54644}"/>
              </a:ext>
            </a:extLst>
          </p:cNvPr>
          <p:cNvPicPr>
            <a:picLocks noGrp="1" noChangeAspect="1"/>
          </p:cNvPicPr>
          <p:nvPr>
            <p:ph idx="1"/>
          </p:nvPr>
        </p:nvPicPr>
        <p:blipFill>
          <a:blip r:embed="rId3"/>
          <a:stretch>
            <a:fillRect/>
          </a:stretch>
        </p:blipFill>
        <p:spPr>
          <a:xfrm>
            <a:off x="578221" y="2670629"/>
            <a:ext cx="4240522" cy="3822246"/>
          </a:xfrm>
          <a:ln w="28575">
            <a:solidFill>
              <a:schemeClr val="tx1"/>
            </a:solidFill>
          </a:ln>
        </p:spPr>
      </p:pic>
      <p:sp>
        <p:nvSpPr>
          <p:cNvPr id="6" name="TextBox 5">
            <a:extLst>
              <a:ext uri="{FF2B5EF4-FFF2-40B4-BE49-F238E27FC236}">
                <a16:creationId xmlns:a16="http://schemas.microsoft.com/office/drawing/2014/main" id="{CFE93B3F-83D7-206D-2583-12AC10FAC4B9}"/>
              </a:ext>
            </a:extLst>
          </p:cNvPr>
          <p:cNvSpPr txBox="1"/>
          <p:nvPr/>
        </p:nvSpPr>
        <p:spPr>
          <a:xfrm>
            <a:off x="838200" y="2133600"/>
            <a:ext cx="1418209" cy="369332"/>
          </a:xfrm>
          <a:prstGeom prst="rect">
            <a:avLst/>
          </a:prstGeom>
          <a:noFill/>
        </p:spPr>
        <p:txBody>
          <a:bodyPr wrap="none" rtlCol="0">
            <a:spAutoFit/>
          </a:bodyPr>
          <a:lstStyle/>
          <a:p>
            <a:r>
              <a:rPr lang="en-US" dirty="0"/>
              <a:t>True activity </a:t>
            </a:r>
            <a:endParaRPr lang="en-ZA" dirty="0"/>
          </a:p>
        </p:txBody>
      </p:sp>
      <p:sp>
        <p:nvSpPr>
          <p:cNvPr id="7" name="TextBox 6">
            <a:extLst>
              <a:ext uri="{FF2B5EF4-FFF2-40B4-BE49-F238E27FC236}">
                <a16:creationId xmlns:a16="http://schemas.microsoft.com/office/drawing/2014/main" id="{8B52B63B-BB4B-5DC3-FC83-65E3BAEA2FBF}"/>
              </a:ext>
            </a:extLst>
          </p:cNvPr>
          <p:cNvSpPr txBox="1"/>
          <p:nvPr/>
        </p:nvSpPr>
        <p:spPr>
          <a:xfrm>
            <a:off x="6955971" y="2035515"/>
            <a:ext cx="1573251" cy="369332"/>
          </a:xfrm>
          <a:prstGeom prst="rect">
            <a:avLst/>
          </a:prstGeom>
          <a:noFill/>
        </p:spPr>
        <p:txBody>
          <a:bodyPr wrap="none" rtlCol="0">
            <a:spAutoFit/>
          </a:bodyPr>
          <a:lstStyle/>
          <a:p>
            <a:r>
              <a:rPr lang="en-US" dirty="0"/>
              <a:t>False  activity </a:t>
            </a:r>
            <a:endParaRPr lang="en-ZA" dirty="0"/>
          </a:p>
        </p:txBody>
      </p:sp>
      <p:pic>
        <p:nvPicPr>
          <p:cNvPr id="9" name="Picture 8">
            <a:extLst>
              <a:ext uri="{FF2B5EF4-FFF2-40B4-BE49-F238E27FC236}">
                <a16:creationId xmlns:a16="http://schemas.microsoft.com/office/drawing/2014/main" id="{DAD7D475-9986-5BBB-F96D-FED6A278CFDE}"/>
              </a:ext>
            </a:extLst>
          </p:cNvPr>
          <p:cNvPicPr>
            <a:picLocks noChangeAspect="1"/>
          </p:cNvPicPr>
          <p:nvPr/>
        </p:nvPicPr>
        <p:blipFill>
          <a:blip r:embed="rId4"/>
          <a:stretch>
            <a:fillRect/>
          </a:stretch>
        </p:blipFill>
        <p:spPr>
          <a:xfrm>
            <a:off x="5462686" y="2502932"/>
            <a:ext cx="4953255" cy="3989943"/>
          </a:xfrm>
          <a:prstGeom prst="rect">
            <a:avLst/>
          </a:prstGeom>
          <a:ln w="28575">
            <a:solidFill>
              <a:schemeClr val="tx1"/>
            </a:solidFill>
          </a:ln>
        </p:spPr>
      </p:pic>
    </p:spTree>
    <p:extLst>
      <p:ext uri="{BB962C8B-B14F-4D97-AF65-F5344CB8AC3E}">
        <p14:creationId xmlns:p14="http://schemas.microsoft.com/office/powerpoint/2010/main" val="25827483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C2F11-9876-B7FF-A67F-AF296E77F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D3028-432A-6E7A-463A-854F92F587AF}"/>
              </a:ext>
            </a:extLst>
          </p:cNvPr>
          <p:cNvSpPr>
            <a:spLocks noGrp="1"/>
          </p:cNvSpPr>
          <p:nvPr>
            <p:ph type="title"/>
          </p:nvPr>
        </p:nvSpPr>
        <p:spPr>
          <a:xfrm>
            <a:off x="576943" y="202248"/>
            <a:ext cx="10515600" cy="315912"/>
          </a:xfrm>
        </p:spPr>
        <p:txBody>
          <a:bodyPr>
            <a:normAutofit fontScale="90000"/>
          </a:bodyPr>
          <a:lstStyle/>
          <a:p>
            <a:r>
              <a:rPr lang="en-US" dirty="0"/>
              <a:t>Tasks – improve product.</a:t>
            </a:r>
            <a:endParaRPr lang="en-ZA" dirty="0"/>
          </a:p>
        </p:txBody>
      </p:sp>
      <p:sp>
        <p:nvSpPr>
          <p:cNvPr id="3" name="Content Placeholder 2">
            <a:extLst>
              <a:ext uri="{FF2B5EF4-FFF2-40B4-BE49-F238E27FC236}">
                <a16:creationId xmlns:a16="http://schemas.microsoft.com/office/drawing/2014/main" id="{81AD71A6-D178-E66C-A70B-2C6F698183BD}"/>
              </a:ext>
            </a:extLst>
          </p:cNvPr>
          <p:cNvSpPr>
            <a:spLocks noGrp="1"/>
          </p:cNvSpPr>
          <p:nvPr>
            <p:ph idx="1"/>
          </p:nvPr>
        </p:nvSpPr>
        <p:spPr>
          <a:xfrm>
            <a:off x="428353" y="1062990"/>
            <a:ext cx="10515600" cy="4739640"/>
          </a:xfrm>
        </p:spPr>
        <p:txBody>
          <a:bodyPr>
            <a:normAutofit fontScale="92500" lnSpcReduction="20000"/>
          </a:bodyPr>
          <a:lstStyle/>
          <a:p>
            <a:r>
              <a:rPr lang="en-US" dirty="0"/>
              <a:t>Try delete file and test the email,</a:t>
            </a:r>
          </a:p>
          <a:p>
            <a:r>
              <a:rPr lang="en-US" dirty="0"/>
              <a:t>Try get the if statement to identify the missing file </a:t>
            </a:r>
          </a:p>
          <a:p>
            <a:r>
              <a:rPr lang="en-US" dirty="0"/>
              <a:t>Try put in any files in the </a:t>
            </a:r>
            <a:r>
              <a:rPr lang="en-US" dirty="0" err="1"/>
              <a:t>parametres</a:t>
            </a:r>
            <a:r>
              <a:rPr lang="en-US" dirty="0"/>
              <a:t> , and  parameterize the notebooks , so that it can do for any position/contract pair.</a:t>
            </a:r>
          </a:p>
          <a:p>
            <a:r>
              <a:rPr lang="en-US" dirty="0"/>
              <a:t>Do the power bi </a:t>
            </a:r>
          </a:p>
          <a:p>
            <a:r>
              <a:rPr lang="en-US" dirty="0"/>
              <a:t>Try do multiple months 1,2,3 , by using the dataflow. Initially with the fixed 3 files , and then 3 to 5 files if possible </a:t>
            </a:r>
          </a:p>
          <a:p>
            <a:r>
              <a:rPr lang="en-US" dirty="0"/>
              <a:t>Also automate </a:t>
            </a:r>
          </a:p>
          <a:p>
            <a:pPr lvl="1"/>
            <a:r>
              <a:rPr lang="en-US" dirty="0"/>
              <a:t>1) via a trigger on one file with a delay for the other  , - also with the error</a:t>
            </a:r>
          </a:p>
          <a:p>
            <a:pPr lvl="1"/>
            <a:r>
              <a:rPr lang="en-US" dirty="0"/>
              <a:t>2) via schedule but with a check of the input files </a:t>
            </a:r>
          </a:p>
          <a:p>
            <a:r>
              <a:rPr lang="en-US" dirty="0"/>
              <a:t>Implement more variables in the email.</a:t>
            </a:r>
          </a:p>
          <a:p>
            <a:r>
              <a:rPr lang="en-ZA" dirty="0"/>
              <a:t>Try implement incremental refresh, for tables that expand.</a:t>
            </a:r>
          </a:p>
        </p:txBody>
      </p:sp>
    </p:spTree>
    <p:extLst>
      <p:ext uri="{BB962C8B-B14F-4D97-AF65-F5344CB8AC3E}">
        <p14:creationId xmlns:p14="http://schemas.microsoft.com/office/powerpoint/2010/main" val="4739549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589D9-2EE9-AA18-7695-5F9121CE3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E4F416-FAE6-1B09-E889-6320C360B7D3}"/>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086E1FB0-EE41-031F-1663-6ECF00EB53CA}"/>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8456985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882E3-A234-5681-41A8-FD5B4A02F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EFB49-A5EC-DFAD-7BED-20BC267B0BDE}"/>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3B7B9F44-05BA-1714-956E-83BB6925AD54}"/>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6942783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A755D-5DBB-04EA-9823-B9EB5844E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DD1CC-33B4-5A76-5F7A-406E2A52F7C8}"/>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60FFF11A-2A9E-0EAB-CC47-DB7E95DD1905}"/>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25851111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7DDC6-C229-F381-5785-0C17CA2AD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25D89-7A42-2BD5-34A1-93606496A925}"/>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39360F61-6C2A-5B07-A91A-5A67999FF90D}"/>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42343287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C5A9A-99CE-A3C6-D20E-D4F8AAE93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1DF1F-4656-D901-CD7F-3F3091F6CD9F}"/>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2E1D282F-F7CD-B6CA-E574-7207D4FC1F03}"/>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3718797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EE995-CF18-9234-8403-E1399EA8E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527C5-924A-9A29-ACA4-6C2FCE130189}"/>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1090265C-BF6E-02DD-EE83-C06DB8DA99E8}"/>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4533495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932A9-86D8-A655-7D81-5B036E510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3E8FE-6F41-3323-3089-AC7B0F6C970C}"/>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CFD5FB3E-8CA6-FA4E-0649-01C7FD62B857}"/>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63427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57D73-2DEC-7F7F-570A-ADF07E0D9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CBA67-1EB7-F4DD-5E2A-FB672396E69A}"/>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C278365B-C58F-B70F-576D-38A500B8E2B7}"/>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8337828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842F9-D978-65CA-4488-54BE6A421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0CDFD-D78B-D3E5-D58F-5B71725A04E5}"/>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D61B3D48-6E01-433E-7A12-0411381503F9}"/>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8678284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245AE-6F36-6694-AF32-073AA6A9F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0DA94-F82C-D762-4B20-CE671C5D4B20}"/>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02E61939-E8E0-EBEF-4D20-C081A5ADD41E}"/>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41781787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83A23-AAB9-C4D3-6127-3D8E0A846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46A3E-2F49-8BBD-477B-5196F8A053E5}"/>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E7DD3B6D-3B19-9A29-2500-5FABA828E193}"/>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2942687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48FBA-9DE1-74AE-C622-CF3890752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B2877-5490-57D5-97FB-A5BE7584BEAB}"/>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161029DB-7BB5-466F-891F-6625C59E94C5}"/>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3021426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B0AA2-1A2D-573B-3CF0-ADA69D0D7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B96BF-10A5-F159-DA23-9C2364C1ECFF}"/>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A690C0F9-2150-9A68-8EC4-3FC2853DEC89}"/>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35582049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B5E9B-F554-03AC-28FF-2BA6DDBBF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F1430-2543-5A70-EE25-14EDAF9006B9}"/>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59A630EF-4686-197C-609D-41D567B95752}"/>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4148050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B4B53-A7DA-0F1B-AC51-82078501F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7E8FB-AFCB-3303-811D-EB70D6078A9F}"/>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BFC9D0BC-CE80-5F32-5CA6-CC4C4BB65A04}"/>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895700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768D5-45A3-2822-0D69-EA761F0CB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6722E-DE41-0992-7938-018D2ACAE504}"/>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0D9B0335-B5A1-4D0E-55CA-A7C7F2A30A84}"/>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20275936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4FB2F-CFCD-D5D8-0946-49A1096CC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B7D80-F39B-A57F-5DF6-382B422BBDB3}"/>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030A09C5-F555-F8E9-7187-68A487A2C248}"/>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40859404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66E0E-C509-327C-7BF9-5152B0871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4F747-71DD-8FDB-340C-DD7F6355BFAC}"/>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4B0AC34C-A2D6-F169-5747-84E5AFF7D23E}"/>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5491185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5B9AD-7274-23E1-0FAE-EEFEDD414731}"/>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99321B77-3F1A-E16D-1048-3BB4CCB6E70C}"/>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975003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6119</TotalTime>
  <Words>1789</Words>
  <Application>Microsoft Office PowerPoint</Application>
  <PresentationFormat>Widescreen</PresentationFormat>
  <Paragraphs>200</Paragraphs>
  <Slides>66</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Aptos</vt:lpstr>
      <vt:lpstr>Aptos Display</vt:lpstr>
      <vt:lpstr>Arial</vt:lpstr>
      <vt:lpstr>Segoe UI</vt:lpstr>
      <vt:lpstr>Office Theme</vt:lpstr>
      <vt:lpstr>Design Pipeline Options </vt:lpstr>
      <vt:lpstr>Pipeline Design Option</vt:lpstr>
      <vt:lpstr>Pipeline option 1: Orchestrate_Backtesting V1</vt:lpstr>
      <vt:lpstr>Pipeline: Orchestrate_Backtesting_V1</vt:lpstr>
      <vt:lpstr>Components Settings Captured </vt:lpstr>
      <vt:lpstr>Pipeline_Contract_BT_1 (inside 1st Invoke block)</vt:lpstr>
      <vt:lpstr>Component settings of each Block</vt:lpstr>
      <vt:lpstr>Pipeline:  Contract BT1 with Meta </vt:lpstr>
      <vt:lpstr>Note-books for Backtesting V1</vt:lpstr>
      <vt:lpstr>Full Notebook Part 1: </vt:lpstr>
      <vt:lpstr>Full Notebook Part 2: </vt:lpstr>
      <vt:lpstr>Full Notebook Part 3: </vt:lpstr>
      <vt:lpstr>Full Notebook Part 4: </vt:lpstr>
      <vt:lpstr>Complete Notebook Part 4 </vt:lpstr>
      <vt:lpstr>Complete Notebook Part 5</vt:lpstr>
      <vt:lpstr>Complete Notebook Part 6</vt:lpstr>
      <vt:lpstr>Complete Notebook Part 7</vt:lpstr>
      <vt:lpstr>Complete Notebook Part 8</vt:lpstr>
      <vt:lpstr>Complete Notebook Part 9</vt:lpstr>
      <vt:lpstr>Notebook: ReportDataPrep_Enhancements_Contract_BT 1_Bronze (pg 1of 2) </vt:lpstr>
      <vt:lpstr>PowerPoint Presentation</vt:lpstr>
      <vt:lpstr>End of Bronze Layer </vt:lpstr>
      <vt:lpstr>ReportDataPrep_Enhancements_Contract_BT 1_Silver (Pg 1 of 2 )</vt:lpstr>
      <vt:lpstr>ReportDataPrep_Enhancements_Contract_BT 1_Silver (Pg 2 of 2 )</vt:lpstr>
      <vt:lpstr>PowerPoint Presentation</vt:lpstr>
      <vt:lpstr>ReportDataPrep_Enhancements_Contract_BT 1_Gold pg 1 of 3</vt:lpstr>
      <vt:lpstr>ReportDataPrep_Enhancements_Contract_BT 1_Gold pg 2 of 3</vt:lpstr>
      <vt:lpstr>ReportDataPrep_Enhancements_Contract_BT 1_Gold pg  3 of 3</vt:lpstr>
      <vt:lpstr>Notebook:  AuditLog_Backtesting pg 1 of 2 </vt:lpstr>
      <vt:lpstr>Check the Table </vt:lpstr>
      <vt:lpstr>Notebooks in Folder </vt:lpstr>
      <vt:lpstr>Tables and files in Lakehouse</vt:lpstr>
      <vt:lpstr>Trigger Backtesting Pipeline Above by File Drop : Any File Drop Pipeline name :Orchestrate backtesting V2 With Trigger  Move Pipeline : Moving_CT_File_To_Initiate_Backtest  </vt:lpstr>
      <vt:lpstr>The Pipeline : Ran successfully  Orchestrate_BackTesting_V2_wTrigger</vt:lpstr>
      <vt:lpstr>The Activator : CT_file_Drop was used to triggerthe pipeline and the dashboard wirth config on the righ tis shown below</vt:lpstr>
      <vt:lpstr>One lake events </vt:lpstr>
      <vt:lpstr>We now create a rule to send streams message </vt:lpstr>
      <vt:lpstr>Method</vt:lpstr>
      <vt:lpstr>Pipeline is called :  Check_presence_of _BackTestFiles_Using_para</vt:lpstr>
      <vt:lpstr>Looking at the monitor – to see the execution times in more details</vt:lpstr>
      <vt:lpstr>Settings of Each Block – that achieved the results above, see parameters</vt:lpstr>
      <vt:lpstr>Get Meta data Block Settings </vt:lpstr>
      <vt:lpstr>Filter Settings – Expression builder items on left and Condition on the right </vt:lpstr>
      <vt:lpstr>Count of Files Block </vt:lpstr>
      <vt:lpstr>If condition Parent variables (note the 2 choices in the activities ), based on the output of the expressioin,  see notes below </vt:lpstr>
      <vt:lpstr>Go into the separate activities for the if conmdition ie grab the pencil for each</vt:lpstr>
      <vt:lpstr>Tasks – improve product.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Graham Bortz</dc:creator>
  <cp:lastModifiedBy>Graham Bortz</cp:lastModifiedBy>
  <cp:revision>34</cp:revision>
  <dcterms:created xsi:type="dcterms:W3CDTF">2025-08-18T07:57:19Z</dcterms:created>
  <dcterms:modified xsi:type="dcterms:W3CDTF">2025-09-01T19:04:40Z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93fc94-2a04-4870-acee-9c0cd4b7d590_Enabled">
    <vt:lpwstr>true</vt:lpwstr>
  </property>
  <property fmtid="{D5CDD505-2E9C-101B-9397-08002B2CF9AE}" pid="3" name="MSIP_Label_ce93fc94-2a04-4870-acee-9c0cd4b7d590_SetDate">
    <vt:lpwstr>2025-08-18T07:57:19Z</vt:lpwstr>
  </property>
  <property fmtid="{D5CDD505-2E9C-101B-9397-08002B2CF9AE}" pid="4" name="MSIP_Label_ce93fc94-2a04-4870-acee-9c0cd4b7d590_Method">
    <vt:lpwstr>Standard</vt:lpwstr>
  </property>
  <property fmtid="{D5CDD505-2E9C-101B-9397-08002B2CF9AE}" pid="5" name="MSIP_Label_ce93fc94-2a04-4870-acee-9c0cd4b7d590_Name">
    <vt:lpwstr>Internal</vt:lpwstr>
  </property>
  <property fmtid="{D5CDD505-2E9C-101B-9397-08002B2CF9AE}" pid="6" name="MSIP_Label_ce93fc94-2a04-4870-acee-9c0cd4b7d590_SiteId">
    <vt:lpwstr>cffa6640-7572-4f05-9c64-cd88068c19d4</vt:lpwstr>
  </property>
  <property fmtid="{D5CDD505-2E9C-101B-9397-08002B2CF9AE}" pid="7" name="MSIP_Label_ce93fc94-2a04-4870-acee-9c0cd4b7d590_ActionId">
    <vt:lpwstr>3952ff6a-f73f-4d08-8918-c0eca079f181</vt:lpwstr>
  </property>
  <property fmtid="{D5CDD505-2E9C-101B-9397-08002B2CF9AE}" pid="8" name="MSIP_Label_ce93fc94-2a04-4870-acee-9c0cd4b7d590_ContentBits">
    <vt:lpwstr>0</vt:lpwstr>
  </property>
  <property fmtid="{D5CDD505-2E9C-101B-9397-08002B2CF9AE}" pid="9" name="MSIP_Label_ce93fc94-2a04-4870-acee-9c0cd4b7d590_Tag">
    <vt:lpwstr>10, 3, 0, 1</vt:lpwstr>
  </property>
</Properties>
</file>