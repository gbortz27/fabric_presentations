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4" r:id="rId28"/>
    <p:sldId id="285" r:id="rId29"/>
    <p:sldId id="286" r:id="rId30"/>
    <p:sldId id="287" r:id="rId31"/>
    <p:sldId id="313" r:id="rId32"/>
    <p:sldId id="314" r:id="rId33"/>
    <p:sldId id="315" r:id="rId34"/>
    <p:sldId id="316" r:id="rId35"/>
    <p:sldId id="317" r:id="rId36"/>
    <p:sldId id="281" r:id="rId37"/>
    <p:sldId id="282"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2" r:id="rId51"/>
    <p:sldId id="331" r:id="rId52"/>
    <p:sldId id="336" r:id="rId53"/>
    <p:sldId id="333" r:id="rId54"/>
    <p:sldId id="330" r:id="rId55"/>
    <p:sldId id="341" r:id="rId56"/>
    <p:sldId id="334" r:id="rId57"/>
    <p:sldId id="335" r:id="rId58"/>
    <p:sldId id="337" r:id="rId59"/>
    <p:sldId id="338" r:id="rId60"/>
    <p:sldId id="339" r:id="rId61"/>
    <p:sldId id="340" r:id="rId62"/>
    <p:sldId id="342" r:id="rId63"/>
    <p:sldId id="343" r:id="rId64"/>
    <p:sldId id="344" r:id="rId65"/>
    <p:sldId id="345" r:id="rId66"/>
    <p:sldId id="346" r:id="rId67"/>
    <p:sldId id="347" r:id="rId68"/>
    <p:sldId id="348" r:id="rId69"/>
    <p:sldId id="349" r:id="rId70"/>
    <p:sldId id="350" r:id="rId71"/>
    <p:sldId id="351" r:id="rId72"/>
    <p:sldId id="288" r:id="rId73"/>
    <p:sldId id="289" r:id="rId74"/>
    <p:sldId id="290" r:id="rId75"/>
    <p:sldId id="292" r:id="rId76"/>
    <p:sldId id="291" r:id="rId77"/>
    <p:sldId id="293" r:id="rId78"/>
    <p:sldId id="294" r:id="rId79"/>
    <p:sldId id="295" r:id="rId80"/>
    <p:sldId id="296" r:id="rId81"/>
    <p:sldId id="297" r:id="rId82"/>
    <p:sldId id="298" r:id="rId83"/>
    <p:sldId id="299" r:id="rId84"/>
    <p:sldId id="300" r:id="rId85"/>
    <p:sldId id="353" r:id="rId86"/>
    <p:sldId id="354" r:id="rId87"/>
    <p:sldId id="301" r:id="rId88"/>
    <p:sldId id="352" r:id="rId89"/>
    <p:sldId id="302" r:id="rId90"/>
    <p:sldId id="303" r:id="rId91"/>
    <p:sldId id="304" r:id="rId92"/>
    <p:sldId id="305" r:id="rId93"/>
    <p:sldId id="306" r:id="rId94"/>
    <p:sldId id="307" r:id="rId95"/>
    <p:sldId id="308" r:id="rId96"/>
    <p:sldId id="309" r:id="rId97"/>
    <p:sldId id="312" r:id="rId98"/>
    <p:sldId id="311" r:id="rId99"/>
    <p:sldId id="310" r:id="rId100"/>
    <p:sldId id="355" r:id="rId101"/>
    <p:sldId id="356" r:id="rId102"/>
    <p:sldId id="357" r:id="rId103"/>
    <p:sldId id="358" r:id="rId104"/>
    <p:sldId id="359" r:id="rId105"/>
    <p:sldId id="360" r:id="rId106"/>
    <p:sldId id="362" r:id="rId107"/>
    <p:sldId id="361" r:id="rId108"/>
    <p:sldId id="363" r:id="rId109"/>
    <p:sldId id="364" r:id="rId110"/>
    <p:sldId id="365" r:id="rId111"/>
    <p:sldId id="366" r:id="rId112"/>
    <p:sldId id="367" r:id="rId113"/>
    <p:sldId id="368" r:id="rId114"/>
    <p:sldId id="369"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A615423-0EC1-4039-864C-C4A1D36DB38A}">
          <p14:sldIdLst>
            <p14:sldId id="256"/>
          </p14:sldIdLst>
        </p14:section>
        <p14:section name="BackTesting" id="{E9D99FA1-04CE-4B8E-8C63-E8C5A1284592}">
          <p14:sldIdLst>
            <p14:sldId id="257"/>
            <p14:sldId id="258"/>
            <p14:sldId id="259"/>
            <p14:sldId id="260"/>
            <p14:sldId id="261"/>
            <p14:sldId id="262"/>
            <p14:sldId id="263"/>
            <p14:sldId id="264"/>
            <p14:sldId id="265"/>
            <p14:sldId id="266"/>
            <p14:sldId id="267"/>
            <p14:sldId id="268"/>
            <p14:sldId id="269"/>
            <p14:sldId id="270"/>
            <p14:sldId id="271"/>
            <p14:sldId id="272"/>
          </p14:sldIdLst>
        </p14:section>
        <p14:section name="File_Checker" id="{884A3F93-F68E-4825-8222-894F6DB446A1}">
          <p14:sldIdLst>
            <p14:sldId id="273"/>
            <p14:sldId id="274"/>
            <p14:sldId id="275"/>
            <p14:sldId id="276"/>
            <p14:sldId id="277"/>
            <p14:sldId id="278"/>
            <p14:sldId id="279"/>
            <p14:sldId id="280"/>
            <p14:sldId id="283"/>
            <p14:sldId id="284"/>
            <p14:sldId id="285"/>
            <p14:sldId id="286"/>
            <p14:sldId id="287"/>
            <p14:sldId id="313"/>
            <p14:sldId id="314"/>
            <p14:sldId id="315"/>
            <p14:sldId id="316"/>
            <p14:sldId id="317"/>
            <p14:sldId id="281"/>
            <p14:sldId id="282"/>
          </p14:sldIdLst>
        </p14:section>
        <p14:section name="pl_simulate_Date_File_Checker_w_Offset" id="{3F13990E-20C1-40A9-8D28-EFEC520BEDE8}">
          <p14:sldIdLst>
            <p14:sldId id="318"/>
            <p14:sldId id="319"/>
            <p14:sldId id="320"/>
            <p14:sldId id="321"/>
            <p14:sldId id="322"/>
            <p14:sldId id="323"/>
          </p14:sldIdLst>
        </p14:section>
        <p14:section name="pl_Simulate_Backtest_Client_w_FileCheck" id="{1159B4A3-3B1B-41B3-B251-AEF3726AAD32}">
          <p14:sldIdLst>
            <p14:sldId id="324"/>
            <p14:sldId id="325"/>
            <p14:sldId id="326"/>
            <p14:sldId id="327"/>
            <p14:sldId id="328"/>
            <p14:sldId id="329"/>
          </p14:sldIdLst>
        </p14:section>
        <p14:section name="pl_Simulate_Backtest_Contrac_w_FileCheck" id="{364E1B4B-A889-46AB-950D-4D302B3AC7C0}">
          <p14:sldIdLst>
            <p14:sldId id="332"/>
            <p14:sldId id="331"/>
          </p14:sldIdLst>
        </p14:section>
        <p14:section name="Jspan Prameter File Checker" id="{39E45BC3-6258-4C87-A261-58D59A752ACF}">
          <p14:sldIdLst>
            <p14:sldId id="336"/>
            <p14:sldId id="333"/>
            <p14:sldId id="330"/>
            <p14:sldId id="341"/>
            <p14:sldId id="334"/>
            <p14:sldId id="335"/>
            <p14:sldId id="337"/>
            <p14:sldId id="338"/>
            <p14:sldId id="339"/>
            <p14:sldId id="340"/>
            <p14:sldId id="342"/>
            <p14:sldId id="343"/>
            <p14:sldId id="344"/>
            <p14:sldId id="345"/>
            <p14:sldId id="346"/>
            <p14:sldId id="347"/>
            <p14:sldId id="348"/>
            <p14:sldId id="349"/>
            <p14:sldId id="350"/>
            <p14:sldId id="351"/>
          </p14:sldIdLst>
        </p14:section>
        <p14:section name="Intro" id="{2953C2CB-064C-41AE-8C58-FF6DB3EE047D}">
          <p14:sldIdLst>
            <p14:sldId id="288"/>
            <p14:sldId id="289"/>
            <p14:sldId id="290"/>
            <p14:sldId id="292"/>
          </p14:sldIdLst>
        </p14:section>
        <p14:section name="Retesting_Pipelines_Since_Wspace_Change" id="{5B53E3F8-40B8-4889-9B6A-C8FC14277D2F}">
          <p14:sldIdLst>
            <p14:sldId id="291"/>
            <p14:sldId id="293"/>
            <p14:sldId id="294"/>
            <p14:sldId id="295"/>
            <p14:sldId id="296"/>
            <p14:sldId id="297"/>
            <p14:sldId id="298"/>
            <p14:sldId id="299"/>
          </p14:sldIdLst>
        </p14:section>
        <p14:section name="pl_Margin_Detail_Client_CM" id="{D97F3393-BF48-4BE5-BED1-EB42CF017C9B}">
          <p14:sldIdLst>
            <p14:sldId id="300"/>
            <p14:sldId id="353"/>
            <p14:sldId id="354"/>
            <p14:sldId id="301"/>
            <p14:sldId id="352"/>
            <p14:sldId id="302"/>
          </p14:sldIdLst>
        </p14:section>
        <p14:section name="Ingest_IRD_CDM_Margin_Detail_Client_CM" id="{63854636-DC41-4EB6-8615-018DE15A6289}">
          <p14:sldIdLst>
            <p14:sldId id="303"/>
            <p14:sldId id="304"/>
            <p14:sldId id="305"/>
            <p14:sldId id="306"/>
            <p14:sldId id="307"/>
            <p14:sldId id="308"/>
          </p14:sldIdLst>
        </p14:section>
        <p14:section name="JSPAN PARAMS" id="{4CCC7486-8683-4EE6-BC63-8DC21DBAAE09}">
          <p14:sldIdLst>
            <p14:sldId id="309"/>
            <p14:sldId id="312"/>
            <p14:sldId id="311"/>
          </p14:sldIdLst>
        </p14:section>
        <p14:section name="Results_of_RMS_SC" id="{A95DF6A4-4F60-4075-B5ED-EF121D6B9923}">
          <p14:sldIdLst>
            <p14:sldId id="310"/>
            <p14:sldId id="355"/>
            <p14:sldId id="356"/>
            <p14:sldId id="357"/>
            <p14:sldId id="358"/>
            <p14:sldId id="359"/>
            <p14:sldId id="360"/>
            <p14:sldId id="362"/>
          </p14:sldIdLst>
        </p14:section>
        <p14:section name="New Running Pipelines" id="{41D7E66C-7D2D-4A98-8D4B-58AD09B426C7}">
          <p14:sldIdLst>
            <p14:sldId id="361"/>
            <p14:sldId id="363"/>
            <p14:sldId id="364"/>
            <p14:sldId id="365"/>
            <p14:sldId id="366"/>
            <p14:sldId id="367"/>
            <p14:sldId id="368"/>
            <p14:sldId id="3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17" autoAdjust="0"/>
    <p:restoredTop sz="92835" autoAdjust="0"/>
  </p:normalViewPr>
  <p:slideViewPr>
    <p:cSldViewPr snapToGrid="0" showGuides="1">
      <p:cViewPr varScale="1">
        <p:scale>
          <a:sx n="68" d="100"/>
          <a:sy n="68" d="100"/>
        </p:scale>
        <p:origin x="42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2530D-1ABD-4CED-90FA-93DE7A0C2372}" type="datetimeFigureOut">
              <a:rPr lang="en-ZA" smtClean="0"/>
              <a:t>2025/11/12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59DE89-288B-478B-B423-1A79DF90F1D9}" type="slidenum">
              <a:rPr lang="en-ZA" smtClean="0"/>
              <a:t>‹#›</a:t>
            </a:fld>
            <a:endParaRPr lang="en-ZA"/>
          </a:p>
        </p:txBody>
      </p:sp>
    </p:spTree>
    <p:extLst>
      <p:ext uri="{BB962C8B-B14F-4D97-AF65-F5344CB8AC3E}">
        <p14:creationId xmlns:p14="http://schemas.microsoft.com/office/powerpoint/2010/main" val="161677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A Medallion Pipeline For Contract </a:t>
            </a:r>
            <a:r>
              <a:rPr lang="en-US" dirty="0" err="1"/>
              <a:t>Backtesting</a:t>
            </a:r>
            <a:r>
              <a:rPr lang="en-US" dirty="0"/>
              <a:t> where Variable set manually.</a:t>
            </a:r>
          </a:p>
          <a:p>
            <a:pPr marL="228600" indent="-228600">
              <a:buAutoNum type="arabicParenR"/>
            </a:pPr>
            <a:r>
              <a:rPr lang="en-US" dirty="0"/>
              <a:t>Note How Vars set and passed through to Notebooks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2</a:t>
            </a:fld>
            <a:endParaRPr lang="en-ZA"/>
          </a:p>
        </p:txBody>
      </p:sp>
    </p:spTree>
    <p:extLst>
      <p:ext uri="{BB962C8B-B14F-4D97-AF65-F5344CB8AC3E}">
        <p14:creationId xmlns:p14="http://schemas.microsoft.com/office/powerpoint/2010/main" val="3755366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settings in the base </a:t>
            </a:r>
            <a:r>
              <a:rPr lang="en-US" dirty="0" err="1"/>
              <a:t>parametres</a:t>
            </a:r>
            <a:r>
              <a:rPr lang="en-US" dirty="0"/>
              <a:t> for each of the Notebooks</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a:t>
            </a:fld>
            <a:endParaRPr lang="en-ZA"/>
          </a:p>
        </p:txBody>
      </p:sp>
    </p:spTree>
    <p:extLst>
      <p:ext uri="{BB962C8B-B14F-4D97-AF65-F5344CB8AC3E}">
        <p14:creationId xmlns:p14="http://schemas.microsoft.com/office/powerpoint/2010/main" val="354102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getting a manual pipeline that now has a real trigger time that we can use to calculate a date </a:t>
            </a:r>
          </a:p>
          <a:p>
            <a:r>
              <a:rPr lang="en-US" dirty="0"/>
              <a:t>We use an offset as the set variable trigger time is the current trigger time , which we can manipulate to get the date we </a:t>
            </a:r>
            <a:r>
              <a:rPr lang="en-US" dirty="0" err="1"/>
              <a:t>wantas</a:t>
            </a:r>
            <a:r>
              <a:rPr lang="en-US" dirty="0"/>
              <a:t> we want an offset as its not same day, maybe a day behind.. We can set the desired date in a variable. We must set a parameter of the current time so calculate the offset , </a:t>
            </a:r>
            <a:r>
              <a:rPr lang="en-US" dirty="0" err="1"/>
              <a:t>ie</a:t>
            </a:r>
            <a:r>
              <a:rPr lang="en-US" dirty="0"/>
              <a:t> the time close to when we set the Trigger. This is not the actual trigger time. It is slightly before the trigger Time. This is called the reference time and should be set to sat I minute before the 1</a:t>
            </a:r>
            <a:r>
              <a:rPr lang="en-US" baseline="30000" dirty="0"/>
              <a:t>st</a:t>
            </a:r>
            <a:r>
              <a:rPr lang="en-US" dirty="0"/>
              <a:t> trigger time I the schedule.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6</a:t>
            </a:fld>
            <a:endParaRPr lang="en-ZA"/>
          </a:p>
        </p:txBody>
      </p:sp>
    </p:spTree>
    <p:extLst>
      <p:ext uri="{BB962C8B-B14F-4D97-AF65-F5344CB8AC3E}">
        <p14:creationId xmlns:p14="http://schemas.microsoft.com/office/powerpoint/2010/main" val="625538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See the Pipeline with its schedule , it gives 3 runs for 250804/5/6 and see the settings for the </a:t>
            </a:r>
            <a:r>
              <a:rPr lang="en-US" dirty="0" err="1"/>
              <a:t>parametres</a:t>
            </a:r>
            <a:r>
              <a:rPr lang="en-US" dirty="0"/>
              <a:t> to run this schedule</a:t>
            </a:r>
          </a:p>
          <a:p>
            <a:pPr marL="228600" indent="-228600">
              <a:buAutoNum type="arabicParenR"/>
            </a:pPr>
            <a:r>
              <a:rPr lang="en-US" dirty="0"/>
              <a:t>The </a:t>
            </a:r>
            <a:r>
              <a:rPr lang="en-US" dirty="0" err="1"/>
              <a:t>Parmeters</a:t>
            </a:r>
            <a:r>
              <a:rPr lang="en-US" dirty="0"/>
              <a:t> Reference Time ( Set just before the Triger Timer)</a:t>
            </a:r>
          </a:p>
          <a:p>
            <a:pPr marL="228600" indent="-228600">
              <a:buAutoNum type="arabicParenR"/>
            </a:pPr>
            <a:r>
              <a:rPr lang="en-US" dirty="0"/>
              <a:t>The Time Delta , set the same as the </a:t>
            </a:r>
            <a:r>
              <a:rPr lang="en-US" dirty="0" err="1"/>
              <a:t>Interval..note</a:t>
            </a:r>
            <a:r>
              <a:rPr lang="en-US" dirty="0"/>
              <a:t> this is used to derive the iteration number , used to set the date for the Run.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a:t>
            </a:fld>
            <a:endParaRPr lang="en-ZA"/>
          </a:p>
        </p:txBody>
      </p:sp>
    </p:spTree>
    <p:extLst>
      <p:ext uri="{BB962C8B-B14F-4D97-AF65-F5344CB8AC3E}">
        <p14:creationId xmlns:p14="http://schemas.microsoft.com/office/powerpoint/2010/main" val="2595694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The Target date , this is the date that is passed onto the Notebooks, and is formatted as </a:t>
            </a:r>
            <a:r>
              <a:rPr lang="en-US" dirty="0" err="1"/>
              <a:t>yyyyMMdd</a:t>
            </a:r>
            <a:r>
              <a:rPr lang="en-US" dirty="0"/>
              <a:t>, and is the output of a chain of activities from 5 set </a:t>
            </a:r>
            <a:r>
              <a:rPr lang="en-US" dirty="0" err="1"/>
              <a:t>variabl;e</a:t>
            </a:r>
            <a:r>
              <a:rPr lang="en-US" dirty="0"/>
              <a:t> blocks, not a required input</a:t>
            </a:r>
          </a:p>
          <a:p>
            <a:pPr marL="228600" indent="-228600">
              <a:buAutoNum type="arabicParenR"/>
            </a:pPr>
            <a:r>
              <a:rPr lang="en-US" dirty="0"/>
              <a:t>The notebooks consume target date as a base parameter to set the paths and table names(see Notebook settings)</a:t>
            </a:r>
          </a:p>
          <a:p>
            <a:pPr marL="228600" indent="-228600">
              <a:buAutoNum type="arabicParenR"/>
            </a:pPr>
            <a:r>
              <a:rPr lang="en-US" dirty="0"/>
              <a:t>Trigger time schedule is the actual trigger time in </a:t>
            </a:r>
            <a:r>
              <a:rPr lang="en-US" dirty="0" err="1"/>
              <a:t>Utc</a:t>
            </a:r>
            <a:r>
              <a:rPr lang="en-US" dirty="0"/>
              <a:t> +2 (SA time) , the plus 2 is calculated in the set variable block settings , in the default time format,  </a:t>
            </a:r>
            <a:r>
              <a:rPr lang="en-US" dirty="0" err="1"/>
              <a:t>usin</a:t>
            </a:r>
            <a:r>
              <a:rPr lang="en-US" dirty="0"/>
              <a:t> @addHours ( not required to input this </a:t>
            </a:r>
          </a:p>
          <a:p>
            <a:pPr marL="228600" indent="-228600">
              <a:buAutoNum type="arabicParenR"/>
            </a:pPr>
            <a:r>
              <a:rPr lang="en-US" dirty="0"/>
              <a:t>Time Difference , is set in the </a:t>
            </a:r>
            <a:r>
              <a:rPr lang="en-US" dirty="0" err="1"/>
              <a:t>Setvariable</a:t>
            </a:r>
            <a:r>
              <a:rPr lang="en-US" dirty="0"/>
              <a:t> block and is the </a:t>
            </a:r>
            <a:r>
              <a:rPr lang="en-US" dirty="0" err="1"/>
              <a:t>elased</a:t>
            </a:r>
            <a:r>
              <a:rPr lang="en-US" dirty="0"/>
              <a:t> time in minutes between the trigger time and the reference time, The reference time is set close to the initial time of the first Trigger time of the schedule. It is used to set the iteration number of the Scheduled Triggers. </a:t>
            </a:r>
          </a:p>
          <a:p>
            <a:pPr marL="228600" indent="-228600">
              <a:buAutoNum type="arabicParenR"/>
            </a:pPr>
            <a:r>
              <a:rPr lang="en-US" dirty="0"/>
              <a:t>Iterations is used in </a:t>
            </a:r>
            <a:r>
              <a:rPr lang="en-US" dirty="0" err="1"/>
              <a:t>theIteration</a:t>
            </a:r>
            <a:r>
              <a:rPr lang="en-US" dirty="0"/>
              <a:t> Block to calculate the iteration number of the loop. Ie the total time divided by the parameter ,Time Delta. It is used to eventually set the date parameter, together with offset. Its calculated and not an input.</a:t>
            </a:r>
          </a:p>
          <a:p>
            <a:pPr marL="228600" indent="-228600">
              <a:buAutoNum type="arabicParenR"/>
            </a:pPr>
            <a:r>
              <a:rPr lang="en-US" dirty="0"/>
              <a:t>Test Start Date;  This is the only variable required as an Input, in </a:t>
            </a:r>
            <a:r>
              <a:rPr lang="en-US" dirty="0" err="1"/>
              <a:t>yyyyMMdd</a:t>
            </a:r>
            <a:r>
              <a:rPr lang="en-US" dirty="0"/>
              <a:t> format. It is either the only date of the desired analysis OR the start date of the analysis. This date and calculated dates from this will be the target date.</a:t>
            </a:r>
          </a:p>
          <a:p>
            <a:pPr marL="228600" indent="-228600">
              <a:buAutoNum type="arabicParenR"/>
            </a:pPr>
            <a:r>
              <a:rPr lang="en-US" b="1" dirty="0"/>
              <a:t>Offse</a:t>
            </a:r>
            <a:r>
              <a:rPr lang="en-US" dirty="0"/>
              <a:t>t: this is a calculation used to set the Target date, NB: Remember we are using a current date when we use the Pipeline Trigger Block. The dates required of the analysis are in the past. So Offset (and Iteration) are used to derive the required date based on the trigger time. If the analysis is required at the trigger time , we would not need most of these variables.  Note we divide by 8.6 E11..to get the number of days between 2 dates. </a:t>
            </a:r>
          </a:p>
          <a:p>
            <a:pPr marL="228600" indent="-228600">
              <a:buAutoNum type="arabicParenR"/>
            </a:pPr>
            <a:r>
              <a:rPr lang="en-US" dirty="0"/>
              <a:t>Also not that the equations allow you to Set a schedule every X minutes (5 or 7 ), and this allows you to get the historic analysis (for the past )  every X minutes , it accelerates the time to do analysis in the past. We can use the same setup when we go to a Schedule every 24 hours just by setting the Time delta to every 24 X 60 minutes. </a:t>
            </a:r>
          </a:p>
          <a:p>
            <a:pPr marL="228600" indent="-228600">
              <a:buAutoNum type="arabicParenR"/>
            </a:pPr>
            <a:endParaRPr lang="en-US" dirty="0"/>
          </a:p>
          <a:p>
            <a:pPr marL="228600" indent="-228600">
              <a:buAutoNum type="arabicParenR"/>
            </a:pPr>
            <a:endParaRPr lang="en-US" dirty="0"/>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8</a:t>
            </a:fld>
            <a:endParaRPr lang="en-ZA"/>
          </a:p>
        </p:txBody>
      </p:sp>
    </p:spTree>
    <p:extLst>
      <p:ext uri="{BB962C8B-B14F-4D97-AF65-F5344CB8AC3E}">
        <p14:creationId xmlns:p14="http://schemas.microsoft.com/office/powerpoint/2010/main" val="3426704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division in the expression builder of 6000000000, to get the difference to minutes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9</a:t>
            </a:fld>
            <a:endParaRPr lang="en-ZA"/>
          </a:p>
        </p:txBody>
      </p:sp>
    </p:spTree>
    <p:extLst>
      <p:ext uri="{BB962C8B-B14F-4D97-AF65-F5344CB8AC3E}">
        <p14:creationId xmlns:p14="http://schemas.microsoft.com/office/powerpoint/2010/main" val="4170651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Note in the Iterations block we divide the time difference , Time Diff (in minutes) by the number of minutes between iterations of the schedule , Time Delta, an essential input to get the </a:t>
            </a:r>
            <a:r>
              <a:rPr lang="en-US" dirty="0" err="1"/>
              <a:t>iteation</a:t>
            </a:r>
            <a:r>
              <a:rPr lang="en-US" dirty="0"/>
              <a:t> </a:t>
            </a:r>
            <a:r>
              <a:rPr lang="en-US" dirty="0" err="1"/>
              <a:t>numbet</a:t>
            </a:r>
            <a:r>
              <a:rPr lang="en-US" dirty="0"/>
              <a:t> of the loop. </a:t>
            </a:r>
          </a:p>
          <a:p>
            <a:pPr marL="228600" indent="-228600">
              <a:buAutoNum type="arabicParenR"/>
            </a:pPr>
            <a:r>
              <a:rPr lang="en-US" dirty="0"/>
              <a:t>NB: An iteration number can be set in the pipeline , as variables are ephemeral, they only last for that iteration. Therefor an outside reference is used </a:t>
            </a:r>
            <a:r>
              <a:rPr lang="en-US" dirty="0" err="1"/>
              <a:t>ie</a:t>
            </a:r>
            <a:r>
              <a:rPr lang="en-US" dirty="0"/>
              <a:t> set as a fixed parameter, Reference Time, which is not changed during the iterations ( ONE OF THE ESSENTIAL DIFFERENCES BETWEEN THAT AND LOOPS)</a:t>
            </a:r>
          </a:p>
          <a:p>
            <a:pPr marL="228600" indent="-228600">
              <a:buAutoNum type="arabicParenR"/>
            </a:pPr>
            <a:r>
              <a:rPr lang="en-US" b="1" dirty="0"/>
              <a:t>OFFSET</a:t>
            </a:r>
            <a:r>
              <a:rPr lang="en-US" dirty="0"/>
              <a:t> :As mentioned previously the offset function allows one to set any date from an input Trigger (Current Time) to get any </a:t>
            </a:r>
            <a:r>
              <a:rPr lang="en-US" dirty="0" err="1"/>
              <a:t>backtest</a:t>
            </a:r>
            <a:r>
              <a:rPr lang="en-US" dirty="0"/>
              <a:t> from past data. You set the initial desired start date in </a:t>
            </a:r>
            <a:r>
              <a:rPr lang="en-US" dirty="0" err="1"/>
              <a:t>yyyymmdd</a:t>
            </a:r>
            <a:r>
              <a:rPr lang="en-US" dirty="0"/>
              <a:t> format and this format will </a:t>
            </a:r>
            <a:r>
              <a:rPr lang="en-US" dirty="0" err="1"/>
              <a:t>cinstruct</a:t>
            </a:r>
            <a:r>
              <a:rPr lang="en-US" dirty="0"/>
              <a:t> a day at 0 time and subtract </a:t>
            </a:r>
            <a:r>
              <a:rPr lang="en-US" dirty="0" err="1"/>
              <a:t>utcNow</a:t>
            </a:r>
            <a:r>
              <a:rPr lang="en-US" dirty="0"/>
              <a:t> , to get a time difference in 100’s of </a:t>
            </a:r>
            <a:r>
              <a:rPr lang="en-US" dirty="0" err="1"/>
              <a:t>nanposeconds</a:t>
            </a:r>
            <a:r>
              <a:rPr lang="en-US" dirty="0"/>
              <a:t> , and it </a:t>
            </a:r>
            <a:r>
              <a:rPr lang="en-US" dirty="0" err="1"/>
              <a:t>willdivide</a:t>
            </a:r>
            <a:r>
              <a:rPr lang="en-US" dirty="0"/>
              <a:t> by , the number of 100s of nanoseconds in a day. To get the offset in days from today , in the past, a negative number </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10</a:t>
            </a:fld>
            <a:endParaRPr lang="en-ZA"/>
          </a:p>
        </p:txBody>
      </p:sp>
    </p:spTree>
    <p:extLst>
      <p:ext uri="{BB962C8B-B14F-4D97-AF65-F5344CB8AC3E}">
        <p14:creationId xmlns:p14="http://schemas.microsoft.com/office/powerpoint/2010/main" val="2266919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The set any date </a:t>
            </a:r>
            <a:r>
              <a:rPr lang="en-US" dirty="0" err="1"/>
              <a:t>caculates</a:t>
            </a:r>
            <a:r>
              <a:rPr lang="en-US" dirty="0"/>
              <a:t> the date of the iteration in </a:t>
            </a:r>
            <a:r>
              <a:rPr lang="en-US" dirty="0" err="1"/>
              <a:t>yyyyMMdd</a:t>
            </a:r>
            <a:r>
              <a:rPr lang="en-US" dirty="0"/>
              <a:t> format to send to the Notebooks as a variable , actually a base parameter in the notebook, see the first notebook on the right</a:t>
            </a:r>
          </a:p>
          <a:p>
            <a:pPr marL="228600" indent="-228600">
              <a:buAutoNum type="arabicParenR"/>
            </a:pPr>
            <a:r>
              <a:rPr lang="en-US" dirty="0"/>
              <a:t>See the first Notebook Raw to Bronze on the Right , and the base parameters taking in the Target date from the </a:t>
            </a:r>
            <a:r>
              <a:rPr lang="en-US" dirty="0" err="1"/>
              <a:t>setAnyDate</a:t>
            </a:r>
            <a:r>
              <a:rPr lang="en-US" dirty="0"/>
              <a:t> </a:t>
            </a:r>
            <a:r>
              <a:rPr lang="en-US" dirty="0" err="1"/>
              <a:t>Varaible</a:t>
            </a:r>
            <a:r>
              <a:rPr lang="en-US" dirty="0"/>
              <a:t> Block </a:t>
            </a:r>
          </a:p>
          <a:p>
            <a:pPr marL="228600" indent="-228600">
              <a:buAutoNum type="arabicParenR"/>
            </a:pPr>
            <a:r>
              <a:rPr lang="en-US" dirty="0"/>
              <a:t>Note the Notebook block references the </a:t>
            </a:r>
            <a:r>
              <a:rPr lang="en-US" dirty="0" err="1"/>
              <a:t>poarameterized</a:t>
            </a:r>
            <a:r>
              <a:rPr lang="en-US" dirty="0"/>
              <a:t> notebook.</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11</a:t>
            </a:fld>
            <a:endParaRPr lang="en-ZA"/>
          </a:p>
        </p:txBody>
      </p:sp>
    </p:spTree>
    <p:extLst>
      <p:ext uri="{BB962C8B-B14F-4D97-AF65-F5344CB8AC3E}">
        <p14:creationId xmlns:p14="http://schemas.microsoft.com/office/powerpoint/2010/main" val="2031186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12</a:t>
            </a:fld>
            <a:endParaRPr lang="en-ZA"/>
          </a:p>
        </p:txBody>
      </p:sp>
    </p:spTree>
    <p:extLst>
      <p:ext uri="{BB962C8B-B14F-4D97-AF65-F5344CB8AC3E}">
        <p14:creationId xmlns:p14="http://schemas.microsoft.com/office/powerpoint/2010/main" val="2843718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As shown above all variables are same as before </a:t>
            </a:r>
            <a:r>
              <a:rPr lang="en-US" dirty="0" err="1"/>
              <a:t>ie</a:t>
            </a:r>
            <a:r>
              <a:rPr lang="en-US" dirty="0"/>
              <a:t> with contract</a:t>
            </a:r>
          </a:p>
          <a:p>
            <a:pPr marL="228600" indent="-228600">
              <a:buAutoNum type="arabicParenR"/>
            </a:pPr>
            <a:r>
              <a:rPr lang="en-US" dirty="0"/>
              <a:t>All Set Var Blocks are same as before </a:t>
            </a:r>
          </a:p>
          <a:p>
            <a:pPr marL="228600" indent="-228600">
              <a:buAutoNum type="arabicParenR"/>
            </a:pPr>
            <a:r>
              <a:rPr lang="en-US" dirty="0"/>
              <a:t>Only the settings for the Contract Notebook elements =</a:t>
            </a:r>
            <a:r>
              <a:rPr lang="en-US" dirty="0" err="1"/>
              <a:t>dffer</a:t>
            </a:r>
            <a:r>
              <a:rPr lang="en-US" dirty="0"/>
              <a:t> , shown overleaf</a:t>
            </a:r>
          </a:p>
          <a:p>
            <a:pPr marL="228600" indent="-228600">
              <a:buAutoNum type="arabicParenR"/>
            </a:pPr>
            <a:r>
              <a:rPr lang="en-US" dirty="0"/>
              <a:t>The notebook params are same as in Client , but the notebooks differ , see overleaf.</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14</a:t>
            </a:fld>
            <a:endParaRPr lang="en-ZA"/>
          </a:p>
        </p:txBody>
      </p:sp>
    </p:spTree>
    <p:extLst>
      <p:ext uri="{BB962C8B-B14F-4D97-AF65-F5344CB8AC3E}">
        <p14:creationId xmlns:p14="http://schemas.microsoft.com/office/powerpoint/2010/main" val="1182364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This pipeline has the file checker exposed in the main pipeline (there is a further development where we use this in the Invoke block) </a:t>
            </a:r>
          </a:p>
          <a:p>
            <a:pPr marL="228600" indent="-228600">
              <a:buAutoNum type="arabicParenR"/>
            </a:pPr>
            <a:r>
              <a:rPr lang="en-US" dirty="0"/>
              <a:t>The above pipeline uses an Invoke block to do the acceleration , </a:t>
            </a:r>
            <a:r>
              <a:rPr lang="en-US" dirty="0" err="1"/>
              <a:t>ie</a:t>
            </a:r>
            <a:r>
              <a:rPr lang="en-US" dirty="0"/>
              <a:t> Invoke Accelerator , which is shown below.</a:t>
            </a:r>
          </a:p>
          <a:p>
            <a:pPr marL="228600" indent="-228600">
              <a:buAutoNum type="arabicParenR"/>
            </a:pPr>
            <a:r>
              <a:rPr lang="en-US" dirty="0"/>
              <a:t>The pipeline that’s invoked at the moment is called </a:t>
            </a:r>
            <a:r>
              <a:rPr lang="en-US" dirty="0" err="1"/>
              <a:t>pl_Backtest_Contract_Accelerator</a:t>
            </a:r>
            <a:r>
              <a:rPr lang="en-US" dirty="0"/>
              <a:t>, which has calculations to produce consecutive days to do the </a:t>
            </a:r>
            <a:r>
              <a:rPr lang="en-US" dirty="0" err="1"/>
              <a:t>backtesting</a:t>
            </a:r>
            <a:r>
              <a:rPr lang="en-US" dirty="0"/>
              <a:t>, every x number of minutes, which has to be set as a parameter in the main pipeline and passed through to this pipeline. </a:t>
            </a:r>
          </a:p>
          <a:p>
            <a:pPr marL="228600" indent="-228600">
              <a:buAutoNum type="arabicParenR"/>
            </a:pPr>
            <a:r>
              <a:rPr lang="en-ZA" dirty="0"/>
              <a:t>NB: We will keep this name , and make a copy of this and call it child pipeline later on but it needs to be expanded to include more blocks </a:t>
            </a:r>
          </a:p>
        </p:txBody>
      </p:sp>
      <p:sp>
        <p:nvSpPr>
          <p:cNvPr id="4" name="Slide Number Placeholder 3"/>
          <p:cNvSpPr>
            <a:spLocks noGrp="1"/>
          </p:cNvSpPr>
          <p:nvPr>
            <p:ph type="sldNum" sz="quarter" idx="5"/>
          </p:nvPr>
        </p:nvSpPr>
        <p:spPr/>
        <p:txBody>
          <a:bodyPr/>
          <a:lstStyle/>
          <a:p>
            <a:fld id="{8E59DE89-288B-478B-B423-1A79DF90F1D9}" type="slidenum">
              <a:rPr lang="en-ZA" smtClean="0"/>
              <a:t>18</a:t>
            </a:fld>
            <a:endParaRPr lang="en-ZA"/>
          </a:p>
        </p:txBody>
      </p:sp>
    </p:spTree>
    <p:extLst>
      <p:ext uri="{BB962C8B-B14F-4D97-AF65-F5344CB8AC3E}">
        <p14:creationId xmlns:p14="http://schemas.microsoft.com/office/powerpoint/2010/main" val="2108295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All these </a:t>
            </a:r>
            <a:r>
              <a:rPr lang="en-US" dirty="0" err="1"/>
              <a:t>Partameters</a:t>
            </a:r>
            <a:r>
              <a:rPr lang="en-US" dirty="0"/>
              <a:t> are required , mainly to set the current date </a:t>
            </a:r>
            <a:r>
              <a:rPr lang="en-US" dirty="0" err="1"/>
              <a:t>ie</a:t>
            </a:r>
            <a:r>
              <a:rPr lang="en-US" dirty="0"/>
              <a:t> Reference Time and Time Delta</a:t>
            </a:r>
          </a:p>
          <a:p>
            <a:pPr marL="228600" indent="-228600">
              <a:buAutoNum type="arabicParenR"/>
            </a:pPr>
            <a:r>
              <a:rPr lang="en-US" dirty="0"/>
              <a:t>NB: </a:t>
            </a:r>
            <a:r>
              <a:rPr lang="en-US" b="1" dirty="0"/>
              <a:t>Time Delta must be the same as the delta time in Scheduler</a:t>
            </a:r>
          </a:p>
          <a:p>
            <a:pPr marL="228600" indent="-228600">
              <a:buAutoNum type="arabicParenR"/>
            </a:pPr>
            <a:r>
              <a:rPr lang="en-US" b="1" dirty="0"/>
              <a:t>Reference Time must be very close to the Starting Time</a:t>
            </a:r>
            <a:endParaRPr lang="en-US" dirty="0"/>
          </a:p>
          <a:p>
            <a:pPr marL="228600" indent="-228600">
              <a:buAutoNum type="arabicParenR"/>
            </a:pPr>
            <a:r>
              <a:rPr lang="en-US" dirty="0"/>
              <a:t>The others are the Directory Path .. Variables for the 3 files for this we do the contract and the currency and  equity positions </a:t>
            </a:r>
          </a:p>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19</a:t>
            </a:fld>
            <a:endParaRPr lang="en-ZA"/>
          </a:p>
        </p:txBody>
      </p:sp>
    </p:spTree>
    <p:extLst>
      <p:ext uri="{BB962C8B-B14F-4D97-AF65-F5344CB8AC3E}">
        <p14:creationId xmlns:p14="http://schemas.microsoft.com/office/powerpoint/2010/main" val="2406530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variables are set and discussed in the appropriate blocks </a:t>
            </a:r>
          </a:p>
          <a:p>
            <a:r>
              <a:rPr lang="en-US" dirty="0"/>
              <a:t>The most important of these are the </a:t>
            </a:r>
            <a:r>
              <a:rPr lang="en-US" b="1" dirty="0"/>
              <a:t>Offset: this is used as an offset to the current date in order to produce the dates being tested </a:t>
            </a:r>
            <a:r>
              <a:rPr lang="en-US" b="1" dirty="0" err="1"/>
              <a:t>ie</a:t>
            </a:r>
            <a:r>
              <a:rPr lang="en-US" b="1" dirty="0"/>
              <a:t> at the time of writing the offset was set to 68 , the test was done on the 13 October for dates from the 20250806. The schedule was set at 7:46, for </a:t>
            </a:r>
            <a:r>
              <a:rPr lang="en-US" b="1" dirty="0" err="1"/>
              <a:t>startin</a:t>
            </a:r>
            <a:r>
              <a:rPr lang="en-US" b="1" dirty="0"/>
              <a:t> 7:47 to 7:58.. It would run 3 schedules every 5 mins to extract dates from Aug 6</a:t>
            </a:r>
            <a:r>
              <a:rPr lang="en-US" b="1" baseline="30000" dirty="0"/>
              <a:t>th</a:t>
            </a:r>
            <a:r>
              <a:rPr lang="en-US" b="1" dirty="0"/>
              <a:t> to </a:t>
            </a:r>
            <a:r>
              <a:rPr lang="en-US" b="1" dirty="0" err="1"/>
              <a:t>aug</a:t>
            </a:r>
            <a:r>
              <a:rPr lang="en-US" b="1" dirty="0"/>
              <a:t> 8</a:t>
            </a:r>
            <a:r>
              <a:rPr lang="en-US" b="1" baseline="30000" dirty="0"/>
              <a:t>th</a:t>
            </a:r>
            <a:r>
              <a:rPr lang="en-US" b="1" dirty="0"/>
              <a:t> </a:t>
            </a:r>
            <a:r>
              <a:rPr lang="en-US" b="1" dirty="0" err="1"/>
              <a:t>ie</a:t>
            </a:r>
            <a:r>
              <a:rPr lang="en-US" b="1" dirty="0"/>
              <a:t> 3 iterations …</a:t>
            </a:r>
            <a:endParaRPr lang="en-ZA" b="1" dirty="0"/>
          </a:p>
        </p:txBody>
      </p:sp>
      <p:sp>
        <p:nvSpPr>
          <p:cNvPr id="4" name="Slide Number Placeholder 3"/>
          <p:cNvSpPr>
            <a:spLocks noGrp="1"/>
          </p:cNvSpPr>
          <p:nvPr>
            <p:ph type="sldNum" sz="quarter" idx="5"/>
          </p:nvPr>
        </p:nvSpPr>
        <p:spPr/>
        <p:txBody>
          <a:bodyPr/>
          <a:lstStyle/>
          <a:p>
            <a:fld id="{8E59DE89-288B-478B-B423-1A79DF90F1D9}" type="slidenum">
              <a:rPr lang="en-ZA" smtClean="0"/>
              <a:t>20</a:t>
            </a:fld>
            <a:endParaRPr lang="en-ZA"/>
          </a:p>
        </p:txBody>
      </p:sp>
    </p:spTree>
    <p:extLst>
      <p:ext uri="{BB962C8B-B14F-4D97-AF65-F5344CB8AC3E}">
        <p14:creationId xmlns:p14="http://schemas.microsoft.com/office/powerpoint/2010/main" val="1908852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we add  2 hours to UTC </a:t>
            </a:r>
          </a:p>
          <a:p>
            <a:r>
              <a:rPr lang="en-US" dirty="0"/>
              <a:t>This block just sets the variable Trigger time to an offset of 2 hours , as the trigger time is </a:t>
            </a:r>
            <a:r>
              <a:rPr lang="en-US" dirty="0" err="1"/>
              <a:t>utc</a:t>
            </a:r>
            <a:r>
              <a:rPr lang="en-US" dirty="0"/>
              <a:t>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21</a:t>
            </a:fld>
            <a:endParaRPr lang="en-ZA"/>
          </a:p>
        </p:txBody>
      </p:sp>
    </p:spTree>
    <p:extLst>
      <p:ext uri="{BB962C8B-B14F-4D97-AF65-F5344CB8AC3E}">
        <p14:creationId xmlns:p14="http://schemas.microsoft.com/office/powerpoint/2010/main" val="1979448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Invoke Pipeline block which has a child Pipeline </a:t>
            </a:r>
          </a:p>
          <a:p>
            <a:r>
              <a:rPr lang="en-US" dirty="0"/>
              <a:t>This child pipeline accelerates the testing facility and will be discussed in the next few slides.</a:t>
            </a:r>
          </a:p>
          <a:p>
            <a:r>
              <a:rPr lang="en-US" dirty="0"/>
              <a:t>The invoke block calls another child pipeline called </a:t>
            </a:r>
            <a:r>
              <a:rPr lang="en-US" dirty="0" err="1"/>
              <a:t>pl_child</a:t>
            </a:r>
            <a:r>
              <a:rPr lang="en-US" dirty="0"/>
              <a:t> accelerator which has variables and parameters passed to it. In order to pass these variables from the main pipeline to the child pipeline , you have to pass them into Base </a:t>
            </a:r>
            <a:r>
              <a:rPr lang="en-US" dirty="0" err="1"/>
              <a:t>parametres</a:t>
            </a:r>
            <a:r>
              <a:rPr lang="en-US" dirty="0"/>
              <a:t> in the Invoke Block, so they are all now </a:t>
            </a:r>
            <a:r>
              <a:rPr lang="en-US" dirty="0" err="1"/>
              <a:t>parametres</a:t>
            </a:r>
            <a:r>
              <a:rPr lang="en-US" dirty="0"/>
              <a:t> as far as the child pipeline sees them. </a:t>
            </a:r>
          </a:p>
          <a:p>
            <a:r>
              <a:rPr lang="en-US" b="1" dirty="0"/>
              <a:t>They must be declared as </a:t>
            </a:r>
            <a:r>
              <a:rPr lang="en-US" b="1" dirty="0" err="1"/>
              <a:t>parametres</a:t>
            </a:r>
            <a:r>
              <a:rPr lang="en-US" b="1" dirty="0"/>
              <a:t> in the child pipeline, They don’t </a:t>
            </a:r>
            <a:r>
              <a:rPr lang="en-US" b="1" dirty="0" err="1"/>
              <a:t>hace</a:t>
            </a:r>
            <a:r>
              <a:rPr lang="en-US" b="1" dirty="0"/>
              <a:t> to have </a:t>
            </a:r>
            <a:r>
              <a:rPr lang="en-US" b="1" dirty="0" err="1"/>
              <a:t>defaulot</a:t>
            </a:r>
            <a:r>
              <a:rPr lang="en-US" b="1" dirty="0"/>
              <a:t> values , these will be ignored </a:t>
            </a:r>
          </a:p>
          <a:p>
            <a:pPr marL="228600" indent="-228600">
              <a:buAutoNum type="arabicParenR"/>
            </a:pPr>
            <a:r>
              <a:rPr lang="en-US" b="1" dirty="0" err="1"/>
              <a:t>referenceTime</a:t>
            </a:r>
            <a:r>
              <a:rPr lang="en-US" b="1" dirty="0"/>
              <a:t> – a parameter in the main pipeline . Is dynamically referenced here by calling parameters in the dynamic expression]</a:t>
            </a:r>
          </a:p>
          <a:p>
            <a:pPr marL="228600" indent="-228600">
              <a:buAutoNum type="arabicParenR"/>
            </a:pPr>
            <a:r>
              <a:rPr lang="en-US" b="1" dirty="0" err="1"/>
              <a:t>TriggerTime</a:t>
            </a:r>
            <a:r>
              <a:rPr lang="en-US" b="1" dirty="0"/>
              <a:t> Schedule is a variable in main pipeline and brought through as a variable in the dynamic expression.</a:t>
            </a:r>
          </a:p>
          <a:p>
            <a:pPr marL="228600" indent="-228600">
              <a:buAutoNum type="arabicParenR"/>
            </a:pPr>
            <a:r>
              <a:rPr lang="en-US" b="1" dirty="0"/>
              <a:t>Time Delta isa </a:t>
            </a:r>
            <a:r>
              <a:rPr lang="en-US" b="1" dirty="0" err="1"/>
              <a:t>parmeter</a:t>
            </a:r>
            <a:r>
              <a:rPr lang="en-US" b="1" dirty="0"/>
              <a:t> in the main pipeline and is brough through as a parameter </a:t>
            </a:r>
          </a:p>
          <a:p>
            <a:endParaRPr lang="en-ZA" b="1" dirty="0"/>
          </a:p>
        </p:txBody>
      </p:sp>
      <p:sp>
        <p:nvSpPr>
          <p:cNvPr id="4" name="Slide Number Placeholder 3"/>
          <p:cNvSpPr>
            <a:spLocks noGrp="1"/>
          </p:cNvSpPr>
          <p:nvPr>
            <p:ph type="sldNum" sz="quarter" idx="5"/>
          </p:nvPr>
        </p:nvSpPr>
        <p:spPr/>
        <p:txBody>
          <a:bodyPr/>
          <a:lstStyle/>
          <a:p>
            <a:fld id="{8E59DE89-288B-478B-B423-1A79DF90F1D9}" type="slidenum">
              <a:rPr lang="en-ZA" smtClean="0"/>
              <a:t>22</a:t>
            </a:fld>
            <a:endParaRPr lang="en-ZA"/>
          </a:p>
        </p:txBody>
      </p:sp>
    </p:spTree>
    <p:extLst>
      <p:ext uri="{BB962C8B-B14F-4D97-AF65-F5344CB8AC3E}">
        <p14:creationId xmlns:p14="http://schemas.microsoft.com/office/powerpoint/2010/main" val="2648984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Note we bring in the 3 reference parameters , from the main pipeline , they will be used in the calculations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23</a:t>
            </a:fld>
            <a:endParaRPr lang="en-ZA"/>
          </a:p>
        </p:txBody>
      </p:sp>
    </p:spTree>
    <p:extLst>
      <p:ext uri="{BB962C8B-B14F-4D97-AF65-F5344CB8AC3E}">
        <p14:creationId xmlns:p14="http://schemas.microsoft.com/office/powerpoint/2010/main" val="59887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This block is used to calculate the </a:t>
            </a:r>
            <a:r>
              <a:rPr lang="en-US" dirty="0" err="1"/>
              <a:t>elased</a:t>
            </a:r>
            <a:r>
              <a:rPr lang="en-US" dirty="0"/>
              <a:t> time in minutes between the trigger time and a reference time.</a:t>
            </a:r>
          </a:p>
          <a:p>
            <a:pPr marL="228600" indent="-228600">
              <a:buAutoNum type="arabicParenR"/>
            </a:pPr>
            <a:r>
              <a:rPr lang="en-US" dirty="0"/>
              <a:t>The reference time is a </a:t>
            </a:r>
            <a:r>
              <a:rPr lang="en-US" dirty="0" err="1"/>
              <a:t>constrant</a:t>
            </a:r>
            <a:r>
              <a:rPr lang="en-US" dirty="0"/>
              <a:t> through all the iterations ,. The trigger time will change.</a:t>
            </a:r>
          </a:p>
          <a:p>
            <a:pPr marL="228600" indent="-228600">
              <a:buAutoNum type="arabicParenR"/>
            </a:pPr>
            <a:r>
              <a:rPr lang="en-US" dirty="0"/>
              <a:t>Therefore the </a:t>
            </a:r>
            <a:r>
              <a:rPr lang="en-US" dirty="0" err="1"/>
              <a:t>elased</a:t>
            </a:r>
            <a:r>
              <a:rPr lang="en-US" dirty="0"/>
              <a:t> minutes is the time in minutes between the constant ref time ( set close to the first iteration time) and the trigger time. This is </a:t>
            </a:r>
            <a:r>
              <a:rPr lang="en-US" dirty="0" err="1"/>
              <a:t>usede</a:t>
            </a:r>
            <a:r>
              <a:rPr lang="en-US" dirty="0"/>
              <a:t> to get an iteration number to offset the date to retrieve the next days data each iteration , very fast. It simulates say a </a:t>
            </a:r>
            <a:r>
              <a:rPr lang="en-US" dirty="0" err="1"/>
              <a:t>dat</a:t>
            </a:r>
            <a:r>
              <a:rPr lang="en-US" dirty="0"/>
              <a:t> every 5 minutes.</a:t>
            </a:r>
          </a:p>
          <a:p>
            <a:pPr marL="228600" indent="-228600">
              <a:buAutoNum type="arabicParenR"/>
            </a:pPr>
            <a:r>
              <a:rPr lang="en-US" dirty="0"/>
              <a:t>The formula takes the difference between the parameters of trigger time and Reference time and divides bay a factor to get the </a:t>
            </a:r>
            <a:r>
              <a:rPr lang="en-US" dirty="0" err="1"/>
              <a:t>Time_Diff</a:t>
            </a:r>
            <a:r>
              <a:rPr lang="en-US" dirty="0"/>
              <a:t> variable in minutes.. Default time difference is in 100s of </a:t>
            </a:r>
            <a:r>
              <a:rPr lang="en-US" dirty="0" err="1"/>
              <a:t>nanaoseconds</a:t>
            </a:r>
            <a:r>
              <a:rPr lang="en-US" dirty="0"/>
              <a:t>. </a:t>
            </a:r>
          </a:p>
          <a:p>
            <a:pPr marL="228600" indent="-228600">
              <a:buAutoNum type="arabicParenR"/>
            </a:pPr>
            <a:endParaRPr lang="en-US" dirty="0"/>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24</a:t>
            </a:fld>
            <a:endParaRPr lang="en-ZA"/>
          </a:p>
        </p:txBody>
      </p:sp>
    </p:spTree>
    <p:extLst>
      <p:ext uri="{BB962C8B-B14F-4D97-AF65-F5344CB8AC3E}">
        <p14:creationId xmlns:p14="http://schemas.microsoft.com/office/powerpoint/2010/main" val="3784229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works out the iteration number of the loop , </a:t>
            </a:r>
          </a:p>
          <a:p>
            <a:r>
              <a:rPr lang="en-US" dirty="0"/>
              <a:t>It divides by the delta Time </a:t>
            </a:r>
            <a:r>
              <a:rPr lang="en-ZA" dirty="0"/>
              <a:t>of the Schedule so it must be kept synchronous.</a:t>
            </a:r>
          </a:p>
          <a:p>
            <a:endParaRPr lang="en-US" dirty="0"/>
          </a:p>
        </p:txBody>
      </p:sp>
      <p:sp>
        <p:nvSpPr>
          <p:cNvPr id="4" name="Slide Number Placeholder 3"/>
          <p:cNvSpPr>
            <a:spLocks noGrp="1"/>
          </p:cNvSpPr>
          <p:nvPr>
            <p:ph type="sldNum" sz="quarter" idx="5"/>
          </p:nvPr>
        </p:nvSpPr>
        <p:spPr/>
        <p:txBody>
          <a:bodyPr/>
          <a:lstStyle/>
          <a:p>
            <a:fld id="{8E59DE89-288B-478B-B423-1A79DF90F1D9}" type="slidenum">
              <a:rPr lang="en-ZA" smtClean="0"/>
              <a:t>25</a:t>
            </a:fld>
            <a:endParaRPr lang="en-ZA"/>
          </a:p>
        </p:txBody>
      </p:sp>
    </p:spTree>
    <p:extLst>
      <p:ext uri="{BB962C8B-B14F-4D97-AF65-F5344CB8AC3E}">
        <p14:creationId xmlns:p14="http://schemas.microsoft.com/office/powerpoint/2010/main" val="2725388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set variable block , Which takes in a variable previously set Nd returns the same variable , note , in the settings it is set to </a:t>
            </a:r>
            <a:br>
              <a:rPr lang="en-US" dirty="0"/>
            </a:br>
            <a:r>
              <a:rPr lang="en-US" dirty="0"/>
              <a:t>“Pipeline Return Value; NOT Pipeline variable” </a:t>
            </a:r>
          </a:p>
          <a:p>
            <a:r>
              <a:rPr lang="en-US" dirty="0"/>
              <a:t>Note its an expression: @variables(‘Iterations’)..this is where it is returned.</a:t>
            </a:r>
          </a:p>
          <a:p>
            <a:r>
              <a:rPr lang="en-US" b="1" dirty="0"/>
              <a:t>Note: This pipeline is going to be updated to include an offset. The intention is to provide a dates , </a:t>
            </a:r>
            <a:r>
              <a:rPr lang="en-US" b="1" dirty="0" err="1"/>
              <a:t>ther</a:t>
            </a:r>
            <a:r>
              <a:rPr lang="en-US" b="1" dirty="0"/>
              <a:t> start date of the simulation , rather than ask a user to set the offset. This child pipeline will calculate the Offset in a block and return that as well, to the main pipeline to change todays date to the date desired.</a:t>
            </a:r>
          </a:p>
          <a:p>
            <a:r>
              <a:rPr lang="en-US" b="1" dirty="0"/>
              <a:t>This will be </a:t>
            </a:r>
            <a:r>
              <a:rPr lang="en-US" b="1" dirty="0" err="1"/>
              <a:t>oin</a:t>
            </a:r>
            <a:r>
              <a:rPr lang="en-US" b="1" dirty="0"/>
              <a:t> the next iteration. </a:t>
            </a:r>
            <a:endParaRPr lang="en-ZA" b="1" dirty="0"/>
          </a:p>
        </p:txBody>
      </p:sp>
      <p:sp>
        <p:nvSpPr>
          <p:cNvPr id="4" name="Slide Number Placeholder 3"/>
          <p:cNvSpPr>
            <a:spLocks noGrp="1"/>
          </p:cNvSpPr>
          <p:nvPr>
            <p:ph type="sldNum" sz="quarter" idx="5"/>
          </p:nvPr>
        </p:nvSpPr>
        <p:spPr/>
        <p:txBody>
          <a:bodyPr/>
          <a:lstStyle/>
          <a:p>
            <a:fld id="{8E59DE89-288B-478B-B423-1A79DF90F1D9}" type="slidenum">
              <a:rPr lang="en-ZA" smtClean="0"/>
              <a:t>26</a:t>
            </a:fld>
            <a:endParaRPr lang="en-ZA"/>
          </a:p>
        </p:txBody>
      </p:sp>
    </p:spTree>
    <p:extLst>
      <p:ext uri="{BB962C8B-B14F-4D97-AF65-F5344CB8AC3E}">
        <p14:creationId xmlns:p14="http://schemas.microsoft.com/office/powerpoint/2010/main" val="3114204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This block takes the iterations out , from the Invoke </a:t>
            </a:r>
            <a:r>
              <a:rPr lang="en-US" dirty="0" err="1"/>
              <a:t>Acceleartor</a:t>
            </a:r>
            <a:r>
              <a:rPr lang="en-US" dirty="0"/>
              <a:t> Block’s return value and adds the offset , that was an input required , and the iteration number , representing the added days to the reference time </a:t>
            </a:r>
          </a:p>
          <a:p>
            <a:pPr marL="228600" indent="-228600">
              <a:buAutoNum type="arabicParenR"/>
            </a:pPr>
            <a:r>
              <a:rPr lang="en-US" dirty="0"/>
              <a:t>The offset will come from a block , rather that a variable from the main pipeline (date will be input) </a:t>
            </a:r>
          </a:p>
          <a:p>
            <a:pPr marL="228600" indent="-228600">
              <a:buAutoNum type="arabicParenR"/>
            </a:pPr>
            <a:r>
              <a:rPr lang="en-US" dirty="0"/>
              <a:t>The output format is a Date: </a:t>
            </a:r>
            <a:r>
              <a:rPr lang="en-US" dirty="0" err="1"/>
              <a:t>yyyyMMdd</a:t>
            </a:r>
            <a:r>
              <a:rPr lang="en-US" dirty="0"/>
              <a:t> format that will eventually be put into the </a:t>
            </a:r>
            <a:r>
              <a:rPr lang="en-US" dirty="0" err="1"/>
              <a:t>Backtest</a:t>
            </a:r>
            <a:r>
              <a:rPr lang="en-US" dirty="0"/>
              <a:t> / </a:t>
            </a:r>
            <a:r>
              <a:rPr lang="en-US" dirty="0" err="1"/>
              <a:t>strsstest</a:t>
            </a:r>
            <a:r>
              <a:rPr lang="en-US" dirty="0"/>
              <a:t> algorithm.</a:t>
            </a:r>
          </a:p>
          <a:p>
            <a:pPr marL="228600" indent="-228600">
              <a:buAutoNum type="arabicParenR"/>
            </a:pPr>
            <a:r>
              <a:rPr lang="en-US" dirty="0"/>
              <a:t>Note the expression and how all the variables are achieved. </a:t>
            </a:r>
          </a:p>
        </p:txBody>
      </p:sp>
      <p:sp>
        <p:nvSpPr>
          <p:cNvPr id="4" name="Slide Number Placeholder 3"/>
          <p:cNvSpPr>
            <a:spLocks noGrp="1"/>
          </p:cNvSpPr>
          <p:nvPr>
            <p:ph type="sldNum" sz="quarter" idx="5"/>
          </p:nvPr>
        </p:nvSpPr>
        <p:spPr/>
        <p:txBody>
          <a:bodyPr/>
          <a:lstStyle/>
          <a:p>
            <a:fld id="{8E59DE89-288B-478B-B423-1A79DF90F1D9}" type="slidenum">
              <a:rPr lang="en-ZA" smtClean="0"/>
              <a:t>27</a:t>
            </a:fld>
            <a:endParaRPr lang="en-ZA"/>
          </a:p>
        </p:txBody>
      </p:sp>
    </p:spTree>
    <p:extLst>
      <p:ext uri="{BB962C8B-B14F-4D97-AF65-F5344CB8AC3E}">
        <p14:creationId xmlns:p14="http://schemas.microsoft.com/office/powerpoint/2010/main" val="2579173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There are 5 parts to this </a:t>
            </a:r>
          </a:p>
          <a:p>
            <a:pPr marL="228600" indent="-228600">
              <a:buAutoNum type="arabicParenR"/>
            </a:pPr>
            <a:r>
              <a:rPr lang="en-US" dirty="0"/>
              <a:t>Extracting the date components to set the path </a:t>
            </a:r>
          </a:p>
          <a:p>
            <a:pPr marL="228600" indent="-228600">
              <a:buAutoNum type="arabicParenR"/>
            </a:pPr>
            <a:r>
              <a:rPr lang="en-US" dirty="0"/>
              <a:t>Setting the paths for the various files </a:t>
            </a:r>
            <a:r>
              <a:rPr lang="en-US" dirty="0" err="1"/>
              <a:t>ie</a:t>
            </a:r>
            <a:r>
              <a:rPr lang="en-US" dirty="0"/>
              <a:t> the instrument path , equity path and the currency path.</a:t>
            </a:r>
          </a:p>
          <a:p>
            <a:pPr marL="228600" indent="-228600">
              <a:buAutoNum type="arabicParenR"/>
            </a:pPr>
            <a:r>
              <a:rPr lang="en-US" dirty="0"/>
              <a:t>Getting the Metadata of all of the paths ,   this is just a decision , does something exist there , has it been dropped</a:t>
            </a:r>
          </a:p>
          <a:p>
            <a:pPr marL="228600" indent="-228600">
              <a:buAutoNum type="arabicParenR"/>
            </a:pPr>
            <a:r>
              <a:rPr lang="en-US" dirty="0"/>
              <a:t>Setting a variable (Boolean) to capture the exists or not for each file required.</a:t>
            </a:r>
          </a:p>
          <a:p>
            <a:pPr marL="228600" indent="-228600">
              <a:buAutoNum type="arabicParenR"/>
            </a:pPr>
            <a:r>
              <a:rPr lang="en-US" dirty="0"/>
              <a:t>Set the file count , for a </a:t>
            </a:r>
            <a:r>
              <a:rPr lang="en-US" dirty="0" err="1"/>
              <a:t>futher</a:t>
            </a:r>
            <a:r>
              <a:rPr lang="en-US" dirty="0"/>
              <a:t> if Block.</a:t>
            </a:r>
          </a:p>
          <a:p>
            <a:pPr marL="228600" indent="-228600">
              <a:buAutoNum type="arabicParenR"/>
            </a:pPr>
            <a:r>
              <a:rPr lang="en-US" dirty="0"/>
              <a:t>Note: It is envisaged that all of the above will go into one invoke block , to simplify the flow. The input will be the date and the </a:t>
            </a:r>
            <a:r>
              <a:rPr lang="en-US" dirty="0" err="1"/>
              <a:t>ouput</a:t>
            </a:r>
            <a:r>
              <a:rPr lang="en-US" dirty="0"/>
              <a:t> </a:t>
            </a:r>
            <a:r>
              <a:rPr lang="en-US" dirty="0" err="1"/>
              <a:t>wil</a:t>
            </a:r>
            <a:r>
              <a:rPr lang="en-US" dirty="0"/>
              <a:t> be the file count.</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28</a:t>
            </a:fld>
            <a:endParaRPr lang="en-ZA"/>
          </a:p>
        </p:txBody>
      </p:sp>
    </p:spTree>
    <p:extLst>
      <p:ext uri="{BB962C8B-B14F-4D97-AF65-F5344CB8AC3E}">
        <p14:creationId xmlns:p14="http://schemas.microsoft.com/office/powerpoint/2010/main" val="3484474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We extract the last parts of the path checker </a:t>
            </a:r>
            <a:r>
              <a:rPr lang="en-US" dirty="0" err="1"/>
              <a:t>ie</a:t>
            </a:r>
            <a:r>
              <a:rPr lang="en-US" dirty="0"/>
              <a:t> the year , month and say </a:t>
            </a:r>
          </a:p>
          <a:p>
            <a:pPr marL="228600" indent="-228600">
              <a:buAutoNum type="arabicParenR"/>
            </a:pPr>
            <a:r>
              <a:rPr lang="en-US" dirty="0"/>
              <a:t>See the substring calculations, component settings and the calculation below.</a:t>
            </a:r>
          </a:p>
          <a:p>
            <a:pPr marL="228600" indent="-228600">
              <a:buAutoNum type="arabicParenR"/>
            </a:pPr>
            <a:r>
              <a:rPr lang="en-US" dirty="0"/>
              <a:t>Target Date is the set output of set variable </a:t>
            </a:r>
          </a:p>
          <a:p>
            <a:pPr marL="228600" indent="-228600">
              <a:buAutoNum type="arabicParenR"/>
            </a:pPr>
            <a:r>
              <a:rPr lang="en-US" dirty="0"/>
              <a:t>The full date is actually the folder the file sits in.. Ie the final folder.</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29</a:t>
            </a:fld>
            <a:endParaRPr lang="en-ZA"/>
          </a:p>
        </p:txBody>
      </p:sp>
    </p:spTree>
    <p:extLst>
      <p:ext uri="{BB962C8B-B14F-4D97-AF65-F5344CB8AC3E}">
        <p14:creationId xmlns:p14="http://schemas.microsoft.com/office/powerpoint/2010/main" val="331382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For each one set the equation to get the path from the input Variables  of the main pipeline , they are set in the previous part of the file checker ( Set Variable </a:t>
            </a:r>
            <a:r>
              <a:rPr lang="en-US" dirty="0" err="1"/>
              <a:t>Targetpathhxxx</a:t>
            </a:r>
            <a:r>
              <a:rPr lang="en-US" dirty="0"/>
              <a:t>). </a:t>
            </a:r>
          </a:p>
          <a:p>
            <a:pPr marL="228600" indent="-228600">
              <a:buAutoNum type="arabicParenR"/>
            </a:pPr>
            <a:r>
              <a:rPr lang="en-US" dirty="0"/>
              <a:t>See that the file path settings is to get this variable that has been concatenated to provide the path. See above , its dynamic var setting </a:t>
            </a:r>
          </a:p>
          <a:p>
            <a:pPr marL="228600" indent="-228600">
              <a:buAutoNum type="arabicParenR"/>
            </a:pPr>
            <a:r>
              <a:rPr lang="en-US" dirty="0"/>
              <a:t>Each </a:t>
            </a:r>
            <a:r>
              <a:rPr lang="en-US" dirty="0" err="1"/>
              <a:t>GetMeta</a:t>
            </a:r>
            <a:r>
              <a:rPr lang="en-US" dirty="0"/>
              <a:t> gets the path for its file and then , gets the Exists Argument, from the Get Meta choices </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31</a:t>
            </a:fld>
            <a:endParaRPr lang="en-ZA"/>
          </a:p>
        </p:txBody>
      </p:sp>
    </p:spTree>
    <p:extLst>
      <p:ext uri="{BB962C8B-B14F-4D97-AF65-F5344CB8AC3E}">
        <p14:creationId xmlns:p14="http://schemas.microsoft.com/office/powerpoint/2010/main" val="6993428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The variables are </a:t>
            </a:r>
            <a:r>
              <a:rPr lang="en-US" dirty="0" err="1"/>
              <a:t>InstrFolderExists</a:t>
            </a:r>
            <a:r>
              <a:rPr lang="en-US" dirty="0"/>
              <a:t>  - For the Instrument Being </a:t>
            </a:r>
            <a:r>
              <a:rPr lang="en-US" dirty="0" err="1"/>
              <a:t>Backtested</a:t>
            </a:r>
            <a:r>
              <a:rPr lang="en-US" dirty="0"/>
              <a:t> </a:t>
            </a:r>
          </a:p>
          <a:p>
            <a:pPr marL="228600" indent="-228600">
              <a:buAutoNum type="arabicParenR"/>
            </a:pPr>
            <a:r>
              <a:rPr lang="en-US" dirty="0"/>
              <a:t>Currency Folder Exists – For the Currency File</a:t>
            </a:r>
          </a:p>
          <a:p>
            <a:pPr marL="228600" indent="-228600">
              <a:buAutoNum type="arabicParenR"/>
            </a:pPr>
            <a:r>
              <a:rPr lang="en-US" dirty="0"/>
              <a:t>Equity Folder Exists – For the Equity positions File</a:t>
            </a:r>
          </a:p>
          <a:p>
            <a:pPr marL="228600" indent="-228600">
              <a:buAutoNum type="arabicParenR"/>
            </a:pPr>
            <a:r>
              <a:rPr lang="en-US" b="1" dirty="0">
                <a:solidFill>
                  <a:srgbClr val="FF0000"/>
                </a:solidFill>
              </a:rPr>
              <a:t>NB: If the folder exists so does the file , their may be corrupt files</a:t>
            </a:r>
          </a:p>
          <a:p>
            <a:pPr marL="0" indent="0">
              <a:buNone/>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32</a:t>
            </a:fld>
            <a:endParaRPr lang="en-ZA"/>
          </a:p>
        </p:txBody>
      </p:sp>
    </p:spTree>
    <p:extLst>
      <p:ext uri="{BB962C8B-B14F-4D97-AF65-F5344CB8AC3E}">
        <p14:creationId xmlns:p14="http://schemas.microsoft.com/office/powerpoint/2010/main" val="32509947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the number of files that exist</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33</a:t>
            </a:fld>
            <a:endParaRPr lang="en-ZA"/>
          </a:p>
        </p:txBody>
      </p:sp>
    </p:spTree>
    <p:extLst>
      <p:ext uri="{BB962C8B-B14F-4D97-AF65-F5344CB8AC3E}">
        <p14:creationId xmlns:p14="http://schemas.microsoft.com/office/powerpoint/2010/main" val="747618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we have to separate out the activities of </a:t>
            </a:r>
            <a:r>
              <a:rPr lang="en-US" dirty="0" err="1"/>
              <a:t>wait..describes</a:t>
            </a:r>
            <a:r>
              <a:rPr lang="en-US" dirty="0"/>
              <a:t> success or failure to see the </a:t>
            </a:r>
            <a:r>
              <a:rPr lang="en-US"/>
              <a:t>decision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34</a:t>
            </a:fld>
            <a:endParaRPr lang="en-ZA"/>
          </a:p>
        </p:txBody>
      </p:sp>
    </p:spTree>
    <p:extLst>
      <p:ext uri="{BB962C8B-B14F-4D97-AF65-F5344CB8AC3E}">
        <p14:creationId xmlns:p14="http://schemas.microsoft.com/office/powerpoint/2010/main" val="25703244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37</a:t>
            </a:fld>
            <a:endParaRPr lang="en-ZA"/>
          </a:p>
        </p:txBody>
      </p:sp>
    </p:spTree>
    <p:extLst>
      <p:ext uri="{BB962C8B-B14F-4D97-AF65-F5344CB8AC3E}">
        <p14:creationId xmlns:p14="http://schemas.microsoft.com/office/powerpoint/2010/main" val="7206025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We now include a desired start date rather than an offset , which requires now the input date and a </a:t>
            </a:r>
            <a:r>
              <a:rPr lang="en-US" dirty="0" err="1"/>
              <a:t>setr</a:t>
            </a:r>
            <a:r>
              <a:rPr lang="en-US" dirty="0"/>
              <a:t> variable to calculate the offset </a:t>
            </a:r>
          </a:p>
          <a:p>
            <a:pPr marL="228600" indent="-228600">
              <a:buAutoNum type="arabicParenR"/>
            </a:pPr>
            <a:r>
              <a:rPr lang="en-US" dirty="0"/>
              <a:t>We have a working version of this in an example pipeline Parameter Tests , shown above , with the analysis built in ..we are to copy the offset block and insert it </a:t>
            </a:r>
          </a:p>
          <a:p>
            <a:pPr marL="228600" indent="-228600">
              <a:buAutoNum type="arabicParenR"/>
            </a:pPr>
            <a:r>
              <a:rPr lang="en-US" dirty="0"/>
              <a:t>It requires the start date as an in put and the offset to be calculated , so it will affect 32 blocks , the </a:t>
            </a:r>
            <a:r>
              <a:rPr lang="en-US" dirty="0" err="1"/>
              <a:t>offser</a:t>
            </a:r>
            <a:r>
              <a:rPr lang="en-US" dirty="0"/>
              <a:t> block and the </a:t>
            </a:r>
            <a:r>
              <a:rPr lang="en-US" dirty="0" err="1"/>
              <a:t>setAny</a:t>
            </a:r>
            <a:r>
              <a:rPr lang="en-US" dirty="0"/>
              <a:t> Date Block .</a:t>
            </a:r>
          </a:p>
          <a:p>
            <a:pPr marL="228600" indent="-228600">
              <a:buAutoNum type="arabicParenR"/>
            </a:pPr>
            <a:r>
              <a:rPr lang="en-US" dirty="0"/>
              <a:t>We look at the offset block first , note the dynamic expression …</a:t>
            </a:r>
            <a:r>
              <a:rPr lang="en-US" dirty="0" err="1"/>
              <a:t>Test_Start_Date</a:t>
            </a:r>
            <a:r>
              <a:rPr lang="en-US" dirty="0"/>
              <a:t> is a </a:t>
            </a:r>
            <a:r>
              <a:rPr lang="en-US" dirty="0" err="1"/>
              <a:t>Varaible</a:t>
            </a:r>
            <a:r>
              <a:rPr lang="en-US" dirty="0"/>
              <a:t> , and the output of this block is now called Offset , remove this as a variable in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38</a:t>
            </a:fld>
            <a:endParaRPr lang="en-ZA"/>
          </a:p>
        </p:txBody>
      </p:sp>
    </p:spTree>
    <p:extLst>
      <p:ext uri="{BB962C8B-B14F-4D97-AF65-F5344CB8AC3E}">
        <p14:creationId xmlns:p14="http://schemas.microsoft.com/office/powerpoint/2010/main" val="21733226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any date now takes as input the offset , and see how it now calculates the date from the offset ,,</a:t>
            </a:r>
          </a:p>
          <a:p>
            <a:r>
              <a:rPr lang="en-US" dirty="0"/>
              <a:t>Iterations block should not change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39</a:t>
            </a:fld>
            <a:endParaRPr lang="en-ZA"/>
          </a:p>
        </p:txBody>
      </p:sp>
    </p:spTree>
    <p:extLst>
      <p:ext uri="{BB962C8B-B14F-4D97-AF65-F5344CB8AC3E}">
        <p14:creationId xmlns:p14="http://schemas.microsoft.com/office/powerpoint/2010/main" val="1861919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We added the offset block so that we can fill in a </a:t>
            </a:r>
            <a:r>
              <a:rPr lang="en-US" dirty="0" err="1"/>
              <a:t>Target_Date</a:t>
            </a:r>
            <a:r>
              <a:rPr lang="en-US" dirty="0"/>
              <a:t> , so only 2 blocks are affected relative to the pipeline originally </a:t>
            </a:r>
            <a:r>
              <a:rPr lang="en-US" dirty="0" err="1"/>
              <a:t>ie</a:t>
            </a:r>
            <a:r>
              <a:rPr lang="en-US" dirty="0"/>
              <a:t> </a:t>
            </a:r>
          </a:p>
          <a:p>
            <a:pPr marL="228600" indent="-228600">
              <a:buAutoNum type="arabicParenR"/>
            </a:pPr>
            <a:r>
              <a:rPr lang="en-US" dirty="0" err="1"/>
              <a:t>Pl_Simulate_Date_File_Checker</a:t>
            </a:r>
            <a:r>
              <a:rPr lang="en-US" dirty="0"/>
              <a:t>, so only those blocks are highlighted here </a:t>
            </a:r>
          </a:p>
          <a:p>
            <a:pPr marL="228600" indent="-228600">
              <a:buAutoNum type="arabicParenR"/>
            </a:pPr>
            <a:r>
              <a:rPr lang="en-US" dirty="0"/>
              <a:t>The Above shows the whole stream</a:t>
            </a:r>
          </a:p>
          <a:p>
            <a:pPr marL="228600" indent="-228600">
              <a:buAutoNum type="arabicParenR"/>
            </a:pPr>
            <a:endParaRPr lang="en-US" dirty="0"/>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40</a:t>
            </a:fld>
            <a:endParaRPr lang="en-ZA"/>
          </a:p>
        </p:txBody>
      </p:sp>
    </p:spTree>
    <p:extLst>
      <p:ext uri="{BB962C8B-B14F-4D97-AF65-F5344CB8AC3E}">
        <p14:creationId xmlns:p14="http://schemas.microsoft.com/office/powerpoint/2010/main" val="42442236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you now have an input variable Test Start Date , this is used to set the </a:t>
            </a:r>
            <a:r>
              <a:rPr lang="en-US" dirty="0" err="1"/>
              <a:t>initiall</a:t>
            </a:r>
            <a:r>
              <a:rPr lang="en-US" dirty="0"/>
              <a:t> date to what you want by calculating an offset from the actual trigger time of the run , as the trigger time is today , So it runs today but uses historic dates.</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41</a:t>
            </a:fld>
            <a:endParaRPr lang="en-ZA"/>
          </a:p>
        </p:txBody>
      </p:sp>
    </p:spTree>
    <p:extLst>
      <p:ext uri="{BB962C8B-B14F-4D97-AF65-F5344CB8AC3E}">
        <p14:creationId xmlns:p14="http://schemas.microsoft.com/office/powerpoint/2010/main" val="29266338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time 11:20 today </a:t>
            </a:r>
          </a:p>
          <a:p>
            <a:r>
              <a:rPr lang="en-US" dirty="0"/>
              <a:t>Delta 5 mins </a:t>
            </a:r>
          </a:p>
          <a:p>
            <a:r>
              <a:rPr lang="en-US" dirty="0" err="1"/>
              <a:t>Test_Start_Date</a:t>
            </a:r>
            <a:r>
              <a:rPr lang="en-US" dirty="0"/>
              <a:t> 20250804</a:t>
            </a:r>
          </a:p>
          <a:p>
            <a:r>
              <a:rPr lang="en-US" dirty="0"/>
              <a:t>Set the schedule for 11:20 to 11:32..for 3 dates </a:t>
            </a:r>
          </a:p>
          <a:p>
            <a:r>
              <a:rPr lang="en-US" dirty="0" err="1"/>
              <a:t>Pipelineinterval</a:t>
            </a:r>
            <a:r>
              <a:rPr lang="en-US" dirty="0"/>
              <a:t> has to be 10 minutes , between iterations ,</a:t>
            </a:r>
          </a:p>
          <a:p>
            <a:r>
              <a:rPr lang="en-US" dirty="0"/>
              <a:t>See results above </a:t>
            </a:r>
          </a:p>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44</a:t>
            </a:fld>
            <a:endParaRPr lang="en-ZA"/>
          </a:p>
        </p:txBody>
      </p:sp>
    </p:spTree>
    <p:extLst>
      <p:ext uri="{BB962C8B-B14F-4D97-AF65-F5344CB8AC3E}">
        <p14:creationId xmlns:p14="http://schemas.microsoft.com/office/powerpoint/2010/main" val="37226193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other people running </a:t>
            </a:r>
            <a:r>
              <a:rPr lang="en-US" dirty="0" err="1"/>
              <a:t>cfoncurrently</a:t>
            </a:r>
            <a:r>
              <a:rPr lang="en-US" dirty="0"/>
              <a:t> on our SKU , affected performance , (~ 13 minutes) . This </a:t>
            </a:r>
            <a:r>
              <a:rPr lang="en-US" dirty="0" err="1"/>
              <a:t>resukted</a:t>
            </a:r>
            <a:r>
              <a:rPr lang="en-US" dirty="0"/>
              <a:t> in failure as interval was set at 10minutes.</a:t>
            </a:r>
          </a:p>
          <a:p>
            <a:r>
              <a:rPr lang="en-US" dirty="0"/>
              <a:t>After checking for no simultaneous usage , duration was 7 minutes, as in this last run , hence 10 minutes was ok.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45</a:t>
            </a:fld>
            <a:endParaRPr lang="en-ZA"/>
          </a:p>
        </p:txBody>
      </p:sp>
    </p:spTree>
    <p:extLst>
      <p:ext uri="{BB962C8B-B14F-4D97-AF65-F5344CB8AC3E}">
        <p14:creationId xmlns:p14="http://schemas.microsoft.com/office/powerpoint/2010/main" val="34065760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The whole pipeline is shown above , the </a:t>
            </a:r>
            <a:r>
              <a:rPr lang="en-US" dirty="0" err="1"/>
              <a:t>bloch</a:t>
            </a:r>
            <a:r>
              <a:rPr lang="en-US" dirty="0"/>
              <a:t> requiring change is </a:t>
            </a:r>
            <a:r>
              <a:rPr lang="en-US" dirty="0" err="1"/>
              <a:t>high;lighted</a:t>
            </a:r>
            <a:r>
              <a:rPr lang="en-US" dirty="0"/>
              <a:t> and </a:t>
            </a:r>
            <a:r>
              <a:rPr lang="en-US" dirty="0" err="1"/>
              <a:t>wil</a:t>
            </a:r>
            <a:r>
              <a:rPr lang="en-US" dirty="0"/>
              <a:t> be discussed overleaf.  Being the Invoke Pipeline block in the If condition Block. </a:t>
            </a:r>
          </a:p>
          <a:p>
            <a:pPr marL="228600" indent="-228600">
              <a:buAutoNum type="arabicParenR"/>
            </a:pPr>
            <a:r>
              <a:rPr lang="en-US" dirty="0"/>
              <a:t>The File checker component has one path for each file , and there are 3 in this use case of </a:t>
            </a:r>
            <a:r>
              <a:rPr lang="en-US" dirty="0" err="1"/>
              <a:t>Backtesting</a:t>
            </a:r>
            <a:r>
              <a:rPr lang="en-US" dirty="0"/>
              <a:t> Client.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47</a:t>
            </a:fld>
            <a:endParaRPr lang="en-ZA"/>
          </a:p>
        </p:txBody>
      </p:sp>
    </p:spTree>
    <p:extLst>
      <p:ext uri="{BB962C8B-B14F-4D97-AF65-F5344CB8AC3E}">
        <p14:creationId xmlns:p14="http://schemas.microsoft.com/office/powerpoint/2010/main" val="26382903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f we open the If condition Block er see in the activities , the expression to check the count against 3 (this should become a variable or parameter )</a:t>
            </a:r>
          </a:p>
          <a:p>
            <a:pPr marL="228600" indent="-228600">
              <a:buAutoNum type="arabicParenR"/>
            </a:pPr>
            <a:r>
              <a:rPr lang="en-US" dirty="0"/>
              <a:t>We have added the Invoke Child Block inside the true path , </a:t>
            </a:r>
          </a:p>
          <a:p>
            <a:pPr marL="228600" indent="-228600">
              <a:buAutoNum type="arabicParenR"/>
            </a:pPr>
            <a:r>
              <a:rPr lang="en-US" dirty="0"/>
              <a:t>We open the true side to insert that block there by pressing on the pencil on the right of the screen .. To the right of Activity at the bottom part , see overleaf </a:t>
            </a:r>
          </a:p>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48</a:t>
            </a:fld>
            <a:endParaRPr lang="en-ZA"/>
          </a:p>
        </p:txBody>
      </p:sp>
    </p:spTree>
    <p:extLst>
      <p:ext uri="{BB962C8B-B14F-4D97-AF65-F5344CB8AC3E}">
        <p14:creationId xmlns:p14="http://schemas.microsoft.com/office/powerpoint/2010/main" val="10617645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In the true part we have 3 blocks , the last of which is the Invoke Child Pipeline </a:t>
            </a:r>
          </a:p>
          <a:p>
            <a:pPr marL="228600" indent="-228600">
              <a:buAutoNum type="arabicParenR"/>
            </a:pPr>
            <a:r>
              <a:rPr lang="en-US" dirty="0"/>
              <a:t>Notice in the settings where we set the pipeline , and then especially the target Date , this is the parameter that is expected by the Notebooks.</a:t>
            </a:r>
          </a:p>
          <a:p>
            <a:pPr marL="228600" indent="-228600">
              <a:buAutoNum type="arabicParenR"/>
            </a:pPr>
            <a:r>
              <a:rPr lang="en-US" dirty="0"/>
              <a:t>But notice @variables(Target Date) , dynamic expression … we are in the main pipeline and it come from the Set Date Variable block , hence it’s a variable at this level. </a:t>
            </a:r>
          </a:p>
          <a:p>
            <a:pPr marL="228600" indent="-228600">
              <a:buAutoNum type="arabicParenR"/>
            </a:pPr>
            <a:r>
              <a:rPr lang="en-US" dirty="0"/>
              <a:t>Now on the right of  page we go into 1 level down </a:t>
            </a:r>
            <a:r>
              <a:rPr lang="en-US" dirty="0" err="1"/>
              <a:t>ie</a:t>
            </a:r>
            <a:r>
              <a:rPr lang="en-US" dirty="0"/>
              <a:t> the child </a:t>
            </a:r>
            <a:r>
              <a:rPr lang="en-US" dirty="0" err="1"/>
              <a:t>pipelinne</a:t>
            </a:r>
            <a:r>
              <a:rPr lang="en-US" dirty="0"/>
              <a:t> , referred to in the Invoke Block.</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dirty="0"/>
              <a:t>Notice its now captured as a parameter, </a:t>
            </a:r>
            <a:r>
              <a:rPr lang="en-US" dirty="0" err="1"/>
              <a:t>ie</a:t>
            </a:r>
            <a:r>
              <a:rPr lang="en-US" dirty="0"/>
              <a:t> </a:t>
            </a:r>
            <a:r>
              <a:rPr lang="en-ZA" sz="1200" b="0" kern="1200" dirty="0">
                <a:solidFill>
                  <a:schemeClr val="tx1"/>
                </a:solidFill>
                <a:effectLst/>
                <a:latin typeface="+mn-lt"/>
                <a:ea typeface="+mn-ea"/>
                <a:cs typeface="+mn-cs"/>
              </a:rPr>
              <a:t>@pipeline().parameters.Target_Date</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ZA" sz="1200" b="0" kern="1200" dirty="0">
                <a:solidFill>
                  <a:schemeClr val="tx1"/>
                </a:solidFill>
                <a:effectLst/>
                <a:latin typeface="+mn-lt"/>
                <a:ea typeface="+mn-ea"/>
                <a:cs typeface="+mn-cs"/>
              </a:rPr>
              <a:t>Each of the Blocks settings is identical except for the Notebooks which are Raw To Bronze , Bronze to Silve and Siler to gold respectively</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ZA" sz="1200" b="0" kern="1200" dirty="0">
                <a:solidFill>
                  <a:schemeClr val="tx1"/>
                </a:solidFill>
                <a:effectLst/>
                <a:latin typeface="+mn-lt"/>
                <a:ea typeface="+mn-ea"/>
                <a:cs typeface="+mn-cs"/>
              </a:rPr>
              <a:t>This child pipeline is the existing child pipeline we have used before in the parent pipeline when initially testing the invoke </a:t>
            </a:r>
            <a:r>
              <a:rPr lang="en-ZA" sz="1200" b="0" kern="1200" dirty="0" err="1">
                <a:solidFill>
                  <a:schemeClr val="tx1"/>
                </a:solidFill>
                <a:effectLst/>
                <a:latin typeface="+mn-lt"/>
                <a:ea typeface="+mn-ea"/>
                <a:cs typeface="+mn-cs"/>
              </a:rPr>
              <a:t>blocfk</a:t>
            </a:r>
            <a:r>
              <a:rPr lang="en-ZA" sz="1200" b="0" kern="1200" dirty="0">
                <a:solidFill>
                  <a:schemeClr val="tx1"/>
                </a:solidFill>
                <a:effectLst/>
                <a:latin typeface="+mn-lt"/>
                <a:ea typeface="+mn-ea"/>
                <a:cs typeface="+mn-cs"/>
              </a:rPr>
              <a:t>!.</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49</a:t>
            </a:fld>
            <a:endParaRPr lang="en-ZA"/>
          </a:p>
        </p:txBody>
      </p:sp>
    </p:spTree>
    <p:extLst>
      <p:ext uri="{BB962C8B-B14F-4D97-AF65-F5344CB8AC3E}">
        <p14:creationId xmlns:p14="http://schemas.microsoft.com/office/powerpoint/2010/main" val="10342400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the </a:t>
            </a:r>
            <a:r>
              <a:rPr lang="en-US" dirty="0" err="1"/>
              <a:t>Chold</a:t>
            </a:r>
            <a:r>
              <a:rPr lang="en-US" dirty="0"/>
              <a:t> Pipeline is Contract now , on the right.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50</a:t>
            </a:fld>
            <a:endParaRPr lang="en-ZA"/>
          </a:p>
        </p:txBody>
      </p:sp>
    </p:spTree>
    <p:extLst>
      <p:ext uri="{BB962C8B-B14F-4D97-AF65-F5344CB8AC3E}">
        <p14:creationId xmlns:p14="http://schemas.microsoft.com/office/powerpoint/2010/main" val="5077960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The above shows the entire process ,</a:t>
            </a:r>
          </a:p>
          <a:p>
            <a:pPr marL="228600" indent="-228600">
              <a:buAutoNum type="arabicParenR"/>
            </a:pPr>
            <a:r>
              <a:rPr lang="en-US" dirty="0"/>
              <a:t>The difference here is we have to get 5 files and the first one is not date related Ie Calendar dates , dates were therefore  taken out of the path </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52</a:t>
            </a:fld>
            <a:endParaRPr lang="en-ZA"/>
          </a:p>
        </p:txBody>
      </p:sp>
    </p:spTree>
    <p:extLst>
      <p:ext uri="{BB962C8B-B14F-4D97-AF65-F5344CB8AC3E}">
        <p14:creationId xmlns:p14="http://schemas.microsoft.com/office/powerpoint/2010/main" val="3888564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Date 2050909 and message received of missing file</a:t>
            </a:r>
          </a:p>
          <a:p>
            <a:r>
              <a:rPr lang="en-US" dirty="0"/>
              <a:t>Now test for 20250910.</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53</a:t>
            </a:fld>
            <a:endParaRPr lang="en-ZA"/>
          </a:p>
        </p:txBody>
      </p:sp>
    </p:spTree>
    <p:extLst>
      <p:ext uri="{BB962C8B-B14F-4D97-AF65-F5344CB8AC3E}">
        <p14:creationId xmlns:p14="http://schemas.microsoft.com/office/powerpoint/2010/main" val="866536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Pipeline Trigger </a:t>
            </a:r>
          </a:p>
          <a:p>
            <a:pPr marL="228600" indent="-228600">
              <a:buAutoNum type="arabicParenR"/>
            </a:pPr>
            <a:r>
              <a:rPr lang="en-US" dirty="0"/>
              <a:t>Invoke Block</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56</a:t>
            </a:fld>
            <a:endParaRPr lang="en-ZA"/>
          </a:p>
        </p:txBody>
      </p:sp>
    </p:spTree>
    <p:extLst>
      <p:ext uri="{BB962C8B-B14F-4D97-AF65-F5344CB8AC3E}">
        <p14:creationId xmlns:p14="http://schemas.microsoft.com/office/powerpoint/2010/main" val="13786696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Calculate Offset </a:t>
            </a:r>
          </a:p>
          <a:p>
            <a:pPr marL="228600" indent="-228600">
              <a:buAutoNum type="arabicParenR"/>
            </a:pPr>
            <a:r>
              <a:rPr lang="en-US" dirty="0"/>
              <a:t>Set Any Date</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57</a:t>
            </a:fld>
            <a:endParaRPr lang="en-ZA"/>
          </a:p>
        </p:txBody>
      </p:sp>
    </p:spTree>
    <p:extLst>
      <p:ext uri="{BB962C8B-B14F-4D97-AF65-F5344CB8AC3E}">
        <p14:creationId xmlns:p14="http://schemas.microsoft.com/office/powerpoint/2010/main" val="16130932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58</a:t>
            </a:fld>
            <a:endParaRPr lang="en-ZA"/>
          </a:p>
        </p:txBody>
      </p:sp>
    </p:spTree>
    <p:extLst>
      <p:ext uri="{BB962C8B-B14F-4D97-AF65-F5344CB8AC3E}">
        <p14:creationId xmlns:p14="http://schemas.microsoft.com/office/powerpoint/2010/main" val="20055475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how target date is captured as a parameter passed through from parent pipeline </a:t>
            </a:r>
          </a:p>
          <a:p>
            <a:r>
              <a:rPr lang="en-US" dirty="0"/>
              <a:t>Only 1 block raw to bronze is shown , the others are identical , except calling different notebook </a:t>
            </a:r>
            <a:r>
              <a:rPr lang="en-US" dirty="0" err="1"/>
              <a:t>ie</a:t>
            </a:r>
            <a:r>
              <a:rPr lang="en-US" dirty="0"/>
              <a:t> Bronze to Silver and silver to gold respectively</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69</a:t>
            </a:fld>
            <a:endParaRPr lang="en-ZA"/>
          </a:p>
        </p:txBody>
      </p:sp>
    </p:spTree>
    <p:extLst>
      <p:ext uri="{BB962C8B-B14F-4D97-AF65-F5344CB8AC3E}">
        <p14:creationId xmlns:p14="http://schemas.microsoft.com/office/powerpoint/2010/main" val="40977270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which files are missing go through each of the output of the exist blocks (5) in the pipeline run Output , and click on the output arrow , see which is true and which is </a:t>
            </a:r>
            <a:r>
              <a:rPr lang="en-US" dirty="0" err="1"/>
              <a:t>False..the</a:t>
            </a:r>
            <a:r>
              <a:rPr lang="en-US" dirty="0"/>
              <a:t> False tells which folder does not exist and that is the file that does not exist. You could </a:t>
            </a:r>
            <a:r>
              <a:rPr lang="en-US" dirty="0" err="1"/>
              <a:t>mofify</a:t>
            </a:r>
            <a:r>
              <a:rPr lang="en-US" dirty="0"/>
              <a:t> the message using multiple if statement statements.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70</a:t>
            </a:fld>
            <a:endParaRPr lang="en-ZA"/>
          </a:p>
        </p:txBody>
      </p:sp>
    </p:spTree>
    <p:extLst>
      <p:ext uri="{BB962C8B-B14F-4D97-AF65-F5344CB8AC3E}">
        <p14:creationId xmlns:p14="http://schemas.microsoft.com/office/powerpoint/2010/main" val="1373609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73</a:t>
            </a:fld>
            <a:endParaRPr lang="en-ZA"/>
          </a:p>
        </p:txBody>
      </p:sp>
    </p:spTree>
    <p:extLst>
      <p:ext uri="{BB962C8B-B14F-4D97-AF65-F5344CB8AC3E}">
        <p14:creationId xmlns:p14="http://schemas.microsoft.com/office/powerpoint/2010/main" val="19926220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74</a:t>
            </a:fld>
            <a:endParaRPr lang="en-ZA"/>
          </a:p>
        </p:txBody>
      </p:sp>
    </p:spTree>
    <p:extLst>
      <p:ext uri="{BB962C8B-B14F-4D97-AF65-F5344CB8AC3E}">
        <p14:creationId xmlns:p14="http://schemas.microsoft.com/office/powerpoint/2010/main" val="8622918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76</a:t>
            </a:fld>
            <a:endParaRPr lang="en-ZA"/>
          </a:p>
        </p:txBody>
      </p:sp>
    </p:spTree>
    <p:extLst>
      <p:ext uri="{BB962C8B-B14F-4D97-AF65-F5344CB8AC3E}">
        <p14:creationId xmlns:p14="http://schemas.microsoft.com/office/powerpoint/2010/main" val="38680747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1_) Note the time taken for the whole run </a:t>
            </a:r>
            <a:r>
              <a:rPr lang="en-US" dirty="0" err="1"/>
              <a:t>ie</a:t>
            </a:r>
            <a:r>
              <a:rPr lang="en-US" dirty="0"/>
              <a:t> ~9 minutes.</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77</a:t>
            </a:fld>
            <a:endParaRPr lang="en-ZA"/>
          </a:p>
        </p:txBody>
      </p:sp>
    </p:spTree>
    <p:extLst>
      <p:ext uri="{BB962C8B-B14F-4D97-AF65-F5344CB8AC3E}">
        <p14:creationId xmlns:p14="http://schemas.microsoft.com/office/powerpoint/2010/main" val="3662412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Child Working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78</a:t>
            </a:fld>
            <a:endParaRPr lang="en-ZA"/>
          </a:p>
        </p:txBody>
      </p:sp>
    </p:spTree>
    <p:extLst>
      <p:ext uri="{BB962C8B-B14F-4D97-AF65-F5344CB8AC3E}">
        <p14:creationId xmlns:p14="http://schemas.microsoft.com/office/powerpoint/2010/main" val="25927620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the main pipeline Working</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79</a:t>
            </a:fld>
            <a:endParaRPr lang="en-ZA"/>
          </a:p>
        </p:txBody>
      </p:sp>
    </p:spTree>
    <p:extLst>
      <p:ext uri="{BB962C8B-B14F-4D97-AF65-F5344CB8AC3E}">
        <p14:creationId xmlns:p14="http://schemas.microsoft.com/office/powerpoint/2010/main" val="3306054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Note that in the child pipeline above , the notebook wants a </a:t>
            </a:r>
            <a:r>
              <a:rPr lang="en-US" b="1" dirty="0">
                <a:solidFill>
                  <a:srgbClr val="FF0000"/>
                </a:solidFill>
              </a:rPr>
              <a:t>parameter</a:t>
            </a:r>
            <a:r>
              <a:rPr lang="en-US" dirty="0"/>
              <a:t>, see the settings for this pipeline above , not a variable .. Whereas when it was in the main pipeline (not as a child ), it was getting the variable directly from the Set variable block </a:t>
            </a:r>
          </a:p>
          <a:p>
            <a:pPr marL="228600" indent="-228600">
              <a:buAutoNum type="arabicParenR"/>
            </a:pPr>
            <a:r>
              <a:rPr lang="en-US" dirty="0"/>
              <a:t>Here the Invoke block .. See next page , gets the value from the set </a:t>
            </a:r>
            <a:r>
              <a:rPr lang="en-US" dirty="0" err="1"/>
              <a:t>variablke</a:t>
            </a:r>
            <a:r>
              <a:rPr lang="en-US" dirty="0"/>
              <a:t> block , and translates it through its base parameters , into a parameter for the </a:t>
            </a:r>
            <a:r>
              <a:rPr lang="en-US" dirty="0" err="1"/>
              <a:t>Ivoke</a:t>
            </a:r>
            <a:r>
              <a:rPr lang="en-US" dirty="0"/>
              <a:t> block. </a:t>
            </a:r>
          </a:p>
          <a:p>
            <a:pPr marL="228600" indent="-228600">
              <a:buAutoNum type="arabicParenR"/>
            </a:pPr>
            <a:r>
              <a:rPr lang="en-US" dirty="0" err="1"/>
              <a:t>pl_child</a:t>
            </a:r>
            <a:r>
              <a:rPr lang="en-US" dirty="0"/>
              <a:t> does  not have an output in its main screen , only in the Monitoring Hub , as shown above </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82</a:t>
            </a:fld>
            <a:endParaRPr lang="en-ZA"/>
          </a:p>
        </p:txBody>
      </p:sp>
    </p:spTree>
    <p:extLst>
      <p:ext uri="{BB962C8B-B14F-4D97-AF65-F5344CB8AC3E}">
        <p14:creationId xmlns:p14="http://schemas.microsoft.com/office/powerpoint/2010/main" val="14728314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it’s a variable in the main pipeline , the invoke block reads it as a variable , the children in the child pipeline read it as a parameter.</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83</a:t>
            </a:fld>
            <a:endParaRPr lang="en-ZA"/>
          </a:p>
        </p:txBody>
      </p:sp>
    </p:spTree>
    <p:extLst>
      <p:ext uri="{BB962C8B-B14F-4D97-AF65-F5344CB8AC3E}">
        <p14:creationId xmlns:p14="http://schemas.microsoft.com/office/powerpoint/2010/main" val="7753963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 Between the 3 Notebooks are the Medallion stage conversions. Raw to Bronze to Silver to gold.</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87</a:t>
            </a:fld>
            <a:endParaRPr lang="en-ZA"/>
          </a:p>
        </p:txBody>
      </p:sp>
    </p:spTree>
    <p:extLst>
      <p:ext uri="{BB962C8B-B14F-4D97-AF65-F5344CB8AC3E}">
        <p14:creationId xmlns:p14="http://schemas.microsoft.com/office/powerpoint/2010/main" val="23410849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97</a:t>
            </a:fld>
            <a:endParaRPr lang="en-ZA"/>
          </a:p>
        </p:txBody>
      </p:sp>
    </p:spTree>
    <p:extLst>
      <p:ext uri="{BB962C8B-B14F-4D97-AF65-F5344CB8AC3E}">
        <p14:creationId xmlns:p14="http://schemas.microsoft.com/office/powerpoint/2010/main" val="14552603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Time Delta is 10 minutes: same as Schedule Delta</a:t>
            </a:r>
            <a:endParaRPr lang="en-ZA" dirty="0"/>
          </a:p>
        </p:txBody>
      </p:sp>
      <p:sp>
        <p:nvSpPr>
          <p:cNvPr id="4" name="Slide Number Placeholder 3"/>
          <p:cNvSpPr>
            <a:spLocks noGrp="1"/>
          </p:cNvSpPr>
          <p:nvPr>
            <p:ph type="sldNum" sz="quarter" idx="5"/>
          </p:nvPr>
        </p:nvSpPr>
        <p:spPr/>
        <p:txBody>
          <a:bodyPr/>
          <a:lstStyle/>
          <a:p>
            <a:fld id="{8E59DE89-288B-478B-B423-1A79DF90F1D9}" type="slidenum">
              <a:rPr lang="en-ZA" smtClean="0"/>
              <a:t>110</a:t>
            </a:fld>
            <a:endParaRPr lang="en-ZA"/>
          </a:p>
        </p:txBody>
      </p:sp>
    </p:spTree>
    <p:extLst>
      <p:ext uri="{BB962C8B-B14F-4D97-AF65-F5344CB8AC3E}">
        <p14:creationId xmlns:p14="http://schemas.microsoft.com/office/powerpoint/2010/main" val="1967257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6C67-70C1-89B2-678C-0E8320A6CA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28C8D44-1977-23A5-FFC2-FFE76BE644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EE54A33-729C-8227-64B5-DF19DA24DDC3}"/>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5" name="Footer Placeholder 4">
            <a:extLst>
              <a:ext uri="{FF2B5EF4-FFF2-40B4-BE49-F238E27FC236}">
                <a16:creationId xmlns:a16="http://schemas.microsoft.com/office/drawing/2014/main" id="{0A47AF90-4DED-214F-3FC0-ABBB168743A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8BCEF59-41B1-F4A8-8191-5686E0A260CB}"/>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679004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15E9-3634-2BAA-74BC-997FFC775EF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5C9DE79-9592-D96A-04B7-0AE3B97DB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6561B9F-8D72-8396-834A-A8A233B2FAF7}"/>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5" name="Footer Placeholder 4">
            <a:extLst>
              <a:ext uri="{FF2B5EF4-FFF2-40B4-BE49-F238E27FC236}">
                <a16:creationId xmlns:a16="http://schemas.microsoft.com/office/drawing/2014/main" id="{DF13F16D-9C6A-67A7-D6DD-DA73A151E48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0FAF06E-B2C9-3EA3-6BBD-A335F500D3DE}"/>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886524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890A-0683-B95F-533C-6117EC6CAD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6DFE6E4B-D7CB-1864-B78E-253710A8E1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38E8E3-3D0A-7B75-6F6E-77A43F40F8A0}"/>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5" name="Footer Placeholder 4">
            <a:extLst>
              <a:ext uri="{FF2B5EF4-FFF2-40B4-BE49-F238E27FC236}">
                <a16:creationId xmlns:a16="http://schemas.microsoft.com/office/drawing/2014/main" id="{0479B7DB-A8D9-EE2C-D8D7-075B8360D22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7F2001F-F5ED-4046-66D9-B1941852ADC7}"/>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2295901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7A6B6-8180-CB51-4D87-210FCA0FE57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89E29A0-2E4D-C365-1E3B-18E896D153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8C7C76BF-5819-231A-F1DC-BDF115F6BF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64436974-6CED-DDB2-35CB-2A6B718B3C79}"/>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6" name="Footer Placeholder 5">
            <a:extLst>
              <a:ext uri="{FF2B5EF4-FFF2-40B4-BE49-F238E27FC236}">
                <a16:creationId xmlns:a16="http://schemas.microsoft.com/office/drawing/2014/main" id="{AABB9DBB-E482-D9D2-E5D9-053FD1279FC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71EC9B6-1054-F7C4-5770-FA1913A38931}"/>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4096980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D8B2-A6E3-7E05-EFE4-0EC79A1BB5AD}"/>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21C022E-10CE-D3D3-1FE7-16A627378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4B5495-35BD-30B3-000D-69434A35AC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3B9B0DE1-4108-B613-BFE4-47256A7C0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F9162B-68B8-9B0C-EFAC-A2CF8A1B5B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5A778DE6-FB6E-8DCD-4A9F-5920A88CF337}"/>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8" name="Footer Placeholder 7">
            <a:extLst>
              <a:ext uri="{FF2B5EF4-FFF2-40B4-BE49-F238E27FC236}">
                <a16:creationId xmlns:a16="http://schemas.microsoft.com/office/drawing/2014/main" id="{DAC80E48-A52D-A460-5408-D4B5CAE36A99}"/>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D8132057-06E2-5BFC-9528-79FDA253C48C}"/>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2437087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9AA4-043E-F199-8685-49950649157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8BD8C81B-03DD-BF10-164C-9EA8FFFF538E}"/>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4" name="Footer Placeholder 3">
            <a:extLst>
              <a:ext uri="{FF2B5EF4-FFF2-40B4-BE49-F238E27FC236}">
                <a16:creationId xmlns:a16="http://schemas.microsoft.com/office/drawing/2014/main" id="{764259A8-B9F4-5E3D-D46E-57DDC7CD771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6EAF561F-5B79-BA04-F63D-F279505FB83B}"/>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3302120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154291-1585-FED0-31E0-89BA0376BC0A}"/>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3" name="Footer Placeholder 2">
            <a:extLst>
              <a:ext uri="{FF2B5EF4-FFF2-40B4-BE49-F238E27FC236}">
                <a16:creationId xmlns:a16="http://schemas.microsoft.com/office/drawing/2014/main" id="{1A54B672-0029-957B-EC29-F8BF8CB80502}"/>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6D7A267F-F888-C411-AA78-577AA6FD0821}"/>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1340910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8C3A-7F5B-FB91-D4EC-25AAC7361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8EB85FA5-8B55-B252-A9B1-FC1F280F3D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E21B687-CE91-C192-D0B9-7AD1E8F54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F33F0B-8108-DCBC-39BF-C9FA625B87A0}"/>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6" name="Footer Placeholder 5">
            <a:extLst>
              <a:ext uri="{FF2B5EF4-FFF2-40B4-BE49-F238E27FC236}">
                <a16:creationId xmlns:a16="http://schemas.microsoft.com/office/drawing/2014/main" id="{2E2C84B7-2FF7-ECE1-B54F-01CD8246CE1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C618795-130C-026F-271F-BDA3C1BD4D28}"/>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1547525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FF1E4-FBD1-9547-A79F-C5B1CC6DFF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810DB982-CA5E-EFCA-FE8E-977A2C677B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14DACD7A-1344-D004-AE7C-AA00BA882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7AC81-8DBE-8751-C9FC-F7D25A93AEDB}"/>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6" name="Footer Placeholder 5">
            <a:extLst>
              <a:ext uri="{FF2B5EF4-FFF2-40B4-BE49-F238E27FC236}">
                <a16:creationId xmlns:a16="http://schemas.microsoft.com/office/drawing/2014/main" id="{49394655-0FF2-707D-9553-1D5FF4E9948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1ECD43B-FE77-1ECB-AFBD-252CCD10013F}"/>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137009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CF11-2013-8EDE-5EC2-C4FE1C60E65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CD18464-0ADC-B385-D476-CD615E13E7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4081A83-47AF-4A11-B742-2C1F03468229}"/>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5" name="Footer Placeholder 4">
            <a:extLst>
              <a:ext uri="{FF2B5EF4-FFF2-40B4-BE49-F238E27FC236}">
                <a16:creationId xmlns:a16="http://schemas.microsoft.com/office/drawing/2014/main" id="{136AF35C-632B-AA76-9C01-352E762159B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7928ECE-FA9D-CC91-43E8-07B4B33615A7}"/>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3674304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B823F2-68BC-FBA1-2148-A6B80BEA1A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6E6EC56-EF57-1E8C-BBE9-06D3734F0F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3AACF32-0D3B-4BAA-75BD-42D9208D8E69}"/>
              </a:ext>
            </a:extLst>
          </p:cNvPr>
          <p:cNvSpPr>
            <a:spLocks noGrp="1"/>
          </p:cNvSpPr>
          <p:nvPr>
            <p:ph type="dt" sz="half" idx="10"/>
          </p:nvPr>
        </p:nvSpPr>
        <p:spPr/>
        <p:txBody>
          <a:bodyPr/>
          <a:lstStyle/>
          <a:p>
            <a:fld id="{291BECEA-4D4E-446B-A274-44078EC8CE93}" type="datetimeFigureOut">
              <a:rPr lang="en-ZA" smtClean="0"/>
              <a:t>2025/11/12</a:t>
            </a:fld>
            <a:endParaRPr lang="en-ZA"/>
          </a:p>
        </p:txBody>
      </p:sp>
      <p:sp>
        <p:nvSpPr>
          <p:cNvPr id="5" name="Footer Placeholder 4">
            <a:extLst>
              <a:ext uri="{FF2B5EF4-FFF2-40B4-BE49-F238E27FC236}">
                <a16:creationId xmlns:a16="http://schemas.microsoft.com/office/drawing/2014/main" id="{4234E8C1-08BA-75E4-9A1F-C933A7EDD7C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9667723-8A7E-10FD-A52C-B97F6B9A2750}"/>
              </a:ext>
            </a:extLst>
          </p:cNvPr>
          <p:cNvSpPr>
            <a:spLocks noGrp="1"/>
          </p:cNvSpPr>
          <p:nvPr>
            <p:ph type="sldNum" sz="quarter" idx="12"/>
          </p:nvPr>
        </p:nvSpPr>
        <p:spPr/>
        <p:txBody>
          <a:bodyPr/>
          <a:lstStyle/>
          <a:p>
            <a:fld id="{C56185A8-6413-4EE2-8B24-9B82C160E355}" type="slidenum">
              <a:rPr lang="en-ZA" smtClean="0"/>
              <a:t>‹#›</a:t>
            </a:fld>
            <a:endParaRPr lang="en-ZA"/>
          </a:p>
        </p:txBody>
      </p:sp>
    </p:spTree>
    <p:extLst>
      <p:ext uri="{BB962C8B-B14F-4D97-AF65-F5344CB8AC3E}">
        <p14:creationId xmlns:p14="http://schemas.microsoft.com/office/powerpoint/2010/main" val="851367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0A76D5-26D1-E497-FC12-6AAD55572B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BE816F6-77E5-74B2-B928-E6A24663E3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68E06B8-343F-B8DA-D54C-392BD11ED7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1BECEA-4D4E-446B-A274-44078EC8CE93}" type="datetimeFigureOut">
              <a:rPr lang="en-ZA" smtClean="0"/>
              <a:t>2025/11/12</a:t>
            </a:fld>
            <a:endParaRPr lang="en-ZA"/>
          </a:p>
        </p:txBody>
      </p:sp>
      <p:sp>
        <p:nvSpPr>
          <p:cNvPr id="5" name="Footer Placeholder 4">
            <a:extLst>
              <a:ext uri="{FF2B5EF4-FFF2-40B4-BE49-F238E27FC236}">
                <a16:creationId xmlns:a16="http://schemas.microsoft.com/office/drawing/2014/main" id="{1014710D-A0D7-EDDB-F79C-4BA5270CBD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6B66A59B-CE2D-C338-00BD-1AF2C27C8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6185A8-6413-4EE2-8B24-9B82C160E355}" type="slidenum">
              <a:rPr lang="en-ZA" smtClean="0"/>
              <a:t>‹#›</a:t>
            </a:fld>
            <a:endParaRPr lang="en-ZA"/>
          </a:p>
        </p:txBody>
      </p:sp>
    </p:spTree>
    <p:extLst>
      <p:ext uri="{BB962C8B-B14F-4D97-AF65-F5344CB8AC3E}">
        <p14:creationId xmlns:p14="http://schemas.microsoft.com/office/powerpoint/2010/main" val="202655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3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0.png"/></Relationships>
</file>

<file path=ppt/slides/_rels/slide3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4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5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5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5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29.png"/><Relationship Id="rId4" Type="http://schemas.openxmlformats.org/officeDocument/2006/relationships/image" Target="../media/image128.png"/></Relationships>
</file>

<file path=ppt/slides/_rels/slide5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6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5.png"/></Relationships>
</file>

<file path=ppt/slides/_rels/slide6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6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6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70.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xml"/><Relationship Id="rId5" Type="http://schemas.openxmlformats.org/officeDocument/2006/relationships/image" Target="../media/image167.png"/><Relationship Id="rId4" Type="http://schemas.openxmlformats.org/officeDocument/2006/relationships/image" Target="../media/image166.png"/></Relationships>
</file>

<file path=ppt/slides/_rels/slide81.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83.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175.png"/><Relationship Id="rId4" Type="http://schemas.openxmlformats.org/officeDocument/2006/relationships/image" Target="../media/image174.png"/></Relationships>
</file>

<file path=ppt/slides/_rels/slide84.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_rels/slide88.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image" Target="../media/image18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88.png"/><Relationship Id="rId7" Type="http://schemas.openxmlformats.org/officeDocument/2006/relationships/image" Target="../media/image192.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561BD-CA8C-DFEF-C784-3DAF85808127}"/>
              </a:ext>
            </a:extLst>
          </p:cNvPr>
          <p:cNvSpPr>
            <a:spLocks noGrp="1"/>
          </p:cNvSpPr>
          <p:nvPr>
            <p:ph type="ctrTitle"/>
          </p:nvPr>
        </p:nvSpPr>
        <p:spPr/>
        <p:txBody>
          <a:bodyPr/>
          <a:lstStyle/>
          <a:p>
            <a:r>
              <a:rPr lang="en-US" dirty="0" err="1"/>
              <a:t>PipelineDevForAutomation</a:t>
            </a:r>
            <a:endParaRPr lang="en-ZA" dirty="0"/>
          </a:p>
        </p:txBody>
      </p:sp>
      <p:sp>
        <p:nvSpPr>
          <p:cNvPr id="3" name="Subtitle 2">
            <a:extLst>
              <a:ext uri="{FF2B5EF4-FFF2-40B4-BE49-F238E27FC236}">
                <a16:creationId xmlns:a16="http://schemas.microsoft.com/office/drawing/2014/main" id="{0BCE79EC-AF9A-EFC3-C071-D6BE637A739D}"/>
              </a:ext>
            </a:extLst>
          </p:cNvPr>
          <p:cNvSpPr>
            <a:spLocks noGrp="1"/>
          </p:cNvSpPr>
          <p:nvPr>
            <p:ph type="subTitle" idx="1"/>
          </p:nvPr>
        </p:nvSpPr>
        <p:spPr/>
        <p:txBody>
          <a:bodyPr/>
          <a:lstStyle/>
          <a:p>
            <a:endParaRPr lang="en-ZA"/>
          </a:p>
        </p:txBody>
      </p:sp>
    </p:spTree>
    <p:extLst>
      <p:ext uri="{BB962C8B-B14F-4D97-AF65-F5344CB8AC3E}">
        <p14:creationId xmlns:p14="http://schemas.microsoft.com/office/powerpoint/2010/main" val="281659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ECFA7-5FB9-E624-3FA5-DB56D4005AF3}"/>
              </a:ext>
            </a:extLst>
          </p:cNvPr>
          <p:cNvSpPr>
            <a:spLocks noGrp="1"/>
          </p:cNvSpPr>
          <p:nvPr>
            <p:ph type="title"/>
          </p:nvPr>
        </p:nvSpPr>
        <p:spPr>
          <a:xfrm>
            <a:off x="628880" y="275422"/>
            <a:ext cx="10515600" cy="809339"/>
          </a:xfrm>
        </p:spPr>
        <p:txBody>
          <a:bodyPr/>
          <a:lstStyle/>
          <a:p>
            <a:r>
              <a:rPr lang="en-US" dirty="0"/>
              <a:t>pl__</a:t>
            </a:r>
            <a:r>
              <a:rPr lang="en-US" dirty="0" err="1"/>
              <a:t>Med_BT_Contract_SetVar</a:t>
            </a:r>
            <a:endParaRPr lang="en-ZA" dirty="0"/>
          </a:p>
        </p:txBody>
      </p:sp>
      <p:pic>
        <p:nvPicPr>
          <p:cNvPr id="5" name="Content Placeholder 4">
            <a:extLst>
              <a:ext uri="{FF2B5EF4-FFF2-40B4-BE49-F238E27FC236}">
                <a16:creationId xmlns:a16="http://schemas.microsoft.com/office/drawing/2014/main" id="{540DA391-7CF9-0EED-9060-0E50D60562CA}"/>
              </a:ext>
            </a:extLst>
          </p:cNvPr>
          <p:cNvPicPr>
            <a:picLocks noGrp="1" noChangeAspect="1"/>
          </p:cNvPicPr>
          <p:nvPr>
            <p:ph idx="1"/>
          </p:nvPr>
        </p:nvPicPr>
        <p:blipFill>
          <a:blip r:embed="rId3"/>
          <a:stretch>
            <a:fillRect/>
          </a:stretch>
        </p:blipFill>
        <p:spPr>
          <a:xfrm>
            <a:off x="628880" y="1550203"/>
            <a:ext cx="10323236" cy="4351338"/>
          </a:xfrm>
          <a:prstGeom prst="rect">
            <a:avLst/>
          </a:prstGeom>
          <a:ln w="28575">
            <a:solidFill>
              <a:schemeClr val="tx1"/>
            </a:solidFill>
          </a:ln>
        </p:spPr>
      </p:pic>
    </p:spTree>
    <p:extLst>
      <p:ext uri="{BB962C8B-B14F-4D97-AF65-F5344CB8AC3E}">
        <p14:creationId xmlns:p14="http://schemas.microsoft.com/office/powerpoint/2010/main" val="3516095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2711-2AB2-17E3-BC47-BED66F8C9175}"/>
              </a:ext>
            </a:extLst>
          </p:cNvPr>
          <p:cNvSpPr>
            <a:spLocks noGrp="1"/>
          </p:cNvSpPr>
          <p:nvPr>
            <p:ph type="title"/>
          </p:nvPr>
        </p:nvSpPr>
        <p:spPr>
          <a:xfrm>
            <a:off x="838200" y="365126"/>
            <a:ext cx="10515600" cy="439105"/>
          </a:xfrm>
        </p:spPr>
        <p:txBody>
          <a:bodyPr>
            <a:normAutofit fontScale="90000"/>
          </a:bodyPr>
          <a:lstStyle/>
          <a:p>
            <a:r>
              <a:rPr lang="en-US" dirty="0"/>
              <a:t>The different settings :</a:t>
            </a:r>
            <a:endParaRPr lang="en-ZA" dirty="0"/>
          </a:p>
        </p:txBody>
      </p:sp>
      <p:pic>
        <p:nvPicPr>
          <p:cNvPr id="5" name="Content Placeholder 4">
            <a:extLst>
              <a:ext uri="{FF2B5EF4-FFF2-40B4-BE49-F238E27FC236}">
                <a16:creationId xmlns:a16="http://schemas.microsoft.com/office/drawing/2014/main" id="{D4F00BC5-6E52-83E2-D1B6-4CA74E67BF47}"/>
              </a:ext>
            </a:extLst>
          </p:cNvPr>
          <p:cNvPicPr>
            <a:picLocks noGrp="1" noChangeAspect="1"/>
          </p:cNvPicPr>
          <p:nvPr>
            <p:ph idx="1"/>
          </p:nvPr>
        </p:nvPicPr>
        <p:blipFill>
          <a:blip r:embed="rId3"/>
          <a:stretch>
            <a:fillRect/>
          </a:stretch>
        </p:blipFill>
        <p:spPr>
          <a:xfrm>
            <a:off x="308473" y="1000398"/>
            <a:ext cx="6277851" cy="1401279"/>
          </a:xfrm>
          <a:prstGeom prst="rect">
            <a:avLst/>
          </a:prstGeom>
          <a:ln w="9525">
            <a:solidFill>
              <a:schemeClr val="tx1"/>
            </a:solidFill>
          </a:ln>
        </p:spPr>
      </p:pic>
      <p:pic>
        <p:nvPicPr>
          <p:cNvPr id="7" name="Picture 6">
            <a:extLst>
              <a:ext uri="{FF2B5EF4-FFF2-40B4-BE49-F238E27FC236}">
                <a16:creationId xmlns:a16="http://schemas.microsoft.com/office/drawing/2014/main" id="{7D9C8CD1-B615-3613-AB5F-668E7FA003C3}"/>
              </a:ext>
            </a:extLst>
          </p:cNvPr>
          <p:cNvPicPr>
            <a:picLocks noChangeAspect="1"/>
          </p:cNvPicPr>
          <p:nvPr/>
        </p:nvPicPr>
        <p:blipFill>
          <a:blip r:embed="rId4"/>
          <a:stretch>
            <a:fillRect/>
          </a:stretch>
        </p:blipFill>
        <p:spPr>
          <a:xfrm>
            <a:off x="36650" y="2796658"/>
            <a:ext cx="2808507" cy="3696216"/>
          </a:xfrm>
          <a:prstGeom prst="rect">
            <a:avLst/>
          </a:prstGeom>
          <a:ln w="28575">
            <a:solidFill>
              <a:schemeClr val="tx1"/>
            </a:solidFill>
          </a:ln>
        </p:spPr>
      </p:pic>
      <p:pic>
        <p:nvPicPr>
          <p:cNvPr id="9" name="Picture 8">
            <a:extLst>
              <a:ext uri="{FF2B5EF4-FFF2-40B4-BE49-F238E27FC236}">
                <a16:creationId xmlns:a16="http://schemas.microsoft.com/office/drawing/2014/main" id="{F951CE06-D3DE-D42F-EB86-90E9DB83F8D7}"/>
              </a:ext>
            </a:extLst>
          </p:cNvPr>
          <p:cNvPicPr>
            <a:picLocks noChangeAspect="1"/>
          </p:cNvPicPr>
          <p:nvPr/>
        </p:nvPicPr>
        <p:blipFill>
          <a:blip r:embed="rId5"/>
          <a:stretch>
            <a:fillRect/>
          </a:stretch>
        </p:blipFill>
        <p:spPr>
          <a:xfrm>
            <a:off x="2577459" y="3071238"/>
            <a:ext cx="2829602" cy="2968475"/>
          </a:xfrm>
          <a:prstGeom prst="rect">
            <a:avLst/>
          </a:prstGeom>
          <a:ln w="19050">
            <a:solidFill>
              <a:schemeClr val="tx1"/>
            </a:solidFill>
          </a:ln>
        </p:spPr>
      </p:pic>
      <p:pic>
        <p:nvPicPr>
          <p:cNvPr id="11" name="Picture 10">
            <a:extLst>
              <a:ext uri="{FF2B5EF4-FFF2-40B4-BE49-F238E27FC236}">
                <a16:creationId xmlns:a16="http://schemas.microsoft.com/office/drawing/2014/main" id="{71CA726D-6073-1BC6-683B-1A4993235BDE}"/>
              </a:ext>
            </a:extLst>
          </p:cNvPr>
          <p:cNvPicPr>
            <a:picLocks noChangeAspect="1"/>
          </p:cNvPicPr>
          <p:nvPr/>
        </p:nvPicPr>
        <p:blipFill>
          <a:blip r:embed="rId6"/>
          <a:stretch>
            <a:fillRect/>
          </a:stretch>
        </p:blipFill>
        <p:spPr>
          <a:xfrm>
            <a:off x="5554995" y="2997580"/>
            <a:ext cx="2829603" cy="3054139"/>
          </a:xfrm>
          <a:prstGeom prst="rect">
            <a:avLst/>
          </a:prstGeom>
          <a:ln w="19050">
            <a:solidFill>
              <a:schemeClr val="tx1"/>
            </a:solidFill>
          </a:ln>
        </p:spPr>
      </p:pic>
      <p:pic>
        <p:nvPicPr>
          <p:cNvPr id="13" name="Picture 12">
            <a:extLst>
              <a:ext uri="{FF2B5EF4-FFF2-40B4-BE49-F238E27FC236}">
                <a16:creationId xmlns:a16="http://schemas.microsoft.com/office/drawing/2014/main" id="{C492AFDE-5E04-6203-D32E-DA523533A37B}"/>
              </a:ext>
            </a:extLst>
          </p:cNvPr>
          <p:cNvPicPr>
            <a:picLocks noChangeAspect="1"/>
          </p:cNvPicPr>
          <p:nvPr/>
        </p:nvPicPr>
        <p:blipFill>
          <a:blip r:embed="rId7"/>
          <a:stretch>
            <a:fillRect/>
          </a:stretch>
        </p:blipFill>
        <p:spPr>
          <a:xfrm>
            <a:off x="8532532" y="2796658"/>
            <a:ext cx="3394882" cy="3364238"/>
          </a:xfrm>
          <a:prstGeom prst="rect">
            <a:avLst/>
          </a:prstGeom>
          <a:ln w="28575">
            <a:solidFill>
              <a:schemeClr val="tx1"/>
            </a:solidFill>
          </a:ln>
        </p:spPr>
      </p:pic>
    </p:spTree>
    <p:extLst>
      <p:ext uri="{BB962C8B-B14F-4D97-AF65-F5344CB8AC3E}">
        <p14:creationId xmlns:p14="http://schemas.microsoft.com/office/powerpoint/2010/main" val="3354229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3A07-918F-F4D1-EA6C-AA45DB2B9C9E}"/>
              </a:ext>
            </a:extLst>
          </p:cNvPr>
          <p:cNvSpPr>
            <a:spLocks noGrp="1"/>
          </p:cNvSpPr>
          <p:nvPr>
            <p:ph type="title"/>
          </p:nvPr>
        </p:nvSpPr>
        <p:spPr/>
        <p:txBody>
          <a:bodyPr/>
          <a:lstStyle/>
          <a:p>
            <a:r>
              <a:rPr lang="en-US" dirty="0" err="1"/>
              <a:t>pl_Med_BT_Client_SetVar</a:t>
            </a:r>
            <a:endParaRPr lang="en-ZA" dirty="0"/>
          </a:p>
        </p:txBody>
      </p:sp>
      <p:pic>
        <p:nvPicPr>
          <p:cNvPr id="5" name="Content Placeholder 4">
            <a:extLst>
              <a:ext uri="{FF2B5EF4-FFF2-40B4-BE49-F238E27FC236}">
                <a16:creationId xmlns:a16="http://schemas.microsoft.com/office/drawing/2014/main" id="{D9568403-624A-B488-9B95-AB10763140D8}"/>
              </a:ext>
            </a:extLst>
          </p:cNvPr>
          <p:cNvPicPr>
            <a:picLocks noGrp="1" noChangeAspect="1"/>
          </p:cNvPicPr>
          <p:nvPr>
            <p:ph idx="1"/>
          </p:nvPr>
        </p:nvPicPr>
        <p:blipFill>
          <a:blip r:embed="rId2"/>
          <a:stretch>
            <a:fillRect/>
          </a:stretch>
        </p:blipFill>
        <p:spPr>
          <a:xfrm>
            <a:off x="721267" y="1690688"/>
            <a:ext cx="10088453" cy="4351338"/>
          </a:xfrm>
          <a:prstGeom prst="rect">
            <a:avLst/>
          </a:prstGeom>
          <a:ln w="28575">
            <a:solidFill>
              <a:schemeClr val="tx1"/>
            </a:solidFill>
          </a:ln>
        </p:spPr>
      </p:pic>
    </p:spTree>
    <p:extLst>
      <p:ext uri="{BB962C8B-B14F-4D97-AF65-F5344CB8AC3E}">
        <p14:creationId xmlns:p14="http://schemas.microsoft.com/office/powerpoint/2010/main" val="1904683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0426-B12D-A07B-417B-97224159B17A}"/>
              </a:ext>
            </a:extLst>
          </p:cNvPr>
          <p:cNvSpPr>
            <a:spLocks noGrp="1"/>
          </p:cNvSpPr>
          <p:nvPr>
            <p:ph type="title"/>
          </p:nvPr>
        </p:nvSpPr>
        <p:spPr>
          <a:xfrm>
            <a:off x="761082" y="199872"/>
            <a:ext cx="10515600" cy="350971"/>
          </a:xfrm>
        </p:spPr>
        <p:txBody>
          <a:bodyPr>
            <a:normAutofit fontScale="90000"/>
          </a:bodyPr>
          <a:lstStyle/>
          <a:p>
            <a:r>
              <a:rPr lang="en-US" dirty="0"/>
              <a:t>Component Configs</a:t>
            </a:r>
            <a:endParaRPr lang="en-ZA" dirty="0"/>
          </a:p>
        </p:txBody>
      </p:sp>
      <p:pic>
        <p:nvPicPr>
          <p:cNvPr id="5" name="Content Placeholder 4">
            <a:extLst>
              <a:ext uri="{FF2B5EF4-FFF2-40B4-BE49-F238E27FC236}">
                <a16:creationId xmlns:a16="http://schemas.microsoft.com/office/drawing/2014/main" id="{00856071-9D27-00ED-EFB6-AE3D87DC792D}"/>
              </a:ext>
            </a:extLst>
          </p:cNvPr>
          <p:cNvPicPr>
            <a:picLocks noGrp="1" noChangeAspect="1"/>
          </p:cNvPicPr>
          <p:nvPr>
            <p:ph idx="1"/>
          </p:nvPr>
        </p:nvPicPr>
        <p:blipFill>
          <a:blip r:embed="rId2"/>
          <a:stretch>
            <a:fillRect/>
          </a:stretch>
        </p:blipFill>
        <p:spPr>
          <a:xfrm>
            <a:off x="342480" y="864418"/>
            <a:ext cx="6020640" cy="1848108"/>
          </a:xfrm>
          <a:prstGeom prst="rect">
            <a:avLst/>
          </a:prstGeom>
          <a:ln w="19050">
            <a:solidFill>
              <a:schemeClr val="tx1"/>
            </a:solidFill>
          </a:ln>
        </p:spPr>
      </p:pic>
      <p:pic>
        <p:nvPicPr>
          <p:cNvPr id="7" name="Picture 6">
            <a:extLst>
              <a:ext uri="{FF2B5EF4-FFF2-40B4-BE49-F238E27FC236}">
                <a16:creationId xmlns:a16="http://schemas.microsoft.com/office/drawing/2014/main" id="{BAB4BD5C-7BF9-1A8B-278C-5A403F5773ED}"/>
              </a:ext>
            </a:extLst>
          </p:cNvPr>
          <p:cNvPicPr>
            <a:picLocks noChangeAspect="1"/>
          </p:cNvPicPr>
          <p:nvPr/>
        </p:nvPicPr>
        <p:blipFill>
          <a:blip r:embed="rId3"/>
          <a:stretch>
            <a:fillRect/>
          </a:stretch>
        </p:blipFill>
        <p:spPr>
          <a:xfrm>
            <a:off x="0" y="3026101"/>
            <a:ext cx="2621096" cy="3686689"/>
          </a:xfrm>
          <a:prstGeom prst="rect">
            <a:avLst/>
          </a:prstGeom>
          <a:ln w="28575">
            <a:solidFill>
              <a:schemeClr val="tx1"/>
            </a:solidFill>
          </a:ln>
        </p:spPr>
      </p:pic>
      <p:pic>
        <p:nvPicPr>
          <p:cNvPr id="9" name="Picture 8">
            <a:extLst>
              <a:ext uri="{FF2B5EF4-FFF2-40B4-BE49-F238E27FC236}">
                <a16:creationId xmlns:a16="http://schemas.microsoft.com/office/drawing/2014/main" id="{E7CE48A0-B3EC-9098-710D-5F59B44D6765}"/>
              </a:ext>
            </a:extLst>
          </p:cNvPr>
          <p:cNvPicPr>
            <a:picLocks noChangeAspect="1"/>
          </p:cNvPicPr>
          <p:nvPr/>
        </p:nvPicPr>
        <p:blipFill>
          <a:blip r:embed="rId4"/>
          <a:stretch>
            <a:fillRect/>
          </a:stretch>
        </p:blipFill>
        <p:spPr>
          <a:xfrm>
            <a:off x="2621096" y="3283790"/>
            <a:ext cx="2705951" cy="3429000"/>
          </a:xfrm>
          <a:prstGeom prst="rect">
            <a:avLst/>
          </a:prstGeom>
          <a:ln w="28575">
            <a:solidFill>
              <a:schemeClr val="tx1"/>
            </a:solidFill>
          </a:ln>
        </p:spPr>
      </p:pic>
      <p:pic>
        <p:nvPicPr>
          <p:cNvPr id="11" name="Picture 10">
            <a:extLst>
              <a:ext uri="{FF2B5EF4-FFF2-40B4-BE49-F238E27FC236}">
                <a16:creationId xmlns:a16="http://schemas.microsoft.com/office/drawing/2014/main" id="{F3715CE0-C53B-D547-277F-426265190951}"/>
              </a:ext>
            </a:extLst>
          </p:cNvPr>
          <p:cNvPicPr>
            <a:picLocks noChangeAspect="1"/>
          </p:cNvPicPr>
          <p:nvPr/>
        </p:nvPicPr>
        <p:blipFill>
          <a:blip r:embed="rId5"/>
          <a:stretch>
            <a:fillRect/>
          </a:stretch>
        </p:blipFill>
        <p:spPr>
          <a:xfrm>
            <a:off x="5423972" y="3343836"/>
            <a:ext cx="2607324" cy="3368954"/>
          </a:xfrm>
          <a:prstGeom prst="rect">
            <a:avLst/>
          </a:prstGeom>
          <a:ln w="28575">
            <a:solidFill>
              <a:schemeClr val="tx1"/>
            </a:solidFill>
          </a:ln>
        </p:spPr>
      </p:pic>
      <p:pic>
        <p:nvPicPr>
          <p:cNvPr id="13" name="Picture 12">
            <a:extLst>
              <a:ext uri="{FF2B5EF4-FFF2-40B4-BE49-F238E27FC236}">
                <a16:creationId xmlns:a16="http://schemas.microsoft.com/office/drawing/2014/main" id="{8658A194-9838-9E28-F526-8B12DF025C5C}"/>
              </a:ext>
            </a:extLst>
          </p:cNvPr>
          <p:cNvPicPr>
            <a:picLocks noChangeAspect="1"/>
          </p:cNvPicPr>
          <p:nvPr/>
        </p:nvPicPr>
        <p:blipFill>
          <a:blip r:embed="rId6"/>
          <a:stretch>
            <a:fillRect/>
          </a:stretch>
        </p:blipFill>
        <p:spPr>
          <a:xfrm>
            <a:off x="8295701" y="3429000"/>
            <a:ext cx="3143020" cy="3300532"/>
          </a:xfrm>
          <a:prstGeom prst="rect">
            <a:avLst/>
          </a:prstGeom>
          <a:ln w="28575">
            <a:solidFill>
              <a:schemeClr val="tx1"/>
            </a:solidFill>
          </a:ln>
        </p:spPr>
      </p:pic>
    </p:spTree>
    <p:extLst>
      <p:ext uri="{BB962C8B-B14F-4D97-AF65-F5344CB8AC3E}">
        <p14:creationId xmlns:p14="http://schemas.microsoft.com/office/powerpoint/2010/main" val="114439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B39BE-D81E-F50C-8B2D-358114C80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8DDBF-BB0A-93A5-B898-40FBB625647D}"/>
              </a:ext>
            </a:extLst>
          </p:cNvPr>
          <p:cNvSpPr>
            <a:spLocks noGrp="1"/>
          </p:cNvSpPr>
          <p:nvPr>
            <p:ph type="title"/>
          </p:nvPr>
        </p:nvSpPr>
        <p:spPr>
          <a:xfrm>
            <a:off x="838200" y="365126"/>
            <a:ext cx="10515600" cy="637410"/>
          </a:xfrm>
        </p:spPr>
        <p:txBody>
          <a:bodyPr>
            <a:normAutofit fontScale="90000"/>
          </a:bodyPr>
          <a:lstStyle/>
          <a:p>
            <a:r>
              <a:rPr lang="en-ZA" dirty="0" err="1"/>
              <a:t>pl_Med_Sim_Offset_BT_Client</a:t>
            </a:r>
            <a:endParaRPr lang="en-ZA" dirty="0"/>
          </a:p>
        </p:txBody>
      </p:sp>
      <p:sp>
        <p:nvSpPr>
          <p:cNvPr id="3" name="Content Placeholder 2">
            <a:extLst>
              <a:ext uri="{FF2B5EF4-FFF2-40B4-BE49-F238E27FC236}">
                <a16:creationId xmlns:a16="http://schemas.microsoft.com/office/drawing/2014/main" id="{FE96C53D-C3D0-BDD0-8184-E10A1681A22E}"/>
              </a:ext>
            </a:extLst>
          </p:cNvPr>
          <p:cNvSpPr>
            <a:spLocks noGrp="1"/>
          </p:cNvSpPr>
          <p:nvPr>
            <p:ph idx="1"/>
          </p:nvPr>
        </p:nvSpPr>
        <p:spPr>
          <a:xfrm>
            <a:off x="838200" y="1235459"/>
            <a:ext cx="10515600" cy="826264"/>
          </a:xfrm>
        </p:spPr>
        <p:txBody>
          <a:bodyPr>
            <a:normAutofit fontScale="47500" lnSpcReduction="20000"/>
          </a:bodyPr>
          <a:lstStyle/>
          <a:p>
            <a:r>
              <a:rPr lang="en-US" b="1" dirty="0">
                <a:solidFill>
                  <a:srgbClr val="FF0000"/>
                </a:solidFill>
              </a:rPr>
              <a:t>NB: </a:t>
            </a:r>
            <a:r>
              <a:rPr lang="en-US" b="1" dirty="0" err="1">
                <a:solidFill>
                  <a:srgbClr val="FF0000"/>
                </a:solidFill>
              </a:rPr>
              <a:t>Refrence</a:t>
            </a:r>
            <a:r>
              <a:rPr lang="en-US" b="1" dirty="0">
                <a:solidFill>
                  <a:srgbClr val="FF0000"/>
                </a:solidFill>
              </a:rPr>
              <a:t> time must be manually set to say 1 minute before the 1</a:t>
            </a:r>
            <a:r>
              <a:rPr lang="en-US" b="1" baseline="30000" dirty="0">
                <a:solidFill>
                  <a:srgbClr val="FF0000"/>
                </a:solidFill>
              </a:rPr>
              <a:t>st</a:t>
            </a:r>
            <a:r>
              <a:rPr lang="en-US" b="1" dirty="0">
                <a:solidFill>
                  <a:srgbClr val="FF0000"/>
                </a:solidFill>
              </a:rPr>
              <a:t> trigger time in the schedule.</a:t>
            </a:r>
          </a:p>
          <a:p>
            <a:r>
              <a:rPr lang="en-US" b="1" dirty="0">
                <a:solidFill>
                  <a:srgbClr val="FF0000"/>
                </a:solidFill>
              </a:rPr>
              <a:t>Also set the interval minutes of the schedule as a parameter in the parameter settings of main pipeline. </a:t>
            </a:r>
          </a:p>
          <a:p>
            <a:r>
              <a:rPr lang="en-US" b="1" dirty="0" err="1">
                <a:solidFill>
                  <a:srgbClr val="FF0000"/>
                </a:solidFill>
              </a:rPr>
              <a:t>Bothh</a:t>
            </a:r>
            <a:r>
              <a:rPr lang="en-US" b="1" dirty="0">
                <a:solidFill>
                  <a:srgbClr val="FF0000"/>
                </a:solidFill>
              </a:rPr>
              <a:t> the above are used to set the iteration number.</a:t>
            </a:r>
            <a:endParaRPr lang="en-ZA" b="1" dirty="0">
              <a:solidFill>
                <a:srgbClr val="FF0000"/>
              </a:solidFill>
            </a:endParaRPr>
          </a:p>
        </p:txBody>
      </p:sp>
      <p:pic>
        <p:nvPicPr>
          <p:cNvPr id="5" name="Picture 4">
            <a:extLst>
              <a:ext uri="{FF2B5EF4-FFF2-40B4-BE49-F238E27FC236}">
                <a16:creationId xmlns:a16="http://schemas.microsoft.com/office/drawing/2014/main" id="{5D1E7F53-C44E-C46F-8072-D6C369618A0D}"/>
              </a:ext>
            </a:extLst>
          </p:cNvPr>
          <p:cNvPicPr>
            <a:picLocks noChangeAspect="1"/>
          </p:cNvPicPr>
          <p:nvPr/>
        </p:nvPicPr>
        <p:blipFill>
          <a:blip r:embed="rId3"/>
          <a:stretch>
            <a:fillRect/>
          </a:stretch>
        </p:blipFill>
        <p:spPr>
          <a:xfrm>
            <a:off x="639804" y="2294646"/>
            <a:ext cx="10416540" cy="3781180"/>
          </a:xfrm>
          <a:prstGeom prst="rect">
            <a:avLst/>
          </a:prstGeom>
          <a:ln w="38100">
            <a:solidFill>
              <a:schemeClr val="tx1"/>
            </a:solidFill>
          </a:ln>
        </p:spPr>
      </p:pic>
    </p:spTree>
    <p:extLst>
      <p:ext uri="{BB962C8B-B14F-4D97-AF65-F5344CB8AC3E}">
        <p14:creationId xmlns:p14="http://schemas.microsoft.com/office/powerpoint/2010/main" val="4057168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BE0ED-0002-E565-914D-2ABCE6452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BEA95-FA4F-C627-B5E2-0A387041194C}"/>
              </a:ext>
            </a:extLst>
          </p:cNvPr>
          <p:cNvSpPr>
            <a:spLocks noGrp="1"/>
          </p:cNvSpPr>
          <p:nvPr>
            <p:ph type="title"/>
          </p:nvPr>
        </p:nvSpPr>
        <p:spPr>
          <a:xfrm>
            <a:off x="838200" y="365126"/>
            <a:ext cx="10515600" cy="315912"/>
          </a:xfrm>
        </p:spPr>
        <p:txBody>
          <a:bodyPr>
            <a:normAutofit fontScale="90000"/>
          </a:bodyPr>
          <a:lstStyle/>
          <a:p>
            <a:r>
              <a:rPr lang="en-ZA" dirty="0" err="1"/>
              <a:t>pl_Med_Sim_Offset_BT_Client</a:t>
            </a:r>
            <a:r>
              <a:rPr lang="en-ZA" dirty="0"/>
              <a:t> – w Schedule</a:t>
            </a:r>
          </a:p>
        </p:txBody>
      </p:sp>
      <p:pic>
        <p:nvPicPr>
          <p:cNvPr id="5" name="Content Placeholder 4">
            <a:extLst>
              <a:ext uri="{FF2B5EF4-FFF2-40B4-BE49-F238E27FC236}">
                <a16:creationId xmlns:a16="http://schemas.microsoft.com/office/drawing/2014/main" id="{272C1C99-3FFF-2142-3FA0-DAABA48A803F}"/>
              </a:ext>
            </a:extLst>
          </p:cNvPr>
          <p:cNvPicPr>
            <a:picLocks noGrp="1" noChangeAspect="1"/>
          </p:cNvPicPr>
          <p:nvPr>
            <p:ph idx="1"/>
          </p:nvPr>
        </p:nvPicPr>
        <p:blipFill>
          <a:blip r:embed="rId3"/>
          <a:stretch>
            <a:fillRect/>
          </a:stretch>
        </p:blipFill>
        <p:spPr>
          <a:xfrm>
            <a:off x="529727" y="961367"/>
            <a:ext cx="10515600" cy="2784367"/>
          </a:xfrm>
          <a:prstGeom prst="rect">
            <a:avLst/>
          </a:prstGeom>
          <a:ln w="28575">
            <a:solidFill>
              <a:schemeClr val="tx1"/>
            </a:solidFill>
          </a:ln>
        </p:spPr>
      </p:pic>
      <p:pic>
        <p:nvPicPr>
          <p:cNvPr id="7" name="Picture 6">
            <a:extLst>
              <a:ext uri="{FF2B5EF4-FFF2-40B4-BE49-F238E27FC236}">
                <a16:creationId xmlns:a16="http://schemas.microsoft.com/office/drawing/2014/main" id="{8A996BE8-3D8C-82FC-7514-4BAE93B638CB}"/>
              </a:ext>
            </a:extLst>
          </p:cNvPr>
          <p:cNvPicPr>
            <a:picLocks noChangeAspect="1"/>
          </p:cNvPicPr>
          <p:nvPr/>
        </p:nvPicPr>
        <p:blipFill>
          <a:blip r:embed="rId4"/>
          <a:stretch>
            <a:fillRect/>
          </a:stretch>
        </p:blipFill>
        <p:spPr>
          <a:xfrm>
            <a:off x="398081" y="3981050"/>
            <a:ext cx="5182323" cy="2684156"/>
          </a:xfrm>
          <a:prstGeom prst="rect">
            <a:avLst/>
          </a:prstGeom>
          <a:ln w="38100">
            <a:solidFill>
              <a:schemeClr val="tx1"/>
            </a:solidFill>
          </a:ln>
        </p:spPr>
      </p:pic>
      <p:pic>
        <p:nvPicPr>
          <p:cNvPr id="9" name="Picture 8">
            <a:extLst>
              <a:ext uri="{FF2B5EF4-FFF2-40B4-BE49-F238E27FC236}">
                <a16:creationId xmlns:a16="http://schemas.microsoft.com/office/drawing/2014/main" id="{5D67C1D6-F1F9-22C5-C9B1-35977DF4AC4B}"/>
              </a:ext>
            </a:extLst>
          </p:cNvPr>
          <p:cNvPicPr>
            <a:picLocks noChangeAspect="1"/>
          </p:cNvPicPr>
          <p:nvPr/>
        </p:nvPicPr>
        <p:blipFill>
          <a:blip r:embed="rId5"/>
          <a:stretch>
            <a:fillRect/>
          </a:stretch>
        </p:blipFill>
        <p:spPr>
          <a:xfrm>
            <a:off x="5787527" y="4214958"/>
            <a:ext cx="6058746" cy="2277915"/>
          </a:xfrm>
          <a:prstGeom prst="rect">
            <a:avLst/>
          </a:prstGeom>
          <a:ln w="28575">
            <a:solidFill>
              <a:schemeClr val="tx1"/>
            </a:solidFill>
          </a:ln>
        </p:spPr>
      </p:pic>
    </p:spTree>
    <p:extLst>
      <p:ext uri="{BB962C8B-B14F-4D97-AF65-F5344CB8AC3E}">
        <p14:creationId xmlns:p14="http://schemas.microsoft.com/office/powerpoint/2010/main" val="3526376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7A9E6-C90A-F989-A166-840847E25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46061-2FEE-5EDC-CDB1-55BC8B9E67AF}"/>
              </a:ext>
            </a:extLst>
          </p:cNvPr>
          <p:cNvSpPr>
            <a:spLocks noGrp="1"/>
          </p:cNvSpPr>
          <p:nvPr>
            <p:ph type="title"/>
          </p:nvPr>
        </p:nvSpPr>
        <p:spPr>
          <a:xfrm>
            <a:off x="838200" y="310041"/>
            <a:ext cx="10515600" cy="945882"/>
          </a:xfrm>
        </p:spPr>
        <p:txBody>
          <a:bodyPr>
            <a:noAutofit/>
          </a:bodyPr>
          <a:lstStyle/>
          <a:p>
            <a:r>
              <a:rPr lang="en-US" sz="2400" dirty="0"/>
              <a:t>Variables : These are essential variables , set during the run or at the start</a:t>
            </a:r>
            <a:br>
              <a:rPr lang="en-US" sz="2400" dirty="0"/>
            </a:br>
            <a:r>
              <a:rPr lang="en-US" sz="2400" dirty="0"/>
              <a:t> These variables are explained below , and you will see them referred to in the equations in the settings.</a:t>
            </a:r>
            <a:endParaRPr lang="en-ZA" sz="2400" dirty="0"/>
          </a:p>
        </p:txBody>
      </p:sp>
      <p:pic>
        <p:nvPicPr>
          <p:cNvPr id="5" name="Content Placeholder 4">
            <a:extLst>
              <a:ext uri="{FF2B5EF4-FFF2-40B4-BE49-F238E27FC236}">
                <a16:creationId xmlns:a16="http://schemas.microsoft.com/office/drawing/2014/main" id="{D8005027-2931-5A29-DB4D-616E2A491E88}"/>
              </a:ext>
            </a:extLst>
          </p:cNvPr>
          <p:cNvPicPr>
            <a:picLocks noGrp="1" noChangeAspect="1"/>
          </p:cNvPicPr>
          <p:nvPr>
            <p:ph idx="1"/>
          </p:nvPr>
        </p:nvPicPr>
        <p:blipFill>
          <a:blip r:embed="rId3"/>
          <a:stretch>
            <a:fillRect/>
          </a:stretch>
        </p:blipFill>
        <p:spPr>
          <a:xfrm>
            <a:off x="1003453" y="1904787"/>
            <a:ext cx="8757492" cy="3812967"/>
          </a:xfrm>
          <a:prstGeom prst="rect">
            <a:avLst/>
          </a:prstGeom>
          <a:ln w="28575">
            <a:solidFill>
              <a:schemeClr val="tx1"/>
            </a:solidFill>
          </a:ln>
        </p:spPr>
      </p:pic>
    </p:spTree>
    <p:extLst>
      <p:ext uri="{BB962C8B-B14F-4D97-AF65-F5344CB8AC3E}">
        <p14:creationId xmlns:p14="http://schemas.microsoft.com/office/powerpoint/2010/main" val="355068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1926-16E3-324F-BBEC-BADFB3CF358F}"/>
              </a:ext>
            </a:extLst>
          </p:cNvPr>
          <p:cNvSpPr>
            <a:spLocks noGrp="1"/>
          </p:cNvSpPr>
          <p:nvPr>
            <p:ph type="title"/>
          </p:nvPr>
        </p:nvSpPr>
        <p:spPr>
          <a:xfrm>
            <a:off x="838200" y="365125"/>
            <a:ext cx="10515600" cy="575779"/>
          </a:xfrm>
        </p:spPr>
        <p:txBody>
          <a:bodyPr>
            <a:normAutofit fontScale="90000"/>
          </a:bodyPr>
          <a:lstStyle/>
          <a:p>
            <a:r>
              <a:rPr lang="en-US" dirty="0"/>
              <a:t>Individual Block Settings (1) </a:t>
            </a:r>
            <a:endParaRPr lang="en-ZA" dirty="0"/>
          </a:p>
        </p:txBody>
      </p:sp>
      <p:pic>
        <p:nvPicPr>
          <p:cNvPr id="5" name="Content Placeholder 4">
            <a:extLst>
              <a:ext uri="{FF2B5EF4-FFF2-40B4-BE49-F238E27FC236}">
                <a16:creationId xmlns:a16="http://schemas.microsoft.com/office/drawing/2014/main" id="{98F69A9C-3D37-6DFA-C124-08F1DAC87F25}"/>
              </a:ext>
            </a:extLst>
          </p:cNvPr>
          <p:cNvPicPr>
            <a:picLocks noGrp="1" noChangeAspect="1"/>
          </p:cNvPicPr>
          <p:nvPr>
            <p:ph idx="1"/>
          </p:nvPr>
        </p:nvPicPr>
        <p:blipFill>
          <a:blip r:embed="rId3"/>
          <a:stretch>
            <a:fillRect/>
          </a:stretch>
        </p:blipFill>
        <p:spPr>
          <a:xfrm>
            <a:off x="291548" y="1885924"/>
            <a:ext cx="3883266" cy="4351338"/>
          </a:xfrm>
          <a:prstGeom prst="rect">
            <a:avLst/>
          </a:prstGeom>
          <a:ln w="28575">
            <a:solidFill>
              <a:schemeClr val="tx1"/>
            </a:solidFill>
          </a:ln>
        </p:spPr>
      </p:pic>
      <p:pic>
        <p:nvPicPr>
          <p:cNvPr id="7" name="Picture 6">
            <a:extLst>
              <a:ext uri="{FF2B5EF4-FFF2-40B4-BE49-F238E27FC236}">
                <a16:creationId xmlns:a16="http://schemas.microsoft.com/office/drawing/2014/main" id="{668FDC47-072E-3EA9-A925-FDAA83C2DC80}"/>
              </a:ext>
            </a:extLst>
          </p:cNvPr>
          <p:cNvPicPr>
            <a:picLocks noChangeAspect="1"/>
          </p:cNvPicPr>
          <p:nvPr/>
        </p:nvPicPr>
        <p:blipFill>
          <a:blip r:embed="rId4"/>
          <a:stretch>
            <a:fillRect/>
          </a:stretch>
        </p:blipFill>
        <p:spPr>
          <a:xfrm>
            <a:off x="5150379" y="1753403"/>
            <a:ext cx="3648113" cy="2990875"/>
          </a:xfrm>
          <a:prstGeom prst="rect">
            <a:avLst/>
          </a:prstGeom>
          <a:ln w="38100">
            <a:solidFill>
              <a:schemeClr val="tx1"/>
            </a:solidFill>
          </a:ln>
        </p:spPr>
      </p:pic>
      <p:pic>
        <p:nvPicPr>
          <p:cNvPr id="9" name="Picture 8">
            <a:extLst>
              <a:ext uri="{FF2B5EF4-FFF2-40B4-BE49-F238E27FC236}">
                <a16:creationId xmlns:a16="http://schemas.microsoft.com/office/drawing/2014/main" id="{1A3E33D5-BFEF-C465-83F5-0BB00978DD0B}"/>
              </a:ext>
            </a:extLst>
          </p:cNvPr>
          <p:cNvPicPr>
            <a:picLocks noChangeAspect="1"/>
          </p:cNvPicPr>
          <p:nvPr/>
        </p:nvPicPr>
        <p:blipFill>
          <a:blip r:embed="rId5"/>
          <a:stretch>
            <a:fillRect/>
          </a:stretch>
        </p:blipFill>
        <p:spPr>
          <a:xfrm>
            <a:off x="4858831" y="5152645"/>
            <a:ext cx="4467849" cy="1247465"/>
          </a:xfrm>
          <a:prstGeom prst="rect">
            <a:avLst/>
          </a:prstGeom>
          <a:ln w="38100">
            <a:solidFill>
              <a:schemeClr val="tx1"/>
            </a:solidFill>
          </a:ln>
        </p:spPr>
      </p:pic>
    </p:spTree>
    <p:extLst>
      <p:ext uri="{BB962C8B-B14F-4D97-AF65-F5344CB8AC3E}">
        <p14:creationId xmlns:p14="http://schemas.microsoft.com/office/powerpoint/2010/main" val="3443362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C08C8-D4C1-40F5-8004-5CC936051004}"/>
              </a:ext>
            </a:extLst>
          </p:cNvPr>
          <p:cNvSpPr>
            <a:spLocks noGrp="1"/>
          </p:cNvSpPr>
          <p:nvPr>
            <p:ph type="title"/>
          </p:nvPr>
        </p:nvSpPr>
        <p:spPr>
          <a:xfrm>
            <a:off x="838200" y="365126"/>
            <a:ext cx="10515600" cy="469762"/>
          </a:xfrm>
        </p:spPr>
        <p:txBody>
          <a:bodyPr>
            <a:normAutofit fontScale="90000"/>
          </a:bodyPr>
          <a:lstStyle/>
          <a:p>
            <a:r>
              <a:rPr lang="en-US" dirty="0"/>
              <a:t>Block Settings (2) </a:t>
            </a:r>
            <a:endParaRPr lang="en-ZA" dirty="0"/>
          </a:p>
        </p:txBody>
      </p:sp>
      <p:pic>
        <p:nvPicPr>
          <p:cNvPr id="5" name="Content Placeholder 4">
            <a:extLst>
              <a:ext uri="{FF2B5EF4-FFF2-40B4-BE49-F238E27FC236}">
                <a16:creationId xmlns:a16="http://schemas.microsoft.com/office/drawing/2014/main" id="{4DBD462F-E376-4D18-412A-9D5DFA021951}"/>
              </a:ext>
            </a:extLst>
          </p:cNvPr>
          <p:cNvPicPr>
            <a:picLocks noGrp="1" noChangeAspect="1"/>
          </p:cNvPicPr>
          <p:nvPr>
            <p:ph idx="1"/>
          </p:nvPr>
        </p:nvPicPr>
        <p:blipFill>
          <a:blip r:embed="rId3"/>
          <a:stretch>
            <a:fillRect/>
          </a:stretch>
        </p:blipFill>
        <p:spPr>
          <a:xfrm>
            <a:off x="334690" y="1209749"/>
            <a:ext cx="4896533" cy="3181794"/>
          </a:xfrm>
          <a:prstGeom prst="rect">
            <a:avLst/>
          </a:prstGeom>
          <a:ln w="28575">
            <a:solidFill>
              <a:schemeClr val="tx1"/>
            </a:solidFill>
          </a:ln>
        </p:spPr>
      </p:pic>
      <p:pic>
        <p:nvPicPr>
          <p:cNvPr id="7" name="Picture 6">
            <a:extLst>
              <a:ext uri="{FF2B5EF4-FFF2-40B4-BE49-F238E27FC236}">
                <a16:creationId xmlns:a16="http://schemas.microsoft.com/office/drawing/2014/main" id="{DF522FE3-F50F-AFB0-697B-00A0E8674B3F}"/>
              </a:ext>
            </a:extLst>
          </p:cNvPr>
          <p:cNvPicPr>
            <a:picLocks noChangeAspect="1"/>
          </p:cNvPicPr>
          <p:nvPr/>
        </p:nvPicPr>
        <p:blipFill>
          <a:blip r:embed="rId4"/>
          <a:stretch>
            <a:fillRect/>
          </a:stretch>
        </p:blipFill>
        <p:spPr>
          <a:xfrm>
            <a:off x="272768" y="5129066"/>
            <a:ext cx="5020376" cy="1038370"/>
          </a:xfrm>
          <a:prstGeom prst="rect">
            <a:avLst/>
          </a:prstGeom>
          <a:ln w="28575">
            <a:solidFill>
              <a:schemeClr val="tx1"/>
            </a:solidFill>
          </a:ln>
        </p:spPr>
      </p:pic>
      <p:pic>
        <p:nvPicPr>
          <p:cNvPr id="9" name="Picture 8">
            <a:extLst>
              <a:ext uri="{FF2B5EF4-FFF2-40B4-BE49-F238E27FC236}">
                <a16:creationId xmlns:a16="http://schemas.microsoft.com/office/drawing/2014/main" id="{8651AFC4-7309-F3A0-D006-143825A074CC}"/>
              </a:ext>
            </a:extLst>
          </p:cNvPr>
          <p:cNvPicPr>
            <a:picLocks noChangeAspect="1"/>
          </p:cNvPicPr>
          <p:nvPr/>
        </p:nvPicPr>
        <p:blipFill>
          <a:blip r:embed="rId5"/>
          <a:stretch>
            <a:fillRect/>
          </a:stretch>
        </p:blipFill>
        <p:spPr>
          <a:xfrm>
            <a:off x="6352477" y="170995"/>
            <a:ext cx="5001323" cy="2877005"/>
          </a:xfrm>
          <a:prstGeom prst="rect">
            <a:avLst/>
          </a:prstGeom>
          <a:ln w="28575">
            <a:solidFill>
              <a:schemeClr val="tx1"/>
            </a:solidFill>
          </a:ln>
        </p:spPr>
      </p:pic>
      <p:pic>
        <p:nvPicPr>
          <p:cNvPr id="11" name="Picture 10">
            <a:extLst>
              <a:ext uri="{FF2B5EF4-FFF2-40B4-BE49-F238E27FC236}">
                <a16:creationId xmlns:a16="http://schemas.microsoft.com/office/drawing/2014/main" id="{CE80C078-0206-E87F-AF20-088B4DA07B94}"/>
              </a:ext>
            </a:extLst>
          </p:cNvPr>
          <p:cNvPicPr>
            <a:picLocks noChangeAspect="1"/>
          </p:cNvPicPr>
          <p:nvPr/>
        </p:nvPicPr>
        <p:blipFill>
          <a:blip r:embed="rId6"/>
          <a:stretch>
            <a:fillRect/>
          </a:stretch>
        </p:blipFill>
        <p:spPr>
          <a:xfrm>
            <a:off x="6241774" y="3242131"/>
            <a:ext cx="5446643" cy="3334215"/>
          </a:xfrm>
          <a:prstGeom prst="rect">
            <a:avLst/>
          </a:prstGeom>
          <a:ln w="28575">
            <a:solidFill>
              <a:schemeClr val="tx1"/>
            </a:solidFill>
          </a:ln>
        </p:spPr>
      </p:pic>
    </p:spTree>
    <p:extLst>
      <p:ext uri="{BB962C8B-B14F-4D97-AF65-F5344CB8AC3E}">
        <p14:creationId xmlns:p14="http://schemas.microsoft.com/office/powerpoint/2010/main" val="4125257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AAB07-5A8A-C8D7-B9CF-B89381E1033D}"/>
              </a:ext>
            </a:extLst>
          </p:cNvPr>
          <p:cNvSpPr>
            <a:spLocks noGrp="1"/>
          </p:cNvSpPr>
          <p:nvPr>
            <p:ph type="title"/>
          </p:nvPr>
        </p:nvSpPr>
        <p:spPr>
          <a:xfrm>
            <a:off x="838200" y="365126"/>
            <a:ext cx="10515600" cy="297484"/>
          </a:xfrm>
        </p:spPr>
        <p:txBody>
          <a:bodyPr>
            <a:normAutofit fontScale="90000"/>
          </a:bodyPr>
          <a:lstStyle/>
          <a:p>
            <a:r>
              <a:rPr lang="en-US" dirty="0"/>
              <a:t>Block settings (3) </a:t>
            </a:r>
            <a:endParaRPr lang="en-ZA" dirty="0"/>
          </a:p>
        </p:txBody>
      </p:sp>
      <p:pic>
        <p:nvPicPr>
          <p:cNvPr id="5" name="Content Placeholder 4">
            <a:extLst>
              <a:ext uri="{FF2B5EF4-FFF2-40B4-BE49-F238E27FC236}">
                <a16:creationId xmlns:a16="http://schemas.microsoft.com/office/drawing/2014/main" id="{F546B9EC-AA8F-D410-77D8-3540AD5DF056}"/>
              </a:ext>
            </a:extLst>
          </p:cNvPr>
          <p:cNvPicPr>
            <a:picLocks noGrp="1" noChangeAspect="1"/>
          </p:cNvPicPr>
          <p:nvPr>
            <p:ph idx="1"/>
          </p:nvPr>
        </p:nvPicPr>
        <p:blipFill>
          <a:blip r:embed="rId3"/>
          <a:stretch>
            <a:fillRect/>
          </a:stretch>
        </p:blipFill>
        <p:spPr>
          <a:xfrm>
            <a:off x="265043" y="901148"/>
            <a:ext cx="4858428" cy="3162741"/>
          </a:xfrm>
          <a:prstGeom prst="rect">
            <a:avLst/>
          </a:prstGeom>
          <a:ln w="28575">
            <a:solidFill>
              <a:schemeClr val="tx1"/>
            </a:solidFill>
          </a:ln>
        </p:spPr>
      </p:pic>
      <p:pic>
        <p:nvPicPr>
          <p:cNvPr id="7" name="Picture 6">
            <a:extLst>
              <a:ext uri="{FF2B5EF4-FFF2-40B4-BE49-F238E27FC236}">
                <a16:creationId xmlns:a16="http://schemas.microsoft.com/office/drawing/2014/main" id="{24883A47-3B28-2AA9-9023-64AED40D18F4}"/>
              </a:ext>
            </a:extLst>
          </p:cNvPr>
          <p:cNvPicPr>
            <a:picLocks noChangeAspect="1"/>
          </p:cNvPicPr>
          <p:nvPr/>
        </p:nvPicPr>
        <p:blipFill>
          <a:blip r:embed="rId4"/>
          <a:stretch>
            <a:fillRect/>
          </a:stretch>
        </p:blipFill>
        <p:spPr>
          <a:xfrm>
            <a:off x="126911" y="4661271"/>
            <a:ext cx="5134692" cy="1295581"/>
          </a:xfrm>
          <a:prstGeom prst="rect">
            <a:avLst/>
          </a:prstGeom>
          <a:ln w="28575">
            <a:solidFill>
              <a:schemeClr val="tx1"/>
            </a:solidFill>
          </a:ln>
        </p:spPr>
      </p:pic>
      <p:pic>
        <p:nvPicPr>
          <p:cNvPr id="9" name="Picture 8">
            <a:extLst>
              <a:ext uri="{FF2B5EF4-FFF2-40B4-BE49-F238E27FC236}">
                <a16:creationId xmlns:a16="http://schemas.microsoft.com/office/drawing/2014/main" id="{4579FC32-5D0B-A7CF-7984-94A1D3817622}"/>
              </a:ext>
            </a:extLst>
          </p:cNvPr>
          <p:cNvPicPr>
            <a:picLocks noChangeAspect="1"/>
          </p:cNvPicPr>
          <p:nvPr/>
        </p:nvPicPr>
        <p:blipFill>
          <a:blip r:embed="rId5"/>
          <a:stretch>
            <a:fillRect/>
          </a:stretch>
        </p:blipFill>
        <p:spPr>
          <a:xfrm>
            <a:off x="5562418" y="1141686"/>
            <a:ext cx="5572903" cy="3991532"/>
          </a:xfrm>
          <a:prstGeom prst="rect">
            <a:avLst/>
          </a:prstGeom>
          <a:ln w="28575">
            <a:solidFill>
              <a:schemeClr val="tx1"/>
            </a:solidFill>
          </a:ln>
        </p:spPr>
      </p:pic>
    </p:spTree>
    <p:extLst>
      <p:ext uri="{BB962C8B-B14F-4D97-AF65-F5344CB8AC3E}">
        <p14:creationId xmlns:p14="http://schemas.microsoft.com/office/powerpoint/2010/main" val="87425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B7ECC-A39C-A3EE-DE50-8E923FB15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0F4AB-4A1D-FBA9-3333-F392ECE3899F}"/>
              </a:ext>
            </a:extLst>
          </p:cNvPr>
          <p:cNvSpPr>
            <a:spLocks noGrp="1"/>
          </p:cNvSpPr>
          <p:nvPr>
            <p:ph type="title"/>
          </p:nvPr>
        </p:nvSpPr>
        <p:spPr/>
        <p:txBody>
          <a:bodyPr/>
          <a:lstStyle/>
          <a:p>
            <a:r>
              <a:rPr lang="en-US" dirty="0"/>
              <a:t>Block Settings (4) For Notebooks</a:t>
            </a:r>
            <a:endParaRPr lang="en-ZA" dirty="0"/>
          </a:p>
        </p:txBody>
      </p:sp>
      <p:pic>
        <p:nvPicPr>
          <p:cNvPr id="5" name="Content Placeholder 4">
            <a:extLst>
              <a:ext uri="{FF2B5EF4-FFF2-40B4-BE49-F238E27FC236}">
                <a16:creationId xmlns:a16="http://schemas.microsoft.com/office/drawing/2014/main" id="{E94485F3-3FD0-4AD0-0010-949DBBAD0F16}"/>
              </a:ext>
            </a:extLst>
          </p:cNvPr>
          <p:cNvPicPr>
            <a:picLocks noGrp="1" noChangeAspect="1"/>
          </p:cNvPicPr>
          <p:nvPr>
            <p:ph idx="1"/>
          </p:nvPr>
        </p:nvPicPr>
        <p:blipFill>
          <a:blip r:embed="rId3"/>
          <a:stretch>
            <a:fillRect/>
          </a:stretch>
        </p:blipFill>
        <p:spPr>
          <a:xfrm>
            <a:off x="281320" y="1524000"/>
            <a:ext cx="5576141" cy="4691270"/>
          </a:xfrm>
          <a:prstGeom prst="rect">
            <a:avLst/>
          </a:prstGeom>
          <a:ln w="28575">
            <a:solidFill>
              <a:schemeClr val="tx1"/>
            </a:solidFill>
          </a:ln>
        </p:spPr>
      </p:pic>
      <p:pic>
        <p:nvPicPr>
          <p:cNvPr id="7" name="Picture 6">
            <a:extLst>
              <a:ext uri="{FF2B5EF4-FFF2-40B4-BE49-F238E27FC236}">
                <a16:creationId xmlns:a16="http://schemas.microsoft.com/office/drawing/2014/main" id="{6376D155-D24A-E335-9A06-8795357C7A60}"/>
              </a:ext>
            </a:extLst>
          </p:cNvPr>
          <p:cNvPicPr>
            <a:picLocks noChangeAspect="1"/>
          </p:cNvPicPr>
          <p:nvPr/>
        </p:nvPicPr>
        <p:blipFill>
          <a:blip r:embed="rId4"/>
          <a:stretch>
            <a:fillRect/>
          </a:stretch>
        </p:blipFill>
        <p:spPr>
          <a:xfrm>
            <a:off x="6215269" y="1524000"/>
            <a:ext cx="5327374" cy="4691270"/>
          </a:xfrm>
          <a:prstGeom prst="rect">
            <a:avLst/>
          </a:prstGeom>
          <a:ln w="28575">
            <a:solidFill>
              <a:schemeClr val="tx1"/>
            </a:solidFill>
          </a:ln>
        </p:spPr>
      </p:pic>
    </p:spTree>
    <p:extLst>
      <p:ext uri="{BB962C8B-B14F-4D97-AF65-F5344CB8AC3E}">
        <p14:creationId xmlns:p14="http://schemas.microsoft.com/office/powerpoint/2010/main" val="3969462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F17C5-7F23-F55A-8B62-61DD5BF75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7CE24-293D-606C-A067-36FF8751A85A}"/>
              </a:ext>
            </a:extLst>
          </p:cNvPr>
          <p:cNvSpPr>
            <a:spLocks noGrp="1"/>
          </p:cNvSpPr>
          <p:nvPr>
            <p:ph type="title"/>
          </p:nvPr>
        </p:nvSpPr>
        <p:spPr>
          <a:xfrm>
            <a:off x="838200" y="365126"/>
            <a:ext cx="10515600" cy="628788"/>
          </a:xfrm>
        </p:spPr>
        <p:txBody>
          <a:bodyPr>
            <a:normAutofit fontScale="90000"/>
          </a:bodyPr>
          <a:lstStyle/>
          <a:p>
            <a:r>
              <a:rPr lang="en-US" dirty="0"/>
              <a:t>The Monitor Screen for all the runs for Client </a:t>
            </a:r>
            <a:r>
              <a:rPr lang="en-US" dirty="0" err="1"/>
              <a:t>Backtest</a:t>
            </a:r>
            <a:r>
              <a:rPr lang="en-US" dirty="0"/>
              <a:t> Sim </a:t>
            </a:r>
            <a:endParaRPr lang="en-ZA" dirty="0"/>
          </a:p>
        </p:txBody>
      </p:sp>
      <p:pic>
        <p:nvPicPr>
          <p:cNvPr id="5" name="Content Placeholder 4">
            <a:extLst>
              <a:ext uri="{FF2B5EF4-FFF2-40B4-BE49-F238E27FC236}">
                <a16:creationId xmlns:a16="http://schemas.microsoft.com/office/drawing/2014/main" id="{01A6B0A7-9309-FAFA-E8DD-E2C1EA280D3A}"/>
              </a:ext>
            </a:extLst>
          </p:cNvPr>
          <p:cNvPicPr>
            <a:picLocks noGrp="1" noChangeAspect="1"/>
          </p:cNvPicPr>
          <p:nvPr>
            <p:ph idx="1"/>
          </p:nvPr>
        </p:nvPicPr>
        <p:blipFill>
          <a:blip r:embed="rId2"/>
          <a:stretch>
            <a:fillRect/>
          </a:stretch>
        </p:blipFill>
        <p:spPr>
          <a:xfrm>
            <a:off x="1272458" y="1577009"/>
            <a:ext cx="9647084" cy="4599954"/>
          </a:xfrm>
          <a:prstGeom prst="rect">
            <a:avLst/>
          </a:prstGeom>
          <a:ln w="28575">
            <a:solidFill>
              <a:schemeClr val="tx1"/>
            </a:solidFill>
          </a:ln>
        </p:spPr>
      </p:pic>
    </p:spTree>
    <p:extLst>
      <p:ext uri="{BB962C8B-B14F-4D97-AF65-F5344CB8AC3E}">
        <p14:creationId xmlns:p14="http://schemas.microsoft.com/office/powerpoint/2010/main" val="87158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76EEB-382D-B533-E9AF-29ABE83D4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4763-45AA-744F-E6B9-4E7261DE727C}"/>
              </a:ext>
            </a:extLst>
          </p:cNvPr>
          <p:cNvSpPr>
            <a:spLocks noGrp="1"/>
          </p:cNvSpPr>
          <p:nvPr>
            <p:ph type="title"/>
          </p:nvPr>
        </p:nvSpPr>
        <p:spPr>
          <a:xfrm>
            <a:off x="838200" y="100082"/>
            <a:ext cx="10515600" cy="695049"/>
          </a:xfrm>
        </p:spPr>
        <p:txBody>
          <a:bodyPr>
            <a:normAutofit fontScale="90000"/>
          </a:bodyPr>
          <a:lstStyle/>
          <a:p>
            <a:r>
              <a:rPr lang="en-ZA" dirty="0" err="1"/>
              <a:t>pl_Med_Sim_Offset_BT_Contract</a:t>
            </a:r>
            <a:r>
              <a:rPr lang="en-ZA" dirty="0"/>
              <a:t>– w Schedule</a:t>
            </a:r>
          </a:p>
        </p:txBody>
      </p:sp>
      <p:pic>
        <p:nvPicPr>
          <p:cNvPr id="5" name="Content Placeholder 4">
            <a:extLst>
              <a:ext uri="{FF2B5EF4-FFF2-40B4-BE49-F238E27FC236}">
                <a16:creationId xmlns:a16="http://schemas.microsoft.com/office/drawing/2014/main" id="{E9DA5F59-E7B8-D4CC-48DB-7093FE99093A}"/>
              </a:ext>
            </a:extLst>
          </p:cNvPr>
          <p:cNvPicPr>
            <a:picLocks noGrp="1" noChangeAspect="1"/>
          </p:cNvPicPr>
          <p:nvPr>
            <p:ph idx="1"/>
          </p:nvPr>
        </p:nvPicPr>
        <p:blipFill>
          <a:blip r:embed="rId3"/>
          <a:stretch>
            <a:fillRect/>
          </a:stretch>
        </p:blipFill>
        <p:spPr>
          <a:xfrm>
            <a:off x="838200" y="1033671"/>
            <a:ext cx="10515600" cy="2252869"/>
          </a:xfrm>
          <a:prstGeom prst="rect">
            <a:avLst/>
          </a:prstGeom>
          <a:ln w="19050">
            <a:solidFill>
              <a:schemeClr val="tx1"/>
            </a:solidFill>
          </a:ln>
        </p:spPr>
      </p:pic>
      <p:pic>
        <p:nvPicPr>
          <p:cNvPr id="7" name="Picture 6">
            <a:extLst>
              <a:ext uri="{FF2B5EF4-FFF2-40B4-BE49-F238E27FC236}">
                <a16:creationId xmlns:a16="http://schemas.microsoft.com/office/drawing/2014/main" id="{8E70619C-2D56-4927-EFAC-DCA841BE3C3F}"/>
              </a:ext>
            </a:extLst>
          </p:cNvPr>
          <p:cNvPicPr>
            <a:picLocks noChangeAspect="1"/>
          </p:cNvPicPr>
          <p:nvPr/>
        </p:nvPicPr>
        <p:blipFill>
          <a:blip r:embed="rId4"/>
          <a:stretch>
            <a:fillRect/>
          </a:stretch>
        </p:blipFill>
        <p:spPr>
          <a:xfrm>
            <a:off x="540838" y="3948776"/>
            <a:ext cx="4574501" cy="2353003"/>
          </a:xfrm>
          <a:prstGeom prst="rect">
            <a:avLst/>
          </a:prstGeom>
          <a:ln w="28575">
            <a:solidFill>
              <a:schemeClr val="tx1"/>
            </a:solidFill>
          </a:ln>
        </p:spPr>
      </p:pic>
      <p:pic>
        <p:nvPicPr>
          <p:cNvPr id="9" name="Picture 8">
            <a:extLst>
              <a:ext uri="{FF2B5EF4-FFF2-40B4-BE49-F238E27FC236}">
                <a16:creationId xmlns:a16="http://schemas.microsoft.com/office/drawing/2014/main" id="{BF88A2A8-4AB6-F485-1DA8-380DA9BC594A}"/>
              </a:ext>
            </a:extLst>
          </p:cNvPr>
          <p:cNvPicPr>
            <a:picLocks noChangeAspect="1"/>
          </p:cNvPicPr>
          <p:nvPr/>
        </p:nvPicPr>
        <p:blipFill>
          <a:blip r:embed="rId5"/>
          <a:stretch>
            <a:fillRect/>
          </a:stretch>
        </p:blipFill>
        <p:spPr>
          <a:xfrm>
            <a:off x="5639391" y="3948776"/>
            <a:ext cx="6373114" cy="2481453"/>
          </a:xfrm>
          <a:prstGeom prst="rect">
            <a:avLst/>
          </a:prstGeom>
          <a:ln w="28575">
            <a:solidFill>
              <a:schemeClr val="tx1"/>
            </a:solidFill>
          </a:ln>
        </p:spPr>
      </p:pic>
    </p:spTree>
    <p:extLst>
      <p:ext uri="{BB962C8B-B14F-4D97-AF65-F5344CB8AC3E}">
        <p14:creationId xmlns:p14="http://schemas.microsoft.com/office/powerpoint/2010/main" val="2373112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50DFD-67A3-6547-27E4-E2E79584A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F48CD-72D4-C774-153D-7574788A76CB}"/>
              </a:ext>
            </a:extLst>
          </p:cNvPr>
          <p:cNvSpPr>
            <a:spLocks noGrp="1"/>
          </p:cNvSpPr>
          <p:nvPr>
            <p:ph type="title"/>
          </p:nvPr>
        </p:nvSpPr>
        <p:spPr>
          <a:xfrm>
            <a:off x="838200" y="365126"/>
            <a:ext cx="10515600" cy="655292"/>
          </a:xfrm>
        </p:spPr>
        <p:txBody>
          <a:bodyPr>
            <a:normAutofit fontScale="90000"/>
          </a:bodyPr>
          <a:lstStyle/>
          <a:p>
            <a:r>
              <a:rPr lang="en-US" dirty="0"/>
              <a:t>Notebooks for contract same , but call different notebooks</a:t>
            </a:r>
            <a:endParaRPr lang="en-ZA" dirty="0"/>
          </a:p>
        </p:txBody>
      </p:sp>
      <p:pic>
        <p:nvPicPr>
          <p:cNvPr id="5" name="Content Placeholder 4">
            <a:extLst>
              <a:ext uri="{FF2B5EF4-FFF2-40B4-BE49-F238E27FC236}">
                <a16:creationId xmlns:a16="http://schemas.microsoft.com/office/drawing/2014/main" id="{701133E6-42F8-B099-32EE-3B7CCC3FAC3F}"/>
              </a:ext>
            </a:extLst>
          </p:cNvPr>
          <p:cNvPicPr>
            <a:picLocks noGrp="1" noChangeAspect="1"/>
          </p:cNvPicPr>
          <p:nvPr>
            <p:ph idx="1"/>
          </p:nvPr>
        </p:nvPicPr>
        <p:blipFill>
          <a:blip r:embed="rId2"/>
          <a:stretch>
            <a:fillRect/>
          </a:stretch>
        </p:blipFill>
        <p:spPr>
          <a:xfrm>
            <a:off x="7978" y="1775668"/>
            <a:ext cx="3715883" cy="4239217"/>
          </a:xfrm>
          <a:prstGeom prst="rect">
            <a:avLst/>
          </a:prstGeom>
          <a:ln w="28575">
            <a:solidFill>
              <a:schemeClr val="tx1"/>
            </a:solidFill>
          </a:ln>
        </p:spPr>
      </p:pic>
      <p:pic>
        <p:nvPicPr>
          <p:cNvPr id="7" name="Picture 6">
            <a:extLst>
              <a:ext uri="{FF2B5EF4-FFF2-40B4-BE49-F238E27FC236}">
                <a16:creationId xmlns:a16="http://schemas.microsoft.com/office/drawing/2014/main" id="{3191DE08-7383-EDD7-DE0D-496FEFDA5B49}"/>
              </a:ext>
            </a:extLst>
          </p:cNvPr>
          <p:cNvPicPr>
            <a:picLocks noChangeAspect="1"/>
          </p:cNvPicPr>
          <p:nvPr/>
        </p:nvPicPr>
        <p:blipFill>
          <a:blip r:embed="rId3"/>
          <a:stretch>
            <a:fillRect/>
          </a:stretch>
        </p:blipFill>
        <p:spPr>
          <a:xfrm>
            <a:off x="3996882" y="1794721"/>
            <a:ext cx="3901414" cy="4220164"/>
          </a:xfrm>
          <a:prstGeom prst="rect">
            <a:avLst/>
          </a:prstGeom>
          <a:ln w="28575">
            <a:solidFill>
              <a:schemeClr val="tx1"/>
            </a:solidFill>
          </a:ln>
        </p:spPr>
      </p:pic>
      <p:pic>
        <p:nvPicPr>
          <p:cNvPr id="9" name="Picture 8">
            <a:extLst>
              <a:ext uri="{FF2B5EF4-FFF2-40B4-BE49-F238E27FC236}">
                <a16:creationId xmlns:a16="http://schemas.microsoft.com/office/drawing/2014/main" id="{ECD3E332-5EAE-4D86-1E6D-A8586EBC445B}"/>
              </a:ext>
            </a:extLst>
          </p:cNvPr>
          <p:cNvPicPr>
            <a:picLocks noChangeAspect="1"/>
          </p:cNvPicPr>
          <p:nvPr/>
        </p:nvPicPr>
        <p:blipFill>
          <a:blip r:embed="rId4"/>
          <a:stretch>
            <a:fillRect/>
          </a:stretch>
        </p:blipFill>
        <p:spPr>
          <a:xfrm>
            <a:off x="8171317" y="1804247"/>
            <a:ext cx="4137263" cy="4201111"/>
          </a:xfrm>
          <a:prstGeom prst="rect">
            <a:avLst/>
          </a:prstGeom>
          <a:ln w="28575">
            <a:solidFill>
              <a:schemeClr val="tx1"/>
            </a:solidFill>
          </a:ln>
        </p:spPr>
      </p:pic>
    </p:spTree>
    <p:extLst>
      <p:ext uri="{BB962C8B-B14F-4D97-AF65-F5344CB8AC3E}">
        <p14:creationId xmlns:p14="http://schemas.microsoft.com/office/powerpoint/2010/main" val="2399376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F7C86-6B3F-80A6-41BA-B9ECE5932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1865F-2457-5E5F-0B51-52EA2B0BF279}"/>
              </a:ext>
            </a:extLst>
          </p:cNvPr>
          <p:cNvSpPr>
            <a:spLocks noGrp="1"/>
          </p:cNvSpPr>
          <p:nvPr>
            <p:ph type="title"/>
          </p:nvPr>
        </p:nvSpPr>
        <p:spPr>
          <a:xfrm>
            <a:off x="838200" y="365126"/>
            <a:ext cx="10515600" cy="787814"/>
          </a:xfrm>
        </p:spPr>
        <p:txBody>
          <a:bodyPr/>
          <a:lstStyle/>
          <a:p>
            <a:r>
              <a:rPr lang="en-US" dirty="0"/>
              <a:t>Record of Simulation Results</a:t>
            </a:r>
            <a:endParaRPr lang="en-ZA" dirty="0"/>
          </a:p>
        </p:txBody>
      </p:sp>
      <p:pic>
        <p:nvPicPr>
          <p:cNvPr id="5" name="Content Placeholder 4">
            <a:extLst>
              <a:ext uri="{FF2B5EF4-FFF2-40B4-BE49-F238E27FC236}">
                <a16:creationId xmlns:a16="http://schemas.microsoft.com/office/drawing/2014/main" id="{8A4517DB-8771-6A95-404F-9EDD457A6120}"/>
              </a:ext>
            </a:extLst>
          </p:cNvPr>
          <p:cNvPicPr>
            <a:picLocks noGrp="1" noChangeAspect="1"/>
          </p:cNvPicPr>
          <p:nvPr>
            <p:ph idx="1"/>
          </p:nvPr>
        </p:nvPicPr>
        <p:blipFill>
          <a:blip r:embed="rId2"/>
          <a:stretch>
            <a:fillRect/>
          </a:stretch>
        </p:blipFill>
        <p:spPr>
          <a:xfrm>
            <a:off x="1171410" y="1401555"/>
            <a:ext cx="9562851" cy="4351338"/>
          </a:xfrm>
          <a:prstGeom prst="rect">
            <a:avLst/>
          </a:prstGeom>
          <a:ln w="28575">
            <a:solidFill>
              <a:schemeClr val="tx1"/>
            </a:solidFill>
          </a:ln>
        </p:spPr>
      </p:pic>
    </p:spTree>
    <p:extLst>
      <p:ext uri="{BB962C8B-B14F-4D97-AF65-F5344CB8AC3E}">
        <p14:creationId xmlns:p14="http://schemas.microsoft.com/office/powerpoint/2010/main" val="1145787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BD2E-141B-316C-36FA-3C1927CAC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85F21-C301-89A7-D421-63974D0D37EF}"/>
              </a:ext>
            </a:extLst>
          </p:cNvPr>
          <p:cNvSpPr>
            <a:spLocks noGrp="1"/>
          </p:cNvSpPr>
          <p:nvPr>
            <p:ph type="title"/>
          </p:nvPr>
        </p:nvSpPr>
        <p:spPr>
          <a:xfrm>
            <a:off x="838200" y="365126"/>
            <a:ext cx="10515600" cy="628788"/>
          </a:xfrm>
        </p:spPr>
        <p:txBody>
          <a:bodyPr>
            <a:normAutofit fontScale="90000"/>
          </a:bodyPr>
          <a:lstStyle/>
          <a:p>
            <a:r>
              <a:rPr lang="en-US" dirty="0" err="1"/>
              <a:t>Bronze_Gold_Silver_Lakehouses</a:t>
            </a:r>
            <a:r>
              <a:rPr lang="en-US" dirty="0"/>
              <a:t>, Bronze is shown as example , others are identical </a:t>
            </a:r>
            <a:endParaRPr lang="en-ZA" dirty="0"/>
          </a:p>
        </p:txBody>
      </p:sp>
      <p:pic>
        <p:nvPicPr>
          <p:cNvPr id="5" name="Content Placeholder 4">
            <a:extLst>
              <a:ext uri="{FF2B5EF4-FFF2-40B4-BE49-F238E27FC236}">
                <a16:creationId xmlns:a16="http://schemas.microsoft.com/office/drawing/2014/main" id="{FB014800-E881-1E20-0192-92898BB770AC}"/>
              </a:ext>
            </a:extLst>
          </p:cNvPr>
          <p:cNvPicPr>
            <a:picLocks noGrp="1" noChangeAspect="1"/>
          </p:cNvPicPr>
          <p:nvPr>
            <p:ph idx="1"/>
          </p:nvPr>
        </p:nvPicPr>
        <p:blipFill>
          <a:blip r:embed="rId2"/>
          <a:stretch>
            <a:fillRect/>
          </a:stretch>
        </p:blipFill>
        <p:spPr>
          <a:xfrm>
            <a:off x="583806" y="2085214"/>
            <a:ext cx="3894715" cy="4351338"/>
          </a:xfrm>
          <a:prstGeom prst="rect">
            <a:avLst/>
          </a:prstGeom>
          <a:ln w="38100">
            <a:solidFill>
              <a:schemeClr val="tx1"/>
            </a:solidFill>
          </a:ln>
        </p:spPr>
      </p:pic>
      <p:pic>
        <p:nvPicPr>
          <p:cNvPr id="7" name="Picture 6">
            <a:extLst>
              <a:ext uri="{FF2B5EF4-FFF2-40B4-BE49-F238E27FC236}">
                <a16:creationId xmlns:a16="http://schemas.microsoft.com/office/drawing/2014/main" id="{638DF719-77EF-3DE5-2AD0-1E1DBE7C7ECD}"/>
              </a:ext>
            </a:extLst>
          </p:cNvPr>
          <p:cNvPicPr>
            <a:picLocks noChangeAspect="1"/>
          </p:cNvPicPr>
          <p:nvPr/>
        </p:nvPicPr>
        <p:blipFill>
          <a:blip r:embed="rId3"/>
          <a:stretch>
            <a:fillRect/>
          </a:stretch>
        </p:blipFill>
        <p:spPr>
          <a:xfrm>
            <a:off x="5334438" y="2049177"/>
            <a:ext cx="3962953" cy="4139588"/>
          </a:xfrm>
          <a:prstGeom prst="rect">
            <a:avLst/>
          </a:prstGeom>
          <a:ln w="28575">
            <a:solidFill>
              <a:schemeClr val="tx1"/>
            </a:solidFill>
          </a:ln>
        </p:spPr>
      </p:pic>
    </p:spTree>
    <p:extLst>
      <p:ext uri="{BB962C8B-B14F-4D97-AF65-F5344CB8AC3E}">
        <p14:creationId xmlns:p14="http://schemas.microsoft.com/office/powerpoint/2010/main" val="147374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DF2B-7B62-EF70-BA5C-A4EBB048E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DF79C-8693-73DC-0694-92A5D70E7AB3}"/>
              </a:ext>
            </a:extLst>
          </p:cNvPr>
          <p:cNvSpPr>
            <a:spLocks noGrp="1"/>
          </p:cNvSpPr>
          <p:nvPr>
            <p:ph type="title"/>
          </p:nvPr>
        </p:nvSpPr>
        <p:spPr>
          <a:xfrm>
            <a:off x="838200" y="182246"/>
            <a:ext cx="10515600" cy="443258"/>
          </a:xfrm>
        </p:spPr>
        <p:txBody>
          <a:bodyPr>
            <a:normAutofit/>
          </a:bodyPr>
          <a:lstStyle/>
          <a:p>
            <a:r>
              <a:rPr lang="en-US" sz="2400" dirty="0" err="1"/>
              <a:t>Pl_Simulate_Date_File_Checker</a:t>
            </a:r>
            <a:endParaRPr lang="en-ZA" sz="2400" dirty="0"/>
          </a:p>
        </p:txBody>
      </p:sp>
      <p:pic>
        <p:nvPicPr>
          <p:cNvPr id="5" name="Content Placeholder 4">
            <a:extLst>
              <a:ext uri="{FF2B5EF4-FFF2-40B4-BE49-F238E27FC236}">
                <a16:creationId xmlns:a16="http://schemas.microsoft.com/office/drawing/2014/main" id="{5EE218E9-69AE-7B32-4857-00E6BF067599}"/>
              </a:ext>
            </a:extLst>
          </p:cNvPr>
          <p:cNvPicPr>
            <a:picLocks noGrp="1" noChangeAspect="1"/>
          </p:cNvPicPr>
          <p:nvPr>
            <p:ph idx="1"/>
          </p:nvPr>
        </p:nvPicPr>
        <p:blipFill>
          <a:blip r:embed="rId3"/>
          <a:stretch>
            <a:fillRect/>
          </a:stretch>
        </p:blipFill>
        <p:spPr>
          <a:xfrm>
            <a:off x="472439" y="625504"/>
            <a:ext cx="10515600" cy="3022395"/>
          </a:xfrm>
          <a:prstGeom prst="rect">
            <a:avLst/>
          </a:prstGeom>
          <a:ln w="28575">
            <a:solidFill>
              <a:schemeClr val="tx1"/>
            </a:solidFill>
          </a:ln>
        </p:spPr>
      </p:pic>
      <p:sp>
        <p:nvSpPr>
          <p:cNvPr id="6" name="TextBox 5">
            <a:extLst>
              <a:ext uri="{FF2B5EF4-FFF2-40B4-BE49-F238E27FC236}">
                <a16:creationId xmlns:a16="http://schemas.microsoft.com/office/drawing/2014/main" id="{C4BD4D15-316D-F412-37F6-A7DBF03CB705}"/>
              </a:ext>
            </a:extLst>
          </p:cNvPr>
          <p:cNvSpPr txBox="1"/>
          <p:nvPr/>
        </p:nvSpPr>
        <p:spPr>
          <a:xfrm flipH="1">
            <a:off x="472439" y="3721825"/>
            <a:ext cx="6176554" cy="369332"/>
          </a:xfrm>
          <a:prstGeom prst="rect">
            <a:avLst/>
          </a:prstGeom>
          <a:noFill/>
        </p:spPr>
        <p:txBody>
          <a:bodyPr wrap="square" rtlCol="0">
            <a:spAutoFit/>
          </a:bodyPr>
          <a:lstStyle/>
          <a:p>
            <a:r>
              <a:rPr lang="en-US" dirty="0" err="1"/>
              <a:t>pl_Backtest_Contract_Accelerator</a:t>
            </a:r>
            <a:endParaRPr lang="en-ZA" dirty="0"/>
          </a:p>
        </p:txBody>
      </p:sp>
      <p:pic>
        <p:nvPicPr>
          <p:cNvPr id="8" name="Picture 7">
            <a:extLst>
              <a:ext uri="{FF2B5EF4-FFF2-40B4-BE49-F238E27FC236}">
                <a16:creationId xmlns:a16="http://schemas.microsoft.com/office/drawing/2014/main" id="{373D3DB2-D088-2372-21B2-A3F947600DB3}"/>
              </a:ext>
            </a:extLst>
          </p:cNvPr>
          <p:cNvPicPr>
            <a:picLocks noChangeAspect="1"/>
          </p:cNvPicPr>
          <p:nvPr/>
        </p:nvPicPr>
        <p:blipFill>
          <a:blip r:embed="rId4"/>
          <a:stretch>
            <a:fillRect/>
          </a:stretch>
        </p:blipFill>
        <p:spPr>
          <a:xfrm>
            <a:off x="694640" y="4383846"/>
            <a:ext cx="10071198" cy="2043079"/>
          </a:xfrm>
          <a:prstGeom prst="rect">
            <a:avLst/>
          </a:prstGeom>
          <a:ln w="28575">
            <a:solidFill>
              <a:schemeClr val="tx1"/>
            </a:solidFill>
          </a:ln>
        </p:spPr>
      </p:pic>
    </p:spTree>
    <p:extLst>
      <p:ext uri="{BB962C8B-B14F-4D97-AF65-F5344CB8AC3E}">
        <p14:creationId xmlns:p14="http://schemas.microsoft.com/office/powerpoint/2010/main" val="1199593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5BE19-6154-96E9-B703-CF46E9FA9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30B06-5398-3E0B-C4DB-9C13D481A622}"/>
              </a:ext>
            </a:extLst>
          </p:cNvPr>
          <p:cNvSpPr>
            <a:spLocks noGrp="1"/>
          </p:cNvSpPr>
          <p:nvPr>
            <p:ph type="title"/>
          </p:nvPr>
        </p:nvSpPr>
        <p:spPr>
          <a:xfrm>
            <a:off x="838200" y="365125"/>
            <a:ext cx="10515600" cy="483961"/>
          </a:xfrm>
        </p:spPr>
        <p:txBody>
          <a:bodyPr>
            <a:normAutofit fontScale="90000"/>
          </a:bodyPr>
          <a:lstStyle/>
          <a:p>
            <a:r>
              <a:rPr lang="en-US" sz="2400" b="1" dirty="0" err="1">
                <a:solidFill>
                  <a:srgbClr val="FF0000"/>
                </a:solidFill>
              </a:rPr>
              <a:t>Pl_Simulate</a:t>
            </a:r>
            <a:r>
              <a:rPr lang="en-US" sz="2400" b="1" dirty="0">
                <a:solidFill>
                  <a:srgbClr val="FF0000"/>
                </a:solidFill>
              </a:rPr>
              <a:t> _</a:t>
            </a:r>
            <a:r>
              <a:rPr lang="en-US" sz="2400" b="1" dirty="0" err="1">
                <a:solidFill>
                  <a:srgbClr val="FF0000"/>
                </a:solidFill>
              </a:rPr>
              <a:t>File_Checker</a:t>
            </a:r>
            <a:r>
              <a:rPr lang="en-US" sz="2400" b="1" dirty="0">
                <a:solidFill>
                  <a:srgbClr val="FF0000"/>
                </a:solidFill>
              </a:rPr>
              <a:t> </a:t>
            </a:r>
            <a:r>
              <a:rPr lang="en-US" sz="2400" dirty="0"/>
              <a:t>At present these are the </a:t>
            </a:r>
            <a:r>
              <a:rPr lang="en-US" sz="2400" dirty="0" err="1"/>
              <a:t>parametres</a:t>
            </a:r>
            <a:r>
              <a:rPr lang="en-US" sz="2400" dirty="0"/>
              <a:t> and variables declared in the main pipeline </a:t>
            </a:r>
            <a:endParaRPr lang="en-ZA" sz="2400" dirty="0"/>
          </a:p>
        </p:txBody>
      </p:sp>
      <p:pic>
        <p:nvPicPr>
          <p:cNvPr id="5" name="Content Placeholder 4">
            <a:extLst>
              <a:ext uri="{FF2B5EF4-FFF2-40B4-BE49-F238E27FC236}">
                <a16:creationId xmlns:a16="http://schemas.microsoft.com/office/drawing/2014/main" id="{16B20B18-C39B-1B67-2C56-AC42CA975D6B}"/>
              </a:ext>
            </a:extLst>
          </p:cNvPr>
          <p:cNvPicPr>
            <a:picLocks noGrp="1" noChangeAspect="1"/>
          </p:cNvPicPr>
          <p:nvPr>
            <p:ph idx="1"/>
          </p:nvPr>
        </p:nvPicPr>
        <p:blipFill>
          <a:blip r:embed="rId3"/>
          <a:stretch>
            <a:fillRect/>
          </a:stretch>
        </p:blipFill>
        <p:spPr>
          <a:xfrm>
            <a:off x="1112519" y="1332115"/>
            <a:ext cx="8985069" cy="4193770"/>
          </a:xfrm>
          <a:prstGeom prst="rect">
            <a:avLst/>
          </a:prstGeom>
          <a:ln w="38100">
            <a:solidFill>
              <a:schemeClr val="tx1"/>
            </a:solidFill>
          </a:ln>
        </p:spPr>
      </p:pic>
    </p:spTree>
    <p:extLst>
      <p:ext uri="{BB962C8B-B14F-4D97-AF65-F5344CB8AC3E}">
        <p14:creationId xmlns:p14="http://schemas.microsoft.com/office/powerpoint/2010/main" val="2672167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B1FBE-DA0E-5B5D-09D8-3089FA214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7806A-8A70-41E7-CE3B-1B203561A002}"/>
              </a:ext>
            </a:extLst>
          </p:cNvPr>
          <p:cNvSpPr>
            <a:spLocks noGrp="1"/>
          </p:cNvSpPr>
          <p:nvPr>
            <p:ph type="title"/>
          </p:nvPr>
        </p:nvSpPr>
        <p:spPr>
          <a:xfrm>
            <a:off x="838200" y="365126"/>
            <a:ext cx="10515600" cy="562338"/>
          </a:xfrm>
        </p:spPr>
        <p:txBody>
          <a:bodyPr>
            <a:normAutofit/>
          </a:bodyPr>
          <a:lstStyle/>
          <a:p>
            <a:r>
              <a:rPr lang="en-US" sz="2400" dirty="0"/>
              <a:t>Variables: Many Variables Set in the Different variable blocks and discussed there</a:t>
            </a:r>
            <a:endParaRPr lang="en-ZA" sz="2400" dirty="0"/>
          </a:p>
        </p:txBody>
      </p:sp>
      <p:pic>
        <p:nvPicPr>
          <p:cNvPr id="5" name="Content Placeholder 4">
            <a:extLst>
              <a:ext uri="{FF2B5EF4-FFF2-40B4-BE49-F238E27FC236}">
                <a16:creationId xmlns:a16="http://schemas.microsoft.com/office/drawing/2014/main" id="{E4143255-2DF7-838C-8DCE-9754F5871B65}"/>
              </a:ext>
            </a:extLst>
          </p:cNvPr>
          <p:cNvPicPr>
            <a:picLocks noGrp="1" noChangeAspect="1"/>
          </p:cNvPicPr>
          <p:nvPr>
            <p:ph idx="1"/>
          </p:nvPr>
        </p:nvPicPr>
        <p:blipFill>
          <a:blip r:embed="rId3"/>
          <a:stretch>
            <a:fillRect/>
          </a:stretch>
        </p:blipFill>
        <p:spPr>
          <a:xfrm>
            <a:off x="446315" y="1066148"/>
            <a:ext cx="6049219" cy="3153215"/>
          </a:xfrm>
          <a:prstGeom prst="rect">
            <a:avLst/>
          </a:prstGeom>
        </p:spPr>
      </p:pic>
      <p:pic>
        <p:nvPicPr>
          <p:cNvPr id="7" name="Picture 6">
            <a:extLst>
              <a:ext uri="{FF2B5EF4-FFF2-40B4-BE49-F238E27FC236}">
                <a16:creationId xmlns:a16="http://schemas.microsoft.com/office/drawing/2014/main" id="{40727B01-9852-498A-605C-F048BB7365D0}"/>
              </a:ext>
            </a:extLst>
          </p:cNvPr>
          <p:cNvPicPr>
            <a:picLocks noChangeAspect="1"/>
          </p:cNvPicPr>
          <p:nvPr/>
        </p:nvPicPr>
        <p:blipFill>
          <a:blip r:embed="rId4"/>
          <a:stretch>
            <a:fillRect/>
          </a:stretch>
        </p:blipFill>
        <p:spPr>
          <a:xfrm>
            <a:off x="6779622" y="1066148"/>
            <a:ext cx="5069897" cy="3258005"/>
          </a:xfrm>
          <a:prstGeom prst="rect">
            <a:avLst/>
          </a:prstGeom>
        </p:spPr>
      </p:pic>
      <p:pic>
        <p:nvPicPr>
          <p:cNvPr id="9" name="Picture 8">
            <a:extLst>
              <a:ext uri="{FF2B5EF4-FFF2-40B4-BE49-F238E27FC236}">
                <a16:creationId xmlns:a16="http://schemas.microsoft.com/office/drawing/2014/main" id="{8F695D06-45F2-315D-EFB6-2D147CA7F78C}"/>
              </a:ext>
            </a:extLst>
          </p:cNvPr>
          <p:cNvPicPr>
            <a:picLocks noChangeAspect="1"/>
          </p:cNvPicPr>
          <p:nvPr/>
        </p:nvPicPr>
        <p:blipFill>
          <a:blip r:embed="rId5"/>
          <a:stretch>
            <a:fillRect/>
          </a:stretch>
        </p:blipFill>
        <p:spPr>
          <a:xfrm>
            <a:off x="6323781" y="4860657"/>
            <a:ext cx="5868219" cy="1238423"/>
          </a:xfrm>
          <a:prstGeom prst="rect">
            <a:avLst/>
          </a:prstGeom>
        </p:spPr>
      </p:pic>
    </p:spTree>
    <p:extLst>
      <p:ext uri="{BB962C8B-B14F-4D97-AF65-F5344CB8AC3E}">
        <p14:creationId xmlns:p14="http://schemas.microsoft.com/office/powerpoint/2010/main" val="2040144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3952D-14E4-CF9D-CC5A-93591488D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D82AA-4717-7E3C-F67A-CA9105DB5461}"/>
              </a:ext>
            </a:extLst>
          </p:cNvPr>
          <p:cNvSpPr>
            <a:spLocks noGrp="1"/>
          </p:cNvSpPr>
          <p:nvPr>
            <p:ph type="title"/>
          </p:nvPr>
        </p:nvSpPr>
        <p:spPr>
          <a:xfrm>
            <a:off x="838200" y="365126"/>
            <a:ext cx="10515600" cy="510086"/>
          </a:xfrm>
        </p:spPr>
        <p:txBody>
          <a:bodyPr>
            <a:normAutofit fontScale="90000"/>
          </a:bodyPr>
          <a:lstStyle/>
          <a:p>
            <a:r>
              <a:rPr lang="en-US" dirty="0"/>
              <a:t>Pipeline Trigger time Block </a:t>
            </a:r>
            <a:endParaRPr lang="en-ZA" dirty="0"/>
          </a:p>
        </p:txBody>
      </p:sp>
      <p:pic>
        <p:nvPicPr>
          <p:cNvPr id="5" name="Content Placeholder 4">
            <a:extLst>
              <a:ext uri="{FF2B5EF4-FFF2-40B4-BE49-F238E27FC236}">
                <a16:creationId xmlns:a16="http://schemas.microsoft.com/office/drawing/2014/main" id="{64BDE28D-E0F4-6D7A-24D1-75669BC7FA29}"/>
              </a:ext>
            </a:extLst>
          </p:cNvPr>
          <p:cNvPicPr>
            <a:picLocks noGrp="1" noChangeAspect="1"/>
          </p:cNvPicPr>
          <p:nvPr>
            <p:ph idx="1"/>
          </p:nvPr>
        </p:nvPicPr>
        <p:blipFill>
          <a:blip r:embed="rId3"/>
          <a:stretch>
            <a:fillRect/>
          </a:stretch>
        </p:blipFill>
        <p:spPr>
          <a:xfrm>
            <a:off x="331102" y="1253331"/>
            <a:ext cx="4580355" cy="4351338"/>
          </a:xfrm>
          <a:prstGeom prst="rect">
            <a:avLst/>
          </a:prstGeom>
          <a:ln w="28575">
            <a:solidFill>
              <a:schemeClr val="tx1"/>
            </a:solidFill>
          </a:ln>
        </p:spPr>
      </p:pic>
    </p:spTree>
    <p:extLst>
      <p:ext uri="{BB962C8B-B14F-4D97-AF65-F5344CB8AC3E}">
        <p14:creationId xmlns:p14="http://schemas.microsoft.com/office/powerpoint/2010/main" val="3341767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31DD2-D1BB-EEFD-B2C2-F8CA77D5F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64418-C7B2-54EB-D6B1-668CF0BF53AE}"/>
              </a:ext>
            </a:extLst>
          </p:cNvPr>
          <p:cNvSpPr>
            <a:spLocks noGrp="1"/>
          </p:cNvSpPr>
          <p:nvPr>
            <p:ph type="title"/>
          </p:nvPr>
        </p:nvSpPr>
        <p:spPr>
          <a:xfrm>
            <a:off x="838200" y="365126"/>
            <a:ext cx="10515600" cy="470897"/>
          </a:xfrm>
        </p:spPr>
        <p:txBody>
          <a:bodyPr>
            <a:normAutofit fontScale="90000"/>
          </a:bodyPr>
          <a:lstStyle/>
          <a:p>
            <a:r>
              <a:rPr lang="en-US" dirty="0"/>
              <a:t>Invoke Accelerator Block.</a:t>
            </a:r>
            <a:endParaRPr lang="en-ZA" dirty="0"/>
          </a:p>
        </p:txBody>
      </p:sp>
      <p:pic>
        <p:nvPicPr>
          <p:cNvPr id="5" name="Content Placeholder 4">
            <a:extLst>
              <a:ext uri="{FF2B5EF4-FFF2-40B4-BE49-F238E27FC236}">
                <a16:creationId xmlns:a16="http://schemas.microsoft.com/office/drawing/2014/main" id="{690F06A4-4BA9-6107-1336-C4A564C6BB60}"/>
              </a:ext>
            </a:extLst>
          </p:cNvPr>
          <p:cNvPicPr>
            <a:picLocks noGrp="1" noChangeAspect="1"/>
          </p:cNvPicPr>
          <p:nvPr>
            <p:ph idx="1"/>
          </p:nvPr>
        </p:nvPicPr>
        <p:blipFill>
          <a:blip r:embed="rId3"/>
          <a:stretch>
            <a:fillRect/>
          </a:stretch>
        </p:blipFill>
        <p:spPr>
          <a:xfrm>
            <a:off x="1476102" y="1710531"/>
            <a:ext cx="9562011" cy="4351338"/>
          </a:xfrm>
          <a:prstGeom prst="rect">
            <a:avLst/>
          </a:prstGeom>
        </p:spPr>
      </p:pic>
    </p:spTree>
    <p:extLst>
      <p:ext uri="{BB962C8B-B14F-4D97-AF65-F5344CB8AC3E}">
        <p14:creationId xmlns:p14="http://schemas.microsoft.com/office/powerpoint/2010/main" val="97371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0215C-8046-86A0-CADF-356B0EA38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14639-2BBD-6F50-546D-2F5CA59F89C4}"/>
              </a:ext>
            </a:extLst>
          </p:cNvPr>
          <p:cNvSpPr>
            <a:spLocks noGrp="1"/>
          </p:cNvSpPr>
          <p:nvPr>
            <p:ph type="title"/>
          </p:nvPr>
        </p:nvSpPr>
        <p:spPr>
          <a:xfrm>
            <a:off x="838200" y="365126"/>
            <a:ext cx="10515600" cy="745218"/>
          </a:xfrm>
        </p:spPr>
        <p:txBody>
          <a:bodyPr/>
          <a:lstStyle/>
          <a:p>
            <a:r>
              <a:rPr lang="en-US" dirty="0"/>
              <a:t>Pl child Accelerator </a:t>
            </a:r>
            <a:endParaRPr lang="en-ZA" dirty="0"/>
          </a:p>
        </p:txBody>
      </p:sp>
      <p:pic>
        <p:nvPicPr>
          <p:cNvPr id="5" name="Content Placeholder 4">
            <a:extLst>
              <a:ext uri="{FF2B5EF4-FFF2-40B4-BE49-F238E27FC236}">
                <a16:creationId xmlns:a16="http://schemas.microsoft.com/office/drawing/2014/main" id="{2C64FAB9-F17A-88B9-4D91-326581756FD5}"/>
              </a:ext>
            </a:extLst>
          </p:cNvPr>
          <p:cNvPicPr>
            <a:picLocks noGrp="1" noChangeAspect="1"/>
          </p:cNvPicPr>
          <p:nvPr>
            <p:ph idx="1"/>
          </p:nvPr>
        </p:nvPicPr>
        <p:blipFill>
          <a:blip r:embed="rId3"/>
          <a:stretch>
            <a:fillRect/>
          </a:stretch>
        </p:blipFill>
        <p:spPr>
          <a:xfrm>
            <a:off x="1084660" y="1472928"/>
            <a:ext cx="6678590" cy="4351338"/>
          </a:xfrm>
          <a:prstGeom prst="rect">
            <a:avLst/>
          </a:prstGeom>
        </p:spPr>
      </p:pic>
    </p:spTree>
    <p:extLst>
      <p:ext uri="{BB962C8B-B14F-4D97-AF65-F5344CB8AC3E}">
        <p14:creationId xmlns:p14="http://schemas.microsoft.com/office/powerpoint/2010/main" val="1587985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196C2-F7FE-72A6-E29F-164DE9860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C1182-BAE2-E65B-B320-D94B16FA4C73}"/>
              </a:ext>
            </a:extLst>
          </p:cNvPr>
          <p:cNvSpPr>
            <a:spLocks noGrp="1"/>
          </p:cNvSpPr>
          <p:nvPr>
            <p:ph type="title"/>
          </p:nvPr>
        </p:nvSpPr>
        <p:spPr>
          <a:xfrm>
            <a:off x="838200" y="365126"/>
            <a:ext cx="10515600" cy="653778"/>
          </a:xfrm>
        </p:spPr>
        <p:txBody>
          <a:bodyPr>
            <a:normAutofit fontScale="90000"/>
          </a:bodyPr>
          <a:lstStyle/>
          <a:p>
            <a:r>
              <a:rPr lang="en-US" dirty="0" err="1"/>
              <a:t>Pl_child_Accelerator</a:t>
            </a:r>
            <a:r>
              <a:rPr lang="en-US" dirty="0"/>
              <a:t> :Elapsed Minutes </a:t>
            </a:r>
            <a:endParaRPr lang="en-ZA" dirty="0"/>
          </a:p>
        </p:txBody>
      </p:sp>
      <p:pic>
        <p:nvPicPr>
          <p:cNvPr id="5" name="Content Placeholder 4">
            <a:extLst>
              <a:ext uri="{FF2B5EF4-FFF2-40B4-BE49-F238E27FC236}">
                <a16:creationId xmlns:a16="http://schemas.microsoft.com/office/drawing/2014/main" id="{1F8FD91A-A0E9-1126-D567-4F1F184BAE1C}"/>
              </a:ext>
            </a:extLst>
          </p:cNvPr>
          <p:cNvPicPr>
            <a:picLocks noGrp="1" noChangeAspect="1"/>
          </p:cNvPicPr>
          <p:nvPr>
            <p:ph idx="1"/>
          </p:nvPr>
        </p:nvPicPr>
        <p:blipFill>
          <a:blip r:embed="rId3"/>
          <a:stretch>
            <a:fillRect/>
          </a:stretch>
        </p:blipFill>
        <p:spPr>
          <a:xfrm>
            <a:off x="339962" y="1443394"/>
            <a:ext cx="5446883" cy="4305901"/>
          </a:xfrm>
          <a:prstGeom prst="rect">
            <a:avLst/>
          </a:prstGeom>
          <a:ln w="28575">
            <a:solidFill>
              <a:schemeClr val="tx1"/>
            </a:solidFill>
          </a:ln>
        </p:spPr>
      </p:pic>
      <p:pic>
        <p:nvPicPr>
          <p:cNvPr id="7" name="Picture 6">
            <a:extLst>
              <a:ext uri="{FF2B5EF4-FFF2-40B4-BE49-F238E27FC236}">
                <a16:creationId xmlns:a16="http://schemas.microsoft.com/office/drawing/2014/main" id="{63ECD225-4D86-DF71-3EFA-1DAE4D54CE27}"/>
              </a:ext>
            </a:extLst>
          </p:cNvPr>
          <p:cNvPicPr>
            <a:picLocks noChangeAspect="1"/>
          </p:cNvPicPr>
          <p:nvPr/>
        </p:nvPicPr>
        <p:blipFill>
          <a:blip r:embed="rId4"/>
          <a:stretch>
            <a:fillRect/>
          </a:stretch>
        </p:blipFill>
        <p:spPr>
          <a:xfrm>
            <a:off x="6152424" y="1310025"/>
            <a:ext cx="5201376" cy="4572638"/>
          </a:xfrm>
          <a:prstGeom prst="rect">
            <a:avLst/>
          </a:prstGeom>
          <a:ln w="28575">
            <a:solidFill>
              <a:schemeClr val="tx1"/>
            </a:solidFill>
          </a:ln>
        </p:spPr>
      </p:pic>
    </p:spTree>
    <p:extLst>
      <p:ext uri="{BB962C8B-B14F-4D97-AF65-F5344CB8AC3E}">
        <p14:creationId xmlns:p14="http://schemas.microsoft.com/office/powerpoint/2010/main" val="3933730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5928B-29A2-F91B-58D1-1094C4E0F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0CDCD-01FB-8A1F-1AEE-075992C15F68}"/>
              </a:ext>
            </a:extLst>
          </p:cNvPr>
          <p:cNvSpPr>
            <a:spLocks noGrp="1"/>
          </p:cNvSpPr>
          <p:nvPr>
            <p:ph type="title"/>
          </p:nvPr>
        </p:nvSpPr>
        <p:spPr>
          <a:xfrm>
            <a:off x="838200" y="365125"/>
            <a:ext cx="10515600" cy="706029"/>
          </a:xfrm>
        </p:spPr>
        <p:txBody>
          <a:bodyPr/>
          <a:lstStyle/>
          <a:p>
            <a:r>
              <a:rPr lang="en-US" dirty="0" err="1"/>
              <a:t>Pl_child_Accelerator</a:t>
            </a:r>
            <a:r>
              <a:rPr lang="en-US" dirty="0"/>
              <a:t> : Iterations </a:t>
            </a:r>
            <a:endParaRPr lang="en-ZA" dirty="0"/>
          </a:p>
        </p:txBody>
      </p:sp>
      <p:pic>
        <p:nvPicPr>
          <p:cNvPr id="5" name="Content Placeholder 4">
            <a:extLst>
              <a:ext uri="{FF2B5EF4-FFF2-40B4-BE49-F238E27FC236}">
                <a16:creationId xmlns:a16="http://schemas.microsoft.com/office/drawing/2014/main" id="{9DF6585A-6BA6-AED4-3780-3B060059A1AB}"/>
              </a:ext>
            </a:extLst>
          </p:cNvPr>
          <p:cNvPicPr>
            <a:picLocks noGrp="1" noChangeAspect="1"/>
          </p:cNvPicPr>
          <p:nvPr>
            <p:ph idx="1"/>
          </p:nvPr>
        </p:nvPicPr>
        <p:blipFill>
          <a:blip r:embed="rId3"/>
          <a:stretch>
            <a:fillRect/>
          </a:stretch>
        </p:blipFill>
        <p:spPr>
          <a:xfrm>
            <a:off x="838200" y="1512116"/>
            <a:ext cx="3988082" cy="4351338"/>
          </a:xfrm>
          <a:prstGeom prst="rect">
            <a:avLst/>
          </a:prstGeom>
        </p:spPr>
      </p:pic>
      <p:pic>
        <p:nvPicPr>
          <p:cNvPr id="7" name="Picture 6">
            <a:extLst>
              <a:ext uri="{FF2B5EF4-FFF2-40B4-BE49-F238E27FC236}">
                <a16:creationId xmlns:a16="http://schemas.microsoft.com/office/drawing/2014/main" id="{F12BCD5A-4C29-8DFF-F8B5-D19A764167E7}"/>
              </a:ext>
            </a:extLst>
          </p:cNvPr>
          <p:cNvPicPr>
            <a:picLocks noChangeAspect="1"/>
          </p:cNvPicPr>
          <p:nvPr/>
        </p:nvPicPr>
        <p:blipFill>
          <a:blip r:embed="rId4"/>
          <a:stretch>
            <a:fillRect/>
          </a:stretch>
        </p:blipFill>
        <p:spPr>
          <a:xfrm>
            <a:off x="5724441" y="1372887"/>
            <a:ext cx="5106113" cy="4629796"/>
          </a:xfrm>
          <a:prstGeom prst="rect">
            <a:avLst/>
          </a:prstGeom>
        </p:spPr>
      </p:pic>
    </p:spTree>
    <p:extLst>
      <p:ext uri="{BB962C8B-B14F-4D97-AF65-F5344CB8AC3E}">
        <p14:creationId xmlns:p14="http://schemas.microsoft.com/office/powerpoint/2010/main" val="2081455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B1C2E-D9FD-6E39-D112-F91612D421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4743F-4D67-1433-0371-1338F3C43EE2}"/>
              </a:ext>
            </a:extLst>
          </p:cNvPr>
          <p:cNvSpPr>
            <a:spLocks noGrp="1"/>
          </p:cNvSpPr>
          <p:nvPr>
            <p:ph type="title"/>
          </p:nvPr>
        </p:nvSpPr>
        <p:spPr>
          <a:xfrm>
            <a:off x="838200" y="347616"/>
            <a:ext cx="10515600" cy="666841"/>
          </a:xfrm>
        </p:spPr>
        <p:txBody>
          <a:bodyPr>
            <a:normAutofit fontScale="90000"/>
          </a:bodyPr>
          <a:lstStyle/>
          <a:p>
            <a:r>
              <a:rPr lang="en-US" dirty="0" err="1"/>
              <a:t>Pl_child_accelerator:Iterations</a:t>
            </a:r>
            <a:r>
              <a:rPr lang="en-US" dirty="0"/>
              <a:t> out : Return Pipeline </a:t>
            </a:r>
            <a:r>
              <a:rPr lang="en-US" dirty="0" err="1"/>
              <a:t>Varaibales</a:t>
            </a:r>
            <a:r>
              <a:rPr lang="en-US" dirty="0"/>
              <a:t> </a:t>
            </a:r>
            <a:endParaRPr lang="en-ZA" dirty="0"/>
          </a:p>
        </p:txBody>
      </p:sp>
      <p:pic>
        <p:nvPicPr>
          <p:cNvPr id="5" name="Content Placeholder 4">
            <a:extLst>
              <a:ext uri="{FF2B5EF4-FFF2-40B4-BE49-F238E27FC236}">
                <a16:creationId xmlns:a16="http://schemas.microsoft.com/office/drawing/2014/main" id="{FF0476AC-DA8E-079C-0988-9CD0144D6E32}"/>
              </a:ext>
            </a:extLst>
          </p:cNvPr>
          <p:cNvPicPr>
            <a:picLocks noGrp="1" noChangeAspect="1"/>
          </p:cNvPicPr>
          <p:nvPr>
            <p:ph idx="1"/>
          </p:nvPr>
        </p:nvPicPr>
        <p:blipFill>
          <a:blip r:embed="rId3"/>
          <a:stretch>
            <a:fillRect/>
          </a:stretch>
        </p:blipFill>
        <p:spPr>
          <a:xfrm>
            <a:off x="838200" y="1681934"/>
            <a:ext cx="6211961" cy="4351338"/>
          </a:xfrm>
          <a:prstGeom prst="rect">
            <a:avLst/>
          </a:prstGeom>
        </p:spPr>
      </p:pic>
    </p:spTree>
    <p:extLst>
      <p:ext uri="{BB962C8B-B14F-4D97-AF65-F5344CB8AC3E}">
        <p14:creationId xmlns:p14="http://schemas.microsoft.com/office/powerpoint/2010/main" val="3717608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7A2EF-406E-D02D-82D8-E2D4386A2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32D68-2016-C9E1-723B-48F7F4561963}"/>
              </a:ext>
            </a:extLst>
          </p:cNvPr>
          <p:cNvSpPr>
            <a:spLocks noGrp="1"/>
          </p:cNvSpPr>
          <p:nvPr>
            <p:ph type="title"/>
          </p:nvPr>
        </p:nvSpPr>
        <p:spPr>
          <a:xfrm>
            <a:off x="1243149" y="386805"/>
            <a:ext cx="10515600" cy="588464"/>
          </a:xfrm>
        </p:spPr>
        <p:txBody>
          <a:bodyPr>
            <a:normAutofit/>
          </a:bodyPr>
          <a:lstStyle/>
          <a:p>
            <a:r>
              <a:rPr lang="en-US" sz="2400" dirty="0"/>
              <a:t>Continuing with </a:t>
            </a:r>
            <a:r>
              <a:rPr lang="en-US" sz="2400" dirty="0" err="1"/>
              <a:t>pl_simulate</a:t>
            </a:r>
            <a:r>
              <a:rPr lang="en-US" sz="2400" dirty="0"/>
              <a:t> Date File Checker : </a:t>
            </a:r>
            <a:r>
              <a:rPr lang="en-US" sz="2400" dirty="0" err="1"/>
              <a:t>SetAnyDate</a:t>
            </a:r>
            <a:endParaRPr lang="en-ZA" sz="2400" dirty="0"/>
          </a:p>
        </p:txBody>
      </p:sp>
      <p:pic>
        <p:nvPicPr>
          <p:cNvPr id="5" name="Content Placeholder 4">
            <a:extLst>
              <a:ext uri="{FF2B5EF4-FFF2-40B4-BE49-F238E27FC236}">
                <a16:creationId xmlns:a16="http://schemas.microsoft.com/office/drawing/2014/main" id="{36B4CD55-AFFA-6D58-91E6-BDC944EDB834}"/>
              </a:ext>
            </a:extLst>
          </p:cNvPr>
          <p:cNvPicPr>
            <a:picLocks noGrp="1" noChangeAspect="1"/>
          </p:cNvPicPr>
          <p:nvPr>
            <p:ph idx="1"/>
          </p:nvPr>
        </p:nvPicPr>
        <p:blipFill>
          <a:blip r:embed="rId3"/>
          <a:stretch>
            <a:fillRect/>
          </a:stretch>
        </p:blipFill>
        <p:spPr>
          <a:xfrm>
            <a:off x="529047" y="1694996"/>
            <a:ext cx="3923210" cy="4351338"/>
          </a:xfrm>
          <a:prstGeom prst="rect">
            <a:avLst/>
          </a:prstGeom>
          <a:ln w="38100">
            <a:solidFill>
              <a:schemeClr val="tx1"/>
            </a:solidFill>
          </a:ln>
        </p:spPr>
      </p:pic>
      <p:pic>
        <p:nvPicPr>
          <p:cNvPr id="7" name="Picture 6">
            <a:extLst>
              <a:ext uri="{FF2B5EF4-FFF2-40B4-BE49-F238E27FC236}">
                <a16:creationId xmlns:a16="http://schemas.microsoft.com/office/drawing/2014/main" id="{0F9C2126-CCD9-3DDE-2257-CBC6F897E150}"/>
              </a:ext>
            </a:extLst>
          </p:cNvPr>
          <p:cNvPicPr>
            <a:picLocks noChangeAspect="1"/>
          </p:cNvPicPr>
          <p:nvPr/>
        </p:nvPicPr>
        <p:blipFill>
          <a:blip r:embed="rId4"/>
          <a:stretch>
            <a:fillRect/>
          </a:stretch>
        </p:blipFill>
        <p:spPr>
          <a:xfrm>
            <a:off x="5497609" y="1533849"/>
            <a:ext cx="5115639" cy="4505954"/>
          </a:xfrm>
          <a:prstGeom prst="rect">
            <a:avLst/>
          </a:prstGeom>
          <a:ln w="28575">
            <a:solidFill>
              <a:schemeClr val="tx1"/>
            </a:solidFill>
          </a:ln>
        </p:spPr>
      </p:pic>
    </p:spTree>
    <p:extLst>
      <p:ext uri="{BB962C8B-B14F-4D97-AF65-F5344CB8AC3E}">
        <p14:creationId xmlns:p14="http://schemas.microsoft.com/office/powerpoint/2010/main" val="3425918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697B-35B3-D813-B6B6-9E5364297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A059D-2117-3302-BBE8-200B3B6AC598}"/>
              </a:ext>
            </a:extLst>
          </p:cNvPr>
          <p:cNvSpPr>
            <a:spLocks noGrp="1"/>
          </p:cNvSpPr>
          <p:nvPr>
            <p:ph type="title"/>
          </p:nvPr>
        </p:nvSpPr>
        <p:spPr>
          <a:xfrm>
            <a:off x="838200" y="365126"/>
            <a:ext cx="10515600" cy="235766"/>
          </a:xfrm>
        </p:spPr>
        <p:txBody>
          <a:bodyPr>
            <a:normAutofit fontScale="90000"/>
          </a:bodyPr>
          <a:lstStyle/>
          <a:p>
            <a:r>
              <a:rPr lang="en-US" dirty="0" err="1"/>
              <a:t>Pl_simulate_Date_File_Checker</a:t>
            </a:r>
            <a:r>
              <a:rPr lang="en-US" dirty="0"/>
              <a:t>: </a:t>
            </a:r>
            <a:endParaRPr lang="en-ZA" dirty="0"/>
          </a:p>
        </p:txBody>
      </p:sp>
      <p:pic>
        <p:nvPicPr>
          <p:cNvPr id="5" name="Content Placeholder 4">
            <a:extLst>
              <a:ext uri="{FF2B5EF4-FFF2-40B4-BE49-F238E27FC236}">
                <a16:creationId xmlns:a16="http://schemas.microsoft.com/office/drawing/2014/main" id="{B11E833E-A600-12A2-8BFB-EF2A6556AD1E}"/>
              </a:ext>
            </a:extLst>
          </p:cNvPr>
          <p:cNvPicPr>
            <a:picLocks noGrp="1" noChangeAspect="1"/>
          </p:cNvPicPr>
          <p:nvPr>
            <p:ph idx="1"/>
          </p:nvPr>
        </p:nvPicPr>
        <p:blipFill>
          <a:blip r:embed="rId3"/>
          <a:stretch>
            <a:fillRect/>
          </a:stretch>
        </p:blipFill>
        <p:spPr>
          <a:xfrm>
            <a:off x="1674223" y="1298319"/>
            <a:ext cx="8002117" cy="3652504"/>
          </a:xfrm>
          <a:prstGeom prst="rect">
            <a:avLst/>
          </a:prstGeom>
          <a:ln w="28575">
            <a:solidFill>
              <a:schemeClr val="tx1"/>
            </a:solidFill>
          </a:ln>
        </p:spPr>
      </p:pic>
    </p:spTree>
    <p:extLst>
      <p:ext uri="{BB962C8B-B14F-4D97-AF65-F5344CB8AC3E}">
        <p14:creationId xmlns:p14="http://schemas.microsoft.com/office/powerpoint/2010/main" val="1136180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7FE9-BF7F-16BE-6517-34CC2F10D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66086-336E-8333-D101-DC4A056AF908}"/>
              </a:ext>
            </a:extLst>
          </p:cNvPr>
          <p:cNvSpPr>
            <a:spLocks noGrp="1"/>
          </p:cNvSpPr>
          <p:nvPr>
            <p:ph type="title"/>
          </p:nvPr>
        </p:nvSpPr>
        <p:spPr>
          <a:xfrm>
            <a:off x="838200" y="365125"/>
            <a:ext cx="10515600" cy="549275"/>
          </a:xfrm>
        </p:spPr>
        <p:txBody>
          <a:bodyPr>
            <a:normAutofit/>
          </a:bodyPr>
          <a:lstStyle/>
          <a:p>
            <a:r>
              <a:rPr lang="en-ZA" sz="2400" dirty="0" err="1"/>
              <a:t>pl_Simulate_Date_File_Checker</a:t>
            </a:r>
            <a:r>
              <a:rPr lang="en-ZA" sz="2400" dirty="0"/>
              <a:t>;  Part 1 of File Checker</a:t>
            </a:r>
          </a:p>
        </p:txBody>
      </p:sp>
      <p:pic>
        <p:nvPicPr>
          <p:cNvPr id="5" name="Content Placeholder 4">
            <a:extLst>
              <a:ext uri="{FF2B5EF4-FFF2-40B4-BE49-F238E27FC236}">
                <a16:creationId xmlns:a16="http://schemas.microsoft.com/office/drawing/2014/main" id="{066EA387-0944-52BB-FDBC-7D2FC9C7A762}"/>
              </a:ext>
            </a:extLst>
          </p:cNvPr>
          <p:cNvPicPr>
            <a:picLocks noGrp="1" noChangeAspect="1"/>
          </p:cNvPicPr>
          <p:nvPr>
            <p:ph idx="1"/>
          </p:nvPr>
        </p:nvPicPr>
        <p:blipFill>
          <a:blip r:embed="rId3"/>
          <a:stretch>
            <a:fillRect/>
          </a:stretch>
        </p:blipFill>
        <p:spPr>
          <a:xfrm>
            <a:off x="130355" y="1093152"/>
            <a:ext cx="3226800" cy="2720249"/>
          </a:xfrm>
          <a:prstGeom prst="rect">
            <a:avLst/>
          </a:prstGeom>
          <a:ln w="28575">
            <a:solidFill>
              <a:schemeClr val="tx1"/>
            </a:solidFill>
          </a:ln>
        </p:spPr>
      </p:pic>
      <p:pic>
        <p:nvPicPr>
          <p:cNvPr id="7" name="Picture 6">
            <a:extLst>
              <a:ext uri="{FF2B5EF4-FFF2-40B4-BE49-F238E27FC236}">
                <a16:creationId xmlns:a16="http://schemas.microsoft.com/office/drawing/2014/main" id="{5989FF76-2BFE-C1BE-82B7-282EA234822F}"/>
              </a:ext>
            </a:extLst>
          </p:cNvPr>
          <p:cNvPicPr>
            <a:picLocks noChangeAspect="1"/>
          </p:cNvPicPr>
          <p:nvPr/>
        </p:nvPicPr>
        <p:blipFill>
          <a:blip r:embed="rId4"/>
          <a:stretch>
            <a:fillRect/>
          </a:stretch>
        </p:blipFill>
        <p:spPr>
          <a:xfrm>
            <a:off x="130355" y="4565404"/>
            <a:ext cx="3710126" cy="914528"/>
          </a:xfrm>
          <a:prstGeom prst="rect">
            <a:avLst/>
          </a:prstGeom>
          <a:ln w="28575">
            <a:solidFill>
              <a:schemeClr val="tx1"/>
            </a:solidFill>
          </a:ln>
        </p:spPr>
      </p:pic>
      <p:pic>
        <p:nvPicPr>
          <p:cNvPr id="9" name="Picture 8">
            <a:extLst>
              <a:ext uri="{FF2B5EF4-FFF2-40B4-BE49-F238E27FC236}">
                <a16:creationId xmlns:a16="http://schemas.microsoft.com/office/drawing/2014/main" id="{27ADC184-5D4A-950D-6E2A-A302E5EBDA4D}"/>
              </a:ext>
            </a:extLst>
          </p:cNvPr>
          <p:cNvPicPr>
            <a:picLocks noChangeAspect="1"/>
          </p:cNvPicPr>
          <p:nvPr/>
        </p:nvPicPr>
        <p:blipFill>
          <a:blip r:embed="rId5"/>
          <a:stretch>
            <a:fillRect/>
          </a:stretch>
        </p:blipFill>
        <p:spPr>
          <a:xfrm>
            <a:off x="3670664" y="1164520"/>
            <a:ext cx="3409406" cy="2577511"/>
          </a:xfrm>
          <a:prstGeom prst="rect">
            <a:avLst/>
          </a:prstGeom>
          <a:ln w="28575">
            <a:solidFill>
              <a:schemeClr val="tx1"/>
            </a:solidFill>
          </a:ln>
        </p:spPr>
      </p:pic>
      <p:pic>
        <p:nvPicPr>
          <p:cNvPr id="11" name="Picture 10">
            <a:extLst>
              <a:ext uri="{FF2B5EF4-FFF2-40B4-BE49-F238E27FC236}">
                <a16:creationId xmlns:a16="http://schemas.microsoft.com/office/drawing/2014/main" id="{379F720D-F57A-1F44-4732-309B2DAC21BA}"/>
              </a:ext>
            </a:extLst>
          </p:cNvPr>
          <p:cNvPicPr>
            <a:picLocks noChangeAspect="1"/>
          </p:cNvPicPr>
          <p:nvPr/>
        </p:nvPicPr>
        <p:blipFill>
          <a:blip r:embed="rId6"/>
          <a:stretch>
            <a:fillRect/>
          </a:stretch>
        </p:blipFill>
        <p:spPr>
          <a:xfrm>
            <a:off x="3840481" y="4441562"/>
            <a:ext cx="3265713" cy="1162212"/>
          </a:xfrm>
          <a:prstGeom prst="rect">
            <a:avLst/>
          </a:prstGeom>
          <a:ln w="28575">
            <a:solidFill>
              <a:schemeClr val="tx1"/>
            </a:solidFill>
          </a:ln>
        </p:spPr>
      </p:pic>
      <p:pic>
        <p:nvPicPr>
          <p:cNvPr id="13" name="Picture 12">
            <a:extLst>
              <a:ext uri="{FF2B5EF4-FFF2-40B4-BE49-F238E27FC236}">
                <a16:creationId xmlns:a16="http://schemas.microsoft.com/office/drawing/2014/main" id="{BA1BF62A-2290-1090-F6B2-EC805BB3276E}"/>
              </a:ext>
            </a:extLst>
          </p:cNvPr>
          <p:cNvPicPr>
            <a:picLocks noChangeAspect="1"/>
          </p:cNvPicPr>
          <p:nvPr/>
        </p:nvPicPr>
        <p:blipFill>
          <a:blip r:embed="rId7"/>
          <a:stretch>
            <a:fillRect/>
          </a:stretch>
        </p:blipFill>
        <p:spPr>
          <a:xfrm>
            <a:off x="7644642" y="1093152"/>
            <a:ext cx="3561548" cy="2551719"/>
          </a:xfrm>
          <a:prstGeom prst="rect">
            <a:avLst/>
          </a:prstGeom>
          <a:ln w="28575">
            <a:solidFill>
              <a:schemeClr val="tx1"/>
            </a:solidFill>
          </a:ln>
        </p:spPr>
      </p:pic>
      <p:pic>
        <p:nvPicPr>
          <p:cNvPr id="15" name="Picture 14">
            <a:extLst>
              <a:ext uri="{FF2B5EF4-FFF2-40B4-BE49-F238E27FC236}">
                <a16:creationId xmlns:a16="http://schemas.microsoft.com/office/drawing/2014/main" id="{15B3547B-5B02-3202-7096-5256279BE755}"/>
              </a:ext>
            </a:extLst>
          </p:cNvPr>
          <p:cNvPicPr>
            <a:picLocks noChangeAspect="1"/>
          </p:cNvPicPr>
          <p:nvPr/>
        </p:nvPicPr>
        <p:blipFill>
          <a:blip r:embed="rId8"/>
          <a:stretch>
            <a:fillRect/>
          </a:stretch>
        </p:blipFill>
        <p:spPr>
          <a:xfrm>
            <a:off x="7644642" y="4441562"/>
            <a:ext cx="3124636" cy="943107"/>
          </a:xfrm>
          <a:prstGeom prst="rect">
            <a:avLst/>
          </a:prstGeom>
          <a:ln w="28575">
            <a:solidFill>
              <a:schemeClr val="tx1"/>
            </a:solidFill>
          </a:ln>
        </p:spPr>
      </p:pic>
    </p:spTree>
    <p:extLst>
      <p:ext uri="{BB962C8B-B14F-4D97-AF65-F5344CB8AC3E}">
        <p14:creationId xmlns:p14="http://schemas.microsoft.com/office/powerpoint/2010/main" val="766000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9E260-DC73-1EC2-C00C-E544F132B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F7D8C-E531-69F1-A2A7-B35777D4F3AA}"/>
              </a:ext>
            </a:extLst>
          </p:cNvPr>
          <p:cNvSpPr>
            <a:spLocks noGrp="1"/>
          </p:cNvSpPr>
          <p:nvPr>
            <p:ph type="title"/>
          </p:nvPr>
        </p:nvSpPr>
        <p:spPr>
          <a:xfrm>
            <a:off x="838200" y="36949"/>
            <a:ext cx="10515600" cy="523149"/>
          </a:xfrm>
        </p:spPr>
        <p:txBody>
          <a:bodyPr>
            <a:normAutofit/>
          </a:bodyPr>
          <a:lstStyle/>
          <a:p>
            <a:r>
              <a:rPr lang="en-ZA" sz="2400" dirty="0" err="1"/>
              <a:t>pl_Simulate_Date_File_Checker</a:t>
            </a:r>
            <a:endParaRPr lang="en-ZA" sz="2400" dirty="0"/>
          </a:p>
        </p:txBody>
      </p:sp>
      <p:pic>
        <p:nvPicPr>
          <p:cNvPr id="5" name="Content Placeholder 4">
            <a:extLst>
              <a:ext uri="{FF2B5EF4-FFF2-40B4-BE49-F238E27FC236}">
                <a16:creationId xmlns:a16="http://schemas.microsoft.com/office/drawing/2014/main" id="{50ADF4DF-EFEB-55B8-7C1F-E2BA315DE4EB}"/>
              </a:ext>
            </a:extLst>
          </p:cNvPr>
          <p:cNvPicPr>
            <a:picLocks noGrp="1" noChangeAspect="1"/>
          </p:cNvPicPr>
          <p:nvPr>
            <p:ph idx="1"/>
          </p:nvPr>
        </p:nvPicPr>
        <p:blipFill>
          <a:blip r:embed="rId2"/>
          <a:stretch>
            <a:fillRect/>
          </a:stretch>
        </p:blipFill>
        <p:spPr>
          <a:xfrm>
            <a:off x="483671" y="434880"/>
            <a:ext cx="3249481" cy="2734057"/>
          </a:xfrm>
          <a:prstGeom prst="rect">
            <a:avLst/>
          </a:prstGeom>
          <a:ln w="19050">
            <a:solidFill>
              <a:schemeClr val="tx1"/>
            </a:solidFill>
          </a:ln>
        </p:spPr>
      </p:pic>
      <p:pic>
        <p:nvPicPr>
          <p:cNvPr id="7" name="Picture 6">
            <a:extLst>
              <a:ext uri="{FF2B5EF4-FFF2-40B4-BE49-F238E27FC236}">
                <a16:creationId xmlns:a16="http://schemas.microsoft.com/office/drawing/2014/main" id="{D99AC23B-E67F-3AF7-60CA-AC69FAAFB798}"/>
              </a:ext>
            </a:extLst>
          </p:cNvPr>
          <p:cNvPicPr>
            <a:picLocks noChangeAspect="1"/>
          </p:cNvPicPr>
          <p:nvPr/>
        </p:nvPicPr>
        <p:blipFill>
          <a:blip r:embed="rId3"/>
          <a:stretch>
            <a:fillRect/>
          </a:stretch>
        </p:blipFill>
        <p:spPr>
          <a:xfrm>
            <a:off x="315410" y="3327886"/>
            <a:ext cx="3564260" cy="1933845"/>
          </a:xfrm>
          <a:prstGeom prst="rect">
            <a:avLst/>
          </a:prstGeom>
          <a:ln w="28575">
            <a:solidFill>
              <a:schemeClr val="tx1"/>
            </a:solidFill>
          </a:ln>
        </p:spPr>
      </p:pic>
      <p:pic>
        <p:nvPicPr>
          <p:cNvPr id="9" name="Picture 8">
            <a:extLst>
              <a:ext uri="{FF2B5EF4-FFF2-40B4-BE49-F238E27FC236}">
                <a16:creationId xmlns:a16="http://schemas.microsoft.com/office/drawing/2014/main" id="{E38391E8-BADC-9C48-7952-852112109C28}"/>
              </a:ext>
            </a:extLst>
          </p:cNvPr>
          <p:cNvPicPr>
            <a:picLocks noChangeAspect="1"/>
          </p:cNvPicPr>
          <p:nvPr/>
        </p:nvPicPr>
        <p:blipFill>
          <a:blip r:embed="rId4"/>
          <a:stretch>
            <a:fillRect/>
          </a:stretch>
        </p:blipFill>
        <p:spPr>
          <a:xfrm>
            <a:off x="215336" y="5420681"/>
            <a:ext cx="3664334" cy="1400370"/>
          </a:xfrm>
          <a:prstGeom prst="rect">
            <a:avLst/>
          </a:prstGeom>
          <a:ln w="28575">
            <a:solidFill>
              <a:schemeClr val="tx1"/>
            </a:solidFill>
          </a:ln>
        </p:spPr>
      </p:pic>
      <p:pic>
        <p:nvPicPr>
          <p:cNvPr id="11" name="Picture 10">
            <a:extLst>
              <a:ext uri="{FF2B5EF4-FFF2-40B4-BE49-F238E27FC236}">
                <a16:creationId xmlns:a16="http://schemas.microsoft.com/office/drawing/2014/main" id="{04039CD5-878B-21E1-1DC5-032B02211053}"/>
              </a:ext>
            </a:extLst>
          </p:cNvPr>
          <p:cNvPicPr>
            <a:picLocks noChangeAspect="1"/>
          </p:cNvPicPr>
          <p:nvPr/>
        </p:nvPicPr>
        <p:blipFill>
          <a:blip r:embed="rId5"/>
          <a:stretch>
            <a:fillRect/>
          </a:stretch>
        </p:blipFill>
        <p:spPr>
          <a:xfrm>
            <a:off x="4437566" y="546346"/>
            <a:ext cx="3249480" cy="2457793"/>
          </a:xfrm>
          <a:prstGeom prst="rect">
            <a:avLst/>
          </a:prstGeom>
          <a:ln w="28575">
            <a:solidFill>
              <a:schemeClr val="tx1"/>
            </a:solidFill>
          </a:ln>
        </p:spPr>
      </p:pic>
      <p:pic>
        <p:nvPicPr>
          <p:cNvPr id="13" name="Picture 12">
            <a:extLst>
              <a:ext uri="{FF2B5EF4-FFF2-40B4-BE49-F238E27FC236}">
                <a16:creationId xmlns:a16="http://schemas.microsoft.com/office/drawing/2014/main" id="{9730943D-0F2F-0123-1549-7A295D6BEEE3}"/>
              </a:ext>
            </a:extLst>
          </p:cNvPr>
          <p:cNvPicPr>
            <a:picLocks noChangeAspect="1"/>
          </p:cNvPicPr>
          <p:nvPr/>
        </p:nvPicPr>
        <p:blipFill>
          <a:blip r:embed="rId6"/>
          <a:stretch>
            <a:fillRect/>
          </a:stretch>
        </p:blipFill>
        <p:spPr>
          <a:xfrm>
            <a:off x="4437566" y="3429000"/>
            <a:ext cx="3455904" cy="1657581"/>
          </a:xfrm>
          <a:prstGeom prst="rect">
            <a:avLst/>
          </a:prstGeom>
          <a:ln w="28575">
            <a:solidFill>
              <a:schemeClr val="tx1"/>
            </a:solidFill>
          </a:ln>
        </p:spPr>
      </p:pic>
      <p:pic>
        <p:nvPicPr>
          <p:cNvPr id="15" name="Picture 14">
            <a:extLst>
              <a:ext uri="{FF2B5EF4-FFF2-40B4-BE49-F238E27FC236}">
                <a16:creationId xmlns:a16="http://schemas.microsoft.com/office/drawing/2014/main" id="{7E28C9BA-C97A-9252-054D-A3E6B92F2E53}"/>
              </a:ext>
            </a:extLst>
          </p:cNvPr>
          <p:cNvPicPr>
            <a:picLocks noChangeAspect="1"/>
          </p:cNvPicPr>
          <p:nvPr/>
        </p:nvPicPr>
        <p:blipFill>
          <a:blip r:embed="rId7"/>
          <a:stretch>
            <a:fillRect/>
          </a:stretch>
        </p:blipFill>
        <p:spPr>
          <a:xfrm>
            <a:off x="4179587" y="5420680"/>
            <a:ext cx="3832825" cy="1257475"/>
          </a:xfrm>
          <a:prstGeom prst="rect">
            <a:avLst/>
          </a:prstGeom>
          <a:ln w="28575">
            <a:solidFill>
              <a:schemeClr val="tx1"/>
            </a:solidFill>
          </a:ln>
        </p:spPr>
      </p:pic>
      <p:pic>
        <p:nvPicPr>
          <p:cNvPr id="17" name="Picture 16">
            <a:extLst>
              <a:ext uri="{FF2B5EF4-FFF2-40B4-BE49-F238E27FC236}">
                <a16:creationId xmlns:a16="http://schemas.microsoft.com/office/drawing/2014/main" id="{A7B79D4D-3BEB-13BA-BEC7-7E87B7C81114}"/>
              </a:ext>
            </a:extLst>
          </p:cNvPr>
          <p:cNvPicPr>
            <a:picLocks noChangeAspect="1"/>
          </p:cNvPicPr>
          <p:nvPr/>
        </p:nvPicPr>
        <p:blipFill>
          <a:blip r:embed="rId8"/>
          <a:stretch>
            <a:fillRect/>
          </a:stretch>
        </p:blipFill>
        <p:spPr>
          <a:xfrm>
            <a:off x="8072947" y="475437"/>
            <a:ext cx="3396241" cy="2514951"/>
          </a:xfrm>
          <a:prstGeom prst="rect">
            <a:avLst/>
          </a:prstGeom>
          <a:ln w="28575">
            <a:solidFill>
              <a:schemeClr val="tx1"/>
            </a:solidFill>
          </a:ln>
        </p:spPr>
      </p:pic>
      <p:pic>
        <p:nvPicPr>
          <p:cNvPr id="19" name="Picture 18">
            <a:extLst>
              <a:ext uri="{FF2B5EF4-FFF2-40B4-BE49-F238E27FC236}">
                <a16:creationId xmlns:a16="http://schemas.microsoft.com/office/drawing/2014/main" id="{C170E2A8-8BF1-5FBD-308B-D6A6647E5DA1}"/>
              </a:ext>
            </a:extLst>
          </p:cNvPr>
          <p:cNvPicPr>
            <a:picLocks noChangeAspect="1"/>
          </p:cNvPicPr>
          <p:nvPr/>
        </p:nvPicPr>
        <p:blipFill>
          <a:blip r:embed="rId9"/>
          <a:stretch>
            <a:fillRect/>
          </a:stretch>
        </p:blipFill>
        <p:spPr>
          <a:xfrm>
            <a:off x="8012412" y="3484516"/>
            <a:ext cx="4080857" cy="1546547"/>
          </a:xfrm>
          <a:prstGeom prst="rect">
            <a:avLst/>
          </a:prstGeom>
        </p:spPr>
      </p:pic>
      <p:pic>
        <p:nvPicPr>
          <p:cNvPr id="21" name="Picture 20">
            <a:extLst>
              <a:ext uri="{FF2B5EF4-FFF2-40B4-BE49-F238E27FC236}">
                <a16:creationId xmlns:a16="http://schemas.microsoft.com/office/drawing/2014/main" id="{08508CE7-2D49-C306-3F5C-0E8D3051421D}"/>
              </a:ext>
            </a:extLst>
          </p:cNvPr>
          <p:cNvPicPr>
            <a:picLocks noChangeAspect="1"/>
          </p:cNvPicPr>
          <p:nvPr/>
        </p:nvPicPr>
        <p:blipFill>
          <a:blip r:embed="rId10"/>
          <a:stretch>
            <a:fillRect/>
          </a:stretch>
        </p:blipFill>
        <p:spPr>
          <a:xfrm>
            <a:off x="8072947" y="5339705"/>
            <a:ext cx="3832826" cy="1419423"/>
          </a:xfrm>
          <a:prstGeom prst="rect">
            <a:avLst/>
          </a:prstGeom>
        </p:spPr>
      </p:pic>
    </p:spTree>
    <p:extLst>
      <p:ext uri="{BB962C8B-B14F-4D97-AF65-F5344CB8AC3E}">
        <p14:creationId xmlns:p14="http://schemas.microsoft.com/office/powerpoint/2010/main" val="2312046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A610-2BF9-1927-9F3D-49028E27F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E0B90-5516-F8D7-1D63-4D28FA78F9D2}"/>
              </a:ext>
            </a:extLst>
          </p:cNvPr>
          <p:cNvSpPr>
            <a:spLocks noGrp="1"/>
          </p:cNvSpPr>
          <p:nvPr>
            <p:ph type="title"/>
          </p:nvPr>
        </p:nvSpPr>
        <p:spPr>
          <a:xfrm>
            <a:off x="838200" y="365125"/>
            <a:ext cx="10515600" cy="575401"/>
          </a:xfrm>
        </p:spPr>
        <p:txBody>
          <a:bodyPr>
            <a:normAutofit/>
          </a:bodyPr>
          <a:lstStyle/>
          <a:p>
            <a:r>
              <a:rPr lang="en-US" sz="2400" dirty="0" err="1"/>
              <a:t>Pl_Simulate+Date_File_Checker</a:t>
            </a:r>
            <a:r>
              <a:rPr lang="en-US" sz="2400" dirty="0"/>
              <a:t>: Get Meta data Part of file checker </a:t>
            </a:r>
            <a:endParaRPr lang="en-ZA" sz="2400" dirty="0"/>
          </a:p>
        </p:txBody>
      </p:sp>
      <p:pic>
        <p:nvPicPr>
          <p:cNvPr id="5" name="Content Placeholder 4">
            <a:extLst>
              <a:ext uri="{FF2B5EF4-FFF2-40B4-BE49-F238E27FC236}">
                <a16:creationId xmlns:a16="http://schemas.microsoft.com/office/drawing/2014/main" id="{5C077068-B296-05F4-CFF6-045787134169}"/>
              </a:ext>
            </a:extLst>
          </p:cNvPr>
          <p:cNvPicPr>
            <a:picLocks noGrp="1" noChangeAspect="1"/>
          </p:cNvPicPr>
          <p:nvPr>
            <p:ph idx="1"/>
          </p:nvPr>
        </p:nvPicPr>
        <p:blipFill>
          <a:blip r:embed="rId3"/>
          <a:stretch>
            <a:fillRect/>
          </a:stretch>
        </p:blipFill>
        <p:spPr>
          <a:xfrm>
            <a:off x="796270" y="1113609"/>
            <a:ext cx="2173857" cy="2142308"/>
          </a:xfrm>
          <a:prstGeom prst="rect">
            <a:avLst/>
          </a:prstGeom>
          <a:ln w="28575">
            <a:solidFill>
              <a:schemeClr val="tx1"/>
            </a:solidFill>
          </a:ln>
        </p:spPr>
      </p:pic>
      <p:pic>
        <p:nvPicPr>
          <p:cNvPr id="7" name="Picture 6">
            <a:extLst>
              <a:ext uri="{FF2B5EF4-FFF2-40B4-BE49-F238E27FC236}">
                <a16:creationId xmlns:a16="http://schemas.microsoft.com/office/drawing/2014/main" id="{EE1AEF99-8E87-364E-41D2-AD78D38D19C5}"/>
              </a:ext>
            </a:extLst>
          </p:cNvPr>
          <p:cNvPicPr>
            <a:picLocks noChangeAspect="1"/>
          </p:cNvPicPr>
          <p:nvPr/>
        </p:nvPicPr>
        <p:blipFill>
          <a:blip r:embed="rId4"/>
          <a:stretch>
            <a:fillRect/>
          </a:stretch>
        </p:blipFill>
        <p:spPr>
          <a:xfrm>
            <a:off x="0" y="3939167"/>
            <a:ext cx="3392048" cy="1805224"/>
          </a:xfrm>
          <a:prstGeom prst="rect">
            <a:avLst/>
          </a:prstGeom>
          <a:ln w="28575">
            <a:solidFill>
              <a:schemeClr val="tx1"/>
            </a:solidFill>
          </a:ln>
        </p:spPr>
      </p:pic>
      <p:pic>
        <p:nvPicPr>
          <p:cNvPr id="9" name="Picture 8">
            <a:extLst>
              <a:ext uri="{FF2B5EF4-FFF2-40B4-BE49-F238E27FC236}">
                <a16:creationId xmlns:a16="http://schemas.microsoft.com/office/drawing/2014/main" id="{BF253C4F-09BD-C35D-2E86-969FDA67D5C1}"/>
              </a:ext>
            </a:extLst>
          </p:cNvPr>
          <p:cNvPicPr>
            <a:picLocks noChangeAspect="1"/>
          </p:cNvPicPr>
          <p:nvPr/>
        </p:nvPicPr>
        <p:blipFill>
          <a:blip r:embed="rId5"/>
          <a:stretch>
            <a:fillRect/>
          </a:stretch>
        </p:blipFill>
        <p:spPr>
          <a:xfrm>
            <a:off x="3958238" y="1113609"/>
            <a:ext cx="2590355" cy="2343477"/>
          </a:xfrm>
          <a:prstGeom prst="rect">
            <a:avLst/>
          </a:prstGeom>
          <a:ln w="28575">
            <a:solidFill>
              <a:schemeClr val="tx1"/>
            </a:solidFill>
          </a:ln>
        </p:spPr>
      </p:pic>
      <p:pic>
        <p:nvPicPr>
          <p:cNvPr id="11" name="Picture 10">
            <a:extLst>
              <a:ext uri="{FF2B5EF4-FFF2-40B4-BE49-F238E27FC236}">
                <a16:creationId xmlns:a16="http://schemas.microsoft.com/office/drawing/2014/main" id="{4D6F7FBD-6991-A1FE-D4EE-C957782CEB81}"/>
              </a:ext>
            </a:extLst>
          </p:cNvPr>
          <p:cNvPicPr>
            <a:picLocks noChangeAspect="1"/>
          </p:cNvPicPr>
          <p:nvPr/>
        </p:nvPicPr>
        <p:blipFill>
          <a:blip r:embed="rId6"/>
          <a:stretch>
            <a:fillRect/>
          </a:stretch>
        </p:blipFill>
        <p:spPr>
          <a:xfrm>
            <a:off x="3557392" y="3939167"/>
            <a:ext cx="3392048" cy="1805224"/>
          </a:xfrm>
          <a:prstGeom prst="rect">
            <a:avLst/>
          </a:prstGeom>
          <a:ln w="28575">
            <a:solidFill>
              <a:schemeClr val="tx1"/>
            </a:solidFill>
          </a:ln>
        </p:spPr>
      </p:pic>
      <p:pic>
        <p:nvPicPr>
          <p:cNvPr id="13" name="Picture 12">
            <a:extLst>
              <a:ext uri="{FF2B5EF4-FFF2-40B4-BE49-F238E27FC236}">
                <a16:creationId xmlns:a16="http://schemas.microsoft.com/office/drawing/2014/main" id="{A24BC8D6-6113-7521-51F7-B335053678B9}"/>
              </a:ext>
            </a:extLst>
          </p:cNvPr>
          <p:cNvPicPr>
            <a:picLocks noChangeAspect="1"/>
          </p:cNvPicPr>
          <p:nvPr/>
        </p:nvPicPr>
        <p:blipFill>
          <a:blip r:embed="rId7"/>
          <a:stretch>
            <a:fillRect/>
          </a:stretch>
        </p:blipFill>
        <p:spPr>
          <a:xfrm>
            <a:off x="7330997" y="1113609"/>
            <a:ext cx="3393609" cy="2553056"/>
          </a:xfrm>
          <a:prstGeom prst="rect">
            <a:avLst/>
          </a:prstGeom>
          <a:ln w="28575">
            <a:solidFill>
              <a:schemeClr val="tx1"/>
            </a:solidFill>
          </a:ln>
        </p:spPr>
      </p:pic>
      <p:pic>
        <p:nvPicPr>
          <p:cNvPr id="15" name="Picture 14">
            <a:extLst>
              <a:ext uri="{FF2B5EF4-FFF2-40B4-BE49-F238E27FC236}">
                <a16:creationId xmlns:a16="http://schemas.microsoft.com/office/drawing/2014/main" id="{9A744548-403C-B5B8-73AB-4276B506C4DC}"/>
              </a:ext>
            </a:extLst>
          </p:cNvPr>
          <p:cNvPicPr>
            <a:picLocks noChangeAspect="1"/>
          </p:cNvPicPr>
          <p:nvPr/>
        </p:nvPicPr>
        <p:blipFill>
          <a:blip r:embed="rId8"/>
          <a:stretch>
            <a:fillRect/>
          </a:stretch>
        </p:blipFill>
        <p:spPr>
          <a:xfrm>
            <a:off x="7490435" y="3939167"/>
            <a:ext cx="3965691" cy="1805224"/>
          </a:xfrm>
          <a:prstGeom prst="rect">
            <a:avLst/>
          </a:prstGeom>
          <a:ln w="28575">
            <a:solidFill>
              <a:schemeClr val="tx1"/>
            </a:solidFill>
          </a:ln>
        </p:spPr>
      </p:pic>
    </p:spTree>
    <p:extLst>
      <p:ext uri="{BB962C8B-B14F-4D97-AF65-F5344CB8AC3E}">
        <p14:creationId xmlns:p14="http://schemas.microsoft.com/office/powerpoint/2010/main" val="3312887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796F-9257-5B2E-545B-2548C8588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4DE25-9FBF-CFD6-A095-52C9C42F07BE}"/>
              </a:ext>
            </a:extLst>
          </p:cNvPr>
          <p:cNvSpPr>
            <a:spLocks noGrp="1"/>
          </p:cNvSpPr>
          <p:nvPr>
            <p:ph type="title"/>
          </p:nvPr>
        </p:nvSpPr>
        <p:spPr>
          <a:xfrm>
            <a:off x="707571" y="119016"/>
            <a:ext cx="10515600" cy="549275"/>
          </a:xfrm>
        </p:spPr>
        <p:txBody>
          <a:bodyPr>
            <a:normAutofit/>
          </a:bodyPr>
          <a:lstStyle/>
          <a:p>
            <a:r>
              <a:rPr lang="en-US" sz="2400" dirty="0"/>
              <a:t>Final setting of exist variable for that file to use in if block (Boolean variable) </a:t>
            </a:r>
            <a:endParaRPr lang="en-ZA" sz="2400" dirty="0"/>
          </a:p>
        </p:txBody>
      </p:sp>
      <p:pic>
        <p:nvPicPr>
          <p:cNvPr id="5" name="Content Placeholder 4">
            <a:extLst>
              <a:ext uri="{FF2B5EF4-FFF2-40B4-BE49-F238E27FC236}">
                <a16:creationId xmlns:a16="http://schemas.microsoft.com/office/drawing/2014/main" id="{56852FA1-E6DE-523B-0C64-65A7481E395B}"/>
              </a:ext>
            </a:extLst>
          </p:cNvPr>
          <p:cNvPicPr>
            <a:picLocks noGrp="1" noChangeAspect="1"/>
          </p:cNvPicPr>
          <p:nvPr>
            <p:ph idx="1"/>
          </p:nvPr>
        </p:nvPicPr>
        <p:blipFill>
          <a:blip r:embed="rId3"/>
          <a:stretch>
            <a:fillRect/>
          </a:stretch>
        </p:blipFill>
        <p:spPr>
          <a:xfrm>
            <a:off x="317183" y="845033"/>
            <a:ext cx="1943371" cy="1513206"/>
          </a:xfrm>
          <a:prstGeom prst="rect">
            <a:avLst/>
          </a:prstGeom>
          <a:ln w="28575">
            <a:solidFill>
              <a:schemeClr val="tx1"/>
            </a:solidFill>
          </a:ln>
        </p:spPr>
      </p:pic>
      <p:pic>
        <p:nvPicPr>
          <p:cNvPr id="7" name="Picture 6">
            <a:extLst>
              <a:ext uri="{FF2B5EF4-FFF2-40B4-BE49-F238E27FC236}">
                <a16:creationId xmlns:a16="http://schemas.microsoft.com/office/drawing/2014/main" id="{7F94A895-DDCA-B07A-0A51-D344202504E3}"/>
              </a:ext>
            </a:extLst>
          </p:cNvPr>
          <p:cNvPicPr>
            <a:picLocks noChangeAspect="1"/>
          </p:cNvPicPr>
          <p:nvPr/>
        </p:nvPicPr>
        <p:blipFill>
          <a:blip r:embed="rId4"/>
          <a:stretch>
            <a:fillRect/>
          </a:stretch>
        </p:blipFill>
        <p:spPr>
          <a:xfrm>
            <a:off x="116343" y="2534981"/>
            <a:ext cx="3711073" cy="1750422"/>
          </a:xfrm>
          <a:prstGeom prst="rect">
            <a:avLst/>
          </a:prstGeom>
          <a:ln w="38100">
            <a:solidFill>
              <a:srgbClr val="FFFFFF"/>
            </a:solidFill>
          </a:ln>
        </p:spPr>
      </p:pic>
      <p:pic>
        <p:nvPicPr>
          <p:cNvPr id="9" name="Picture 8">
            <a:extLst>
              <a:ext uri="{FF2B5EF4-FFF2-40B4-BE49-F238E27FC236}">
                <a16:creationId xmlns:a16="http://schemas.microsoft.com/office/drawing/2014/main" id="{E188F8F2-B4E1-C2E1-F585-3C2FBDB82463}"/>
              </a:ext>
            </a:extLst>
          </p:cNvPr>
          <p:cNvPicPr>
            <a:picLocks noChangeAspect="1"/>
          </p:cNvPicPr>
          <p:nvPr/>
        </p:nvPicPr>
        <p:blipFill>
          <a:blip r:embed="rId5"/>
          <a:stretch>
            <a:fillRect/>
          </a:stretch>
        </p:blipFill>
        <p:spPr>
          <a:xfrm>
            <a:off x="116344" y="4582464"/>
            <a:ext cx="3433216" cy="1607244"/>
          </a:xfrm>
          <a:prstGeom prst="rect">
            <a:avLst/>
          </a:prstGeom>
          <a:ln w="38100">
            <a:solidFill>
              <a:schemeClr val="tx1"/>
            </a:solidFill>
          </a:ln>
        </p:spPr>
      </p:pic>
      <p:pic>
        <p:nvPicPr>
          <p:cNvPr id="11" name="Picture 10">
            <a:extLst>
              <a:ext uri="{FF2B5EF4-FFF2-40B4-BE49-F238E27FC236}">
                <a16:creationId xmlns:a16="http://schemas.microsoft.com/office/drawing/2014/main" id="{4D7082F1-3501-4E26-C864-5413CC5084FA}"/>
              </a:ext>
            </a:extLst>
          </p:cNvPr>
          <p:cNvPicPr>
            <a:picLocks noChangeAspect="1"/>
          </p:cNvPicPr>
          <p:nvPr/>
        </p:nvPicPr>
        <p:blipFill>
          <a:blip r:embed="rId6"/>
          <a:stretch>
            <a:fillRect/>
          </a:stretch>
        </p:blipFill>
        <p:spPr>
          <a:xfrm>
            <a:off x="4310743" y="845033"/>
            <a:ext cx="2345574" cy="1513206"/>
          </a:xfrm>
          <a:prstGeom prst="rect">
            <a:avLst/>
          </a:prstGeom>
          <a:ln w="28575">
            <a:solidFill>
              <a:schemeClr val="tx1"/>
            </a:solidFill>
          </a:ln>
        </p:spPr>
      </p:pic>
      <p:pic>
        <p:nvPicPr>
          <p:cNvPr id="13" name="Picture 12">
            <a:extLst>
              <a:ext uri="{FF2B5EF4-FFF2-40B4-BE49-F238E27FC236}">
                <a16:creationId xmlns:a16="http://schemas.microsoft.com/office/drawing/2014/main" id="{2506D712-00DA-5975-F23F-DCBB7C096AF7}"/>
              </a:ext>
            </a:extLst>
          </p:cNvPr>
          <p:cNvPicPr>
            <a:picLocks noChangeAspect="1"/>
          </p:cNvPicPr>
          <p:nvPr/>
        </p:nvPicPr>
        <p:blipFill>
          <a:blip r:embed="rId7"/>
          <a:stretch>
            <a:fillRect/>
          </a:stretch>
        </p:blipFill>
        <p:spPr>
          <a:xfrm>
            <a:off x="4027606" y="2565917"/>
            <a:ext cx="3548852" cy="1933845"/>
          </a:xfrm>
          <a:prstGeom prst="rect">
            <a:avLst/>
          </a:prstGeom>
          <a:ln w="38100">
            <a:solidFill>
              <a:schemeClr val="tx1"/>
            </a:solidFill>
          </a:ln>
        </p:spPr>
      </p:pic>
      <p:pic>
        <p:nvPicPr>
          <p:cNvPr id="15" name="Picture 14">
            <a:extLst>
              <a:ext uri="{FF2B5EF4-FFF2-40B4-BE49-F238E27FC236}">
                <a16:creationId xmlns:a16="http://schemas.microsoft.com/office/drawing/2014/main" id="{8B8ED095-7A38-9518-2436-8FE6A155B6D1}"/>
              </a:ext>
            </a:extLst>
          </p:cNvPr>
          <p:cNvPicPr>
            <a:picLocks noChangeAspect="1"/>
          </p:cNvPicPr>
          <p:nvPr/>
        </p:nvPicPr>
        <p:blipFill>
          <a:blip r:embed="rId8"/>
          <a:stretch>
            <a:fillRect/>
          </a:stretch>
        </p:blipFill>
        <p:spPr>
          <a:xfrm>
            <a:off x="3773720" y="4582464"/>
            <a:ext cx="4056624" cy="1607244"/>
          </a:xfrm>
          <a:prstGeom prst="rect">
            <a:avLst/>
          </a:prstGeom>
          <a:ln w="38100">
            <a:solidFill>
              <a:schemeClr val="tx1"/>
            </a:solidFill>
          </a:ln>
        </p:spPr>
      </p:pic>
      <p:pic>
        <p:nvPicPr>
          <p:cNvPr id="17" name="Picture 16">
            <a:extLst>
              <a:ext uri="{FF2B5EF4-FFF2-40B4-BE49-F238E27FC236}">
                <a16:creationId xmlns:a16="http://schemas.microsoft.com/office/drawing/2014/main" id="{027C3C9A-2E4C-00CB-3500-4B9C804F6C51}"/>
              </a:ext>
            </a:extLst>
          </p:cNvPr>
          <p:cNvPicPr>
            <a:picLocks noChangeAspect="1"/>
          </p:cNvPicPr>
          <p:nvPr/>
        </p:nvPicPr>
        <p:blipFill>
          <a:blip r:embed="rId9"/>
          <a:stretch>
            <a:fillRect/>
          </a:stretch>
        </p:blipFill>
        <p:spPr>
          <a:xfrm>
            <a:off x="8580550" y="699058"/>
            <a:ext cx="2345574" cy="1659181"/>
          </a:xfrm>
          <a:prstGeom prst="rect">
            <a:avLst/>
          </a:prstGeom>
          <a:ln w="38100">
            <a:solidFill>
              <a:schemeClr val="tx1"/>
            </a:solidFill>
          </a:ln>
        </p:spPr>
      </p:pic>
      <p:pic>
        <p:nvPicPr>
          <p:cNvPr id="19" name="Picture 18">
            <a:extLst>
              <a:ext uri="{FF2B5EF4-FFF2-40B4-BE49-F238E27FC236}">
                <a16:creationId xmlns:a16="http://schemas.microsoft.com/office/drawing/2014/main" id="{F3DEC916-3CDF-4A28-86E1-FA63DB7F50DD}"/>
              </a:ext>
            </a:extLst>
          </p:cNvPr>
          <p:cNvPicPr>
            <a:picLocks noChangeAspect="1"/>
          </p:cNvPicPr>
          <p:nvPr/>
        </p:nvPicPr>
        <p:blipFill>
          <a:blip r:embed="rId10"/>
          <a:stretch>
            <a:fillRect/>
          </a:stretch>
        </p:blipFill>
        <p:spPr>
          <a:xfrm>
            <a:off x="7830344" y="2565917"/>
            <a:ext cx="4056624" cy="1933844"/>
          </a:xfrm>
          <a:prstGeom prst="rect">
            <a:avLst/>
          </a:prstGeom>
          <a:ln w="38100">
            <a:solidFill>
              <a:schemeClr val="tx1"/>
            </a:solidFill>
          </a:ln>
        </p:spPr>
      </p:pic>
      <p:pic>
        <p:nvPicPr>
          <p:cNvPr id="21" name="Picture 20">
            <a:extLst>
              <a:ext uri="{FF2B5EF4-FFF2-40B4-BE49-F238E27FC236}">
                <a16:creationId xmlns:a16="http://schemas.microsoft.com/office/drawing/2014/main" id="{F5622FAC-0F73-53AB-A1CC-EB46140B5F83}"/>
              </a:ext>
            </a:extLst>
          </p:cNvPr>
          <p:cNvPicPr>
            <a:picLocks noChangeAspect="1"/>
          </p:cNvPicPr>
          <p:nvPr/>
        </p:nvPicPr>
        <p:blipFill>
          <a:blip r:embed="rId11"/>
          <a:stretch>
            <a:fillRect/>
          </a:stretch>
        </p:blipFill>
        <p:spPr>
          <a:xfrm>
            <a:off x="8216538" y="4746763"/>
            <a:ext cx="3859118" cy="1412179"/>
          </a:xfrm>
          <a:prstGeom prst="rect">
            <a:avLst/>
          </a:prstGeom>
        </p:spPr>
      </p:pic>
    </p:spTree>
    <p:extLst>
      <p:ext uri="{BB962C8B-B14F-4D97-AF65-F5344CB8AC3E}">
        <p14:creationId xmlns:p14="http://schemas.microsoft.com/office/powerpoint/2010/main" val="3210165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23E84-D7F0-52FC-F33C-570643501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C5079-1004-50C3-3725-BE9CE93C9848}"/>
              </a:ext>
            </a:extLst>
          </p:cNvPr>
          <p:cNvSpPr>
            <a:spLocks noGrp="1"/>
          </p:cNvSpPr>
          <p:nvPr>
            <p:ph type="title"/>
          </p:nvPr>
        </p:nvSpPr>
        <p:spPr>
          <a:xfrm>
            <a:off x="838200" y="365126"/>
            <a:ext cx="10515600" cy="405583"/>
          </a:xfrm>
        </p:spPr>
        <p:txBody>
          <a:bodyPr>
            <a:normAutofit fontScale="90000"/>
          </a:bodyPr>
          <a:lstStyle/>
          <a:p>
            <a:r>
              <a:rPr lang="en-US" sz="2700" dirty="0"/>
              <a:t>Last part of File checker part is to calculate the </a:t>
            </a:r>
            <a:r>
              <a:rPr lang="en-US" sz="2700" dirty="0" err="1"/>
              <a:t>numbrer</a:t>
            </a:r>
            <a:r>
              <a:rPr lang="en-US" sz="2700" dirty="0"/>
              <a:t> of exists to compare to 3 in the if block</a:t>
            </a:r>
            <a:r>
              <a:rPr lang="en-US" dirty="0"/>
              <a:t>. </a:t>
            </a:r>
            <a:endParaRPr lang="en-ZA" dirty="0"/>
          </a:p>
        </p:txBody>
      </p:sp>
      <p:pic>
        <p:nvPicPr>
          <p:cNvPr id="5" name="Content Placeholder 4">
            <a:extLst>
              <a:ext uri="{FF2B5EF4-FFF2-40B4-BE49-F238E27FC236}">
                <a16:creationId xmlns:a16="http://schemas.microsoft.com/office/drawing/2014/main" id="{5CDE2DF9-706C-E04B-22E8-8E52ED05A499}"/>
              </a:ext>
            </a:extLst>
          </p:cNvPr>
          <p:cNvPicPr>
            <a:picLocks noGrp="1" noChangeAspect="1"/>
          </p:cNvPicPr>
          <p:nvPr>
            <p:ph idx="1"/>
          </p:nvPr>
        </p:nvPicPr>
        <p:blipFill>
          <a:blip r:embed="rId3"/>
          <a:stretch>
            <a:fillRect/>
          </a:stretch>
        </p:blipFill>
        <p:spPr>
          <a:xfrm>
            <a:off x="746760" y="1085523"/>
            <a:ext cx="3651680" cy="2343477"/>
          </a:xfrm>
          <a:prstGeom prst="rect">
            <a:avLst/>
          </a:prstGeom>
          <a:ln w="12700">
            <a:solidFill>
              <a:schemeClr val="tx1"/>
            </a:solidFill>
          </a:ln>
        </p:spPr>
      </p:pic>
      <p:pic>
        <p:nvPicPr>
          <p:cNvPr id="7" name="Picture 6">
            <a:extLst>
              <a:ext uri="{FF2B5EF4-FFF2-40B4-BE49-F238E27FC236}">
                <a16:creationId xmlns:a16="http://schemas.microsoft.com/office/drawing/2014/main" id="{4F9F6B6D-7CC7-A654-10D4-25823E990F33}"/>
              </a:ext>
            </a:extLst>
          </p:cNvPr>
          <p:cNvPicPr>
            <a:picLocks noChangeAspect="1"/>
          </p:cNvPicPr>
          <p:nvPr/>
        </p:nvPicPr>
        <p:blipFill>
          <a:blip r:embed="rId4"/>
          <a:stretch>
            <a:fillRect/>
          </a:stretch>
        </p:blipFill>
        <p:spPr>
          <a:xfrm>
            <a:off x="265250" y="4124422"/>
            <a:ext cx="5182323" cy="1648055"/>
          </a:xfrm>
          <a:prstGeom prst="rect">
            <a:avLst/>
          </a:prstGeom>
          <a:ln w="12700">
            <a:solidFill>
              <a:schemeClr val="tx1"/>
            </a:solidFill>
          </a:ln>
        </p:spPr>
      </p:pic>
      <p:pic>
        <p:nvPicPr>
          <p:cNvPr id="9" name="Picture 8">
            <a:extLst>
              <a:ext uri="{FF2B5EF4-FFF2-40B4-BE49-F238E27FC236}">
                <a16:creationId xmlns:a16="http://schemas.microsoft.com/office/drawing/2014/main" id="{EFD06FD2-A442-9BDA-1941-1EC1A72A791D}"/>
              </a:ext>
            </a:extLst>
          </p:cNvPr>
          <p:cNvPicPr>
            <a:picLocks noChangeAspect="1"/>
          </p:cNvPicPr>
          <p:nvPr/>
        </p:nvPicPr>
        <p:blipFill>
          <a:blip r:embed="rId5"/>
          <a:stretch>
            <a:fillRect/>
          </a:stretch>
        </p:blipFill>
        <p:spPr>
          <a:xfrm>
            <a:off x="6334749" y="770709"/>
            <a:ext cx="4512513" cy="5772477"/>
          </a:xfrm>
          <a:prstGeom prst="rect">
            <a:avLst/>
          </a:prstGeom>
          <a:ln w="28575">
            <a:solidFill>
              <a:schemeClr val="tx1"/>
            </a:solidFill>
          </a:ln>
        </p:spPr>
      </p:pic>
    </p:spTree>
    <p:extLst>
      <p:ext uri="{BB962C8B-B14F-4D97-AF65-F5344CB8AC3E}">
        <p14:creationId xmlns:p14="http://schemas.microsoft.com/office/powerpoint/2010/main" val="1210622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0E519-6BCB-D0E8-EEE5-3A863FE58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5D6C9-9928-AC8F-EC97-0506EFD94315}"/>
              </a:ext>
            </a:extLst>
          </p:cNvPr>
          <p:cNvSpPr>
            <a:spLocks noGrp="1"/>
          </p:cNvSpPr>
          <p:nvPr>
            <p:ph type="title"/>
          </p:nvPr>
        </p:nvSpPr>
        <p:spPr>
          <a:xfrm>
            <a:off x="838200" y="365125"/>
            <a:ext cx="10515600" cy="523149"/>
          </a:xfrm>
        </p:spPr>
        <p:txBody>
          <a:bodyPr>
            <a:normAutofit fontScale="90000"/>
          </a:bodyPr>
          <a:lstStyle/>
          <a:p>
            <a:r>
              <a:rPr lang="en-US" dirty="0"/>
              <a:t>If condition block, at present it sends messages if and if not there are 3 files </a:t>
            </a:r>
            <a:endParaRPr lang="en-ZA" dirty="0"/>
          </a:p>
        </p:txBody>
      </p:sp>
      <p:pic>
        <p:nvPicPr>
          <p:cNvPr id="5" name="Content Placeholder 4">
            <a:extLst>
              <a:ext uri="{FF2B5EF4-FFF2-40B4-BE49-F238E27FC236}">
                <a16:creationId xmlns:a16="http://schemas.microsoft.com/office/drawing/2014/main" id="{A625DA28-0956-B634-6D58-4629717EBB4A}"/>
              </a:ext>
            </a:extLst>
          </p:cNvPr>
          <p:cNvPicPr>
            <a:picLocks noGrp="1" noChangeAspect="1"/>
          </p:cNvPicPr>
          <p:nvPr>
            <p:ph idx="1"/>
          </p:nvPr>
        </p:nvPicPr>
        <p:blipFill>
          <a:blip r:embed="rId3"/>
          <a:stretch>
            <a:fillRect/>
          </a:stretch>
        </p:blipFill>
        <p:spPr>
          <a:xfrm>
            <a:off x="237308" y="1336161"/>
            <a:ext cx="3489960" cy="2667372"/>
          </a:xfrm>
          <a:prstGeom prst="rect">
            <a:avLst/>
          </a:prstGeom>
          <a:ln w="19050">
            <a:solidFill>
              <a:schemeClr val="tx1"/>
            </a:solidFill>
          </a:ln>
        </p:spPr>
      </p:pic>
      <p:pic>
        <p:nvPicPr>
          <p:cNvPr id="7" name="Picture 6">
            <a:extLst>
              <a:ext uri="{FF2B5EF4-FFF2-40B4-BE49-F238E27FC236}">
                <a16:creationId xmlns:a16="http://schemas.microsoft.com/office/drawing/2014/main" id="{2DF51691-1114-0AD6-76A4-675107D9EF9D}"/>
              </a:ext>
            </a:extLst>
          </p:cNvPr>
          <p:cNvPicPr>
            <a:picLocks noChangeAspect="1"/>
          </p:cNvPicPr>
          <p:nvPr/>
        </p:nvPicPr>
        <p:blipFill>
          <a:blip r:embed="rId4"/>
          <a:stretch>
            <a:fillRect/>
          </a:stretch>
        </p:blipFill>
        <p:spPr>
          <a:xfrm>
            <a:off x="237308" y="4188153"/>
            <a:ext cx="3489960" cy="2486422"/>
          </a:xfrm>
          <a:prstGeom prst="rect">
            <a:avLst/>
          </a:prstGeom>
          <a:ln w="38100">
            <a:solidFill>
              <a:schemeClr val="tx1"/>
            </a:solidFill>
          </a:ln>
        </p:spPr>
      </p:pic>
      <p:pic>
        <p:nvPicPr>
          <p:cNvPr id="9" name="Picture 8">
            <a:extLst>
              <a:ext uri="{FF2B5EF4-FFF2-40B4-BE49-F238E27FC236}">
                <a16:creationId xmlns:a16="http://schemas.microsoft.com/office/drawing/2014/main" id="{37E029B5-7CDC-7266-B830-7FA6748DA152}"/>
              </a:ext>
            </a:extLst>
          </p:cNvPr>
          <p:cNvPicPr>
            <a:picLocks noChangeAspect="1"/>
          </p:cNvPicPr>
          <p:nvPr/>
        </p:nvPicPr>
        <p:blipFill>
          <a:blip r:embed="rId5"/>
          <a:stretch>
            <a:fillRect/>
          </a:stretch>
        </p:blipFill>
        <p:spPr>
          <a:xfrm>
            <a:off x="3814354" y="1277872"/>
            <a:ext cx="4152593" cy="1686160"/>
          </a:xfrm>
          <a:prstGeom prst="rect">
            <a:avLst/>
          </a:prstGeom>
          <a:ln w="28575">
            <a:solidFill>
              <a:schemeClr val="tx1"/>
            </a:solidFill>
          </a:ln>
        </p:spPr>
      </p:pic>
      <p:pic>
        <p:nvPicPr>
          <p:cNvPr id="11" name="Picture 10">
            <a:extLst>
              <a:ext uri="{FF2B5EF4-FFF2-40B4-BE49-F238E27FC236}">
                <a16:creationId xmlns:a16="http://schemas.microsoft.com/office/drawing/2014/main" id="{6A64D0A1-DD5A-F49B-EFBB-7A91990DFD26}"/>
              </a:ext>
            </a:extLst>
          </p:cNvPr>
          <p:cNvPicPr>
            <a:picLocks noChangeAspect="1"/>
          </p:cNvPicPr>
          <p:nvPr/>
        </p:nvPicPr>
        <p:blipFill>
          <a:blip r:embed="rId6"/>
          <a:stretch>
            <a:fillRect/>
          </a:stretch>
        </p:blipFill>
        <p:spPr>
          <a:xfrm>
            <a:off x="4001238" y="3154156"/>
            <a:ext cx="3778823" cy="1479626"/>
          </a:xfrm>
          <a:prstGeom prst="rect">
            <a:avLst/>
          </a:prstGeom>
          <a:ln w="28575">
            <a:solidFill>
              <a:schemeClr val="tx1"/>
            </a:solidFill>
          </a:ln>
        </p:spPr>
      </p:pic>
      <p:pic>
        <p:nvPicPr>
          <p:cNvPr id="13" name="Picture 12">
            <a:extLst>
              <a:ext uri="{FF2B5EF4-FFF2-40B4-BE49-F238E27FC236}">
                <a16:creationId xmlns:a16="http://schemas.microsoft.com/office/drawing/2014/main" id="{CDB7163F-EBDE-688C-2B0F-13B85D72575C}"/>
              </a:ext>
            </a:extLst>
          </p:cNvPr>
          <p:cNvPicPr>
            <a:picLocks noChangeAspect="1"/>
          </p:cNvPicPr>
          <p:nvPr/>
        </p:nvPicPr>
        <p:blipFill>
          <a:blip r:embed="rId7"/>
          <a:stretch>
            <a:fillRect/>
          </a:stretch>
        </p:blipFill>
        <p:spPr>
          <a:xfrm>
            <a:off x="3863769" y="4988414"/>
            <a:ext cx="4152593" cy="1686161"/>
          </a:xfrm>
          <a:prstGeom prst="rect">
            <a:avLst/>
          </a:prstGeom>
          <a:ln w="38100">
            <a:solidFill>
              <a:schemeClr val="tx1"/>
            </a:solidFill>
          </a:ln>
        </p:spPr>
      </p:pic>
      <p:pic>
        <p:nvPicPr>
          <p:cNvPr id="15" name="Picture 14">
            <a:extLst>
              <a:ext uri="{FF2B5EF4-FFF2-40B4-BE49-F238E27FC236}">
                <a16:creationId xmlns:a16="http://schemas.microsoft.com/office/drawing/2014/main" id="{F8773B3C-3126-D565-7B73-DDF10D692B6D}"/>
              </a:ext>
            </a:extLst>
          </p:cNvPr>
          <p:cNvPicPr>
            <a:picLocks noChangeAspect="1"/>
          </p:cNvPicPr>
          <p:nvPr/>
        </p:nvPicPr>
        <p:blipFill>
          <a:blip r:embed="rId8"/>
          <a:stretch>
            <a:fillRect/>
          </a:stretch>
        </p:blipFill>
        <p:spPr>
          <a:xfrm>
            <a:off x="8434877" y="3060415"/>
            <a:ext cx="3519815" cy="1667108"/>
          </a:xfrm>
          <a:prstGeom prst="rect">
            <a:avLst/>
          </a:prstGeom>
          <a:ln w="12700">
            <a:solidFill>
              <a:schemeClr val="tx1"/>
            </a:solidFill>
          </a:ln>
        </p:spPr>
      </p:pic>
      <p:pic>
        <p:nvPicPr>
          <p:cNvPr id="17" name="Picture 16">
            <a:extLst>
              <a:ext uri="{FF2B5EF4-FFF2-40B4-BE49-F238E27FC236}">
                <a16:creationId xmlns:a16="http://schemas.microsoft.com/office/drawing/2014/main" id="{E434DA72-E25A-DB8F-0289-F80EAD17C46B}"/>
              </a:ext>
            </a:extLst>
          </p:cNvPr>
          <p:cNvPicPr>
            <a:picLocks noChangeAspect="1"/>
          </p:cNvPicPr>
          <p:nvPr/>
        </p:nvPicPr>
        <p:blipFill>
          <a:blip r:embed="rId9"/>
          <a:stretch>
            <a:fillRect/>
          </a:stretch>
        </p:blipFill>
        <p:spPr>
          <a:xfrm>
            <a:off x="8281406" y="4933378"/>
            <a:ext cx="3673286" cy="1667109"/>
          </a:xfrm>
          <a:prstGeom prst="rect">
            <a:avLst/>
          </a:prstGeom>
          <a:ln w="28575">
            <a:solidFill>
              <a:schemeClr val="tx1"/>
            </a:solidFill>
          </a:ln>
        </p:spPr>
      </p:pic>
    </p:spTree>
    <p:extLst>
      <p:ext uri="{BB962C8B-B14F-4D97-AF65-F5344CB8AC3E}">
        <p14:creationId xmlns:p14="http://schemas.microsoft.com/office/powerpoint/2010/main" val="1380542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F84F-55F3-458E-35F6-252151490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DE870-D44A-456C-0D5B-BE39B7F381CA}"/>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C38B6652-8813-1812-EB19-77142442882A}"/>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956820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EDC7A-DBF2-E1D1-840F-21189E9E5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F7911-46A2-B417-2FB0-EF3E832E3F97}"/>
              </a:ext>
            </a:extLst>
          </p:cNvPr>
          <p:cNvSpPr>
            <a:spLocks noGrp="1"/>
          </p:cNvSpPr>
          <p:nvPr>
            <p:ph type="title"/>
          </p:nvPr>
        </p:nvSpPr>
        <p:spPr/>
        <p:txBody>
          <a:bodyPr/>
          <a:lstStyle/>
          <a:p>
            <a:r>
              <a:rPr lang="en-US" dirty="0"/>
              <a:t>Simulations</a:t>
            </a:r>
            <a:endParaRPr lang="en-ZA" dirty="0"/>
          </a:p>
        </p:txBody>
      </p:sp>
      <p:pic>
        <p:nvPicPr>
          <p:cNvPr id="5" name="Content Placeholder 4">
            <a:extLst>
              <a:ext uri="{FF2B5EF4-FFF2-40B4-BE49-F238E27FC236}">
                <a16:creationId xmlns:a16="http://schemas.microsoft.com/office/drawing/2014/main" id="{7530FC46-086B-5A26-3C14-53CE06638018}"/>
              </a:ext>
            </a:extLst>
          </p:cNvPr>
          <p:cNvPicPr>
            <a:picLocks noGrp="1" noChangeAspect="1"/>
          </p:cNvPicPr>
          <p:nvPr>
            <p:ph idx="1"/>
          </p:nvPr>
        </p:nvPicPr>
        <p:blipFill>
          <a:blip r:embed="rId2"/>
          <a:stretch>
            <a:fillRect/>
          </a:stretch>
        </p:blipFill>
        <p:spPr>
          <a:xfrm>
            <a:off x="868804" y="1825625"/>
            <a:ext cx="10454392" cy="4351338"/>
          </a:xfrm>
          <a:prstGeom prst="rect">
            <a:avLst/>
          </a:prstGeom>
        </p:spPr>
      </p:pic>
    </p:spTree>
    <p:extLst>
      <p:ext uri="{BB962C8B-B14F-4D97-AF65-F5344CB8AC3E}">
        <p14:creationId xmlns:p14="http://schemas.microsoft.com/office/powerpoint/2010/main" val="1046088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01C4-435B-A12C-A710-C75BF7FD7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0CECB-B761-4C9B-1806-31B3FBDE7ECC}"/>
              </a:ext>
            </a:extLst>
          </p:cNvPr>
          <p:cNvSpPr>
            <a:spLocks noGrp="1"/>
          </p:cNvSpPr>
          <p:nvPr>
            <p:ph type="title"/>
          </p:nvPr>
        </p:nvSpPr>
        <p:spPr/>
        <p:txBody>
          <a:bodyPr/>
          <a:lstStyle/>
          <a:p>
            <a:endParaRPr lang="en-ZA" dirty="0"/>
          </a:p>
        </p:txBody>
      </p:sp>
      <p:pic>
        <p:nvPicPr>
          <p:cNvPr id="5" name="Content Placeholder 4">
            <a:extLst>
              <a:ext uri="{FF2B5EF4-FFF2-40B4-BE49-F238E27FC236}">
                <a16:creationId xmlns:a16="http://schemas.microsoft.com/office/drawing/2014/main" id="{07CA6ADF-4E1D-3951-2696-09B63199F0DC}"/>
              </a:ext>
            </a:extLst>
          </p:cNvPr>
          <p:cNvPicPr>
            <a:picLocks noGrp="1" noChangeAspect="1"/>
          </p:cNvPicPr>
          <p:nvPr>
            <p:ph idx="1"/>
          </p:nvPr>
        </p:nvPicPr>
        <p:blipFill>
          <a:blip r:embed="rId3"/>
          <a:stretch>
            <a:fillRect/>
          </a:stretch>
        </p:blipFill>
        <p:spPr>
          <a:xfrm>
            <a:off x="838200" y="2658877"/>
            <a:ext cx="10515600" cy="2684834"/>
          </a:xfrm>
          <a:prstGeom prst="rect">
            <a:avLst/>
          </a:prstGeom>
        </p:spPr>
      </p:pic>
    </p:spTree>
    <p:extLst>
      <p:ext uri="{BB962C8B-B14F-4D97-AF65-F5344CB8AC3E}">
        <p14:creationId xmlns:p14="http://schemas.microsoft.com/office/powerpoint/2010/main" val="2561676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53C7-305C-B1E2-A96D-9907F02FD415}"/>
              </a:ext>
            </a:extLst>
          </p:cNvPr>
          <p:cNvSpPr>
            <a:spLocks noGrp="1"/>
          </p:cNvSpPr>
          <p:nvPr>
            <p:ph type="title"/>
          </p:nvPr>
        </p:nvSpPr>
        <p:spPr/>
        <p:txBody>
          <a:bodyPr>
            <a:normAutofit/>
          </a:bodyPr>
          <a:lstStyle/>
          <a:p>
            <a:r>
              <a:rPr lang="en-US" sz="2800" dirty="0" err="1"/>
              <a:t>pl_Simulate_Date_File_Checker_w_Offset</a:t>
            </a:r>
            <a:endParaRPr lang="en-ZA" sz="2800" dirty="0"/>
          </a:p>
        </p:txBody>
      </p:sp>
      <p:pic>
        <p:nvPicPr>
          <p:cNvPr id="5" name="Content Placeholder 4">
            <a:extLst>
              <a:ext uri="{FF2B5EF4-FFF2-40B4-BE49-F238E27FC236}">
                <a16:creationId xmlns:a16="http://schemas.microsoft.com/office/drawing/2014/main" id="{A74BAE97-3325-5CF1-AF9A-81F77127576E}"/>
              </a:ext>
            </a:extLst>
          </p:cNvPr>
          <p:cNvPicPr>
            <a:picLocks noGrp="1" noChangeAspect="1"/>
          </p:cNvPicPr>
          <p:nvPr>
            <p:ph idx="1"/>
          </p:nvPr>
        </p:nvPicPr>
        <p:blipFill>
          <a:blip r:embed="rId3"/>
          <a:stretch>
            <a:fillRect/>
          </a:stretch>
        </p:blipFill>
        <p:spPr>
          <a:xfrm>
            <a:off x="683780" y="1690688"/>
            <a:ext cx="10207377" cy="1738312"/>
          </a:xfrm>
          <a:prstGeom prst="rect">
            <a:avLst/>
          </a:prstGeom>
        </p:spPr>
      </p:pic>
      <p:pic>
        <p:nvPicPr>
          <p:cNvPr id="7" name="Picture 6">
            <a:extLst>
              <a:ext uri="{FF2B5EF4-FFF2-40B4-BE49-F238E27FC236}">
                <a16:creationId xmlns:a16="http://schemas.microsoft.com/office/drawing/2014/main" id="{948EE201-633B-384F-2CEA-C0E4D0D69E85}"/>
              </a:ext>
            </a:extLst>
          </p:cNvPr>
          <p:cNvPicPr>
            <a:picLocks noChangeAspect="1"/>
          </p:cNvPicPr>
          <p:nvPr/>
        </p:nvPicPr>
        <p:blipFill>
          <a:blip r:embed="rId4"/>
          <a:stretch>
            <a:fillRect/>
          </a:stretch>
        </p:blipFill>
        <p:spPr>
          <a:xfrm>
            <a:off x="683780" y="3984172"/>
            <a:ext cx="4178515" cy="2661557"/>
          </a:xfrm>
          <a:prstGeom prst="rect">
            <a:avLst/>
          </a:prstGeom>
        </p:spPr>
      </p:pic>
      <p:pic>
        <p:nvPicPr>
          <p:cNvPr id="9" name="Picture 8">
            <a:extLst>
              <a:ext uri="{FF2B5EF4-FFF2-40B4-BE49-F238E27FC236}">
                <a16:creationId xmlns:a16="http://schemas.microsoft.com/office/drawing/2014/main" id="{C16BAE3D-9DA2-C7B6-ABE4-82A122F67526}"/>
              </a:ext>
            </a:extLst>
          </p:cNvPr>
          <p:cNvPicPr>
            <a:picLocks noChangeAspect="1"/>
          </p:cNvPicPr>
          <p:nvPr/>
        </p:nvPicPr>
        <p:blipFill>
          <a:blip r:embed="rId5"/>
          <a:stretch>
            <a:fillRect/>
          </a:stretch>
        </p:blipFill>
        <p:spPr>
          <a:xfrm>
            <a:off x="5892593" y="3586080"/>
            <a:ext cx="4915153" cy="2906795"/>
          </a:xfrm>
          <a:prstGeom prst="rect">
            <a:avLst/>
          </a:prstGeom>
          <a:ln w="28575">
            <a:solidFill>
              <a:schemeClr val="tx1"/>
            </a:solidFill>
          </a:ln>
        </p:spPr>
      </p:pic>
    </p:spTree>
    <p:extLst>
      <p:ext uri="{BB962C8B-B14F-4D97-AF65-F5344CB8AC3E}">
        <p14:creationId xmlns:p14="http://schemas.microsoft.com/office/powerpoint/2010/main" val="2867713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5AF-EFF9-8CD3-A449-DB4232DFF176}"/>
              </a:ext>
            </a:extLst>
          </p:cNvPr>
          <p:cNvSpPr>
            <a:spLocks noGrp="1"/>
          </p:cNvSpPr>
          <p:nvPr>
            <p:ph type="title"/>
          </p:nvPr>
        </p:nvSpPr>
        <p:spPr/>
        <p:txBody>
          <a:bodyPr/>
          <a:lstStyle/>
          <a:p>
            <a:r>
              <a:rPr lang="en-US" dirty="0"/>
              <a:t>Change set any date , now to take in the offset </a:t>
            </a:r>
            <a:endParaRPr lang="en-ZA" dirty="0"/>
          </a:p>
        </p:txBody>
      </p:sp>
      <p:pic>
        <p:nvPicPr>
          <p:cNvPr id="5" name="Content Placeholder 4">
            <a:extLst>
              <a:ext uri="{FF2B5EF4-FFF2-40B4-BE49-F238E27FC236}">
                <a16:creationId xmlns:a16="http://schemas.microsoft.com/office/drawing/2014/main" id="{702C5504-389A-809D-75AA-C5BA28682A37}"/>
              </a:ext>
            </a:extLst>
          </p:cNvPr>
          <p:cNvPicPr>
            <a:picLocks noGrp="1" noChangeAspect="1"/>
          </p:cNvPicPr>
          <p:nvPr>
            <p:ph idx="1"/>
          </p:nvPr>
        </p:nvPicPr>
        <p:blipFill>
          <a:blip r:embed="rId3"/>
          <a:stretch>
            <a:fillRect/>
          </a:stretch>
        </p:blipFill>
        <p:spPr>
          <a:xfrm>
            <a:off x="1151480" y="1585595"/>
            <a:ext cx="9317539" cy="4351338"/>
          </a:xfrm>
          <a:prstGeom prst="rect">
            <a:avLst/>
          </a:prstGeom>
        </p:spPr>
      </p:pic>
    </p:spTree>
    <p:extLst>
      <p:ext uri="{BB962C8B-B14F-4D97-AF65-F5344CB8AC3E}">
        <p14:creationId xmlns:p14="http://schemas.microsoft.com/office/powerpoint/2010/main" val="2367279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23F41-7270-E748-CE67-941D09A69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94CED-59EC-8AD6-7030-EEEBF31E4E7F}"/>
              </a:ext>
            </a:extLst>
          </p:cNvPr>
          <p:cNvSpPr>
            <a:spLocks noGrp="1"/>
          </p:cNvSpPr>
          <p:nvPr>
            <p:ph type="title"/>
          </p:nvPr>
        </p:nvSpPr>
        <p:spPr>
          <a:xfrm>
            <a:off x="838200" y="365125"/>
            <a:ext cx="10515600" cy="366395"/>
          </a:xfrm>
        </p:spPr>
        <p:txBody>
          <a:bodyPr>
            <a:normAutofit fontScale="90000"/>
          </a:bodyPr>
          <a:lstStyle/>
          <a:p>
            <a:r>
              <a:rPr lang="en-US" sz="2400" dirty="0" err="1"/>
              <a:t>pl_Simulate_Date_File_Checker_w_Offset</a:t>
            </a:r>
            <a:endParaRPr lang="en-ZA" sz="2400" dirty="0"/>
          </a:p>
        </p:txBody>
      </p:sp>
      <p:pic>
        <p:nvPicPr>
          <p:cNvPr id="5" name="Content Placeholder 4">
            <a:extLst>
              <a:ext uri="{FF2B5EF4-FFF2-40B4-BE49-F238E27FC236}">
                <a16:creationId xmlns:a16="http://schemas.microsoft.com/office/drawing/2014/main" id="{4C8D3631-1E3B-C0EA-2C5A-71398B85D969}"/>
              </a:ext>
            </a:extLst>
          </p:cNvPr>
          <p:cNvPicPr>
            <a:picLocks noGrp="1" noChangeAspect="1"/>
          </p:cNvPicPr>
          <p:nvPr>
            <p:ph idx="1"/>
          </p:nvPr>
        </p:nvPicPr>
        <p:blipFill>
          <a:blip r:embed="rId3"/>
          <a:stretch>
            <a:fillRect/>
          </a:stretch>
        </p:blipFill>
        <p:spPr>
          <a:xfrm>
            <a:off x="598170" y="986166"/>
            <a:ext cx="10515600" cy="4180194"/>
          </a:xfrm>
          <a:prstGeom prst="rect">
            <a:avLst/>
          </a:prstGeom>
        </p:spPr>
      </p:pic>
    </p:spTree>
    <p:extLst>
      <p:ext uri="{BB962C8B-B14F-4D97-AF65-F5344CB8AC3E}">
        <p14:creationId xmlns:p14="http://schemas.microsoft.com/office/powerpoint/2010/main" val="932555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15D1-9DE6-0682-2ED3-BBA299CDF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53465-9087-E0AF-EADA-6EFB5FB3E8C0}"/>
              </a:ext>
            </a:extLst>
          </p:cNvPr>
          <p:cNvSpPr>
            <a:spLocks noGrp="1"/>
          </p:cNvSpPr>
          <p:nvPr>
            <p:ph type="title"/>
          </p:nvPr>
        </p:nvSpPr>
        <p:spPr>
          <a:xfrm>
            <a:off x="838200" y="365125"/>
            <a:ext cx="10515600" cy="514985"/>
          </a:xfrm>
        </p:spPr>
        <p:txBody>
          <a:bodyPr>
            <a:normAutofit fontScale="90000"/>
          </a:bodyPr>
          <a:lstStyle/>
          <a:p>
            <a:r>
              <a:rPr lang="en-US" dirty="0"/>
              <a:t>New Blocks , Set Variable – Calc Offset from Date </a:t>
            </a:r>
            <a:endParaRPr lang="en-ZA" dirty="0"/>
          </a:p>
        </p:txBody>
      </p:sp>
      <p:pic>
        <p:nvPicPr>
          <p:cNvPr id="5" name="Content Placeholder 4">
            <a:extLst>
              <a:ext uri="{FF2B5EF4-FFF2-40B4-BE49-F238E27FC236}">
                <a16:creationId xmlns:a16="http://schemas.microsoft.com/office/drawing/2014/main" id="{36D37AF4-230D-C89B-5929-DE5CEBA6F1C8}"/>
              </a:ext>
            </a:extLst>
          </p:cNvPr>
          <p:cNvPicPr>
            <a:picLocks noGrp="1" noChangeAspect="1"/>
          </p:cNvPicPr>
          <p:nvPr>
            <p:ph idx="1"/>
          </p:nvPr>
        </p:nvPicPr>
        <p:blipFill>
          <a:blip r:embed="rId3"/>
          <a:stretch>
            <a:fillRect/>
          </a:stretch>
        </p:blipFill>
        <p:spPr>
          <a:xfrm>
            <a:off x="1506977" y="1482725"/>
            <a:ext cx="8837173" cy="4351338"/>
          </a:xfrm>
          <a:prstGeom prst="rect">
            <a:avLst/>
          </a:prstGeom>
          <a:ln w="38100">
            <a:solidFill>
              <a:schemeClr val="tx1"/>
            </a:solidFill>
          </a:ln>
        </p:spPr>
      </p:pic>
    </p:spTree>
    <p:extLst>
      <p:ext uri="{BB962C8B-B14F-4D97-AF65-F5344CB8AC3E}">
        <p14:creationId xmlns:p14="http://schemas.microsoft.com/office/powerpoint/2010/main" val="11711114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4BA15-52BF-7C4F-C2BA-FF46DED24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F8918-68AC-5540-A9BA-9896A140747F}"/>
              </a:ext>
            </a:extLst>
          </p:cNvPr>
          <p:cNvSpPr>
            <a:spLocks noGrp="1"/>
          </p:cNvSpPr>
          <p:nvPr>
            <p:ph type="title"/>
          </p:nvPr>
        </p:nvSpPr>
        <p:spPr>
          <a:xfrm>
            <a:off x="838200" y="262255"/>
            <a:ext cx="10515600" cy="537845"/>
          </a:xfrm>
        </p:spPr>
        <p:txBody>
          <a:bodyPr>
            <a:normAutofit fontScale="90000"/>
          </a:bodyPr>
          <a:lstStyle/>
          <a:p>
            <a:r>
              <a:rPr lang="en-US" dirty="0"/>
              <a:t>Calculate Offset from date </a:t>
            </a:r>
            <a:endParaRPr lang="en-ZA" dirty="0"/>
          </a:p>
        </p:txBody>
      </p:sp>
      <p:pic>
        <p:nvPicPr>
          <p:cNvPr id="5" name="Content Placeholder 4">
            <a:extLst>
              <a:ext uri="{FF2B5EF4-FFF2-40B4-BE49-F238E27FC236}">
                <a16:creationId xmlns:a16="http://schemas.microsoft.com/office/drawing/2014/main" id="{801D4125-0604-441D-80A7-F69D681867A3}"/>
              </a:ext>
            </a:extLst>
          </p:cNvPr>
          <p:cNvPicPr>
            <a:picLocks noGrp="1" noChangeAspect="1"/>
          </p:cNvPicPr>
          <p:nvPr>
            <p:ph idx="1"/>
          </p:nvPr>
        </p:nvPicPr>
        <p:blipFill>
          <a:blip r:embed="rId2"/>
          <a:stretch>
            <a:fillRect/>
          </a:stretch>
        </p:blipFill>
        <p:spPr>
          <a:xfrm>
            <a:off x="643890" y="1081887"/>
            <a:ext cx="10515600" cy="2038503"/>
          </a:xfrm>
          <a:prstGeom prst="rect">
            <a:avLst/>
          </a:prstGeom>
          <a:ln w="28575">
            <a:solidFill>
              <a:schemeClr val="tx1"/>
            </a:solidFill>
          </a:ln>
        </p:spPr>
      </p:pic>
      <p:sp>
        <p:nvSpPr>
          <p:cNvPr id="7" name="TextBox 6">
            <a:extLst>
              <a:ext uri="{FF2B5EF4-FFF2-40B4-BE49-F238E27FC236}">
                <a16:creationId xmlns:a16="http://schemas.microsoft.com/office/drawing/2014/main" id="{95755DBD-6DB6-1DB1-1E20-72CAEBEC88DD}"/>
              </a:ext>
            </a:extLst>
          </p:cNvPr>
          <p:cNvSpPr txBox="1"/>
          <p:nvPr/>
        </p:nvSpPr>
        <p:spPr>
          <a:xfrm>
            <a:off x="1623061" y="3737611"/>
            <a:ext cx="7886700" cy="2620333"/>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div(</a:t>
            </a:r>
          </a:p>
          <a:p>
            <a:pPr>
              <a:lnSpc>
                <a:spcPts val="1425"/>
              </a:lnSpc>
              <a:buNone/>
            </a:pPr>
            <a:r>
              <a:rPr lang="en-ZA" b="0" dirty="0">
                <a:solidFill>
                  <a:srgbClr val="000000"/>
                </a:solidFill>
                <a:effectLst/>
                <a:latin typeface="Consolas" panose="020B0609020204030204" pitchFamily="49" charset="0"/>
              </a:rPr>
              <a:t>  sub(</a:t>
            </a:r>
          </a:p>
          <a:p>
            <a:pPr>
              <a:lnSpc>
                <a:spcPts val="1425"/>
              </a:lnSpc>
              <a:buNone/>
            </a:pPr>
            <a:r>
              <a:rPr lang="en-ZA" b="0" dirty="0">
                <a:solidFill>
                  <a:srgbClr val="000000"/>
                </a:solidFill>
                <a:effectLst/>
                <a:latin typeface="Consolas" panose="020B0609020204030204" pitchFamily="49" charset="0"/>
              </a:rPr>
              <a:t>    ticks(</a:t>
            </a:r>
          </a:p>
          <a:p>
            <a:pPr>
              <a:lnSpc>
                <a:spcPts val="1425"/>
              </a:lnSpc>
              <a:buNone/>
            </a:pPr>
            <a:r>
              <a:rPr lang="en-ZA" b="0" dirty="0">
                <a:solidFill>
                  <a:srgbClr val="000000"/>
                </a:solidFill>
                <a:effectLst/>
                <a:latin typeface="Consolas" panose="020B0609020204030204" pitchFamily="49" charset="0"/>
              </a:rPr>
              <a:t>      </a:t>
            </a:r>
            <a:r>
              <a:rPr lang="en-ZA" b="0" dirty="0" err="1">
                <a:solidFill>
                  <a:srgbClr val="000000"/>
                </a:solidFill>
                <a:effectLst/>
                <a:latin typeface="Consolas" panose="020B0609020204030204" pitchFamily="49" charset="0"/>
              </a:rPr>
              <a:t>concat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substring(variables(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Test_Start_Date</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0</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4</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substring(variables(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Test_Start_Date</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4</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2</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substring(variables(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Test_Start_Date</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6</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2</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'T00:00:00Z'</a:t>
            </a:r>
            <a:endParaRPr lang="en-ZA" b="0" dirty="0">
              <a:solidFill>
                <a:srgbClr val="000000"/>
              </a:solidFill>
              <a:effectLst/>
              <a:latin typeface="Consolas" panose="020B0609020204030204" pitchFamily="49" charset="0"/>
            </a:endParaRP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ticks(</a:t>
            </a:r>
            <a:r>
              <a:rPr lang="en-ZA" b="0" dirty="0" err="1">
                <a:solidFill>
                  <a:srgbClr val="000000"/>
                </a:solidFill>
                <a:effectLst/>
                <a:latin typeface="Consolas" panose="020B0609020204030204" pitchFamily="49" charset="0"/>
              </a:rPr>
              <a:t>utcNow</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864000000000</a:t>
            </a:r>
            <a:endParaRPr lang="en-ZA" b="0" dirty="0">
              <a:solidFill>
                <a:srgbClr val="000000"/>
              </a:solidFill>
              <a:effectLst/>
              <a:latin typeface="Consolas" panose="020B0609020204030204" pitchFamily="49" charset="0"/>
            </a:endParaRPr>
          </a:p>
          <a:p>
            <a:pPr>
              <a:lnSpc>
                <a:spcPts val="1425"/>
              </a:lnSpc>
              <a:buNone/>
            </a:pPr>
            <a:r>
              <a:rPr lang="en-ZA"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206709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6CFBC-C1D2-339C-5366-C7C2AD6EA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02201-6BE2-22E0-AAE1-748DEE9EF458}"/>
              </a:ext>
            </a:extLst>
          </p:cNvPr>
          <p:cNvSpPr>
            <a:spLocks noGrp="1"/>
          </p:cNvSpPr>
          <p:nvPr>
            <p:ph type="title"/>
          </p:nvPr>
        </p:nvSpPr>
        <p:spPr>
          <a:xfrm>
            <a:off x="838200" y="365125"/>
            <a:ext cx="10515600" cy="526415"/>
          </a:xfrm>
        </p:spPr>
        <p:txBody>
          <a:bodyPr>
            <a:normAutofit fontScale="90000"/>
          </a:bodyPr>
          <a:lstStyle/>
          <a:p>
            <a:r>
              <a:rPr lang="en-US" dirty="0"/>
              <a:t>Set Any Data </a:t>
            </a:r>
            <a:endParaRPr lang="en-ZA" dirty="0"/>
          </a:p>
        </p:txBody>
      </p:sp>
      <p:pic>
        <p:nvPicPr>
          <p:cNvPr id="5" name="Content Placeholder 4">
            <a:extLst>
              <a:ext uri="{FF2B5EF4-FFF2-40B4-BE49-F238E27FC236}">
                <a16:creationId xmlns:a16="http://schemas.microsoft.com/office/drawing/2014/main" id="{BEAFB976-E4AF-A14C-E47A-06E15830CAF8}"/>
              </a:ext>
            </a:extLst>
          </p:cNvPr>
          <p:cNvPicPr>
            <a:picLocks noGrp="1" noChangeAspect="1"/>
          </p:cNvPicPr>
          <p:nvPr>
            <p:ph idx="1"/>
          </p:nvPr>
        </p:nvPicPr>
        <p:blipFill>
          <a:blip r:embed="rId2"/>
          <a:stretch>
            <a:fillRect/>
          </a:stretch>
        </p:blipFill>
        <p:spPr>
          <a:xfrm>
            <a:off x="1057317" y="1299210"/>
            <a:ext cx="10077365" cy="4838700"/>
          </a:xfrm>
          <a:prstGeom prst="rect">
            <a:avLst/>
          </a:prstGeom>
          <a:ln w="28575">
            <a:solidFill>
              <a:schemeClr val="tx1"/>
            </a:solidFill>
          </a:ln>
        </p:spPr>
      </p:pic>
    </p:spTree>
    <p:extLst>
      <p:ext uri="{BB962C8B-B14F-4D97-AF65-F5344CB8AC3E}">
        <p14:creationId xmlns:p14="http://schemas.microsoft.com/office/powerpoint/2010/main" val="3720450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16806-A877-F75F-4DDC-4F2A3D64C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52886-6413-A2F9-F909-8B2AC3B19608}"/>
              </a:ext>
            </a:extLst>
          </p:cNvPr>
          <p:cNvSpPr>
            <a:spLocks noGrp="1"/>
          </p:cNvSpPr>
          <p:nvPr>
            <p:ph type="title"/>
          </p:nvPr>
        </p:nvSpPr>
        <p:spPr>
          <a:xfrm>
            <a:off x="95250" y="457834"/>
            <a:ext cx="10515600" cy="446405"/>
          </a:xfrm>
        </p:spPr>
        <p:txBody>
          <a:bodyPr>
            <a:normAutofit fontScale="90000"/>
          </a:bodyPr>
          <a:lstStyle/>
          <a:p>
            <a:r>
              <a:rPr lang="en-US" dirty="0" err="1"/>
              <a:t>pl_Simulate_Backtest_Client_w_FileCheck</a:t>
            </a:r>
            <a:endParaRPr lang="en-ZA" dirty="0"/>
          </a:p>
        </p:txBody>
      </p:sp>
      <p:sp>
        <p:nvSpPr>
          <p:cNvPr id="3" name="Content Placeholder 2">
            <a:extLst>
              <a:ext uri="{FF2B5EF4-FFF2-40B4-BE49-F238E27FC236}">
                <a16:creationId xmlns:a16="http://schemas.microsoft.com/office/drawing/2014/main" id="{09DCBF79-8825-A44A-C9A7-37BB6CD27BF6}"/>
              </a:ext>
            </a:extLst>
          </p:cNvPr>
          <p:cNvSpPr>
            <a:spLocks noGrp="1"/>
          </p:cNvSpPr>
          <p:nvPr>
            <p:ph idx="1"/>
          </p:nvPr>
        </p:nvSpPr>
        <p:spPr>
          <a:xfrm>
            <a:off x="541020" y="1334135"/>
            <a:ext cx="10515600" cy="4351338"/>
          </a:xfrm>
        </p:spPr>
        <p:txBody>
          <a:bodyPr>
            <a:normAutofit/>
          </a:bodyPr>
          <a:lstStyle/>
          <a:p>
            <a:r>
              <a:rPr lang="en-US" sz="1800" dirty="0"/>
              <a:t>The file checker was updated to not only  send the emails on success , but in the success path run the client </a:t>
            </a:r>
            <a:r>
              <a:rPr lang="en-US" sz="1800" dirty="0" err="1"/>
              <a:t>Backtesting</a:t>
            </a:r>
            <a:endParaRPr lang="en-US" sz="1800" dirty="0"/>
          </a:p>
          <a:p>
            <a:r>
              <a:rPr lang="en-US" sz="1800" dirty="0"/>
              <a:t>The whole execution takes around 10 minutes , so this interval has to be changed in 2 places , in the Scheduler  and in the Time Delta.  These are shown below. </a:t>
            </a:r>
            <a:endParaRPr lang="en-ZA" sz="1800" dirty="0"/>
          </a:p>
        </p:txBody>
      </p:sp>
      <p:pic>
        <p:nvPicPr>
          <p:cNvPr id="5" name="Picture 4">
            <a:extLst>
              <a:ext uri="{FF2B5EF4-FFF2-40B4-BE49-F238E27FC236}">
                <a16:creationId xmlns:a16="http://schemas.microsoft.com/office/drawing/2014/main" id="{D0008CC3-BFBF-757D-E4B2-99676E6B4AA6}"/>
              </a:ext>
            </a:extLst>
          </p:cNvPr>
          <p:cNvPicPr>
            <a:picLocks noChangeAspect="1"/>
          </p:cNvPicPr>
          <p:nvPr/>
        </p:nvPicPr>
        <p:blipFill>
          <a:blip r:embed="rId3"/>
          <a:stretch>
            <a:fillRect/>
          </a:stretch>
        </p:blipFill>
        <p:spPr>
          <a:xfrm>
            <a:off x="374459" y="3509804"/>
            <a:ext cx="5915851" cy="2534004"/>
          </a:xfrm>
          <a:prstGeom prst="rect">
            <a:avLst/>
          </a:prstGeom>
          <a:ln w="28575">
            <a:solidFill>
              <a:schemeClr val="tx1"/>
            </a:solidFill>
          </a:ln>
        </p:spPr>
      </p:pic>
      <p:pic>
        <p:nvPicPr>
          <p:cNvPr id="7" name="Picture 6">
            <a:extLst>
              <a:ext uri="{FF2B5EF4-FFF2-40B4-BE49-F238E27FC236}">
                <a16:creationId xmlns:a16="http://schemas.microsoft.com/office/drawing/2014/main" id="{CE535CC6-76A7-3E6A-8478-4844EFC53B9A}"/>
              </a:ext>
            </a:extLst>
          </p:cNvPr>
          <p:cNvPicPr>
            <a:picLocks noChangeAspect="1"/>
          </p:cNvPicPr>
          <p:nvPr/>
        </p:nvPicPr>
        <p:blipFill>
          <a:blip r:embed="rId4"/>
          <a:stretch>
            <a:fillRect/>
          </a:stretch>
        </p:blipFill>
        <p:spPr>
          <a:xfrm>
            <a:off x="6372828" y="3276523"/>
            <a:ext cx="5001323" cy="2838846"/>
          </a:xfrm>
          <a:prstGeom prst="rect">
            <a:avLst/>
          </a:prstGeom>
          <a:ln w="38100">
            <a:solidFill>
              <a:schemeClr val="tx1"/>
            </a:solidFill>
          </a:ln>
        </p:spPr>
      </p:pic>
    </p:spTree>
    <p:extLst>
      <p:ext uri="{BB962C8B-B14F-4D97-AF65-F5344CB8AC3E}">
        <p14:creationId xmlns:p14="http://schemas.microsoft.com/office/powerpoint/2010/main" val="3053310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B2AD-B3B1-EB69-416D-1206481A4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D67B6-F299-98FC-F9F6-BA3D84F2777F}"/>
              </a:ext>
            </a:extLst>
          </p:cNvPr>
          <p:cNvSpPr>
            <a:spLocks noGrp="1"/>
          </p:cNvSpPr>
          <p:nvPr>
            <p:ph type="title"/>
          </p:nvPr>
        </p:nvSpPr>
        <p:spPr>
          <a:xfrm>
            <a:off x="838200" y="365125"/>
            <a:ext cx="10515600" cy="537845"/>
          </a:xfrm>
        </p:spPr>
        <p:txBody>
          <a:bodyPr>
            <a:normAutofit fontScale="90000"/>
          </a:bodyPr>
          <a:lstStyle/>
          <a:p>
            <a:r>
              <a:rPr lang="en-US" dirty="0"/>
              <a:t>Performance in the successful run (7min about)  </a:t>
            </a:r>
            <a:endParaRPr lang="en-ZA" dirty="0"/>
          </a:p>
        </p:txBody>
      </p:sp>
      <p:pic>
        <p:nvPicPr>
          <p:cNvPr id="5" name="Content Placeholder 4">
            <a:extLst>
              <a:ext uri="{FF2B5EF4-FFF2-40B4-BE49-F238E27FC236}">
                <a16:creationId xmlns:a16="http://schemas.microsoft.com/office/drawing/2014/main" id="{8E5609F4-42D5-8E00-D977-0B9116629630}"/>
              </a:ext>
            </a:extLst>
          </p:cNvPr>
          <p:cNvPicPr>
            <a:picLocks noGrp="1" noChangeAspect="1"/>
          </p:cNvPicPr>
          <p:nvPr>
            <p:ph idx="1"/>
          </p:nvPr>
        </p:nvPicPr>
        <p:blipFill>
          <a:blip r:embed="rId3"/>
          <a:stretch>
            <a:fillRect/>
          </a:stretch>
        </p:blipFill>
        <p:spPr>
          <a:xfrm>
            <a:off x="723900" y="1025259"/>
            <a:ext cx="10515600" cy="3615321"/>
          </a:xfrm>
          <a:prstGeom prst="rect">
            <a:avLst/>
          </a:prstGeom>
          <a:ln w="38100">
            <a:solidFill>
              <a:schemeClr val="tx1"/>
            </a:solidFill>
          </a:ln>
        </p:spPr>
      </p:pic>
    </p:spTree>
    <p:extLst>
      <p:ext uri="{BB962C8B-B14F-4D97-AF65-F5344CB8AC3E}">
        <p14:creationId xmlns:p14="http://schemas.microsoft.com/office/powerpoint/2010/main" val="3358973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02DC-4BFE-2BB8-9C45-2B7363E19C1C}"/>
              </a:ext>
            </a:extLst>
          </p:cNvPr>
          <p:cNvSpPr>
            <a:spLocks noGrp="1"/>
          </p:cNvSpPr>
          <p:nvPr>
            <p:ph type="title"/>
          </p:nvPr>
        </p:nvSpPr>
        <p:spPr>
          <a:xfrm>
            <a:off x="838200" y="365125"/>
            <a:ext cx="10515600" cy="652145"/>
          </a:xfrm>
        </p:spPr>
        <p:txBody>
          <a:bodyPr>
            <a:noAutofit/>
          </a:bodyPr>
          <a:lstStyle/>
          <a:p>
            <a:r>
              <a:rPr lang="en-US" sz="2400" dirty="0"/>
              <a:t>More detailed analysis of the run is shown below to show components and their times </a:t>
            </a:r>
            <a:endParaRPr lang="en-ZA" sz="2400" dirty="0"/>
          </a:p>
        </p:txBody>
      </p:sp>
      <p:pic>
        <p:nvPicPr>
          <p:cNvPr id="5" name="Content Placeholder 4">
            <a:extLst>
              <a:ext uri="{FF2B5EF4-FFF2-40B4-BE49-F238E27FC236}">
                <a16:creationId xmlns:a16="http://schemas.microsoft.com/office/drawing/2014/main" id="{2F1A23C4-A900-7176-C6D6-4378E8704207}"/>
              </a:ext>
            </a:extLst>
          </p:cNvPr>
          <p:cNvPicPr>
            <a:picLocks noGrp="1" noChangeAspect="1"/>
          </p:cNvPicPr>
          <p:nvPr>
            <p:ph idx="1"/>
          </p:nvPr>
        </p:nvPicPr>
        <p:blipFill>
          <a:blip r:embed="rId2"/>
          <a:stretch>
            <a:fillRect/>
          </a:stretch>
        </p:blipFill>
        <p:spPr>
          <a:xfrm>
            <a:off x="1068426" y="1253331"/>
            <a:ext cx="9643668" cy="4351338"/>
          </a:xfrm>
          <a:prstGeom prst="rect">
            <a:avLst/>
          </a:prstGeom>
        </p:spPr>
      </p:pic>
    </p:spTree>
    <p:extLst>
      <p:ext uri="{BB962C8B-B14F-4D97-AF65-F5344CB8AC3E}">
        <p14:creationId xmlns:p14="http://schemas.microsoft.com/office/powerpoint/2010/main" val="1737642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4B31B-584B-4D50-C5D5-71EE12CB1975}"/>
              </a:ext>
            </a:extLst>
          </p:cNvPr>
          <p:cNvSpPr>
            <a:spLocks noGrp="1"/>
          </p:cNvSpPr>
          <p:nvPr>
            <p:ph type="title"/>
          </p:nvPr>
        </p:nvSpPr>
        <p:spPr>
          <a:xfrm>
            <a:off x="838200" y="365125"/>
            <a:ext cx="10515600" cy="594995"/>
          </a:xfrm>
        </p:spPr>
        <p:txBody>
          <a:bodyPr>
            <a:normAutofit/>
          </a:bodyPr>
          <a:lstStyle/>
          <a:p>
            <a:r>
              <a:rPr lang="en-US" sz="2400" dirty="0" err="1"/>
              <a:t>pl_Simulate_Backtest_Client_w_FileCheck</a:t>
            </a:r>
            <a:endParaRPr lang="en-ZA" sz="2400" dirty="0"/>
          </a:p>
        </p:txBody>
      </p:sp>
      <p:pic>
        <p:nvPicPr>
          <p:cNvPr id="5" name="Content Placeholder 4">
            <a:extLst>
              <a:ext uri="{FF2B5EF4-FFF2-40B4-BE49-F238E27FC236}">
                <a16:creationId xmlns:a16="http://schemas.microsoft.com/office/drawing/2014/main" id="{9184463F-CFD7-95DC-3A98-EEEFCB261E90}"/>
              </a:ext>
            </a:extLst>
          </p:cNvPr>
          <p:cNvPicPr>
            <a:picLocks noGrp="1" noChangeAspect="1"/>
          </p:cNvPicPr>
          <p:nvPr>
            <p:ph idx="1"/>
          </p:nvPr>
        </p:nvPicPr>
        <p:blipFill>
          <a:blip r:embed="rId3"/>
          <a:stretch>
            <a:fillRect/>
          </a:stretch>
        </p:blipFill>
        <p:spPr>
          <a:xfrm>
            <a:off x="838200" y="1657350"/>
            <a:ext cx="10515600" cy="3406140"/>
          </a:xfrm>
          <a:prstGeom prst="rect">
            <a:avLst/>
          </a:prstGeom>
        </p:spPr>
      </p:pic>
      <p:sp>
        <p:nvSpPr>
          <p:cNvPr id="6" name="Rectangle 5">
            <a:extLst>
              <a:ext uri="{FF2B5EF4-FFF2-40B4-BE49-F238E27FC236}">
                <a16:creationId xmlns:a16="http://schemas.microsoft.com/office/drawing/2014/main" id="{E1BED206-CE70-55B7-F1B8-86C2BED61616}"/>
              </a:ext>
            </a:extLst>
          </p:cNvPr>
          <p:cNvSpPr/>
          <p:nvPr/>
        </p:nvSpPr>
        <p:spPr>
          <a:xfrm>
            <a:off x="9384030" y="2023110"/>
            <a:ext cx="2091690" cy="28917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103659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1A8A-F3C0-1F55-1A10-5211ED7F134D}"/>
              </a:ext>
            </a:extLst>
          </p:cNvPr>
          <p:cNvSpPr>
            <a:spLocks noGrp="1"/>
          </p:cNvSpPr>
          <p:nvPr>
            <p:ph type="title"/>
          </p:nvPr>
        </p:nvSpPr>
        <p:spPr>
          <a:xfrm>
            <a:off x="838200" y="365125"/>
            <a:ext cx="10515600" cy="583565"/>
          </a:xfrm>
        </p:spPr>
        <p:txBody>
          <a:bodyPr>
            <a:normAutofit fontScale="90000"/>
          </a:bodyPr>
          <a:lstStyle/>
          <a:p>
            <a:r>
              <a:rPr lang="en-US" dirty="0" err="1"/>
              <a:t>pl_Simulate_Backtest_Client_w_FileCheck</a:t>
            </a:r>
            <a:endParaRPr lang="en-ZA" dirty="0"/>
          </a:p>
        </p:txBody>
      </p:sp>
      <p:pic>
        <p:nvPicPr>
          <p:cNvPr id="5" name="Content Placeholder 4">
            <a:extLst>
              <a:ext uri="{FF2B5EF4-FFF2-40B4-BE49-F238E27FC236}">
                <a16:creationId xmlns:a16="http://schemas.microsoft.com/office/drawing/2014/main" id="{B5BD12BA-3FB3-14F4-A7A2-C4EEFC66EDBD}"/>
              </a:ext>
            </a:extLst>
          </p:cNvPr>
          <p:cNvPicPr>
            <a:picLocks noGrp="1" noChangeAspect="1"/>
          </p:cNvPicPr>
          <p:nvPr>
            <p:ph idx="1"/>
          </p:nvPr>
        </p:nvPicPr>
        <p:blipFill>
          <a:blip r:embed="rId3"/>
          <a:stretch>
            <a:fillRect/>
          </a:stretch>
        </p:blipFill>
        <p:spPr>
          <a:xfrm>
            <a:off x="2154404" y="1757045"/>
            <a:ext cx="6854492" cy="4351338"/>
          </a:xfrm>
          <a:prstGeom prst="rect">
            <a:avLst/>
          </a:prstGeom>
          <a:ln w="28575">
            <a:solidFill>
              <a:srgbClr val="FF0000"/>
            </a:solidFill>
          </a:ln>
        </p:spPr>
      </p:pic>
    </p:spTree>
    <p:extLst>
      <p:ext uri="{BB962C8B-B14F-4D97-AF65-F5344CB8AC3E}">
        <p14:creationId xmlns:p14="http://schemas.microsoft.com/office/powerpoint/2010/main" val="1859584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B73D7-0062-D9F9-EF81-EAD34FC33938}"/>
              </a:ext>
            </a:extLst>
          </p:cNvPr>
          <p:cNvSpPr>
            <a:spLocks noGrp="1"/>
          </p:cNvSpPr>
          <p:nvPr>
            <p:ph type="title"/>
          </p:nvPr>
        </p:nvSpPr>
        <p:spPr>
          <a:xfrm>
            <a:off x="838200" y="365125"/>
            <a:ext cx="10515600" cy="434975"/>
          </a:xfrm>
        </p:spPr>
        <p:txBody>
          <a:bodyPr>
            <a:normAutofit fontScale="90000"/>
          </a:bodyPr>
          <a:lstStyle/>
          <a:p>
            <a:r>
              <a:rPr lang="en-US" dirty="0"/>
              <a:t>True part of If condition. </a:t>
            </a:r>
            <a:endParaRPr lang="en-ZA" dirty="0"/>
          </a:p>
        </p:txBody>
      </p:sp>
      <p:pic>
        <p:nvPicPr>
          <p:cNvPr id="5" name="Content Placeholder 4">
            <a:extLst>
              <a:ext uri="{FF2B5EF4-FFF2-40B4-BE49-F238E27FC236}">
                <a16:creationId xmlns:a16="http://schemas.microsoft.com/office/drawing/2014/main" id="{76E82D3E-D1C4-D73C-85F3-E5C7F46B2405}"/>
              </a:ext>
            </a:extLst>
          </p:cNvPr>
          <p:cNvPicPr>
            <a:picLocks noGrp="1" noChangeAspect="1"/>
          </p:cNvPicPr>
          <p:nvPr>
            <p:ph idx="1"/>
          </p:nvPr>
        </p:nvPicPr>
        <p:blipFill>
          <a:blip r:embed="rId3"/>
          <a:stretch>
            <a:fillRect/>
          </a:stretch>
        </p:blipFill>
        <p:spPr>
          <a:xfrm>
            <a:off x="170663" y="1688465"/>
            <a:ext cx="3841267" cy="4351338"/>
          </a:xfrm>
          <a:prstGeom prst="rect">
            <a:avLst/>
          </a:prstGeom>
          <a:ln w="28575">
            <a:solidFill>
              <a:schemeClr val="tx1"/>
            </a:solidFill>
          </a:ln>
        </p:spPr>
      </p:pic>
      <p:pic>
        <p:nvPicPr>
          <p:cNvPr id="7" name="Picture 6">
            <a:extLst>
              <a:ext uri="{FF2B5EF4-FFF2-40B4-BE49-F238E27FC236}">
                <a16:creationId xmlns:a16="http://schemas.microsoft.com/office/drawing/2014/main" id="{E89A3576-09DC-A1ED-D379-C12AE287B873}"/>
              </a:ext>
            </a:extLst>
          </p:cNvPr>
          <p:cNvPicPr>
            <a:picLocks noChangeAspect="1"/>
          </p:cNvPicPr>
          <p:nvPr/>
        </p:nvPicPr>
        <p:blipFill>
          <a:blip r:embed="rId4"/>
          <a:stretch>
            <a:fillRect/>
          </a:stretch>
        </p:blipFill>
        <p:spPr>
          <a:xfrm>
            <a:off x="4517198" y="1463499"/>
            <a:ext cx="7325747" cy="4801270"/>
          </a:xfrm>
          <a:prstGeom prst="rect">
            <a:avLst/>
          </a:prstGeom>
          <a:ln w="28575">
            <a:solidFill>
              <a:schemeClr val="tx1"/>
            </a:solidFill>
          </a:ln>
        </p:spPr>
      </p:pic>
    </p:spTree>
    <p:extLst>
      <p:ext uri="{BB962C8B-B14F-4D97-AF65-F5344CB8AC3E}">
        <p14:creationId xmlns:p14="http://schemas.microsoft.com/office/powerpoint/2010/main" val="2584354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9951-014D-3F5F-DCEA-95E49860626A}"/>
              </a:ext>
            </a:extLst>
          </p:cNvPr>
          <p:cNvSpPr>
            <a:spLocks noGrp="1"/>
          </p:cNvSpPr>
          <p:nvPr>
            <p:ph type="title"/>
          </p:nvPr>
        </p:nvSpPr>
        <p:spPr>
          <a:xfrm>
            <a:off x="838200" y="365125"/>
            <a:ext cx="10515600" cy="423545"/>
          </a:xfrm>
        </p:spPr>
        <p:txBody>
          <a:bodyPr>
            <a:normAutofit fontScale="90000"/>
          </a:bodyPr>
          <a:lstStyle/>
          <a:p>
            <a:r>
              <a:rPr lang="en-US" dirty="0" err="1"/>
              <a:t>pl_Simulate_Backtest_Contract_w_FileCheck</a:t>
            </a:r>
            <a:endParaRPr lang="en-ZA" dirty="0"/>
          </a:p>
        </p:txBody>
      </p:sp>
      <p:sp>
        <p:nvSpPr>
          <p:cNvPr id="3" name="Content Placeholder 2">
            <a:extLst>
              <a:ext uri="{FF2B5EF4-FFF2-40B4-BE49-F238E27FC236}">
                <a16:creationId xmlns:a16="http://schemas.microsoft.com/office/drawing/2014/main" id="{71B665CC-1E6B-21E8-BC43-45CFAA98D68D}"/>
              </a:ext>
            </a:extLst>
          </p:cNvPr>
          <p:cNvSpPr>
            <a:spLocks noGrp="1"/>
          </p:cNvSpPr>
          <p:nvPr>
            <p:ph idx="1"/>
          </p:nvPr>
        </p:nvSpPr>
        <p:spPr>
          <a:xfrm>
            <a:off x="838200" y="1337309"/>
            <a:ext cx="10515600" cy="3851911"/>
          </a:xfrm>
        </p:spPr>
        <p:txBody>
          <a:bodyPr>
            <a:normAutofit/>
          </a:bodyPr>
          <a:lstStyle/>
          <a:p>
            <a:r>
              <a:rPr lang="en-US" sz="1400" dirty="0"/>
              <a:t>The pipeline is identical to client except with very few changes. </a:t>
            </a:r>
          </a:p>
          <a:p>
            <a:r>
              <a:rPr lang="en-US" sz="1400" dirty="0" err="1"/>
              <a:t>Obvoisly</a:t>
            </a:r>
            <a:r>
              <a:rPr lang="en-US" sz="1400" dirty="0"/>
              <a:t> the instrument comes from a different directory ,</a:t>
            </a:r>
          </a:p>
          <a:p>
            <a:r>
              <a:rPr lang="en-US" sz="1400" dirty="0"/>
              <a:t>Also the invoke block call a Contract pipeline with different notebooks.</a:t>
            </a:r>
            <a:endParaRPr lang="en-ZA" sz="1400" dirty="0"/>
          </a:p>
        </p:txBody>
      </p:sp>
      <p:pic>
        <p:nvPicPr>
          <p:cNvPr id="5" name="Picture 4">
            <a:extLst>
              <a:ext uri="{FF2B5EF4-FFF2-40B4-BE49-F238E27FC236}">
                <a16:creationId xmlns:a16="http://schemas.microsoft.com/office/drawing/2014/main" id="{2332D9D9-E74C-62CC-A239-B5CC4F887ECE}"/>
              </a:ext>
            </a:extLst>
          </p:cNvPr>
          <p:cNvPicPr>
            <a:picLocks noChangeAspect="1"/>
          </p:cNvPicPr>
          <p:nvPr/>
        </p:nvPicPr>
        <p:blipFill>
          <a:blip r:embed="rId3"/>
          <a:stretch>
            <a:fillRect/>
          </a:stretch>
        </p:blipFill>
        <p:spPr>
          <a:xfrm>
            <a:off x="458691" y="2924917"/>
            <a:ext cx="4296189" cy="3019846"/>
          </a:xfrm>
          <a:prstGeom prst="rect">
            <a:avLst/>
          </a:prstGeom>
        </p:spPr>
      </p:pic>
      <p:pic>
        <p:nvPicPr>
          <p:cNvPr id="7" name="Picture 6">
            <a:extLst>
              <a:ext uri="{FF2B5EF4-FFF2-40B4-BE49-F238E27FC236}">
                <a16:creationId xmlns:a16="http://schemas.microsoft.com/office/drawing/2014/main" id="{6462A9FA-8BCC-6FB9-2983-16A9B3E3FA65}"/>
              </a:ext>
            </a:extLst>
          </p:cNvPr>
          <p:cNvPicPr>
            <a:picLocks noChangeAspect="1"/>
          </p:cNvPicPr>
          <p:nvPr/>
        </p:nvPicPr>
        <p:blipFill>
          <a:blip r:embed="rId4"/>
          <a:stretch>
            <a:fillRect/>
          </a:stretch>
        </p:blipFill>
        <p:spPr>
          <a:xfrm>
            <a:off x="6262971" y="2011680"/>
            <a:ext cx="4733186" cy="4391486"/>
          </a:xfrm>
          <a:prstGeom prst="rect">
            <a:avLst/>
          </a:prstGeom>
        </p:spPr>
      </p:pic>
    </p:spTree>
    <p:extLst>
      <p:ext uri="{BB962C8B-B14F-4D97-AF65-F5344CB8AC3E}">
        <p14:creationId xmlns:p14="http://schemas.microsoft.com/office/powerpoint/2010/main" val="9112822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2837D-574B-C40F-6366-F53218CC7143}"/>
              </a:ext>
            </a:extLst>
          </p:cNvPr>
          <p:cNvSpPr>
            <a:spLocks noGrp="1"/>
          </p:cNvSpPr>
          <p:nvPr>
            <p:ph type="title"/>
          </p:nvPr>
        </p:nvSpPr>
        <p:spPr/>
        <p:txBody>
          <a:bodyPr/>
          <a:lstStyle/>
          <a:p>
            <a:r>
              <a:rPr lang="en-US" dirty="0"/>
              <a:t>Performance of Contract ( 6mins) </a:t>
            </a:r>
            <a:endParaRPr lang="en-ZA" dirty="0"/>
          </a:p>
        </p:txBody>
      </p:sp>
      <p:pic>
        <p:nvPicPr>
          <p:cNvPr id="5" name="Content Placeholder 4">
            <a:extLst>
              <a:ext uri="{FF2B5EF4-FFF2-40B4-BE49-F238E27FC236}">
                <a16:creationId xmlns:a16="http://schemas.microsoft.com/office/drawing/2014/main" id="{68420696-AF44-4981-2C07-657E73A3C23F}"/>
              </a:ext>
            </a:extLst>
          </p:cNvPr>
          <p:cNvPicPr>
            <a:picLocks noGrp="1" noChangeAspect="1"/>
          </p:cNvPicPr>
          <p:nvPr>
            <p:ph idx="1"/>
          </p:nvPr>
        </p:nvPicPr>
        <p:blipFill>
          <a:blip r:embed="rId2"/>
          <a:stretch>
            <a:fillRect/>
          </a:stretch>
        </p:blipFill>
        <p:spPr>
          <a:xfrm>
            <a:off x="887730" y="1825625"/>
            <a:ext cx="10034716" cy="4351338"/>
          </a:xfrm>
          <a:prstGeom prst="rect">
            <a:avLst/>
          </a:prstGeom>
          <a:ln w="38100">
            <a:solidFill>
              <a:schemeClr val="tx1"/>
            </a:solidFill>
          </a:ln>
        </p:spPr>
      </p:pic>
    </p:spTree>
    <p:extLst>
      <p:ext uri="{BB962C8B-B14F-4D97-AF65-F5344CB8AC3E}">
        <p14:creationId xmlns:p14="http://schemas.microsoft.com/office/powerpoint/2010/main" val="30280477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8860-143E-C13D-D2F2-C51CD9878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9EB16-16F4-7AD5-D0B8-7C3F93FB3252}"/>
              </a:ext>
            </a:extLst>
          </p:cNvPr>
          <p:cNvSpPr>
            <a:spLocks noGrp="1"/>
          </p:cNvSpPr>
          <p:nvPr>
            <p:ph type="title"/>
          </p:nvPr>
        </p:nvSpPr>
        <p:spPr>
          <a:xfrm>
            <a:off x="838200" y="365125"/>
            <a:ext cx="10515600" cy="537845"/>
          </a:xfrm>
        </p:spPr>
        <p:txBody>
          <a:bodyPr>
            <a:normAutofit/>
          </a:bodyPr>
          <a:lstStyle/>
          <a:p>
            <a:r>
              <a:rPr lang="en-US" sz="2400" dirty="0"/>
              <a:t>pl_Simulate_JSpan_w_FileCheck_All_5_Check_Blocks</a:t>
            </a:r>
            <a:endParaRPr lang="en-ZA" sz="2400" dirty="0"/>
          </a:p>
        </p:txBody>
      </p:sp>
      <p:pic>
        <p:nvPicPr>
          <p:cNvPr id="5" name="Content Placeholder 4">
            <a:extLst>
              <a:ext uri="{FF2B5EF4-FFF2-40B4-BE49-F238E27FC236}">
                <a16:creationId xmlns:a16="http://schemas.microsoft.com/office/drawing/2014/main" id="{AAD2ABFF-359C-2E71-1645-331FFD422A77}"/>
              </a:ext>
            </a:extLst>
          </p:cNvPr>
          <p:cNvPicPr>
            <a:picLocks noGrp="1" noChangeAspect="1"/>
          </p:cNvPicPr>
          <p:nvPr>
            <p:ph idx="1"/>
          </p:nvPr>
        </p:nvPicPr>
        <p:blipFill>
          <a:blip r:embed="rId3"/>
          <a:stretch>
            <a:fillRect/>
          </a:stretch>
        </p:blipFill>
        <p:spPr>
          <a:xfrm>
            <a:off x="838200" y="1468754"/>
            <a:ext cx="10515600" cy="4394835"/>
          </a:xfrm>
          <a:prstGeom prst="rect">
            <a:avLst/>
          </a:prstGeom>
        </p:spPr>
      </p:pic>
    </p:spTree>
    <p:extLst>
      <p:ext uri="{BB962C8B-B14F-4D97-AF65-F5344CB8AC3E}">
        <p14:creationId xmlns:p14="http://schemas.microsoft.com/office/powerpoint/2010/main" val="34973548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D610-3D4C-D16F-75FF-4DE0E51BF4EE}"/>
              </a:ext>
            </a:extLst>
          </p:cNvPr>
          <p:cNvSpPr>
            <a:spLocks noGrp="1"/>
          </p:cNvSpPr>
          <p:nvPr>
            <p:ph type="title"/>
          </p:nvPr>
        </p:nvSpPr>
        <p:spPr>
          <a:xfrm>
            <a:off x="838200" y="365125"/>
            <a:ext cx="10515600" cy="537845"/>
          </a:xfrm>
        </p:spPr>
        <p:txBody>
          <a:bodyPr>
            <a:normAutofit fontScale="90000"/>
          </a:bodyPr>
          <a:lstStyle/>
          <a:p>
            <a:r>
              <a:rPr lang="en-US" dirty="0"/>
              <a:t>Performance </a:t>
            </a:r>
            <a:endParaRPr lang="en-ZA" dirty="0"/>
          </a:p>
        </p:txBody>
      </p:sp>
      <p:pic>
        <p:nvPicPr>
          <p:cNvPr id="5" name="Content Placeholder 4">
            <a:extLst>
              <a:ext uri="{FF2B5EF4-FFF2-40B4-BE49-F238E27FC236}">
                <a16:creationId xmlns:a16="http://schemas.microsoft.com/office/drawing/2014/main" id="{8D9F428D-CC43-C29B-E86E-48FD93511F9B}"/>
              </a:ext>
            </a:extLst>
          </p:cNvPr>
          <p:cNvPicPr>
            <a:picLocks noGrp="1" noChangeAspect="1"/>
          </p:cNvPicPr>
          <p:nvPr>
            <p:ph idx="1"/>
          </p:nvPr>
        </p:nvPicPr>
        <p:blipFill>
          <a:blip r:embed="rId3"/>
          <a:stretch>
            <a:fillRect/>
          </a:stretch>
        </p:blipFill>
        <p:spPr>
          <a:xfrm>
            <a:off x="1143444" y="1253330"/>
            <a:ext cx="10126535" cy="5015837"/>
          </a:xfrm>
          <a:prstGeom prst="rect">
            <a:avLst/>
          </a:prstGeom>
          <a:ln w="28575">
            <a:solidFill>
              <a:schemeClr val="tx1"/>
            </a:solidFill>
          </a:ln>
        </p:spPr>
      </p:pic>
    </p:spTree>
    <p:extLst>
      <p:ext uri="{BB962C8B-B14F-4D97-AF65-F5344CB8AC3E}">
        <p14:creationId xmlns:p14="http://schemas.microsoft.com/office/powerpoint/2010/main" val="1207747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39CC-4F75-904F-FEA1-C5745FA368D6}"/>
              </a:ext>
            </a:extLst>
          </p:cNvPr>
          <p:cNvSpPr>
            <a:spLocks noGrp="1"/>
          </p:cNvSpPr>
          <p:nvPr>
            <p:ph type="title"/>
          </p:nvPr>
        </p:nvSpPr>
        <p:spPr>
          <a:xfrm>
            <a:off x="838200" y="365125"/>
            <a:ext cx="10515600" cy="434975"/>
          </a:xfrm>
        </p:spPr>
        <p:txBody>
          <a:bodyPr>
            <a:normAutofit fontScale="90000"/>
          </a:bodyPr>
          <a:lstStyle/>
          <a:p>
            <a:r>
              <a:rPr lang="en-US" dirty="0"/>
              <a:t>Initial Variables </a:t>
            </a:r>
            <a:endParaRPr lang="en-ZA" dirty="0"/>
          </a:p>
        </p:txBody>
      </p:sp>
      <p:pic>
        <p:nvPicPr>
          <p:cNvPr id="5" name="Content Placeholder 4">
            <a:extLst>
              <a:ext uri="{FF2B5EF4-FFF2-40B4-BE49-F238E27FC236}">
                <a16:creationId xmlns:a16="http://schemas.microsoft.com/office/drawing/2014/main" id="{29E8C9EB-8CAB-BBBD-3510-2771B1C5F870}"/>
              </a:ext>
            </a:extLst>
          </p:cNvPr>
          <p:cNvPicPr>
            <a:picLocks noGrp="1" noChangeAspect="1"/>
          </p:cNvPicPr>
          <p:nvPr>
            <p:ph idx="1"/>
          </p:nvPr>
        </p:nvPicPr>
        <p:blipFill>
          <a:blip r:embed="rId2"/>
          <a:stretch>
            <a:fillRect/>
          </a:stretch>
        </p:blipFill>
        <p:spPr>
          <a:xfrm>
            <a:off x="1068288" y="1293575"/>
            <a:ext cx="9287291" cy="4455080"/>
          </a:xfrm>
          <a:prstGeom prst="rect">
            <a:avLst/>
          </a:prstGeom>
        </p:spPr>
      </p:pic>
    </p:spTree>
    <p:extLst>
      <p:ext uri="{BB962C8B-B14F-4D97-AF65-F5344CB8AC3E}">
        <p14:creationId xmlns:p14="http://schemas.microsoft.com/office/powerpoint/2010/main" val="2380980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91570-587A-2989-A39A-01B833596CE7}"/>
              </a:ext>
            </a:extLst>
          </p:cNvPr>
          <p:cNvSpPr>
            <a:spLocks noGrp="1"/>
          </p:cNvSpPr>
          <p:nvPr>
            <p:ph type="title"/>
          </p:nvPr>
        </p:nvSpPr>
        <p:spPr>
          <a:xfrm>
            <a:off x="838200" y="365125"/>
            <a:ext cx="10515600" cy="549275"/>
          </a:xfrm>
        </p:spPr>
        <p:txBody>
          <a:bodyPr>
            <a:normAutofit fontScale="90000"/>
          </a:bodyPr>
          <a:lstStyle/>
          <a:p>
            <a:r>
              <a:rPr lang="en-US" dirty="0"/>
              <a:t>Variables</a:t>
            </a:r>
            <a:endParaRPr lang="en-ZA" dirty="0"/>
          </a:p>
        </p:txBody>
      </p:sp>
      <p:pic>
        <p:nvPicPr>
          <p:cNvPr id="5" name="Content Placeholder 4">
            <a:extLst>
              <a:ext uri="{FF2B5EF4-FFF2-40B4-BE49-F238E27FC236}">
                <a16:creationId xmlns:a16="http://schemas.microsoft.com/office/drawing/2014/main" id="{B79EC991-79CE-BD33-B3DE-A15B6C86BC33}"/>
              </a:ext>
            </a:extLst>
          </p:cNvPr>
          <p:cNvPicPr>
            <a:picLocks noGrp="1" noChangeAspect="1"/>
          </p:cNvPicPr>
          <p:nvPr>
            <p:ph idx="1"/>
          </p:nvPr>
        </p:nvPicPr>
        <p:blipFill>
          <a:blip r:embed="rId2"/>
          <a:stretch>
            <a:fillRect/>
          </a:stretch>
        </p:blipFill>
        <p:spPr>
          <a:xfrm>
            <a:off x="701040" y="1288414"/>
            <a:ext cx="4189428" cy="5032375"/>
          </a:xfrm>
          <a:prstGeom prst="rect">
            <a:avLst/>
          </a:prstGeom>
          <a:ln w="28575">
            <a:solidFill>
              <a:schemeClr val="tx1"/>
            </a:solidFill>
          </a:ln>
        </p:spPr>
      </p:pic>
      <p:pic>
        <p:nvPicPr>
          <p:cNvPr id="7" name="Picture 6">
            <a:extLst>
              <a:ext uri="{FF2B5EF4-FFF2-40B4-BE49-F238E27FC236}">
                <a16:creationId xmlns:a16="http://schemas.microsoft.com/office/drawing/2014/main" id="{074C409A-9052-FB6B-7E6E-5E56141C2C1F}"/>
              </a:ext>
            </a:extLst>
          </p:cNvPr>
          <p:cNvPicPr>
            <a:picLocks noChangeAspect="1"/>
          </p:cNvPicPr>
          <p:nvPr/>
        </p:nvPicPr>
        <p:blipFill>
          <a:blip r:embed="rId3"/>
          <a:stretch>
            <a:fillRect/>
          </a:stretch>
        </p:blipFill>
        <p:spPr>
          <a:xfrm>
            <a:off x="5447476" y="365125"/>
            <a:ext cx="5906324" cy="6192114"/>
          </a:xfrm>
          <a:prstGeom prst="rect">
            <a:avLst/>
          </a:prstGeom>
        </p:spPr>
      </p:pic>
    </p:spTree>
    <p:extLst>
      <p:ext uri="{BB962C8B-B14F-4D97-AF65-F5344CB8AC3E}">
        <p14:creationId xmlns:p14="http://schemas.microsoft.com/office/powerpoint/2010/main" val="118917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F4E87-9A1D-8F90-E7E2-5069AAD6A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7537C-03E5-065A-B762-CCA270F5F29E}"/>
              </a:ext>
            </a:extLst>
          </p:cNvPr>
          <p:cNvSpPr>
            <a:spLocks noGrp="1"/>
          </p:cNvSpPr>
          <p:nvPr>
            <p:ph type="title"/>
          </p:nvPr>
        </p:nvSpPr>
        <p:spPr>
          <a:xfrm>
            <a:off x="838200" y="365125"/>
            <a:ext cx="10515600" cy="537845"/>
          </a:xfrm>
        </p:spPr>
        <p:txBody>
          <a:bodyPr>
            <a:normAutofit fontScale="90000"/>
          </a:bodyPr>
          <a:lstStyle/>
          <a:p>
            <a:r>
              <a:rPr lang="en-US" dirty="0"/>
              <a:t>Settings</a:t>
            </a:r>
            <a:endParaRPr lang="en-ZA" dirty="0"/>
          </a:p>
        </p:txBody>
      </p:sp>
      <p:pic>
        <p:nvPicPr>
          <p:cNvPr id="5" name="Content Placeholder 4">
            <a:extLst>
              <a:ext uri="{FF2B5EF4-FFF2-40B4-BE49-F238E27FC236}">
                <a16:creationId xmlns:a16="http://schemas.microsoft.com/office/drawing/2014/main" id="{99FA115A-9666-F8DE-05AA-AB7B18D77BDB}"/>
              </a:ext>
            </a:extLst>
          </p:cNvPr>
          <p:cNvPicPr>
            <a:picLocks noGrp="1" noChangeAspect="1"/>
          </p:cNvPicPr>
          <p:nvPr>
            <p:ph idx="1"/>
          </p:nvPr>
        </p:nvPicPr>
        <p:blipFill>
          <a:blip r:embed="rId3"/>
          <a:stretch>
            <a:fillRect/>
          </a:stretch>
        </p:blipFill>
        <p:spPr>
          <a:xfrm>
            <a:off x="509025" y="1333341"/>
            <a:ext cx="3674355" cy="4351338"/>
          </a:xfrm>
          <a:prstGeom prst="rect">
            <a:avLst/>
          </a:prstGeom>
        </p:spPr>
      </p:pic>
      <p:pic>
        <p:nvPicPr>
          <p:cNvPr id="7" name="Picture 6">
            <a:extLst>
              <a:ext uri="{FF2B5EF4-FFF2-40B4-BE49-F238E27FC236}">
                <a16:creationId xmlns:a16="http://schemas.microsoft.com/office/drawing/2014/main" id="{FB05B377-CAB8-C90F-6DF3-537622B1E1CC}"/>
              </a:ext>
            </a:extLst>
          </p:cNvPr>
          <p:cNvPicPr>
            <a:picLocks noChangeAspect="1"/>
          </p:cNvPicPr>
          <p:nvPr/>
        </p:nvPicPr>
        <p:blipFill>
          <a:blip r:embed="rId4"/>
          <a:stretch>
            <a:fillRect/>
          </a:stretch>
        </p:blipFill>
        <p:spPr>
          <a:xfrm>
            <a:off x="4671582" y="542522"/>
            <a:ext cx="6163535" cy="5772956"/>
          </a:xfrm>
          <a:prstGeom prst="rect">
            <a:avLst/>
          </a:prstGeom>
        </p:spPr>
      </p:pic>
    </p:spTree>
    <p:extLst>
      <p:ext uri="{BB962C8B-B14F-4D97-AF65-F5344CB8AC3E}">
        <p14:creationId xmlns:p14="http://schemas.microsoft.com/office/powerpoint/2010/main" val="2664078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F93AF-511D-5504-6F7F-1F693C401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62122-4569-CA3D-9E94-40FF8E721F68}"/>
              </a:ext>
            </a:extLst>
          </p:cNvPr>
          <p:cNvSpPr>
            <a:spLocks noGrp="1"/>
          </p:cNvSpPr>
          <p:nvPr>
            <p:ph type="title"/>
          </p:nvPr>
        </p:nvSpPr>
        <p:spPr/>
        <p:txBody>
          <a:bodyPr/>
          <a:lstStyle/>
          <a:p>
            <a:endParaRPr lang="en-ZA" dirty="0"/>
          </a:p>
        </p:txBody>
      </p:sp>
      <p:pic>
        <p:nvPicPr>
          <p:cNvPr id="5" name="Content Placeholder 4">
            <a:extLst>
              <a:ext uri="{FF2B5EF4-FFF2-40B4-BE49-F238E27FC236}">
                <a16:creationId xmlns:a16="http://schemas.microsoft.com/office/drawing/2014/main" id="{BF4EB902-81D8-407B-AC01-4B7430B87F1F}"/>
              </a:ext>
            </a:extLst>
          </p:cNvPr>
          <p:cNvPicPr>
            <a:picLocks noGrp="1" noChangeAspect="1"/>
          </p:cNvPicPr>
          <p:nvPr>
            <p:ph idx="1"/>
          </p:nvPr>
        </p:nvPicPr>
        <p:blipFill>
          <a:blip r:embed="rId3"/>
          <a:stretch>
            <a:fillRect/>
          </a:stretch>
        </p:blipFill>
        <p:spPr>
          <a:xfrm>
            <a:off x="443542" y="621590"/>
            <a:ext cx="4629796" cy="2807410"/>
          </a:xfrm>
          <a:prstGeom prst="rect">
            <a:avLst/>
          </a:prstGeom>
          <a:ln w="12700">
            <a:solidFill>
              <a:schemeClr val="tx1"/>
            </a:solidFill>
          </a:ln>
        </p:spPr>
      </p:pic>
      <p:sp>
        <p:nvSpPr>
          <p:cNvPr id="7" name="TextBox 6">
            <a:extLst>
              <a:ext uri="{FF2B5EF4-FFF2-40B4-BE49-F238E27FC236}">
                <a16:creationId xmlns:a16="http://schemas.microsoft.com/office/drawing/2014/main" id="{9FBCAE53-F975-C2DE-4946-0F9623C4C865}"/>
              </a:ext>
            </a:extLst>
          </p:cNvPr>
          <p:cNvSpPr txBox="1"/>
          <p:nvPr/>
        </p:nvSpPr>
        <p:spPr>
          <a:xfrm>
            <a:off x="249079" y="4235439"/>
            <a:ext cx="7615237" cy="2620333"/>
          </a:xfrm>
          <a:prstGeom prst="rect">
            <a:avLst/>
          </a:prstGeom>
          <a:noFill/>
          <a:ln w="38100">
            <a:solidFill>
              <a:schemeClr val="tx1"/>
            </a:solidFill>
          </a:ln>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div(</a:t>
            </a:r>
          </a:p>
          <a:p>
            <a:pPr>
              <a:lnSpc>
                <a:spcPts val="1425"/>
              </a:lnSpc>
              <a:buNone/>
            </a:pPr>
            <a:r>
              <a:rPr lang="en-ZA" b="0" dirty="0">
                <a:solidFill>
                  <a:srgbClr val="000000"/>
                </a:solidFill>
                <a:effectLst/>
                <a:latin typeface="Consolas" panose="020B0609020204030204" pitchFamily="49" charset="0"/>
              </a:rPr>
              <a:t>  sub(</a:t>
            </a:r>
          </a:p>
          <a:p>
            <a:pPr>
              <a:lnSpc>
                <a:spcPts val="1425"/>
              </a:lnSpc>
              <a:buNone/>
            </a:pPr>
            <a:r>
              <a:rPr lang="en-ZA" b="0" dirty="0">
                <a:solidFill>
                  <a:srgbClr val="000000"/>
                </a:solidFill>
                <a:effectLst/>
                <a:latin typeface="Consolas" panose="020B0609020204030204" pitchFamily="49" charset="0"/>
              </a:rPr>
              <a:t>    ticks(</a:t>
            </a:r>
          </a:p>
          <a:p>
            <a:pPr>
              <a:lnSpc>
                <a:spcPts val="1425"/>
              </a:lnSpc>
              <a:buNone/>
            </a:pPr>
            <a:r>
              <a:rPr lang="en-ZA" b="0" dirty="0">
                <a:solidFill>
                  <a:srgbClr val="000000"/>
                </a:solidFill>
                <a:effectLst/>
                <a:latin typeface="Consolas" panose="020B0609020204030204" pitchFamily="49" charset="0"/>
              </a:rPr>
              <a:t>      </a:t>
            </a:r>
            <a:r>
              <a:rPr lang="en-ZA" b="0" dirty="0" err="1">
                <a:solidFill>
                  <a:srgbClr val="000000"/>
                </a:solidFill>
                <a:effectLst/>
                <a:latin typeface="Consolas" panose="020B0609020204030204" pitchFamily="49" charset="0"/>
              </a:rPr>
              <a:t>concat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substring(variables(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Test_Start_Date</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0</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4</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substring(variables(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Test_Start_Date</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4</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2</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substring(variables(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Test_Start_Date</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6</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2</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'T00:00:00Z'</a:t>
            </a:r>
            <a:endParaRPr lang="en-ZA" b="0" dirty="0">
              <a:solidFill>
                <a:srgbClr val="000000"/>
              </a:solidFill>
              <a:effectLst/>
              <a:latin typeface="Consolas" panose="020B0609020204030204" pitchFamily="49" charset="0"/>
            </a:endParaRP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ticks(</a:t>
            </a:r>
            <a:r>
              <a:rPr lang="en-ZA" b="0" dirty="0" err="1">
                <a:solidFill>
                  <a:srgbClr val="000000"/>
                </a:solidFill>
                <a:effectLst/>
                <a:latin typeface="Consolas" panose="020B0609020204030204" pitchFamily="49" charset="0"/>
              </a:rPr>
              <a:t>utcNow</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864000000000</a:t>
            </a:r>
            <a:endParaRPr lang="en-ZA" b="0" dirty="0">
              <a:solidFill>
                <a:srgbClr val="000000"/>
              </a:solidFill>
              <a:effectLst/>
              <a:latin typeface="Consolas" panose="020B0609020204030204" pitchFamily="49" charset="0"/>
            </a:endParaRPr>
          </a:p>
          <a:p>
            <a:pPr>
              <a:lnSpc>
                <a:spcPts val="1425"/>
              </a:lnSpc>
              <a:buNone/>
            </a:pPr>
            <a:r>
              <a:rPr lang="en-ZA" b="0" dirty="0">
                <a:solidFill>
                  <a:srgbClr val="000000"/>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347B33CC-9504-0C0B-9D91-3D93583AE02F}"/>
              </a:ext>
            </a:extLst>
          </p:cNvPr>
          <p:cNvPicPr>
            <a:picLocks noChangeAspect="1"/>
          </p:cNvPicPr>
          <p:nvPr/>
        </p:nvPicPr>
        <p:blipFill>
          <a:blip r:embed="rId4"/>
          <a:stretch>
            <a:fillRect/>
          </a:stretch>
        </p:blipFill>
        <p:spPr>
          <a:xfrm>
            <a:off x="5909309" y="490287"/>
            <a:ext cx="5677692" cy="2630103"/>
          </a:xfrm>
          <a:prstGeom prst="rect">
            <a:avLst/>
          </a:prstGeom>
        </p:spPr>
      </p:pic>
      <p:sp>
        <p:nvSpPr>
          <p:cNvPr id="11" name="TextBox 10">
            <a:extLst>
              <a:ext uri="{FF2B5EF4-FFF2-40B4-BE49-F238E27FC236}">
                <a16:creationId xmlns:a16="http://schemas.microsoft.com/office/drawing/2014/main" id="{69173D2E-1B52-6AD7-D9E4-5D77D3DB1027}"/>
              </a:ext>
            </a:extLst>
          </p:cNvPr>
          <p:cNvSpPr txBox="1"/>
          <p:nvPr/>
        </p:nvSpPr>
        <p:spPr>
          <a:xfrm>
            <a:off x="5909309" y="3325126"/>
            <a:ext cx="6097904" cy="824969"/>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formatDateTime(addDays(utcNow(),add(variables(</a:t>
            </a:r>
            <a:r>
              <a:rPr lang="en-ZA" b="0" dirty="0">
                <a:solidFill>
                  <a:srgbClr val="A31515"/>
                </a:solidFill>
                <a:effectLst/>
                <a:latin typeface="Consolas" panose="020B0609020204030204" pitchFamily="49" charset="0"/>
              </a:rPr>
              <a:t>'Offset'</a:t>
            </a:r>
            <a:r>
              <a:rPr lang="en-ZA" b="0" dirty="0">
                <a:solidFill>
                  <a:srgbClr val="000000"/>
                </a:solidFill>
                <a:effectLst/>
                <a:latin typeface="Consolas" panose="020B0609020204030204" pitchFamily="49" charset="0"/>
              </a:rPr>
              <a:t>),activity(</a:t>
            </a:r>
            <a:r>
              <a:rPr lang="en-ZA" b="0" dirty="0">
                <a:solidFill>
                  <a:srgbClr val="A31515"/>
                </a:solidFill>
                <a:effectLst/>
                <a:latin typeface="Consolas" panose="020B0609020204030204" pitchFamily="49" charset="0"/>
              </a:rPr>
              <a:t>'Invoke Accelerator'</a:t>
            </a:r>
            <a:r>
              <a:rPr lang="en-ZA" b="0" dirty="0">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output</a:t>
            </a:r>
            <a:r>
              <a:rPr lang="en-ZA" b="0" dirty="0" err="1">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properties</a:t>
            </a:r>
            <a:r>
              <a:rPr lang="en-ZA" b="0" dirty="0" err="1">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returnValue</a:t>
            </a:r>
            <a:r>
              <a:rPr lang="en-ZA" b="0" dirty="0" err="1">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Iterations_Out</a:t>
            </a:r>
            <a:r>
              <a:rPr lang="en-ZA" b="0" dirty="0">
                <a:solidFill>
                  <a:srgbClr val="000000"/>
                </a:solidFill>
                <a:effectLst/>
                <a:latin typeface="Consolas" panose="020B0609020204030204" pitchFamily="49" charset="0"/>
              </a:rPr>
              <a:t>)), </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yyyyMMdd</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861161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8B32F-79B6-5AA0-7BC7-CFEEF0BAE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BA3E5-31C8-4A2A-B1CE-EB2176639AD3}"/>
              </a:ext>
            </a:extLst>
          </p:cNvPr>
          <p:cNvSpPr>
            <a:spLocks noGrp="1"/>
          </p:cNvSpPr>
          <p:nvPr>
            <p:ph type="title"/>
          </p:nvPr>
        </p:nvSpPr>
        <p:spPr>
          <a:xfrm>
            <a:off x="838200" y="365125"/>
            <a:ext cx="10515600" cy="675005"/>
          </a:xfrm>
        </p:spPr>
        <p:txBody>
          <a:bodyPr>
            <a:normAutofit fontScale="90000"/>
          </a:bodyPr>
          <a:lstStyle/>
          <a:p>
            <a:r>
              <a:rPr lang="en-US" dirty="0"/>
              <a:t>Extraction of Date Components </a:t>
            </a:r>
            <a:endParaRPr lang="en-ZA" dirty="0"/>
          </a:p>
        </p:txBody>
      </p:sp>
      <p:pic>
        <p:nvPicPr>
          <p:cNvPr id="5" name="Content Placeholder 4">
            <a:extLst>
              <a:ext uri="{FF2B5EF4-FFF2-40B4-BE49-F238E27FC236}">
                <a16:creationId xmlns:a16="http://schemas.microsoft.com/office/drawing/2014/main" id="{D9047F8E-69E0-A447-70E2-9B2D51BD14E8}"/>
              </a:ext>
            </a:extLst>
          </p:cNvPr>
          <p:cNvPicPr>
            <a:picLocks noGrp="1" noChangeAspect="1"/>
          </p:cNvPicPr>
          <p:nvPr>
            <p:ph idx="1"/>
          </p:nvPr>
        </p:nvPicPr>
        <p:blipFill>
          <a:blip r:embed="rId3"/>
          <a:stretch>
            <a:fillRect/>
          </a:stretch>
        </p:blipFill>
        <p:spPr>
          <a:xfrm>
            <a:off x="202883" y="1571320"/>
            <a:ext cx="3511867" cy="3265460"/>
          </a:xfrm>
          <a:prstGeom prst="rect">
            <a:avLst/>
          </a:prstGeom>
          <a:ln w="28575">
            <a:solidFill>
              <a:srgbClr val="FFFFFF"/>
            </a:solidFill>
          </a:ln>
        </p:spPr>
      </p:pic>
      <p:sp>
        <p:nvSpPr>
          <p:cNvPr id="7" name="TextBox 6">
            <a:extLst>
              <a:ext uri="{FF2B5EF4-FFF2-40B4-BE49-F238E27FC236}">
                <a16:creationId xmlns:a16="http://schemas.microsoft.com/office/drawing/2014/main" id="{953D669B-BB76-17CF-6F1F-A92B6825D42D}"/>
              </a:ext>
            </a:extLst>
          </p:cNvPr>
          <p:cNvSpPr txBox="1"/>
          <p:nvPr/>
        </p:nvSpPr>
        <p:spPr>
          <a:xfrm>
            <a:off x="202883" y="5198930"/>
            <a:ext cx="4662795"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substring(variables(</a:t>
            </a:r>
            <a:r>
              <a:rPr lang="en-ZA" b="0" dirty="0">
                <a:solidFill>
                  <a:srgbClr val="A31515"/>
                </a:solidFill>
                <a:effectLst/>
                <a:latin typeface="Consolas" panose="020B0609020204030204" pitchFamily="49" charset="0"/>
              </a:rPr>
              <a:t>'Target_Date'</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0</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4</a:t>
            </a:r>
            <a:r>
              <a:rPr lang="en-ZA" b="0" dirty="0">
                <a:solidFill>
                  <a:srgbClr val="000000"/>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66792AA4-F92A-FF01-63F4-62871E5070E8}"/>
              </a:ext>
            </a:extLst>
          </p:cNvPr>
          <p:cNvPicPr>
            <a:picLocks noChangeAspect="1"/>
          </p:cNvPicPr>
          <p:nvPr/>
        </p:nvPicPr>
        <p:blipFill>
          <a:blip r:embed="rId4"/>
          <a:stretch>
            <a:fillRect/>
          </a:stretch>
        </p:blipFill>
        <p:spPr>
          <a:xfrm>
            <a:off x="3963690" y="1571320"/>
            <a:ext cx="3989685" cy="3034970"/>
          </a:xfrm>
          <a:prstGeom prst="rect">
            <a:avLst/>
          </a:prstGeom>
          <a:ln w="28575">
            <a:solidFill>
              <a:schemeClr val="tx1"/>
            </a:solidFill>
          </a:ln>
        </p:spPr>
      </p:pic>
      <p:sp>
        <p:nvSpPr>
          <p:cNvPr id="11" name="TextBox 10">
            <a:extLst>
              <a:ext uri="{FF2B5EF4-FFF2-40B4-BE49-F238E27FC236}">
                <a16:creationId xmlns:a16="http://schemas.microsoft.com/office/drawing/2014/main" id="{D4E39604-8FE0-0B23-2DE5-AF4FB628038B}"/>
              </a:ext>
            </a:extLst>
          </p:cNvPr>
          <p:cNvSpPr txBox="1"/>
          <p:nvPr/>
        </p:nvSpPr>
        <p:spPr>
          <a:xfrm>
            <a:off x="3539521" y="6106988"/>
            <a:ext cx="4662795"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substring(variables(</a:t>
            </a:r>
            <a:r>
              <a:rPr lang="en-ZA" b="0" dirty="0">
                <a:solidFill>
                  <a:srgbClr val="A31515"/>
                </a:solidFill>
                <a:effectLst/>
                <a:latin typeface="Consolas" panose="020B0609020204030204" pitchFamily="49" charset="0"/>
              </a:rPr>
              <a:t>'Target_Date'</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0</a:t>
            </a:r>
            <a:r>
              <a:rPr lang="en-ZA" b="0" dirty="0">
                <a:solidFill>
                  <a:srgbClr val="000000"/>
                </a:solidFill>
                <a:effectLst/>
                <a:latin typeface="Consolas" panose="020B0609020204030204" pitchFamily="49" charset="0"/>
              </a:rPr>
              <a:t>, </a:t>
            </a:r>
            <a:r>
              <a:rPr lang="en-ZA" b="0" dirty="0">
                <a:solidFill>
                  <a:srgbClr val="DD0000"/>
                </a:solidFill>
                <a:effectLst/>
                <a:latin typeface="Consolas" panose="020B0609020204030204" pitchFamily="49" charset="0"/>
              </a:rPr>
              <a:t>6</a:t>
            </a:r>
            <a:r>
              <a:rPr lang="en-ZA" b="0" dirty="0">
                <a:solidFill>
                  <a:srgbClr val="000000"/>
                </a:solidFill>
                <a:effectLst/>
                <a:latin typeface="Consolas" panose="020B0609020204030204" pitchFamily="49" charset="0"/>
              </a:rPr>
              <a:t>)</a:t>
            </a:r>
          </a:p>
        </p:txBody>
      </p:sp>
      <p:pic>
        <p:nvPicPr>
          <p:cNvPr id="13" name="Picture 12">
            <a:extLst>
              <a:ext uri="{FF2B5EF4-FFF2-40B4-BE49-F238E27FC236}">
                <a16:creationId xmlns:a16="http://schemas.microsoft.com/office/drawing/2014/main" id="{5E5CFB79-B23A-B667-5FFE-B818F1200095}"/>
              </a:ext>
            </a:extLst>
          </p:cNvPr>
          <p:cNvPicPr>
            <a:picLocks noChangeAspect="1"/>
          </p:cNvPicPr>
          <p:nvPr/>
        </p:nvPicPr>
        <p:blipFill>
          <a:blip r:embed="rId5"/>
          <a:stretch>
            <a:fillRect/>
          </a:stretch>
        </p:blipFill>
        <p:spPr>
          <a:xfrm>
            <a:off x="8202316" y="1189231"/>
            <a:ext cx="3989684" cy="4029637"/>
          </a:xfrm>
          <a:prstGeom prst="rect">
            <a:avLst/>
          </a:prstGeom>
          <a:ln w="19050">
            <a:solidFill>
              <a:schemeClr val="tx1"/>
            </a:solidFill>
          </a:ln>
        </p:spPr>
      </p:pic>
    </p:spTree>
    <p:extLst>
      <p:ext uri="{BB962C8B-B14F-4D97-AF65-F5344CB8AC3E}">
        <p14:creationId xmlns:p14="http://schemas.microsoft.com/office/powerpoint/2010/main" val="38164057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F185F-CB2E-820F-2F05-A12FD6AE9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3853A-5596-FF71-C61F-51EFF28CCB79}"/>
              </a:ext>
            </a:extLst>
          </p:cNvPr>
          <p:cNvSpPr>
            <a:spLocks noGrp="1"/>
          </p:cNvSpPr>
          <p:nvPr>
            <p:ph type="title"/>
          </p:nvPr>
        </p:nvSpPr>
        <p:spPr>
          <a:xfrm>
            <a:off x="838200" y="365125"/>
            <a:ext cx="10515600" cy="537845"/>
          </a:xfrm>
        </p:spPr>
        <p:txBody>
          <a:bodyPr>
            <a:normAutofit fontScale="90000"/>
          </a:bodyPr>
          <a:lstStyle/>
          <a:p>
            <a:r>
              <a:rPr lang="en-US" dirty="0"/>
              <a:t>Target Paths</a:t>
            </a:r>
            <a:endParaRPr lang="en-ZA" dirty="0"/>
          </a:p>
        </p:txBody>
      </p:sp>
      <p:pic>
        <p:nvPicPr>
          <p:cNvPr id="5" name="Content Placeholder 4">
            <a:extLst>
              <a:ext uri="{FF2B5EF4-FFF2-40B4-BE49-F238E27FC236}">
                <a16:creationId xmlns:a16="http://schemas.microsoft.com/office/drawing/2014/main" id="{C0A4C651-7CD3-9FED-64BA-E07EF095EB9E}"/>
              </a:ext>
            </a:extLst>
          </p:cNvPr>
          <p:cNvPicPr>
            <a:picLocks noGrp="1" noChangeAspect="1"/>
          </p:cNvPicPr>
          <p:nvPr>
            <p:ph idx="1"/>
          </p:nvPr>
        </p:nvPicPr>
        <p:blipFill>
          <a:blip r:embed="rId2"/>
          <a:stretch>
            <a:fillRect/>
          </a:stretch>
        </p:blipFill>
        <p:spPr>
          <a:xfrm>
            <a:off x="342621" y="1189320"/>
            <a:ext cx="4057927" cy="4479359"/>
          </a:xfrm>
          <a:prstGeom prst="rect">
            <a:avLst/>
          </a:prstGeom>
          <a:ln w="28575">
            <a:solidFill>
              <a:schemeClr val="tx1"/>
            </a:solidFill>
          </a:ln>
        </p:spPr>
      </p:pic>
      <p:sp>
        <p:nvSpPr>
          <p:cNvPr id="7" name="TextBox 6">
            <a:extLst>
              <a:ext uri="{FF2B5EF4-FFF2-40B4-BE49-F238E27FC236}">
                <a16:creationId xmlns:a16="http://schemas.microsoft.com/office/drawing/2014/main" id="{676442DD-CC61-F146-991B-753924522188}"/>
              </a:ext>
            </a:extLst>
          </p:cNvPr>
          <p:cNvSpPr txBox="1"/>
          <p:nvPr/>
        </p:nvSpPr>
        <p:spPr>
          <a:xfrm>
            <a:off x="234037" y="6168486"/>
            <a:ext cx="4275097"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concat(pipeline().</a:t>
            </a:r>
            <a:r>
              <a:rPr lang="en-ZA" b="0" dirty="0">
                <a:solidFill>
                  <a:srgbClr val="001188"/>
                </a:solidFill>
                <a:effectLst/>
                <a:latin typeface="Consolas" panose="020B0609020204030204" pitchFamily="49" charset="0"/>
              </a:rPr>
              <a:t>parameters</a:t>
            </a:r>
            <a:r>
              <a:rPr lang="en-ZA" b="0" dirty="0">
                <a:solidFill>
                  <a:srgbClr val="000000"/>
                </a:solidFill>
                <a:effectLst/>
                <a:latin typeface="Consolas" panose="020B0609020204030204" pitchFamily="49" charset="0"/>
              </a:rPr>
              <a:t>.</a:t>
            </a:r>
            <a:r>
              <a:rPr lang="en-ZA" b="0" dirty="0">
                <a:solidFill>
                  <a:srgbClr val="001188"/>
                </a:solidFill>
                <a:effectLst/>
                <a:latin typeface="Consolas" panose="020B0609020204030204" pitchFamily="49" charset="0"/>
              </a:rPr>
              <a:t>Dir_Exchange_Diary</a:t>
            </a:r>
            <a:r>
              <a:rPr lang="en-ZA" b="0" dirty="0">
                <a:solidFill>
                  <a:srgbClr val="000000"/>
                </a:solidFill>
                <a:effectLst/>
                <a:latin typeface="Consolas" panose="020B0609020204030204" pitchFamily="49" charset="0"/>
              </a:rPr>
              <a:t>,</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6D15A3CD-F6DE-816E-2D3B-355ECEA37F01}"/>
              </a:ext>
            </a:extLst>
          </p:cNvPr>
          <p:cNvPicPr>
            <a:picLocks noChangeAspect="1"/>
          </p:cNvPicPr>
          <p:nvPr/>
        </p:nvPicPr>
        <p:blipFill>
          <a:blip r:embed="rId3"/>
          <a:stretch>
            <a:fillRect/>
          </a:stretch>
        </p:blipFill>
        <p:spPr>
          <a:xfrm>
            <a:off x="5401414" y="731520"/>
            <a:ext cx="5115638" cy="4690215"/>
          </a:xfrm>
          <a:prstGeom prst="rect">
            <a:avLst/>
          </a:prstGeom>
          <a:ln w="38100">
            <a:solidFill>
              <a:schemeClr val="tx1"/>
            </a:solidFill>
          </a:ln>
        </p:spPr>
      </p:pic>
      <p:pic>
        <p:nvPicPr>
          <p:cNvPr id="11" name="Picture 10">
            <a:extLst>
              <a:ext uri="{FF2B5EF4-FFF2-40B4-BE49-F238E27FC236}">
                <a16:creationId xmlns:a16="http://schemas.microsoft.com/office/drawing/2014/main" id="{28A45294-0764-EE74-A21A-44FE466D64C0}"/>
              </a:ext>
            </a:extLst>
          </p:cNvPr>
          <p:cNvPicPr>
            <a:picLocks noChangeAspect="1"/>
          </p:cNvPicPr>
          <p:nvPr/>
        </p:nvPicPr>
        <p:blipFill>
          <a:blip r:embed="rId4"/>
          <a:stretch>
            <a:fillRect/>
          </a:stretch>
        </p:blipFill>
        <p:spPr>
          <a:xfrm>
            <a:off x="5401413" y="5643628"/>
            <a:ext cx="5115639" cy="965704"/>
          </a:xfrm>
          <a:prstGeom prst="rect">
            <a:avLst/>
          </a:prstGeom>
          <a:ln w="38100">
            <a:solidFill>
              <a:schemeClr val="tx1"/>
            </a:solidFill>
          </a:ln>
        </p:spPr>
      </p:pic>
    </p:spTree>
    <p:extLst>
      <p:ext uri="{BB962C8B-B14F-4D97-AF65-F5344CB8AC3E}">
        <p14:creationId xmlns:p14="http://schemas.microsoft.com/office/powerpoint/2010/main" val="7516909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47B4-0077-A812-62D0-AEE68CC92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968DB-D2E9-31A2-B8BD-0BCC9B3EEA52}"/>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B15605B5-5564-E5E9-F426-38BBF8DCB36B}"/>
              </a:ext>
            </a:extLst>
          </p:cNvPr>
          <p:cNvPicPr>
            <a:picLocks noGrp="1" noChangeAspect="1"/>
          </p:cNvPicPr>
          <p:nvPr>
            <p:ph idx="1"/>
          </p:nvPr>
        </p:nvPicPr>
        <p:blipFill>
          <a:blip r:embed="rId2"/>
          <a:stretch>
            <a:fillRect/>
          </a:stretch>
        </p:blipFill>
        <p:spPr>
          <a:xfrm>
            <a:off x="387545" y="365125"/>
            <a:ext cx="5048955" cy="4351338"/>
          </a:xfrm>
          <a:prstGeom prst="rect">
            <a:avLst/>
          </a:prstGeom>
          <a:ln w="38100">
            <a:solidFill>
              <a:schemeClr val="tx1"/>
            </a:solidFill>
          </a:ln>
        </p:spPr>
      </p:pic>
      <p:pic>
        <p:nvPicPr>
          <p:cNvPr id="7" name="Picture 6">
            <a:extLst>
              <a:ext uri="{FF2B5EF4-FFF2-40B4-BE49-F238E27FC236}">
                <a16:creationId xmlns:a16="http://schemas.microsoft.com/office/drawing/2014/main" id="{9975F625-7325-5E0E-6BAF-3D02804D720A}"/>
              </a:ext>
            </a:extLst>
          </p:cNvPr>
          <p:cNvPicPr>
            <a:picLocks noChangeAspect="1"/>
          </p:cNvPicPr>
          <p:nvPr/>
        </p:nvPicPr>
        <p:blipFill>
          <a:blip r:embed="rId3"/>
          <a:stretch>
            <a:fillRect/>
          </a:stretch>
        </p:blipFill>
        <p:spPr>
          <a:xfrm>
            <a:off x="387546" y="5041490"/>
            <a:ext cx="5048955" cy="1324160"/>
          </a:xfrm>
          <a:prstGeom prst="rect">
            <a:avLst/>
          </a:prstGeom>
          <a:ln w="28575">
            <a:solidFill>
              <a:schemeClr val="tx1"/>
            </a:solidFill>
          </a:ln>
        </p:spPr>
      </p:pic>
      <p:pic>
        <p:nvPicPr>
          <p:cNvPr id="9" name="Picture 8">
            <a:extLst>
              <a:ext uri="{FF2B5EF4-FFF2-40B4-BE49-F238E27FC236}">
                <a16:creationId xmlns:a16="http://schemas.microsoft.com/office/drawing/2014/main" id="{AB30169C-8D47-4257-6B9C-F813E6577B99}"/>
              </a:ext>
            </a:extLst>
          </p:cNvPr>
          <p:cNvPicPr>
            <a:picLocks noChangeAspect="1"/>
          </p:cNvPicPr>
          <p:nvPr/>
        </p:nvPicPr>
        <p:blipFill>
          <a:blip r:embed="rId4"/>
          <a:stretch>
            <a:fillRect/>
          </a:stretch>
        </p:blipFill>
        <p:spPr>
          <a:xfrm>
            <a:off x="5803272" y="562983"/>
            <a:ext cx="4448796" cy="4153480"/>
          </a:xfrm>
          <a:prstGeom prst="rect">
            <a:avLst/>
          </a:prstGeom>
          <a:ln w="38100">
            <a:solidFill>
              <a:schemeClr val="tx1"/>
            </a:solidFill>
          </a:ln>
        </p:spPr>
      </p:pic>
      <p:pic>
        <p:nvPicPr>
          <p:cNvPr id="11" name="Picture 10">
            <a:extLst>
              <a:ext uri="{FF2B5EF4-FFF2-40B4-BE49-F238E27FC236}">
                <a16:creationId xmlns:a16="http://schemas.microsoft.com/office/drawing/2014/main" id="{E69B952D-5B78-333A-3424-9F80E890A7DA}"/>
              </a:ext>
            </a:extLst>
          </p:cNvPr>
          <p:cNvPicPr>
            <a:picLocks noChangeAspect="1"/>
          </p:cNvPicPr>
          <p:nvPr/>
        </p:nvPicPr>
        <p:blipFill>
          <a:blip r:embed="rId5"/>
          <a:stretch>
            <a:fillRect/>
          </a:stretch>
        </p:blipFill>
        <p:spPr>
          <a:xfrm>
            <a:off x="5721302" y="4914321"/>
            <a:ext cx="5229955" cy="1705213"/>
          </a:xfrm>
          <a:prstGeom prst="rect">
            <a:avLst/>
          </a:prstGeom>
        </p:spPr>
      </p:pic>
    </p:spTree>
    <p:extLst>
      <p:ext uri="{BB962C8B-B14F-4D97-AF65-F5344CB8AC3E}">
        <p14:creationId xmlns:p14="http://schemas.microsoft.com/office/powerpoint/2010/main" val="17741006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0C383-094B-7A48-E9DC-EBDC7CC2F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B03B1-0B1B-D201-1469-BE866619ECD7}"/>
              </a:ext>
            </a:extLst>
          </p:cNvPr>
          <p:cNvSpPr>
            <a:spLocks noGrp="1"/>
          </p:cNvSpPr>
          <p:nvPr>
            <p:ph type="title"/>
          </p:nvPr>
        </p:nvSpPr>
        <p:spPr/>
        <p:txBody>
          <a:bodyPr/>
          <a:lstStyle/>
          <a:p>
            <a:endParaRPr lang="en-ZA"/>
          </a:p>
        </p:txBody>
      </p:sp>
      <p:pic>
        <p:nvPicPr>
          <p:cNvPr id="11" name="Content Placeholder 10">
            <a:extLst>
              <a:ext uri="{FF2B5EF4-FFF2-40B4-BE49-F238E27FC236}">
                <a16:creationId xmlns:a16="http://schemas.microsoft.com/office/drawing/2014/main" id="{F3D6072D-594F-203B-217E-BFAE5BFD961E}"/>
              </a:ext>
            </a:extLst>
          </p:cNvPr>
          <p:cNvPicPr>
            <a:picLocks noGrp="1" noChangeAspect="1"/>
          </p:cNvPicPr>
          <p:nvPr>
            <p:ph idx="1"/>
          </p:nvPr>
        </p:nvPicPr>
        <p:blipFill>
          <a:blip r:embed="rId2"/>
          <a:stretch>
            <a:fillRect/>
          </a:stretch>
        </p:blipFill>
        <p:spPr>
          <a:xfrm>
            <a:off x="196980" y="557752"/>
            <a:ext cx="3837810" cy="2962688"/>
          </a:xfrm>
          <a:prstGeom prst="rect">
            <a:avLst/>
          </a:prstGeom>
          <a:ln w="38100">
            <a:solidFill>
              <a:schemeClr val="tx1"/>
            </a:solidFill>
          </a:ln>
        </p:spPr>
      </p:pic>
      <p:pic>
        <p:nvPicPr>
          <p:cNvPr id="13" name="Picture 12">
            <a:extLst>
              <a:ext uri="{FF2B5EF4-FFF2-40B4-BE49-F238E27FC236}">
                <a16:creationId xmlns:a16="http://schemas.microsoft.com/office/drawing/2014/main" id="{3F8BB74F-A1FC-53AF-62A7-1153BB229E75}"/>
              </a:ext>
            </a:extLst>
          </p:cNvPr>
          <p:cNvPicPr>
            <a:picLocks noChangeAspect="1"/>
          </p:cNvPicPr>
          <p:nvPr/>
        </p:nvPicPr>
        <p:blipFill>
          <a:blip r:embed="rId3"/>
          <a:stretch>
            <a:fillRect/>
          </a:stretch>
        </p:blipFill>
        <p:spPr>
          <a:xfrm>
            <a:off x="196980" y="4428077"/>
            <a:ext cx="5106113" cy="1362265"/>
          </a:xfrm>
          <a:prstGeom prst="rect">
            <a:avLst/>
          </a:prstGeom>
        </p:spPr>
      </p:pic>
    </p:spTree>
    <p:extLst>
      <p:ext uri="{BB962C8B-B14F-4D97-AF65-F5344CB8AC3E}">
        <p14:creationId xmlns:p14="http://schemas.microsoft.com/office/powerpoint/2010/main" val="23411066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EC95-5181-3A66-1B75-3802E4F30443}"/>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BF742C5A-F5BD-61E3-4DE5-67F7562AAB36}"/>
              </a:ext>
            </a:extLst>
          </p:cNvPr>
          <p:cNvPicPr>
            <a:picLocks noGrp="1" noChangeAspect="1"/>
          </p:cNvPicPr>
          <p:nvPr>
            <p:ph idx="1"/>
          </p:nvPr>
        </p:nvPicPr>
        <p:blipFill>
          <a:blip r:embed="rId2"/>
          <a:stretch>
            <a:fillRect/>
          </a:stretch>
        </p:blipFill>
        <p:spPr>
          <a:xfrm>
            <a:off x="331222" y="742315"/>
            <a:ext cx="3829298" cy="4351338"/>
          </a:xfrm>
          <a:prstGeom prst="rect">
            <a:avLst/>
          </a:prstGeom>
          <a:ln w="28575">
            <a:solidFill>
              <a:schemeClr val="tx1"/>
            </a:solidFill>
          </a:ln>
        </p:spPr>
      </p:pic>
      <p:pic>
        <p:nvPicPr>
          <p:cNvPr id="7" name="Picture 6">
            <a:extLst>
              <a:ext uri="{FF2B5EF4-FFF2-40B4-BE49-F238E27FC236}">
                <a16:creationId xmlns:a16="http://schemas.microsoft.com/office/drawing/2014/main" id="{88C5BDA6-FAC8-A476-2F9D-4B8FCB5F9EF2}"/>
              </a:ext>
            </a:extLst>
          </p:cNvPr>
          <p:cNvPicPr>
            <a:picLocks noChangeAspect="1"/>
          </p:cNvPicPr>
          <p:nvPr/>
        </p:nvPicPr>
        <p:blipFill>
          <a:blip r:embed="rId3"/>
          <a:stretch>
            <a:fillRect/>
          </a:stretch>
        </p:blipFill>
        <p:spPr>
          <a:xfrm>
            <a:off x="4363845" y="702015"/>
            <a:ext cx="3667637" cy="4391638"/>
          </a:xfrm>
          <a:prstGeom prst="rect">
            <a:avLst/>
          </a:prstGeom>
          <a:ln w="28575">
            <a:solidFill>
              <a:schemeClr val="tx1"/>
            </a:solidFill>
          </a:ln>
        </p:spPr>
      </p:pic>
      <p:pic>
        <p:nvPicPr>
          <p:cNvPr id="9" name="Picture 8">
            <a:extLst>
              <a:ext uri="{FF2B5EF4-FFF2-40B4-BE49-F238E27FC236}">
                <a16:creationId xmlns:a16="http://schemas.microsoft.com/office/drawing/2014/main" id="{BF8C4532-633D-BFC5-FE69-AF393E1C8207}"/>
              </a:ext>
            </a:extLst>
          </p:cNvPr>
          <p:cNvPicPr>
            <a:picLocks noChangeAspect="1"/>
          </p:cNvPicPr>
          <p:nvPr/>
        </p:nvPicPr>
        <p:blipFill>
          <a:blip r:embed="rId4"/>
          <a:stretch>
            <a:fillRect/>
          </a:stretch>
        </p:blipFill>
        <p:spPr>
          <a:xfrm>
            <a:off x="8289596" y="576876"/>
            <a:ext cx="3571181" cy="4391638"/>
          </a:xfrm>
          <a:prstGeom prst="rect">
            <a:avLst/>
          </a:prstGeom>
        </p:spPr>
      </p:pic>
    </p:spTree>
    <p:extLst>
      <p:ext uri="{BB962C8B-B14F-4D97-AF65-F5344CB8AC3E}">
        <p14:creationId xmlns:p14="http://schemas.microsoft.com/office/powerpoint/2010/main" val="17666700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CD66D-7135-2E48-8D3B-69F6DE82C368}"/>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117E4176-1402-8B32-5756-1D92EB2FCCAE}"/>
              </a:ext>
            </a:extLst>
          </p:cNvPr>
          <p:cNvPicPr>
            <a:picLocks noGrp="1" noChangeAspect="1"/>
          </p:cNvPicPr>
          <p:nvPr>
            <p:ph idx="1"/>
          </p:nvPr>
        </p:nvPicPr>
        <p:blipFill>
          <a:blip r:embed="rId2"/>
          <a:stretch>
            <a:fillRect/>
          </a:stretch>
        </p:blipFill>
        <p:spPr>
          <a:xfrm>
            <a:off x="257850" y="511989"/>
            <a:ext cx="4942800" cy="5408751"/>
          </a:xfrm>
          <a:prstGeom prst="rect">
            <a:avLst/>
          </a:prstGeom>
          <a:ln w="28575">
            <a:solidFill>
              <a:schemeClr val="tx1"/>
            </a:solidFill>
          </a:ln>
        </p:spPr>
      </p:pic>
      <p:pic>
        <p:nvPicPr>
          <p:cNvPr id="7" name="Picture 6">
            <a:extLst>
              <a:ext uri="{FF2B5EF4-FFF2-40B4-BE49-F238E27FC236}">
                <a16:creationId xmlns:a16="http://schemas.microsoft.com/office/drawing/2014/main" id="{1F180601-255B-52A3-F951-CC9D94747937}"/>
              </a:ext>
            </a:extLst>
          </p:cNvPr>
          <p:cNvPicPr>
            <a:picLocks noChangeAspect="1"/>
          </p:cNvPicPr>
          <p:nvPr/>
        </p:nvPicPr>
        <p:blipFill>
          <a:blip r:embed="rId3"/>
          <a:stretch>
            <a:fillRect/>
          </a:stretch>
        </p:blipFill>
        <p:spPr>
          <a:xfrm>
            <a:off x="5781000" y="618804"/>
            <a:ext cx="5374680" cy="5530536"/>
          </a:xfrm>
          <a:prstGeom prst="rect">
            <a:avLst/>
          </a:prstGeom>
          <a:ln w="28575">
            <a:solidFill>
              <a:schemeClr val="tx1"/>
            </a:solidFill>
          </a:ln>
        </p:spPr>
      </p:pic>
    </p:spTree>
    <p:extLst>
      <p:ext uri="{BB962C8B-B14F-4D97-AF65-F5344CB8AC3E}">
        <p14:creationId xmlns:p14="http://schemas.microsoft.com/office/powerpoint/2010/main" val="29240660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773A7-E208-7D34-9210-410B47DC5C51}"/>
              </a:ext>
            </a:extLst>
          </p:cNvPr>
          <p:cNvSpPr>
            <a:spLocks noGrp="1"/>
          </p:cNvSpPr>
          <p:nvPr>
            <p:ph type="title"/>
          </p:nvPr>
        </p:nvSpPr>
        <p:spPr>
          <a:xfrm>
            <a:off x="838200" y="365125"/>
            <a:ext cx="10515600" cy="320675"/>
          </a:xfrm>
        </p:spPr>
        <p:txBody>
          <a:bodyPr>
            <a:normAutofit fontScale="90000"/>
          </a:bodyPr>
          <a:lstStyle/>
          <a:p>
            <a:r>
              <a:rPr lang="en-US" dirty="0"/>
              <a:t>Folders</a:t>
            </a:r>
            <a:endParaRPr lang="en-ZA" dirty="0"/>
          </a:p>
        </p:txBody>
      </p:sp>
      <p:pic>
        <p:nvPicPr>
          <p:cNvPr id="5" name="Content Placeholder 4">
            <a:extLst>
              <a:ext uri="{FF2B5EF4-FFF2-40B4-BE49-F238E27FC236}">
                <a16:creationId xmlns:a16="http://schemas.microsoft.com/office/drawing/2014/main" id="{492CD0AB-A427-4F42-D9E9-1F768F2D46A4}"/>
              </a:ext>
            </a:extLst>
          </p:cNvPr>
          <p:cNvPicPr>
            <a:picLocks noGrp="1" noChangeAspect="1"/>
          </p:cNvPicPr>
          <p:nvPr>
            <p:ph idx="1"/>
          </p:nvPr>
        </p:nvPicPr>
        <p:blipFill>
          <a:blip r:embed="rId2"/>
          <a:stretch>
            <a:fillRect/>
          </a:stretch>
        </p:blipFill>
        <p:spPr>
          <a:xfrm>
            <a:off x="504579" y="883806"/>
            <a:ext cx="3524742" cy="3905795"/>
          </a:xfrm>
          <a:prstGeom prst="rect">
            <a:avLst/>
          </a:prstGeom>
        </p:spPr>
      </p:pic>
      <p:sp>
        <p:nvSpPr>
          <p:cNvPr id="7" name="TextBox 6">
            <a:extLst>
              <a:ext uri="{FF2B5EF4-FFF2-40B4-BE49-F238E27FC236}">
                <a16:creationId xmlns:a16="http://schemas.microsoft.com/office/drawing/2014/main" id="{163720B9-8FF2-D63B-C87D-E1331C6FF465}"/>
              </a:ext>
            </a:extLst>
          </p:cNvPr>
          <p:cNvSpPr txBox="1"/>
          <p:nvPr/>
        </p:nvSpPr>
        <p:spPr>
          <a:xfrm>
            <a:off x="504579" y="5310602"/>
            <a:ext cx="6097904" cy="465897"/>
          </a:xfrm>
          <a:prstGeom prst="rect">
            <a:avLst/>
          </a:prstGeom>
          <a:noFill/>
        </p:spPr>
        <p:txBody>
          <a:bodyPr wrap="square">
            <a:spAutoFit/>
          </a:bodyPr>
          <a:lstStyle/>
          <a:p>
            <a:pPr>
              <a:lnSpc>
                <a:spcPts val="1425"/>
              </a:lnSpc>
              <a:buNone/>
            </a:pP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activity(</a:t>
            </a:r>
            <a:r>
              <a:rPr lang="en-US" b="0" dirty="0">
                <a:solidFill>
                  <a:srgbClr val="A31515"/>
                </a:solidFill>
                <a:effectLst/>
                <a:latin typeface="Consolas" panose="020B0609020204030204" pitchFamily="49" charset="0"/>
              </a:rPr>
              <a:t>'Get </a:t>
            </a:r>
            <a:r>
              <a:rPr lang="en-US" b="0" dirty="0" err="1">
                <a:solidFill>
                  <a:srgbClr val="A31515"/>
                </a:solidFill>
                <a:effectLst/>
                <a:latin typeface="Consolas" panose="020B0609020204030204" pitchFamily="49" charset="0"/>
              </a:rPr>
              <a:t>Metadat</a:t>
            </a:r>
            <a:r>
              <a:rPr lang="en-US" b="0" dirty="0">
                <a:solidFill>
                  <a:srgbClr val="A31515"/>
                </a:solidFill>
                <a:effectLst/>
                <a:latin typeface="Consolas" panose="020B0609020204030204" pitchFamily="49" charset="0"/>
              </a:rPr>
              <a:t> </a:t>
            </a:r>
            <a:r>
              <a:rPr lang="en-US" b="0" dirty="0" err="1">
                <a:solidFill>
                  <a:srgbClr val="A31515"/>
                </a:solidFill>
                <a:effectLst/>
                <a:latin typeface="Consolas" panose="020B0609020204030204" pitchFamily="49" charset="0"/>
              </a:rPr>
              <a:t>ExchDiary</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001188"/>
                </a:solidFill>
                <a:effectLst/>
                <a:latin typeface="Consolas" panose="020B0609020204030204" pitchFamily="49" charset="0"/>
              </a:rPr>
              <a:t>output</a:t>
            </a:r>
            <a:r>
              <a:rPr lang="en-US" b="0" dirty="0" err="1">
                <a:solidFill>
                  <a:srgbClr val="000000"/>
                </a:solidFill>
                <a:effectLst/>
                <a:latin typeface="Consolas" panose="020B0609020204030204" pitchFamily="49" charset="0"/>
              </a:rPr>
              <a:t>.</a:t>
            </a:r>
            <a:r>
              <a:rPr lang="en-US" b="0" dirty="0" err="1">
                <a:solidFill>
                  <a:srgbClr val="001188"/>
                </a:solidFill>
                <a:effectLst/>
                <a:latin typeface="Consolas" panose="020B0609020204030204" pitchFamily="49" charset="0"/>
              </a:rPr>
              <a:t>exists</a:t>
            </a:r>
            <a:endParaRPr lang="en-US" b="0" dirty="0">
              <a:solidFill>
                <a:srgbClr val="000000"/>
              </a:solidFill>
              <a:effectLst/>
              <a:latin typeface="Consolas" panose="020B0609020204030204" pitchFamily="49" charset="0"/>
            </a:endParaRPr>
          </a:p>
        </p:txBody>
      </p:sp>
      <p:pic>
        <p:nvPicPr>
          <p:cNvPr id="9" name="Picture 8">
            <a:extLst>
              <a:ext uri="{FF2B5EF4-FFF2-40B4-BE49-F238E27FC236}">
                <a16:creationId xmlns:a16="http://schemas.microsoft.com/office/drawing/2014/main" id="{21EF86A1-7CA9-C8A0-F702-428230179ABA}"/>
              </a:ext>
            </a:extLst>
          </p:cNvPr>
          <p:cNvPicPr>
            <a:picLocks noChangeAspect="1"/>
          </p:cNvPicPr>
          <p:nvPr/>
        </p:nvPicPr>
        <p:blipFill>
          <a:blip r:embed="rId3"/>
          <a:stretch>
            <a:fillRect/>
          </a:stretch>
        </p:blipFill>
        <p:spPr>
          <a:xfrm>
            <a:off x="4029321" y="1066276"/>
            <a:ext cx="3754972" cy="3391373"/>
          </a:xfrm>
          <a:prstGeom prst="rect">
            <a:avLst/>
          </a:prstGeom>
        </p:spPr>
      </p:pic>
      <p:sp>
        <p:nvSpPr>
          <p:cNvPr id="11" name="TextBox 10">
            <a:extLst>
              <a:ext uri="{FF2B5EF4-FFF2-40B4-BE49-F238E27FC236}">
                <a16:creationId xmlns:a16="http://schemas.microsoft.com/office/drawing/2014/main" id="{450444BE-8517-1CEF-B647-B0AD3EEA4443}"/>
              </a:ext>
            </a:extLst>
          </p:cNvPr>
          <p:cNvSpPr txBox="1"/>
          <p:nvPr/>
        </p:nvSpPr>
        <p:spPr>
          <a:xfrm>
            <a:off x="3553531" y="4651177"/>
            <a:ext cx="6097904"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activity(</a:t>
            </a:r>
            <a:r>
              <a:rPr lang="en-ZA" b="0" dirty="0">
                <a:solidFill>
                  <a:srgbClr val="A31515"/>
                </a:solidFill>
                <a:effectLst/>
                <a:latin typeface="Consolas" panose="020B0609020204030204" pitchFamily="49" charset="0"/>
              </a:rPr>
              <a:t>'Get Metadata for CMD </a:t>
            </a:r>
            <a:r>
              <a:rPr lang="en-ZA" b="0" dirty="0" err="1">
                <a:solidFill>
                  <a:srgbClr val="A31515"/>
                </a:solidFill>
                <a:effectLst/>
                <a:latin typeface="Consolas" panose="020B0609020204030204" pitchFamily="49" charset="0"/>
              </a:rPr>
              <a:t>Instr</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output</a:t>
            </a:r>
            <a:r>
              <a:rPr lang="en-ZA" b="0" dirty="0" err="1">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exists</a:t>
            </a:r>
            <a:endParaRPr lang="en-ZA" b="0" dirty="0">
              <a:solidFill>
                <a:srgbClr val="000000"/>
              </a:solidFill>
              <a:effectLst/>
              <a:latin typeface="Consolas" panose="020B0609020204030204" pitchFamily="49" charset="0"/>
            </a:endParaRPr>
          </a:p>
        </p:txBody>
      </p:sp>
      <p:pic>
        <p:nvPicPr>
          <p:cNvPr id="13" name="Picture 12">
            <a:extLst>
              <a:ext uri="{FF2B5EF4-FFF2-40B4-BE49-F238E27FC236}">
                <a16:creationId xmlns:a16="http://schemas.microsoft.com/office/drawing/2014/main" id="{B3540B61-6335-F36E-963C-164BD03452C9}"/>
              </a:ext>
            </a:extLst>
          </p:cNvPr>
          <p:cNvPicPr>
            <a:picLocks noChangeAspect="1"/>
          </p:cNvPicPr>
          <p:nvPr/>
        </p:nvPicPr>
        <p:blipFill>
          <a:blip r:embed="rId4"/>
          <a:stretch>
            <a:fillRect/>
          </a:stretch>
        </p:blipFill>
        <p:spPr>
          <a:xfrm>
            <a:off x="8050330" y="1010907"/>
            <a:ext cx="3637091" cy="3315163"/>
          </a:xfrm>
          <a:prstGeom prst="rect">
            <a:avLst/>
          </a:prstGeom>
        </p:spPr>
      </p:pic>
      <p:sp>
        <p:nvSpPr>
          <p:cNvPr id="15" name="TextBox 14">
            <a:extLst>
              <a:ext uri="{FF2B5EF4-FFF2-40B4-BE49-F238E27FC236}">
                <a16:creationId xmlns:a16="http://schemas.microsoft.com/office/drawing/2014/main" id="{0B02F927-85B3-0888-17C3-A94026A06FB8}"/>
              </a:ext>
            </a:extLst>
          </p:cNvPr>
          <p:cNvSpPr txBox="1"/>
          <p:nvPr/>
        </p:nvSpPr>
        <p:spPr>
          <a:xfrm>
            <a:off x="7943850" y="4466884"/>
            <a:ext cx="4017890"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activity(</a:t>
            </a:r>
            <a:r>
              <a:rPr lang="en-ZA" b="0" dirty="0">
                <a:solidFill>
                  <a:srgbClr val="A31515"/>
                </a:solidFill>
                <a:effectLst/>
                <a:latin typeface="Consolas" panose="020B0609020204030204" pitchFamily="49" charset="0"/>
              </a:rPr>
              <a:t>'Get_Meta_Data_CMDInstr_Stats'</a:t>
            </a:r>
            <a:r>
              <a:rPr lang="en-ZA" b="0" dirty="0">
                <a:solidFill>
                  <a:srgbClr val="000000"/>
                </a:solidFill>
                <a:effectLst/>
                <a:latin typeface="Consolas" panose="020B0609020204030204" pitchFamily="49" charset="0"/>
              </a:rPr>
              <a:t>).</a:t>
            </a:r>
            <a:r>
              <a:rPr lang="en-ZA" b="0" dirty="0">
                <a:solidFill>
                  <a:srgbClr val="001188"/>
                </a:solidFill>
                <a:effectLst/>
                <a:latin typeface="Consolas" panose="020B0609020204030204" pitchFamily="49" charset="0"/>
              </a:rPr>
              <a:t>output</a:t>
            </a:r>
            <a:r>
              <a:rPr lang="en-ZA" b="0" dirty="0">
                <a:solidFill>
                  <a:srgbClr val="000000"/>
                </a:solidFill>
                <a:effectLst/>
                <a:latin typeface="Consolas" panose="020B0609020204030204" pitchFamily="49" charset="0"/>
              </a:rPr>
              <a:t>.</a:t>
            </a:r>
            <a:r>
              <a:rPr lang="en-ZA" b="0" dirty="0">
                <a:solidFill>
                  <a:srgbClr val="001188"/>
                </a:solidFill>
                <a:effectLst/>
                <a:latin typeface="Consolas" panose="020B0609020204030204" pitchFamily="49" charset="0"/>
              </a:rPr>
              <a:t>exists</a:t>
            </a:r>
            <a:endParaRPr lang="en-ZA"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2672117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D3D5-630D-6B90-0455-39D8BC476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FFE61-02BA-B980-307B-9F504CD4CA68}"/>
              </a:ext>
            </a:extLst>
          </p:cNvPr>
          <p:cNvSpPr>
            <a:spLocks noGrp="1"/>
          </p:cNvSpPr>
          <p:nvPr>
            <p:ph type="title"/>
          </p:nvPr>
        </p:nvSpPr>
        <p:spPr>
          <a:xfrm>
            <a:off x="838200" y="365125"/>
            <a:ext cx="10515600" cy="423545"/>
          </a:xfrm>
        </p:spPr>
        <p:txBody>
          <a:bodyPr>
            <a:normAutofit fontScale="90000"/>
          </a:bodyPr>
          <a:lstStyle/>
          <a:p>
            <a:r>
              <a:rPr lang="en-US" dirty="0"/>
              <a:t>Folders</a:t>
            </a:r>
            <a:endParaRPr lang="en-ZA" dirty="0"/>
          </a:p>
        </p:txBody>
      </p:sp>
      <p:pic>
        <p:nvPicPr>
          <p:cNvPr id="5" name="Content Placeholder 4">
            <a:extLst>
              <a:ext uri="{FF2B5EF4-FFF2-40B4-BE49-F238E27FC236}">
                <a16:creationId xmlns:a16="http://schemas.microsoft.com/office/drawing/2014/main" id="{0686CFBF-54EE-249D-237E-5AC5AFBE572F}"/>
              </a:ext>
            </a:extLst>
          </p:cNvPr>
          <p:cNvPicPr>
            <a:picLocks noGrp="1" noChangeAspect="1"/>
          </p:cNvPicPr>
          <p:nvPr>
            <p:ph idx="1"/>
          </p:nvPr>
        </p:nvPicPr>
        <p:blipFill>
          <a:blip r:embed="rId2"/>
          <a:stretch>
            <a:fillRect/>
          </a:stretch>
        </p:blipFill>
        <p:spPr>
          <a:xfrm>
            <a:off x="522716" y="928675"/>
            <a:ext cx="4175014" cy="3496163"/>
          </a:xfrm>
          <a:prstGeom prst="rect">
            <a:avLst/>
          </a:prstGeom>
        </p:spPr>
      </p:pic>
      <p:sp>
        <p:nvSpPr>
          <p:cNvPr id="7" name="TextBox 6">
            <a:extLst>
              <a:ext uri="{FF2B5EF4-FFF2-40B4-BE49-F238E27FC236}">
                <a16:creationId xmlns:a16="http://schemas.microsoft.com/office/drawing/2014/main" id="{ADDC1CDC-20FA-E0E6-6450-DAE05AF4BADD}"/>
              </a:ext>
            </a:extLst>
          </p:cNvPr>
          <p:cNvSpPr txBox="1"/>
          <p:nvPr/>
        </p:nvSpPr>
        <p:spPr>
          <a:xfrm>
            <a:off x="122666" y="4796252"/>
            <a:ext cx="5329444"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activity(</a:t>
            </a:r>
            <a:r>
              <a:rPr lang="en-ZA" b="0" dirty="0">
                <a:solidFill>
                  <a:srgbClr val="A31515"/>
                </a:solidFill>
                <a:effectLst/>
                <a:latin typeface="Consolas" panose="020B0609020204030204" pitchFamily="49" charset="0"/>
              </a:rPr>
              <a:t>'Get_Meta_Data_INTInstr_Stats'</a:t>
            </a:r>
            <a:r>
              <a:rPr lang="en-ZA" b="0" dirty="0">
                <a:solidFill>
                  <a:srgbClr val="000000"/>
                </a:solidFill>
                <a:effectLst/>
                <a:latin typeface="Consolas" panose="020B0609020204030204" pitchFamily="49" charset="0"/>
              </a:rPr>
              <a:t>).</a:t>
            </a:r>
            <a:r>
              <a:rPr lang="en-ZA" b="0" dirty="0">
                <a:solidFill>
                  <a:srgbClr val="001188"/>
                </a:solidFill>
                <a:effectLst/>
                <a:latin typeface="Consolas" panose="020B0609020204030204" pitchFamily="49" charset="0"/>
              </a:rPr>
              <a:t>output</a:t>
            </a:r>
            <a:r>
              <a:rPr lang="en-ZA" b="0" dirty="0">
                <a:solidFill>
                  <a:srgbClr val="000000"/>
                </a:solidFill>
                <a:effectLst/>
                <a:latin typeface="Consolas" panose="020B0609020204030204" pitchFamily="49" charset="0"/>
              </a:rPr>
              <a:t>.</a:t>
            </a:r>
            <a:r>
              <a:rPr lang="en-ZA" b="0" dirty="0">
                <a:solidFill>
                  <a:srgbClr val="001188"/>
                </a:solidFill>
                <a:effectLst/>
                <a:latin typeface="Consolas" panose="020B0609020204030204" pitchFamily="49" charset="0"/>
              </a:rPr>
              <a:t>exists</a:t>
            </a:r>
            <a:endParaRPr lang="en-ZA" b="0" dirty="0">
              <a:solidFill>
                <a:srgbClr val="000000"/>
              </a:solidFill>
              <a:effectLst/>
              <a:latin typeface="Consolas" panose="020B0609020204030204" pitchFamily="49" charset="0"/>
            </a:endParaRPr>
          </a:p>
        </p:txBody>
      </p:sp>
      <p:pic>
        <p:nvPicPr>
          <p:cNvPr id="9" name="Picture 8">
            <a:extLst>
              <a:ext uri="{FF2B5EF4-FFF2-40B4-BE49-F238E27FC236}">
                <a16:creationId xmlns:a16="http://schemas.microsoft.com/office/drawing/2014/main" id="{2D85946A-572E-9974-4666-24114EA8E5FB}"/>
              </a:ext>
            </a:extLst>
          </p:cNvPr>
          <p:cNvPicPr>
            <a:picLocks noChangeAspect="1"/>
          </p:cNvPicPr>
          <p:nvPr/>
        </p:nvPicPr>
        <p:blipFill>
          <a:blip r:embed="rId3"/>
          <a:stretch>
            <a:fillRect/>
          </a:stretch>
        </p:blipFill>
        <p:spPr>
          <a:xfrm>
            <a:off x="6286310" y="928675"/>
            <a:ext cx="4263579" cy="3277057"/>
          </a:xfrm>
          <a:prstGeom prst="rect">
            <a:avLst/>
          </a:prstGeom>
        </p:spPr>
      </p:pic>
      <p:sp>
        <p:nvSpPr>
          <p:cNvPr id="11" name="TextBox 10">
            <a:extLst>
              <a:ext uri="{FF2B5EF4-FFF2-40B4-BE49-F238E27FC236}">
                <a16:creationId xmlns:a16="http://schemas.microsoft.com/office/drawing/2014/main" id="{96768E75-4D2C-2646-81E7-9BC68036D4E2}"/>
              </a:ext>
            </a:extLst>
          </p:cNvPr>
          <p:cNvSpPr txBox="1"/>
          <p:nvPr/>
        </p:nvSpPr>
        <p:spPr>
          <a:xfrm>
            <a:off x="6477953" y="4563303"/>
            <a:ext cx="6097904" cy="465897"/>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activity(</a:t>
            </a:r>
            <a:r>
              <a:rPr lang="en-ZA" b="0" dirty="0">
                <a:solidFill>
                  <a:srgbClr val="A31515"/>
                </a:solidFill>
                <a:effectLst/>
                <a:latin typeface="Consolas" panose="020B0609020204030204" pitchFamily="49" charset="0"/>
              </a:rPr>
              <a:t>'Get Metadata for INT </a:t>
            </a:r>
            <a:r>
              <a:rPr lang="en-ZA" b="0" dirty="0" err="1">
                <a:solidFill>
                  <a:srgbClr val="A31515"/>
                </a:solidFill>
                <a:effectLst/>
                <a:latin typeface="Consolas" panose="020B0609020204030204" pitchFamily="49" charset="0"/>
              </a:rPr>
              <a:t>Instr</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output</a:t>
            </a:r>
            <a:r>
              <a:rPr lang="en-ZA" b="0" dirty="0" err="1">
                <a:solidFill>
                  <a:srgbClr val="000000"/>
                </a:solidFill>
                <a:effectLst/>
                <a:latin typeface="Consolas" panose="020B0609020204030204" pitchFamily="49" charset="0"/>
              </a:rPr>
              <a:t>.</a:t>
            </a:r>
            <a:r>
              <a:rPr lang="en-ZA" b="0" dirty="0" err="1">
                <a:solidFill>
                  <a:srgbClr val="001188"/>
                </a:solidFill>
                <a:effectLst/>
                <a:latin typeface="Consolas" panose="020B0609020204030204" pitchFamily="49" charset="0"/>
              </a:rPr>
              <a:t>exists</a:t>
            </a:r>
            <a:endParaRPr lang="en-ZA"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497696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03556-5E2B-6544-C168-E08E7C4A0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3207A-AA13-CBD6-66C7-24D36AC92647}"/>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0A463653-50DE-83B2-C5C8-229E5729FCB6}"/>
              </a:ext>
            </a:extLst>
          </p:cNvPr>
          <p:cNvPicPr>
            <a:picLocks noGrp="1" noChangeAspect="1"/>
          </p:cNvPicPr>
          <p:nvPr>
            <p:ph idx="1"/>
          </p:nvPr>
        </p:nvPicPr>
        <p:blipFill>
          <a:blip r:embed="rId2"/>
          <a:stretch>
            <a:fillRect/>
          </a:stretch>
        </p:blipFill>
        <p:spPr>
          <a:xfrm>
            <a:off x="355072" y="365125"/>
            <a:ext cx="4045477" cy="4086795"/>
          </a:xfrm>
          <a:prstGeom prst="rect">
            <a:avLst/>
          </a:prstGeom>
        </p:spPr>
      </p:pic>
      <p:sp>
        <p:nvSpPr>
          <p:cNvPr id="7" name="TextBox 6">
            <a:extLst>
              <a:ext uri="{FF2B5EF4-FFF2-40B4-BE49-F238E27FC236}">
                <a16:creationId xmlns:a16="http://schemas.microsoft.com/office/drawing/2014/main" id="{E30D2EDC-19BA-E267-C2D7-EAA35E5F95A6}"/>
              </a:ext>
            </a:extLst>
          </p:cNvPr>
          <p:cNvSpPr txBox="1"/>
          <p:nvPr/>
        </p:nvSpPr>
        <p:spPr>
          <a:xfrm>
            <a:off x="4660583" y="988204"/>
            <a:ext cx="6097904" cy="2440796"/>
          </a:xfrm>
          <a:prstGeom prst="rect">
            <a:avLst/>
          </a:prstGeom>
          <a:noFill/>
        </p:spPr>
        <p:txBody>
          <a:bodyPr wrap="square">
            <a:spAutoFit/>
          </a:bodyPr>
          <a:lstStyle/>
          <a:p>
            <a:pPr>
              <a:lnSpc>
                <a:spcPts val="1425"/>
              </a:lnSpc>
              <a:buNone/>
            </a:pPr>
            <a:r>
              <a:rPr lang="en-ZA" b="0" dirty="0">
                <a:solidFill>
                  <a:srgbClr val="0000FF"/>
                </a:solidFill>
                <a:effectLst/>
                <a:latin typeface="Consolas" panose="020B0609020204030204" pitchFamily="49" charset="0"/>
              </a:rPr>
              <a:t>@</a:t>
            </a:r>
            <a:r>
              <a:rPr lang="en-ZA" b="0" dirty="0">
                <a:solidFill>
                  <a:srgbClr val="000000"/>
                </a:solidFill>
                <a:effectLst/>
                <a:latin typeface="Consolas" panose="020B0609020204030204" pitchFamily="49" charset="0"/>
              </a:rPr>
              <a:t>add(</a:t>
            </a:r>
          </a:p>
          <a:p>
            <a:pPr>
              <a:lnSpc>
                <a:spcPts val="1425"/>
              </a:lnSpc>
              <a:buNone/>
            </a:pPr>
            <a:r>
              <a:rPr lang="en-ZA" b="0" dirty="0">
                <a:solidFill>
                  <a:srgbClr val="000000"/>
                </a:solidFill>
                <a:effectLst/>
                <a:latin typeface="Consolas" panose="020B0609020204030204" pitchFamily="49" charset="0"/>
              </a:rPr>
              <a:t>  add(</a:t>
            </a:r>
          </a:p>
          <a:p>
            <a:pPr>
              <a:lnSpc>
                <a:spcPts val="1425"/>
              </a:lnSpc>
              <a:buNone/>
            </a:pPr>
            <a:r>
              <a:rPr lang="en-ZA" b="0" dirty="0">
                <a:solidFill>
                  <a:srgbClr val="000000"/>
                </a:solidFill>
                <a:effectLst/>
                <a:latin typeface="Consolas" panose="020B0609020204030204" pitchFamily="49" charset="0"/>
              </a:rPr>
              <a:t>    add(</a:t>
            </a:r>
          </a:p>
          <a:p>
            <a:pPr>
              <a:lnSpc>
                <a:spcPts val="1425"/>
              </a:lnSpc>
              <a:buNone/>
            </a:pPr>
            <a:r>
              <a:rPr lang="en-ZA" b="0" dirty="0">
                <a:solidFill>
                  <a:srgbClr val="000000"/>
                </a:solidFill>
                <a:effectLst/>
                <a:latin typeface="Consolas" panose="020B0609020204030204" pitchFamily="49" charset="0"/>
              </a:rPr>
              <a:t>      add(</a:t>
            </a:r>
          </a:p>
          <a:p>
            <a:pPr>
              <a:lnSpc>
                <a:spcPts val="1425"/>
              </a:lnSpc>
              <a:buNone/>
            </a:pPr>
            <a:r>
              <a:rPr lang="en-ZA" b="0" dirty="0">
                <a:solidFill>
                  <a:srgbClr val="000000"/>
                </a:solidFill>
                <a:effectLst/>
                <a:latin typeface="Consolas" panose="020B0609020204030204" pitchFamily="49" charset="0"/>
              </a:rPr>
              <a:t>        int(variables(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ExchDiary_Exists</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int(variables(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cmd_instr_Exists</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int(variables(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cmd_instr_Stats_Exists</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int(variables(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interest_instr_Exists</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  ),</a:t>
            </a:r>
          </a:p>
          <a:p>
            <a:pPr>
              <a:lnSpc>
                <a:spcPts val="1425"/>
              </a:lnSpc>
              <a:buNone/>
            </a:pPr>
            <a:r>
              <a:rPr lang="en-ZA" b="0" dirty="0">
                <a:solidFill>
                  <a:srgbClr val="000000"/>
                </a:solidFill>
                <a:effectLst/>
                <a:latin typeface="Consolas" panose="020B0609020204030204" pitchFamily="49" charset="0"/>
              </a:rPr>
              <a:t>  int(variables(</a:t>
            </a:r>
            <a:r>
              <a:rPr lang="en-ZA" b="0" dirty="0">
                <a:solidFill>
                  <a:srgbClr val="A31515"/>
                </a:solidFill>
                <a:effectLst/>
                <a:latin typeface="Consolas" panose="020B0609020204030204" pitchFamily="49" charset="0"/>
              </a:rPr>
              <a:t>'</a:t>
            </a:r>
            <a:r>
              <a:rPr lang="en-ZA" b="0" dirty="0" err="1">
                <a:solidFill>
                  <a:srgbClr val="A31515"/>
                </a:solidFill>
                <a:effectLst/>
                <a:latin typeface="Consolas" panose="020B0609020204030204" pitchFamily="49" charset="0"/>
              </a:rPr>
              <a:t>interest_instrStats_Exists</a:t>
            </a:r>
            <a:r>
              <a:rPr lang="en-ZA" b="0" dirty="0">
                <a:solidFill>
                  <a:srgbClr val="A31515"/>
                </a:solidFill>
                <a:effectLst/>
                <a:latin typeface="Consolas" panose="020B0609020204030204" pitchFamily="49" charset="0"/>
              </a:rPr>
              <a:t>'</a:t>
            </a:r>
            <a:r>
              <a:rPr lang="en-ZA" b="0" dirty="0">
                <a:solidFill>
                  <a:srgbClr val="000000"/>
                </a:solidFill>
                <a:effectLst/>
                <a:latin typeface="Consolas" panose="020B0609020204030204" pitchFamily="49" charset="0"/>
              </a:rPr>
              <a:t>))</a:t>
            </a:r>
          </a:p>
          <a:p>
            <a:pPr>
              <a:lnSpc>
                <a:spcPts val="1425"/>
              </a:lnSpc>
              <a:buNone/>
            </a:pPr>
            <a:r>
              <a:rPr lang="en-ZA"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765803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5CE60-5247-4FA7-6596-E17A2CA7C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3DFEE-3211-FB18-8A7E-635279B4656C}"/>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DBA843E4-DDE1-3126-226C-9992F083FA42}"/>
              </a:ext>
            </a:extLst>
          </p:cNvPr>
          <p:cNvPicPr>
            <a:picLocks noGrp="1" noChangeAspect="1"/>
          </p:cNvPicPr>
          <p:nvPr>
            <p:ph idx="1"/>
          </p:nvPr>
        </p:nvPicPr>
        <p:blipFill>
          <a:blip r:embed="rId2"/>
          <a:stretch>
            <a:fillRect/>
          </a:stretch>
        </p:blipFill>
        <p:spPr>
          <a:xfrm>
            <a:off x="838200" y="488315"/>
            <a:ext cx="7346039" cy="4351338"/>
          </a:xfrm>
          <a:prstGeom prst="rect">
            <a:avLst/>
          </a:prstGeom>
        </p:spPr>
      </p:pic>
    </p:spTree>
    <p:extLst>
      <p:ext uri="{BB962C8B-B14F-4D97-AF65-F5344CB8AC3E}">
        <p14:creationId xmlns:p14="http://schemas.microsoft.com/office/powerpoint/2010/main" val="5078488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FB821-6E41-AC9B-C66C-301F47A24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0C567-D8E5-4973-77CB-E986D06303B9}"/>
              </a:ext>
            </a:extLst>
          </p:cNvPr>
          <p:cNvSpPr>
            <a:spLocks noGrp="1"/>
          </p:cNvSpPr>
          <p:nvPr>
            <p:ph type="title"/>
          </p:nvPr>
        </p:nvSpPr>
        <p:spPr/>
        <p:txBody>
          <a:bodyPr/>
          <a:lstStyle/>
          <a:p>
            <a:r>
              <a:rPr lang="en-US" dirty="0"/>
              <a:t>True part of if block</a:t>
            </a:r>
            <a:endParaRPr lang="en-ZA" dirty="0"/>
          </a:p>
        </p:txBody>
      </p:sp>
      <p:pic>
        <p:nvPicPr>
          <p:cNvPr id="5" name="Content Placeholder 4">
            <a:extLst>
              <a:ext uri="{FF2B5EF4-FFF2-40B4-BE49-F238E27FC236}">
                <a16:creationId xmlns:a16="http://schemas.microsoft.com/office/drawing/2014/main" id="{306CED55-28C3-0A1E-E7A1-F16F6319D41D}"/>
              </a:ext>
            </a:extLst>
          </p:cNvPr>
          <p:cNvPicPr>
            <a:picLocks noGrp="1" noChangeAspect="1"/>
          </p:cNvPicPr>
          <p:nvPr>
            <p:ph idx="1"/>
          </p:nvPr>
        </p:nvPicPr>
        <p:blipFill>
          <a:blip r:embed="rId2"/>
          <a:stretch>
            <a:fillRect/>
          </a:stretch>
        </p:blipFill>
        <p:spPr>
          <a:xfrm>
            <a:off x="838200" y="1437005"/>
            <a:ext cx="4644767" cy="4351338"/>
          </a:xfrm>
          <a:prstGeom prst="rect">
            <a:avLst/>
          </a:prstGeom>
        </p:spPr>
      </p:pic>
      <p:pic>
        <p:nvPicPr>
          <p:cNvPr id="7" name="Picture 6">
            <a:extLst>
              <a:ext uri="{FF2B5EF4-FFF2-40B4-BE49-F238E27FC236}">
                <a16:creationId xmlns:a16="http://schemas.microsoft.com/office/drawing/2014/main" id="{625981DF-93E0-EC3C-2B1F-54C50019F44B}"/>
              </a:ext>
            </a:extLst>
          </p:cNvPr>
          <p:cNvPicPr>
            <a:picLocks noChangeAspect="1"/>
          </p:cNvPicPr>
          <p:nvPr/>
        </p:nvPicPr>
        <p:blipFill>
          <a:blip r:embed="rId3"/>
          <a:stretch>
            <a:fillRect/>
          </a:stretch>
        </p:blipFill>
        <p:spPr>
          <a:xfrm>
            <a:off x="6192202" y="1501020"/>
            <a:ext cx="5260658" cy="3855960"/>
          </a:xfrm>
          <a:prstGeom prst="rect">
            <a:avLst/>
          </a:prstGeom>
        </p:spPr>
      </p:pic>
    </p:spTree>
    <p:extLst>
      <p:ext uri="{BB962C8B-B14F-4D97-AF65-F5344CB8AC3E}">
        <p14:creationId xmlns:p14="http://schemas.microsoft.com/office/powerpoint/2010/main" val="33763693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C818-7E33-B48A-AF35-592F7CBCE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1CCB3-DD5A-7FF9-50FD-2E449B0467A6}"/>
              </a:ext>
            </a:extLst>
          </p:cNvPr>
          <p:cNvSpPr>
            <a:spLocks noGrp="1"/>
          </p:cNvSpPr>
          <p:nvPr>
            <p:ph type="title"/>
          </p:nvPr>
        </p:nvSpPr>
        <p:spPr>
          <a:xfrm>
            <a:off x="838200" y="365125"/>
            <a:ext cx="10515600" cy="526415"/>
          </a:xfrm>
        </p:spPr>
        <p:txBody>
          <a:bodyPr>
            <a:normAutofit fontScale="90000"/>
          </a:bodyPr>
          <a:lstStyle/>
          <a:p>
            <a:r>
              <a:rPr lang="en-US" dirty="0"/>
              <a:t>True part of if block , the child pipeline in the invoke block </a:t>
            </a:r>
            <a:endParaRPr lang="en-ZA" dirty="0"/>
          </a:p>
        </p:txBody>
      </p:sp>
      <p:pic>
        <p:nvPicPr>
          <p:cNvPr id="5" name="Content Placeholder 4">
            <a:extLst>
              <a:ext uri="{FF2B5EF4-FFF2-40B4-BE49-F238E27FC236}">
                <a16:creationId xmlns:a16="http://schemas.microsoft.com/office/drawing/2014/main" id="{01839E45-0B8D-C088-4538-72E35921C49F}"/>
              </a:ext>
            </a:extLst>
          </p:cNvPr>
          <p:cNvPicPr>
            <a:picLocks noGrp="1" noChangeAspect="1"/>
          </p:cNvPicPr>
          <p:nvPr>
            <p:ph idx="1"/>
          </p:nvPr>
        </p:nvPicPr>
        <p:blipFill>
          <a:blip r:embed="rId3"/>
          <a:stretch>
            <a:fillRect/>
          </a:stretch>
        </p:blipFill>
        <p:spPr>
          <a:xfrm>
            <a:off x="363233" y="1027906"/>
            <a:ext cx="10003777" cy="2426335"/>
          </a:xfrm>
          <a:prstGeom prst="rect">
            <a:avLst/>
          </a:prstGeom>
        </p:spPr>
      </p:pic>
      <p:pic>
        <p:nvPicPr>
          <p:cNvPr id="7" name="Picture 6">
            <a:extLst>
              <a:ext uri="{FF2B5EF4-FFF2-40B4-BE49-F238E27FC236}">
                <a16:creationId xmlns:a16="http://schemas.microsoft.com/office/drawing/2014/main" id="{74B0F4DA-B5F3-ED20-9590-C54515BE1F50}"/>
              </a:ext>
            </a:extLst>
          </p:cNvPr>
          <p:cNvPicPr>
            <a:picLocks noChangeAspect="1"/>
          </p:cNvPicPr>
          <p:nvPr/>
        </p:nvPicPr>
        <p:blipFill>
          <a:blip r:embed="rId4"/>
          <a:stretch>
            <a:fillRect/>
          </a:stretch>
        </p:blipFill>
        <p:spPr>
          <a:xfrm>
            <a:off x="597675" y="3680460"/>
            <a:ext cx="9300705" cy="3283585"/>
          </a:xfrm>
          <a:prstGeom prst="rect">
            <a:avLst/>
          </a:prstGeom>
        </p:spPr>
      </p:pic>
    </p:spTree>
    <p:extLst>
      <p:ext uri="{BB962C8B-B14F-4D97-AF65-F5344CB8AC3E}">
        <p14:creationId xmlns:p14="http://schemas.microsoft.com/office/powerpoint/2010/main" val="28075672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B98D9-2F10-BB3B-E2A1-F74BD3263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268E0-204F-4466-88D1-99B3967F727F}"/>
              </a:ext>
            </a:extLst>
          </p:cNvPr>
          <p:cNvSpPr>
            <a:spLocks noGrp="1"/>
          </p:cNvSpPr>
          <p:nvPr>
            <p:ph type="title"/>
          </p:nvPr>
        </p:nvSpPr>
        <p:spPr>
          <a:xfrm>
            <a:off x="838200" y="365125"/>
            <a:ext cx="10515600" cy="949325"/>
          </a:xfrm>
        </p:spPr>
        <p:txBody>
          <a:bodyPr>
            <a:normAutofit fontScale="90000"/>
          </a:bodyPr>
          <a:lstStyle/>
          <a:p>
            <a:r>
              <a:rPr lang="en-US" dirty="0"/>
              <a:t>False part of if block. Only the mail terminates the run , nothing after mail block , see message – missing files </a:t>
            </a:r>
            <a:endParaRPr lang="en-ZA" dirty="0"/>
          </a:p>
        </p:txBody>
      </p:sp>
      <p:pic>
        <p:nvPicPr>
          <p:cNvPr id="5" name="Content Placeholder 4">
            <a:extLst>
              <a:ext uri="{FF2B5EF4-FFF2-40B4-BE49-F238E27FC236}">
                <a16:creationId xmlns:a16="http://schemas.microsoft.com/office/drawing/2014/main" id="{C1C69A6D-9DE4-76A1-EA7E-9BBD1F3E7430}"/>
              </a:ext>
            </a:extLst>
          </p:cNvPr>
          <p:cNvPicPr>
            <a:picLocks noGrp="1" noChangeAspect="1"/>
          </p:cNvPicPr>
          <p:nvPr>
            <p:ph idx="1"/>
          </p:nvPr>
        </p:nvPicPr>
        <p:blipFill>
          <a:blip r:embed="rId3"/>
          <a:stretch>
            <a:fillRect/>
          </a:stretch>
        </p:blipFill>
        <p:spPr>
          <a:xfrm>
            <a:off x="1805940" y="1814195"/>
            <a:ext cx="8423910" cy="4351338"/>
          </a:xfrm>
          <a:prstGeom prst="rect">
            <a:avLst/>
          </a:prstGeom>
        </p:spPr>
      </p:pic>
    </p:spTree>
    <p:extLst>
      <p:ext uri="{BB962C8B-B14F-4D97-AF65-F5344CB8AC3E}">
        <p14:creationId xmlns:p14="http://schemas.microsoft.com/office/powerpoint/2010/main" val="28695634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BFE6-EE2E-D18C-9811-ADB64D11EDF3}"/>
              </a:ext>
            </a:extLst>
          </p:cNvPr>
          <p:cNvSpPr>
            <a:spLocks noGrp="1"/>
          </p:cNvSpPr>
          <p:nvPr>
            <p:ph type="title"/>
          </p:nvPr>
        </p:nvSpPr>
        <p:spPr/>
        <p:txBody>
          <a:bodyPr/>
          <a:lstStyle/>
          <a:p>
            <a:r>
              <a:rPr lang="en-US" dirty="0" err="1"/>
              <a:t>Jspan</a:t>
            </a:r>
            <a:r>
              <a:rPr lang="en-US" dirty="0"/>
              <a:t> </a:t>
            </a:r>
            <a:r>
              <a:rPr lang="en-US" dirty="0" err="1"/>
              <a:t>pl_Child</a:t>
            </a:r>
            <a:r>
              <a:rPr lang="en-US" dirty="0"/>
              <a:t> Pipeline Run.</a:t>
            </a:r>
            <a:endParaRPr lang="en-ZA" dirty="0"/>
          </a:p>
        </p:txBody>
      </p:sp>
      <p:pic>
        <p:nvPicPr>
          <p:cNvPr id="5" name="Content Placeholder 4">
            <a:extLst>
              <a:ext uri="{FF2B5EF4-FFF2-40B4-BE49-F238E27FC236}">
                <a16:creationId xmlns:a16="http://schemas.microsoft.com/office/drawing/2014/main" id="{19E58376-ABFC-21FE-AC6D-26A5D8E10711}"/>
              </a:ext>
            </a:extLst>
          </p:cNvPr>
          <p:cNvPicPr>
            <a:picLocks noGrp="1" noChangeAspect="1"/>
          </p:cNvPicPr>
          <p:nvPr>
            <p:ph idx="1"/>
          </p:nvPr>
        </p:nvPicPr>
        <p:blipFill>
          <a:blip r:embed="rId2"/>
          <a:stretch>
            <a:fillRect/>
          </a:stretch>
        </p:blipFill>
        <p:spPr>
          <a:xfrm>
            <a:off x="305103" y="1802765"/>
            <a:ext cx="7135827" cy="4351338"/>
          </a:xfrm>
          <a:prstGeom prst="rect">
            <a:avLst/>
          </a:prstGeom>
        </p:spPr>
      </p:pic>
      <p:pic>
        <p:nvPicPr>
          <p:cNvPr id="7" name="Picture 6">
            <a:extLst>
              <a:ext uri="{FF2B5EF4-FFF2-40B4-BE49-F238E27FC236}">
                <a16:creationId xmlns:a16="http://schemas.microsoft.com/office/drawing/2014/main" id="{B31413FF-1760-6B8A-0CF5-D47F37840E76}"/>
              </a:ext>
            </a:extLst>
          </p:cNvPr>
          <p:cNvPicPr>
            <a:picLocks noChangeAspect="1"/>
          </p:cNvPicPr>
          <p:nvPr/>
        </p:nvPicPr>
        <p:blipFill>
          <a:blip r:embed="rId3"/>
          <a:stretch>
            <a:fillRect/>
          </a:stretch>
        </p:blipFill>
        <p:spPr>
          <a:xfrm>
            <a:off x="8253203" y="1395097"/>
            <a:ext cx="3000794" cy="4525006"/>
          </a:xfrm>
          <a:prstGeom prst="rect">
            <a:avLst/>
          </a:prstGeom>
        </p:spPr>
      </p:pic>
    </p:spTree>
    <p:extLst>
      <p:ext uri="{BB962C8B-B14F-4D97-AF65-F5344CB8AC3E}">
        <p14:creationId xmlns:p14="http://schemas.microsoft.com/office/powerpoint/2010/main" val="38017688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D9010-19A7-1976-5BD0-893927A03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56669-3664-E390-6830-97A1BF0C6877}"/>
              </a:ext>
            </a:extLst>
          </p:cNvPr>
          <p:cNvSpPr>
            <a:spLocks noGrp="1"/>
          </p:cNvSpPr>
          <p:nvPr>
            <p:ph type="title"/>
          </p:nvPr>
        </p:nvSpPr>
        <p:spPr/>
        <p:txBody>
          <a:bodyPr/>
          <a:lstStyle/>
          <a:p>
            <a:endParaRPr lang="en-ZA"/>
          </a:p>
        </p:txBody>
      </p:sp>
      <p:pic>
        <p:nvPicPr>
          <p:cNvPr id="4" name="Content Placeholder 4">
            <a:extLst>
              <a:ext uri="{FF2B5EF4-FFF2-40B4-BE49-F238E27FC236}">
                <a16:creationId xmlns:a16="http://schemas.microsoft.com/office/drawing/2014/main" id="{8827AD49-289B-3A46-108B-0E1630449DC4}"/>
              </a:ext>
            </a:extLst>
          </p:cNvPr>
          <p:cNvPicPr>
            <a:picLocks noGrp="1" noChangeAspect="1"/>
          </p:cNvPicPr>
          <p:nvPr>
            <p:ph idx="1"/>
          </p:nvPr>
        </p:nvPicPr>
        <p:blipFill>
          <a:blip r:embed="rId2"/>
          <a:stretch>
            <a:fillRect/>
          </a:stretch>
        </p:blipFill>
        <p:spPr>
          <a:xfrm>
            <a:off x="619539" y="450919"/>
            <a:ext cx="10180983" cy="5956162"/>
          </a:xfrm>
          <a:prstGeom prst="rect">
            <a:avLst/>
          </a:prstGeom>
          <a:ln w="38100">
            <a:solidFill>
              <a:schemeClr val="tx1"/>
            </a:solidFill>
          </a:ln>
        </p:spPr>
      </p:pic>
    </p:spTree>
    <p:extLst>
      <p:ext uri="{BB962C8B-B14F-4D97-AF65-F5344CB8AC3E}">
        <p14:creationId xmlns:p14="http://schemas.microsoft.com/office/powerpoint/2010/main" val="30094313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87F20-EA2D-73F6-A815-9033F9527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D86B5-3D2A-AC96-07A1-B7CECA09A086}"/>
              </a:ext>
            </a:extLst>
          </p:cNvPr>
          <p:cNvSpPr>
            <a:spLocks noGrp="1"/>
          </p:cNvSpPr>
          <p:nvPr>
            <p:ph type="title"/>
          </p:nvPr>
        </p:nvSpPr>
        <p:spPr/>
        <p:txBody>
          <a:bodyPr/>
          <a:lstStyle/>
          <a:p>
            <a:endParaRPr lang="en-ZA"/>
          </a:p>
        </p:txBody>
      </p:sp>
      <p:pic>
        <p:nvPicPr>
          <p:cNvPr id="7" name="Content Placeholder 6">
            <a:extLst>
              <a:ext uri="{FF2B5EF4-FFF2-40B4-BE49-F238E27FC236}">
                <a16:creationId xmlns:a16="http://schemas.microsoft.com/office/drawing/2014/main" id="{38CEF6D7-3727-C3B5-834D-8F0A6C57A4E8}"/>
              </a:ext>
            </a:extLst>
          </p:cNvPr>
          <p:cNvPicPr>
            <a:picLocks noGrp="1" noChangeAspect="1"/>
          </p:cNvPicPr>
          <p:nvPr>
            <p:ph idx="1"/>
          </p:nvPr>
        </p:nvPicPr>
        <p:blipFill>
          <a:blip r:embed="rId3"/>
          <a:stretch>
            <a:fillRect/>
          </a:stretch>
        </p:blipFill>
        <p:spPr>
          <a:xfrm>
            <a:off x="553452" y="603668"/>
            <a:ext cx="10325291" cy="5650664"/>
          </a:xfrm>
          <a:prstGeom prst="rect">
            <a:avLst/>
          </a:prstGeom>
          <a:ln w="28575">
            <a:solidFill>
              <a:schemeClr val="tx1"/>
            </a:solidFill>
          </a:ln>
        </p:spPr>
      </p:pic>
    </p:spTree>
    <p:extLst>
      <p:ext uri="{BB962C8B-B14F-4D97-AF65-F5344CB8AC3E}">
        <p14:creationId xmlns:p14="http://schemas.microsoft.com/office/powerpoint/2010/main" val="18766057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3E7B1-44CF-F453-B422-FDC62D29E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FF26B-2D2B-6DAD-222E-3894FFE5033E}"/>
              </a:ext>
            </a:extLst>
          </p:cNvPr>
          <p:cNvSpPr>
            <a:spLocks noGrp="1"/>
          </p:cNvSpPr>
          <p:nvPr>
            <p:ph type="title"/>
          </p:nvPr>
        </p:nvSpPr>
        <p:spPr/>
        <p:txBody>
          <a:bodyPr/>
          <a:lstStyle/>
          <a:p>
            <a:r>
              <a:rPr lang="en-US" dirty="0"/>
              <a:t>Engineering</a:t>
            </a:r>
            <a:endParaRPr lang="en-ZA" dirty="0"/>
          </a:p>
        </p:txBody>
      </p:sp>
      <p:pic>
        <p:nvPicPr>
          <p:cNvPr id="5" name="Content Placeholder 4">
            <a:extLst>
              <a:ext uri="{FF2B5EF4-FFF2-40B4-BE49-F238E27FC236}">
                <a16:creationId xmlns:a16="http://schemas.microsoft.com/office/drawing/2014/main" id="{83CBC7FF-A5D5-5C3A-05C0-E3ABD0584A2D}"/>
              </a:ext>
            </a:extLst>
          </p:cNvPr>
          <p:cNvPicPr>
            <a:picLocks noGrp="1" noChangeAspect="1"/>
          </p:cNvPicPr>
          <p:nvPr>
            <p:ph idx="1"/>
          </p:nvPr>
        </p:nvPicPr>
        <p:blipFill>
          <a:blip r:embed="rId3"/>
          <a:stretch>
            <a:fillRect/>
          </a:stretch>
        </p:blipFill>
        <p:spPr>
          <a:xfrm>
            <a:off x="838200" y="1985760"/>
            <a:ext cx="10515600" cy="3560797"/>
          </a:xfrm>
          <a:prstGeom prst="rect">
            <a:avLst/>
          </a:prstGeom>
          <a:ln w="28575">
            <a:solidFill>
              <a:schemeClr val="tx1"/>
            </a:solidFill>
          </a:ln>
        </p:spPr>
      </p:pic>
    </p:spTree>
    <p:extLst>
      <p:ext uri="{BB962C8B-B14F-4D97-AF65-F5344CB8AC3E}">
        <p14:creationId xmlns:p14="http://schemas.microsoft.com/office/powerpoint/2010/main" val="38831189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AAAD3-A316-C3A6-7475-687B818ED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ED625-2260-5F75-846A-76D8D09BDD9B}"/>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E20D95A3-3B54-5DDD-B66C-1FCF1129EB1E}"/>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23737975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46C6B-95F3-AB96-6FFF-3A2F68DC3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7194C-DFA0-E9D2-D40E-A8C93BC5F4F4}"/>
              </a:ext>
            </a:extLst>
          </p:cNvPr>
          <p:cNvSpPr>
            <a:spLocks noGrp="1"/>
          </p:cNvSpPr>
          <p:nvPr>
            <p:ph type="title"/>
          </p:nvPr>
        </p:nvSpPr>
        <p:spPr/>
        <p:txBody>
          <a:bodyPr/>
          <a:lstStyle/>
          <a:p>
            <a:r>
              <a:rPr lang="en-US" dirty="0" err="1"/>
              <a:t>Restesting</a:t>
            </a:r>
            <a:r>
              <a:rPr lang="en-US" dirty="0"/>
              <a:t> </a:t>
            </a:r>
            <a:r>
              <a:rPr lang="en-US" dirty="0" err="1"/>
              <a:t>pl_Parent_BackTest_Client</a:t>
            </a:r>
            <a:r>
              <a:rPr lang="en-US" dirty="0"/>
              <a:t> Since </a:t>
            </a:r>
            <a:r>
              <a:rPr lang="en-US" dirty="0" err="1"/>
              <a:t>Wspace</a:t>
            </a:r>
            <a:r>
              <a:rPr lang="en-US" dirty="0"/>
              <a:t> Change </a:t>
            </a:r>
            <a:endParaRPr lang="en-ZA" dirty="0"/>
          </a:p>
        </p:txBody>
      </p:sp>
      <p:sp>
        <p:nvSpPr>
          <p:cNvPr id="3" name="Content Placeholder 2">
            <a:extLst>
              <a:ext uri="{FF2B5EF4-FFF2-40B4-BE49-F238E27FC236}">
                <a16:creationId xmlns:a16="http://schemas.microsoft.com/office/drawing/2014/main" id="{53F0B674-7332-977D-5292-FD07A3E4A809}"/>
              </a:ext>
            </a:extLst>
          </p:cNvPr>
          <p:cNvSpPr>
            <a:spLocks noGrp="1"/>
          </p:cNvSpPr>
          <p:nvPr>
            <p:ph idx="1"/>
          </p:nvPr>
        </p:nvSpPr>
        <p:spPr/>
        <p:txBody>
          <a:bodyPr/>
          <a:lstStyle/>
          <a:p>
            <a:r>
              <a:rPr lang="en-US" dirty="0"/>
              <a:t>1) This change entailed changing the addressing in Notebooks for the input files and tables</a:t>
            </a:r>
          </a:p>
          <a:p>
            <a:r>
              <a:rPr lang="en-US" dirty="0"/>
              <a:t>2) The </a:t>
            </a:r>
            <a:r>
              <a:rPr lang="en-US" dirty="0" err="1"/>
              <a:t>lakehouse</a:t>
            </a:r>
            <a:r>
              <a:rPr lang="en-US" dirty="0"/>
              <a:t> mapped to the notebooks did not keep </a:t>
            </a:r>
            <a:r>
              <a:rPr lang="en-US" dirty="0" err="1"/>
              <a:t>thyeir</a:t>
            </a:r>
            <a:r>
              <a:rPr lang="en-US" dirty="0"/>
              <a:t> default statuses so these had to be reset.</a:t>
            </a:r>
          </a:p>
          <a:p>
            <a:r>
              <a:rPr lang="en-US" dirty="0"/>
              <a:t>3) Tables needed to be deleted prior to the run as there were schema problems </a:t>
            </a:r>
            <a:endParaRPr lang="en-ZA" dirty="0"/>
          </a:p>
        </p:txBody>
      </p:sp>
    </p:spTree>
    <p:extLst>
      <p:ext uri="{BB962C8B-B14F-4D97-AF65-F5344CB8AC3E}">
        <p14:creationId xmlns:p14="http://schemas.microsoft.com/office/powerpoint/2010/main" val="415180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74B4-6518-3ADC-5653-B002C790D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9D324-6420-B2A5-E472-07B3A5676580}"/>
              </a:ext>
            </a:extLst>
          </p:cNvPr>
          <p:cNvSpPr>
            <a:spLocks noGrp="1"/>
          </p:cNvSpPr>
          <p:nvPr>
            <p:ph type="title"/>
          </p:nvPr>
        </p:nvSpPr>
        <p:spPr>
          <a:xfrm>
            <a:off x="838200" y="365125"/>
            <a:ext cx="10515600" cy="663575"/>
          </a:xfrm>
        </p:spPr>
        <p:txBody>
          <a:bodyPr>
            <a:noAutofit/>
          </a:bodyPr>
          <a:lstStyle/>
          <a:p>
            <a:r>
              <a:rPr lang="en-US" sz="2400" dirty="0" err="1">
                <a:solidFill>
                  <a:srgbClr val="FF0000"/>
                </a:solidFill>
              </a:rPr>
              <a:t>Pl_Pipeline_Parent_Backtest_Client</a:t>
            </a:r>
            <a:r>
              <a:rPr lang="en-US" sz="2400" dirty="0">
                <a:solidFill>
                  <a:srgbClr val="FF0000"/>
                </a:solidFill>
              </a:rPr>
              <a:t> </a:t>
            </a:r>
            <a:r>
              <a:rPr lang="en-US" sz="2400" dirty="0"/>
              <a:t>was retested with success after editing notebooks to address new </a:t>
            </a:r>
            <a:r>
              <a:rPr lang="en-US" sz="2400" dirty="0" err="1"/>
              <a:t>Wspace</a:t>
            </a:r>
            <a:r>
              <a:rPr lang="en-US" sz="2400" dirty="0"/>
              <a:t>/</a:t>
            </a:r>
            <a:r>
              <a:rPr lang="en-US" sz="2400" dirty="0" err="1"/>
              <a:t>Lakehouses</a:t>
            </a:r>
            <a:r>
              <a:rPr lang="en-US" sz="2400" dirty="0"/>
              <a:t>  and resetting the default </a:t>
            </a:r>
            <a:r>
              <a:rPr lang="en-US" sz="2400" dirty="0" err="1"/>
              <a:t>lakehouses</a:t>
            </a:r>
            <a:r>
              <a:rPr lang="en-US" sz="2400" dirty="0"/>
              <a:t> </a:t>
            </a:r>
            <a:endParaRPr lang="en-ZA" sz="2400" dirty="0"/>
          </a:p>
        </p:txBody>
      </p:sp>
      <p:pic>
        <p:nvPicPr>
          <p:cNvPr id="5" name="Content Placeholder 4">
            <a:extLst>
              <a:ext uri="{FF2B5EF4-FFF2-40B4-BE49-F238E27FC236}">
                <a16:creationId xmlns:a16="http://schemas.microsoft.com/office/drawing/2014/main" id="{6F775E02-D1F6-039B-4A38-F21F28337504}"/>
              </a:ext>
            </a:extLst>
          </p:cNvPr>
          <p:cNvPicPr>
            <a:picLocks noGrp="1" noChangeAspect="1"/>
          </p:cNvPicPr>
          <p:nvPr>
            <p:ph idx="1"/>
          </p:nvPr>
        </p:nvPicPr>
        <p:blipFill>
          <a:blip r:embed="rId3"/>
          <a:stretch>
            <a:fillRect/>
          </a:stretch>
        </p:blipFill>
        <p:spPr>
          <a:xfrm>
            <a:off x="939316" y="1482725"/>
            <a:ext cx="7524448" cy="4351338"/>
          </a:xfrm>
          <a:prstGeom prst="rect">
            <a:avLst/>
          </a:prstGeom>
        </p:spPr>
      </p:pic>
    </p:spTree>
    <p:extLst>
      <p:ext uri="{BB962C8B-B14F-4D97-AF65-F5344CB8AC3E}">
        <p14:creationId xmlns:p14="http://schemas.microsoft.com/office/powerpoint/2010/main" val="41163779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D926D-AA09-10E5-A420-54CA2767D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73ADD-BCF5-C740-E08A-FAFE3AB1A48F}"/>
              </a:ext>
            </a:extLst>
          </p:cNvPr>
          <p:cNvSpPr>
            <a:spLocks noGrp="1"/>
          </p:cNvSpPr>
          <p:nvPr>
            <p:ph type="title"/>
          </p:nvPr>
        </p:nvSpPr>
        <p:spPr/>
        <p:txBody>
          <a:bodyPr>
            <a:normAutofit/>
          </a:bodyPr>
          <a:lstStyle/>
          <a:p>
            <a:r>
              <a:rPr lang="en-US" sz="2400" dirty="0" err="1">
                <a:solidFill>
                  <a:srgbClr val="FF0000"/>
                </a:solidFill>
              </a:rPr>
              <a:t>pl_Child_Contract_BackTest_Using_Parameters</a:t>
            </a:r>
            <a:r>
              <a:rPr lang="en-US" sz="2400" dirty="0" err="1"/>
              <a:t>was</a:t>
            </a:r>
            <a:r>
              <a:rPr lang="en-US" sz="2400" dirty="0"/>
              <a:t> retested with success after editing notebooks to address new </a:t>
            </a:r>
            <a:r>
              <a:rPr lang="en-US" sz="2400" dirty="0" err="1"/>
              <a:t>Wspace</a:t>
            </a:r>
            <a:r>
              <a:rPr lang="en-US" sz="2400" dirty="0"/>
              <a:t>/</a:t>
            </a:r>
            <a:r>
              <a:rPr lang="en-US" sz="2400" dirty="0" err="1"/>
              <a:t>Lakehouses</a:t>
            </a:r>
            <a:r>
              <a:rPr lang="en-US" sz="2400" dirty="0"/>
              <a:t>  and resetting the default </a:t>
            </a:r>
            <a:r>
              <a:rPr lang="en-US" sz="2400" dirty="0" err="1"/>
              <a:t>lakehouses</a:t>
            </a:r>
            <a:r>
              <a:rPr lang="en-US" sz="2400" dirty="0"/>
              <a:t> </a:t>
            </a:r>
            <a:endParaRPr lang="en-ZA" sz="2400" dirty="0"/>
          </a:p>
        </p:txBody>
      </p:sp>
      <p:pic>
        <p:nvPicPr>
          <p:cNvPr id="5" name="Content Placeholder 4">
            <a:extLst>
              <a:ext uri="{FF2B5EF4-FFF2-40B4-BE49-F238E27FC236}">
                <a16:creationId xmlns:a16="http://schemas.microsoft.com/office/drawing/2014/main" id="{C6A15BEB-9C72-8A8E-0377-E8BC693A3520}"/>
              </a:ext>
            </a:extLst>
          </p:cNvPr>
          <p:cNvPicPr>
            <a:picLocks noGrp="1" noChangeAspect="1"/>
          </p:cNvPicPr>
          <p:nvPr>
            <p:ph idx="1"/>
          </p:nvPr>
        </p:nvPicPr>
        <p:blipFill>
          <a:blip r:embed="rId3"/>
          <a:stretch>
            <a:fillRect/>
          </a:stretch>
        </p:blipFill>
        <p:spPr>
          <a:xfrm>
            <a:off x="1442647" y="1690688"/>
            <a:ext cx="8438026" cy="4351338"/>
          </a:xfrm>
          <a:prstGeom prst="rect">
            <a:avLst/>
          </a:prstGeom>
        </p:spPr>
      </p:pic>
    </p:spTree>
    <p:extLst>
      <p:ext uri="{BB962C8B-B14F-4D97-AF65-F5344CB8AC3E}">
        <p14:creationId xmlns:p14="http://schemas.microsoft.com/office/powerpoint/2010/main" val="1577118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FAB1-FC73-6B71-361C-63083A570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D374A-1DB4-B51F-EE80-03343AA92471}"/>
              </a:ext>
            </a:extLst>
          </p:cNvPr>
          <p:cNvSpPr>
            <a:spLocks noGrp="1"/>
          </p:cNvSpPr>
          <p:nvPr>
            <p:ph type="title"/>
          </p:nvPr>
        </p:nvSpPr>
        <p:spPr/>
        <p:txBody>
          <a:bodyPr/>
          <a:lstStyle/>
          <a:p>
            <a:r>
              <a:rPr lang="en-ZA" dirty="0" err="1"/>
              <a:t>pl_Parent_BackTest_Contract</a:t>
            </a:r>
            <a:endParaRPr lang="en-ZA" dirty="0"/>
          </a:p>
        </p:txBody>
      </p:sp>
      <p:pic>
        <p:nvPicPr>
          <p:cNvPr id="5" name="Content Placeholder 4">
            <a:extLst>
              <a:ext uri="{FF2B5EF4-FFF2-40B4-BE49-F238E27FC236}">
                <a16:creationId xmlns:a16="http://schemas.microsoft.com/office/drawing/2014/main" id="{0D432B02-5801-9389-8E49-963851D0E82D}"/>
              </a:ext>
            </a:extLst>
          </p:cNvPr>
          <p:cNvPicPr>
            <a:picLocks noGrp="1" noChangeAspect="1"/>
          </p:cNvPicPr>
          <p:nvPr>
            <p:ph idx="1"/>
          </p:nvPr>
        </p:nvPicPr>
        <p:blipFill>
          <a:blip r:embed="rId3"/>
          <a:stretch>
            <a:fillRect/>
          </a:stretch>
        </p:blipFill>
        <p:spPr>
          <a:xfrm>
            <a:off x="1111008" y="1825625"/>
            <a:ext cx="9969984" cy="4351338"/>
          </a:xfrm>
          <a:prstGeom prst="rect">
            <a:avLst/>
          </a:prstGeom>
        </p:spPr>
      </p:pic>
    </p:spTree>
    <p:extLst>
      <p:ext uri="{BB962C8B-B14F-4D97-AF65-F5344CB8AC3E}">
        <p14:creationId xmlns:p14="http://schemas.microsoft.com/office/powerpoint/2010/main" val="15808425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53586-A835-B95A-E347-9EAD98020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F39B8-D9B5-7911-5B7F-D28D4DD33789}"/>
              </a:ext>
            </a:extLst>
          </p:cNvPr>
          <p:cNvSpPr>
            <a:spLocks noGrp="1"/>
          </p:cNvSpPr>
          <p:nvPr>
            <p:ph type="title"/>
          </p:nvPr>
        </p:nvSpPr>
        <p:spPr>
          <a:xfrm>
            <a:off x="838200" y="365125"/>
            <a:ext cx="10515600" cy="400685"/>
          </a:xfrm>
        </p:spPr>
        <p:txBody>
          <a:bodyPr>
            <a:normAutofit fontScale="90000"/>
          </a:bodyPr>
          <a:lstStyle/>
          <a:p>
            <a:r>
              <a:rPr lang="en-US" sz="2400" dirty="0" err="1"/>
              <a:t>Jspan</a:t>
            </a:r>
            <a:r>
              <a:rPr lang="en-US" sz="2400" dirty="0"/>
              <a:t> ,.. We altered the notebooks for the New Medallion Workspace , Now test First entire pipeline for </a:t>
            </a:r>
            <a:r>
              <a:rPr lang="en-US" sz="2400" dirty="0" err="1"/>
              <a:t>Jspan</a:t>
            </a:r>
            <a:r>
              <a:rPr lang="en-US" sz="2400" dirty="0"/>
              <a:t> </a:t>
            </a:r>
            <a:r>
              <a:rPr lang="en-US" sz="2400" dirty="0" err="1"/>
              <a:t>ie</a:t>
            </a:r>
            <a:r>
              <a:rPr lang="en-US" sz="2400" dirty="0"/>
              <a:t> </a:t>
            </a:r>
            <a:r>
              <a:rPr lang="en-US" sz="2400" dirty="0" err="1">
                <a:solidFill>
                  <a:srgbClr val="FF0000"/>
                </a:solidFill>
              </a:rPr>
              <a:t>pl_JSPAN_parameters</a:t>
            </a:r>
            <a:r>
              <a:rPr lang="en-US" sz="2400" dirty="0">
                <a:solidFill>
                  <a:srgbClr val="FF0000"/>
                </a:solidFill>
              </a:rPr>
              <a:t>, </a:t>
            </a:r>
            <a:r>
              <a:rPr lang="en-US" sz="2400" dirty="0"/>
              <a:t>blew settings for each block are shown</a:t>
            </a:r>
            <a:endParaRPr lang="en-ZA" sz="2400" dirty="0">
              <a:solidFill>
                <a:srgbClr val="FF0000"/>
              </a:solidFill>
            </a:endParaRPr>
          </a:p>
        </p:txBody>
      </p:sp>
      <p:pic>
        <p:nvPicPr>
          <p:cNvPr id="5" name="Content Placeholder 4">
            <a:extLst>
              <a:ext uri="{FF2B5EF4-FFF2-40B4-BE49-F238E27FC236}">
                <a16:creationId xmlns:a16="http://schemas.microsoft.com/office/drawing/2014/main" id="{B4ADFE5A-0B41-9429-9A16-F285FD00C7AE}"/>
              </a:ext>
            </a:extLst>
          </p:cNvPr>
          <p:cNvPicPr>
            <a:picLocks noGrp="1" noChangeAspect="1"/>
          </p:cNvPicPr>
          <p:nvPr>
            <p:ph idx="1"/>
          </p:nvPr>
        </p:nvPicPr>
        <p:blipFill>
          <a:blip r:embed="rId2"/>
          <a:stretch>
            <a:fillRect/>
          </a:stretch>
        </p:blipFill>
        <p:spPr>
          <a:xfrm>
            <a:off x="719112" y="1059815"/>
            <a:ext cx="9336456" cy="1946275"/>
          </a:xfrm>
          <a:prstGeom prst="rect">
            <a:avLst/>
          </a:prstGeom>
        </p:spPr>
      </p:pic>
      <p:pic>
        <p:nvPicPr>
          <p:cNvPr id="7" name="Picture 6">
            <a:extLst>
              <a:ext uri="{FF2B5EF4-FFF2-40B4-BE49-F238E27FC236}">
                <a16:creationId xmlns:a16="http://schemas.microsoft.com/office/drawing/2014/main" id="{E4179693-BE8F-FE23-BA41-4936C6B9250A}"/>
              </a:ext>
            </a:extLst>
          </p:cNvPr>
          <p:cNvPicPr>
            <a:picLocks noChangeAspect="1"/>
          </p:cNvPicPr>
          <p:nvPr/>
        </p:nvPicPr>
        <p:blipFill>
          <a:blip r:embed="rId3"/>
          <a:stretch>
            <a:fillRect/>
          </a:stretch>
        </p:blipFill>
        <p:spPr>
          <a:xfrm>
            <a:off x="197326" y="3662687"/>
            <a:ext cx="3215238" cy="2830188"/>
          </a:xfrm>
          <a:prstGeom prst="rect">
            <a:avLst/>
          </a:prstGeom>
        </p:spPr>
      </p:pic>
      <p:pic>
        <p:nvPicPr>
          <p:cNvPr id="9" name="Picture 8">
            <a:extLst>
              <a:ext uri="{FF2B5EF4-FFF2-40B4-BE49-F238E27FC236}">
                <a16:creationId xmlns:a16="http://schemas.microsoft.com/office/drawing/2014/main" id="{E6CCFC90-C0AC-53AA-FC61-BA58B94BB169}"/>
              </a:ext>
            </a:extLst>
          </p:cNvPr>
          <p:cNvPicPr>
            <a:picLocks noChangeAspect="1"/>
          </p:cNvPicPr>
          <p:nvPr/>
        </p:nvPicPr>
        <p:blipFill>
          <a:blip r:embed="rId4"/>
          <a:stretch>
            <a:fillRect/>
          </a:stretch>
        </p:blipFill>
        <p:spPr>
          <a:xfrm>
            <a:off x="3779721" y="3753388"/>
            <a:ext cx="3215238" cy="2739487"/>
          </a:xfrm>
          <a:prstGeom prst="rect">
            <a:avLst/>
          </a:prstGeom>
        </p:spPr>
      </p:pic>
      <p:pic>
        <p:nvPicPr>
          <p:cNvPr id="11" name="Picture 10">
            <a:extLst>
              <a:ext uri="{FF2B5EF4-FFF2-40B4-BE49-F238E27FC236}">
                <a16:creationId xmlns:a16="http://schemas.microsoft.com/office/drawing/2014/main" id="{A54B2D18-8B5A-E21C-745F-24F8BF9041DB}"/>
              </a:ext>
            </a:extLst>
          </p:cNvPr>
          <p:cNvPicPr>
            <a:picLocks noChangeAspect="1"/>
          </p:cNvPicPr>
          <p:nvPr/>
        </p:nvPicPr>
        <p:blipFill>
          <a:blip r:embed="rId5"/>
          <a:stretch>
            <a:fillRect/>
          </a:stretch>
        </p:blipFill>
        <p:spPr>
          <a:xfrm>
            <a:off x="7362116" y="3851911"/>
            <a:ext cx="4160520" cy="2334250"/>
          </a:xfrm>
          <a:prstGeom prst="rect">
            <a:avLst/>
          </a:prstGeom>
        </p:spPr>
      </p:pic>
    </p:spTree>
    <p:extLst>
      <p:ext uri="{BB962C8B-B14F-4D97-AF65-F5344CB8AC3E}">
        <p14:creationId xmlns:p14="http://schemas.microsoft.com/office/powerpoint/2010/main" val="14315303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FCC2B-E39E-972C-57DA-82CB4BEB2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E8028-DDEC-0F3B-9BC8-77F24748BE56}"/>
              </a:ext>
            </a:extLst>
          </p:cNvPr>
          <p:cNvSpPr>
            <a:spLocks noGrp="1"/>
          </p:cNvSpPr>
          <p:nvPr>
            <p:ph type="title"/>
          </p:nvPr>
        </p:nvSpPr>
        <p:spPr>
          <a:xfrm>
            <a:off x="838200" y="365125"/>
            <a:ext cx="10515600" cy="583565"/>
          </a:xfrm>
        </p:spPr>
        <p:txBody>
          <a:bodyPr>
            <a:normAutofit/>
          </a:bodyPr>
          <a:lstStyle/>
          <a:p>
            <a:r>
              <a:rPr lang="en-US" sz="2400" dirty="0"/>
              <a:t>Run as is </a:t>
            </a:r>
            <a:r>
              <a:rPr lang="en-US" sz="2400" dirty="0" err="1"/>
              <a:t>pl_JSPAN_parametres</a:t>
            </a:r>
            <a:endParaRPr lang="en-ZA" sz="2400" dirty="0"/>
          </a:p>
        </p:txBody>
      </p:sp>
      <p:pic>
        <p:nvPicPr>
          <p:cNvPr id="5" name="Content Placeholder 4">
            <a:extLst>
              <a:ext uri="{FF2B5EF4-FFF2-40B4-BE49-F238E27FC236}">
                <a16:creationId xmlns:a16="http://schemas.microsoft.com/office/drawing/2014/main" id="{0FC7E5AF-BD88-460D-73C8-7D6D949C8C68}"/>
              </a:ext>
            </a:extLst>
          </p:cNvPr>
          <p:cNvPicPr>
            <a:picLocks noGrp="1" noChangeAspect="1"/>
          </p:cNvPicPr>
          <p:nvPr>
            <p:ph idx="1"/>
          </p:nvPr>
        </p:nvPicPr>
        <p:blipFill>
          <a:blip r:embed="rId2"/>
          <a:stretch>
            <a:fillRect/>
          </a:stretch>
        </p:blipFill>
        <p:spPr>
          <a:xfrm>
            <a:off x="838200" y="1314451"/>
            <a:ext cx="10515600" cy="4441590"/>
          </a:xfrm>
          <a:prstGeom prst="rect">
            <a:avLst/>
          </a:prstGeom>
        </p:spPr>
      </p:pic>
    </p:spTree>
    <p:extLst>
      <p:ext uri="{BB962C8B-B14F-4D97-AF65-F5344CB8AC3E}">
        <p14:creationId xmlns:p14="http://schemas.microsoft.com/office/powerpoint/2010/main" val="30185039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4F5D-56BD-73E4-FDDE-1282E4965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96EA4-3AD4-A4C2-57A9-B36FFBCA9AD5}"/>
              </a:ext>
            </a:extLst>
          </p:cNvPr>
          <p:cNvSpPr>
            <a:spLocks noGrp="1"/>
          </p:cNvSpPr>
          <p:nvPr>
            <p:ph type="title"/>
          </p:nvPr>
        </p:nvSpPr>
        <p:spPr>
          <a:xfrm>
            <a:off x="838200" y="365125"/>
            <a:ext cx="10515600" cy="480695"/>
          </a:xfrm>
        </p:spPr>
        <p:txBody>
          <a:bodyPr>
            <a:normAutofit/>
          </a:bodyPr>
          <a:lstStyle/>
          <a:p>
            <a:r>
              <a:rPr lang="en-US" sz="2400" dirty="0"/>
              <a:t>Now we convert to child and parent pipelines: Child is </a:t>
            </a:r>
            <a:r>
              <a:rPr lang="en-US" sz="2400" dirty="0" err="1"/>
              <a:t>pl_child_Jspan_Parametres</a:t>
            </a:r>
            <a:endParaRPr lang="en-ZA" sz="2400" dirty="0"/>
          </a:p>
        </p:txBody>
      </p:sp>
      <p:pic>
        <p:nvPicPr>
          <p:cNvPr id="5" name="Content Placeholder 4">
            <a:extLst>
              <a:ext uri="{FF2B5EF4-FFF2-40B4-BE49-F238E27FC236}">
                <a16:creationId xmlns:a16="http://schemas.microsoft.com/office/drawing/2014/main" id="{D09A0D44-D031-CB47-E7B1-715B21F1342A}"/>
              </a:ext>
            </a:extLst>
          </p:cNvPr>
          <p:cNvPicPr>
            <a:picLocks noGrp="1" noChangeAspect="1"/>
          </p:cNvPicPr>
          <p:nvPr>
            <p:ph idx="1"/>
          </p:nvPr>
        </p:nvPicPr>
        <p:blipFill>
          <a:blip r:embed="rId3"/>
          <a:stretch>
            <a:fillRect/>
          </a:stretch>
        </p:blipFill>
        <p:spPr>
          <a:xfrm>
            <a:off x="954115" y="845820"/>
            <a:ext cx="8454970" cy="1771650"/>
          </a:xfrm>
          <a:prstGeom prst="rect">
            <a:avLst/>
          </a:prstGeom>
        </p:spPr>
      </p:pic>
      <p:pic>
        <p:nvPicPr>
          <p:cNvPr id="7" name="Picture 6">
            <a:extLst>
              <a:ext uri="{FF2B5EF4-FFF2-40B4-BE49-F238E27FC236}">
                <a16:creationId xmlns:a16="http://schemas.microsoft.com/office/drawing/2014/main" id="{9A4BA8A4-AA09-87AD-5706-56B34640553A}"/>
              </a:ext>
            </a:extLst>
          </p:cNvPr>
          <p:cNvPicPr>
            <a:picLocks noChangeAspect="1"/>
          </p:cNvPicPr>
          <p:nvPr/>
        </p:nvPicPr>
        <p:blipFill>
          <a:blip r:embed="rId4"/>
          <a:stretch>
            <a:fillRect/>
          </a:stretch>
        </p:blipFill>
        <p:spPr>
          <a:xfrm>
            <a:off x="106680" y="3657600"/>
            <a:ext cx="3699510" cy="2929095"/>
          </a:xfrm>
          <a:prstGeom prst="rect">
            <a:avLst/>
          </a:prstGeom>
        </p:spPr>
      </p:pic>
      <p:pic>
        <p:nvPicPr>
          <p:cNvPr id="9" name="Picture 8">
            <a:extLst>
              <a:ext uri="{FF2B5EF4-FFF2-40B4-BE49-F238E27FC236}">
                <a16:creationId xmlns:a16="http://schemas.microsoft.com/office/drawing/2014/main" id="{E985E675-8CED-62D2-ADDC-30207E07BD9B}"/>
              </a:ext>
            </a:extLst>
          </p:cNvPr>
          <p:cNvPicPr>
            <a:picLocks noChangeAspect="1"/>
          </p:cNvPicPr>
          <p:nvPr/>
        </p:nvPicPr>
        <p:blipFill>
          <a:blip r:embed="rId5"/>
          <a:stretch>
            <a:fillRect/>
          </a:stretch>
        </p:blipFill>
        <p:spPr>
          <a:xfrm>
            <a:off x="4103370" y="3657600"/>
            <a:ext cx="3417570" cy="2929095"/>
          </a:xfrm>
          <a:prstGeom prst="rect">
            <a:avLst/>
          </a:prstGeom>
        </p:spPr>
      </p:pic>
      <p:pic>
        <p:nvPicPr>
          <p:cNvPr id="11" name="Picture 10">
            <a:extLst>
              <a:ext uri="{FF2B5EF4-FFF2-40B4-BE49-F238E27FC236}">
                <a16:creationId xmlns:a16="http://schemas.microsoft.com/office/drawing/2014/main" id="{5A9D2D47-ED79-BC33-7FCA-015D90E83C27}"/>
              </a:ext>
            </a:extLst>
          </p:cNvPr>
          <p:cNvPicPr>
            <a:picLocks noChangeAspect="1"/>
          </p:cNvPicPr>
          <p:nvPr/>
        </p:nvPicPr>
        <p:blipFill>
          <a:blip r:embed="rId6"/>
          <a:stretch>
            <a:fillRect/>
          </a:stretch>
        </p:blipFill>
        <p:spPr>
          <a:xfrm>
            <a:off x="7715250" y="3657600"/>
            <a:ext cx="4058178" cy="2929095"/>
          </a:xfrm>
          <a:prstGeom prst="rect">
            <a:avLst/>
          </a:prstGeom>
        </p:spPr>
      </p:pic>
    </p:spTree>
    <p:extLst>
      <p:ext uri="{BB962C8B-B14F-4D97-AF65-F5344CB8AC3E}">
        <p14:creationId xmlns:p14="http://schemas.microsoft.com/office/powerpoint/2010/main" val="33983057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5297F-67F1-9DCE-E2AA-F055D3675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A4720-09CC-7588-0AA2-76A32813E0EF}"/>
              </a:ext>
            </a:extLst>
          </p:cNvPr>
          <p:cNvSpPr>
            <a:spLocks noGrp="1"/>
          </p:cNvSpPr>
          <p:nvPr>
            <p:ph type="title"/>
          </p:nvPr>
        </p:nvSpPr>
        <p:spPr>
          <a:xfrm>
            <a:off x="586740" y="159385"/>
            <a:ext cx="10515600" cy="480695"/>
          </a:xfrm>
        </p:spPr>
        <p:txBody>
          <a:bodyPr>
            <a:normAutofit/>
          </a:bodyPr>
          <a:lstStyle/>
          <a:p>
            <a:r>
              <a:rPr lang="en-US" sz="2400" dirty="0" err="1"/>
              <a:t>Pl_Parent_JSPAN_parametres</a:t>
            </a:r>
            <a:endParaRPr lang="en-ZA" sz="2400" dirty="0"/>
          </a:p>
        </p:txBody>
      </p:sp>
      <p:pic>
        <p:nvPicPr>
          <p:cNvPr id="5" name="Content Placeholder 4">
            <a:extLst>
              <a:ext uri="{FF2B5EF4-FFF2-40B4-BE49-F238E27FC236}">
                <a16:creationId xmlns:a16="http://schemas.microsoft.com/office/drawing/2014/main" id="{E250D218-CFFF-73E1-6A96-8691709653AF}"/>
              </a:ext>
            </a:extLst>
          </p:cNvPr>
          <p:cNvPicPr>
            <a:picLocks noGrp="1" noChangeAspect="1"/>
          </p:cNvPicPr>
          <p:nvPr>
            <p:ph idx="1"/>
          </p:nvPr>
        </p:nvPicPr>
        <p:blipFill>
          <a:blip r:embed="rId3"/>
          <a:stretch>
            <a:fillRect/>
          </a:stretch>
        </p:blipFill>
        <p:spPr>
          <a:xfrm>
            <a:off x="426720" y="640081"/>
            <a:ext cx="10515600" cy="1840230"/>
          </a:xfrm>
          <a:prstGeom prst="rect">
            <a:avLst/>
          </a:prstGeom>
        </p:spPr>
      </p:pic>
      <p:pic>
        <p:nvPicPr>
          <p:cNvPr id="7" name="Picture 6">
            <a:extLst>
              <a:ext uri="{FF2B5EF4-FFF2-40B4-BE49-F238E27FC236}">
                <a16:creationId xmlns:a16="http://schemas.microsoft.com/office/drawing/2014/main" id="{75720B3D-F990-EFB1-CC1A-684DAA9EB520}"/>
              </a:ext>
            </a:extLst>
          </p:cNvPr>
          <p:cNvPicPr>
            <a:picLocks noChangeAspect="1"/>
          </p:cNvPicPr>
          <p:nvPr/>
        </p:nvPicPr>
        <p:blipFill>
          <a:blip r:embed="rId4"/>
          <a:stretch>
            <a:fillRect/>
          </a:stretch>
        </p:blipFill>
        <p:spPr>
          <a:xfrm>
            <a:off x="426720" y="3429000"/>
            <a:ext cx="4394264" cy="2928247"/>
          </a:xfrm>
          <a:prstGeom prst="rect">
            <a:avLst/>
          </a:prstGeom>
        </p:spPr>
      </p:pic>
      <p:pic>
        <p:nvPicPr>
          <p:cNvPr id="9" name="Picture 8">
            <a:extLst>
              <a:ext uri="{FF2B5EF4-FFF2-40B4-BE49-F238E27FC236}">
                <a16:creationId xmlns:a16="http://schemas.microsoft.com/office/drawing/2014/main" id="{BCF9B0B3-BBFF-E643-FC1E-6021E7360850}"/>
              </a:ext>
            </a:extLst>
          </p:cNvPr>
          <p:cNvPicPr>
            <a:picLocks noChangeAspect="1"/>
          </p:cNvPicPr>
          <p:nvPr/>
        </p:nvPicPr>
        <p:blipFill>
          <a:blip r:embed="rId5"/>
          <a:stretch>
            <a:fillRect/>
          </a:stretch>
        </p:blipFill>
        <p:spPr>
          <a:xfrm>
            <a:off x="5017422" y="3428999"/>
            <a:ext cx="6084917" cy="3269615"/>
          </a:xfrm>
          <a:prstGeom prst="rect">
            <a:avLst/>
          </a:prstGeom>
        </p:spPr>
      </p:pic>
    </p:spTree>
    <p:extLst>
      <p:ext uri="{BB962C8B-B14F-4D97-AF65-F5344CB8AC3E}">
        <p14:creationId xmlns:p14="http://schemas.microsoft.com/office/powerpoint/2010/main" val="35589291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B70D8-D7A5-4B47-24B5-5F02216FE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20F13-2E98-3E8B-2DF1-66441D6AA793}"/>
              </a:ext>
            </a:extLst>
          </p:cNvPr>
          <p:cNvSpPr>
            <a:spLocks noGrp="1"/>
          </p:cNvSpPr>
          <p:nvPr>
            <p:ph type="title"/>
          </p:nvPr>
        </p:nvSpPr>
        <p:spPr/>
        <p:txBody>
          <a:bodyPr/>
          <a:lstStyle/>
          <a:p>
            <a:endParaRPr lang="en-ZA" dirty="0"/>
          </a:p>
        </p:txBody>
      </p:sp>
      <p:sp>
        <p:nvSpPr>
          <p:cNvPr id="3" name="Content Placeholder 2">
            <a:extLst>
              <a:ext uri="{FF2B5EF4-FFF2-40B4-BE49-F238E27FC236}">
                <a16:creationId xmlns:a16="http://schemas.microsoft.com/office/drawing/2014/main" id="{5355DD03-6AD7-ECAB-F88F-A21EF1758574}"/>
              </a:ext>
            </a:extLst>
          </p:cNvPr>
          <p:cNvSpPr>
            <a:spLocks noGrp="1"/>
          </p:cNvSpPr>
          <p:nvPr>
            <p:ph idx="1"/>
          </p:nvPr>
        </p:nvSpPr>
        <p:spPr/>
        <p:txBody>
          <a:bodyPr/>
          <a:lstStyle/>
          <a:p>
            <a:endParaRPr lang="en-ZA"/>
          </a:p>
        </p:txBody>
      </p:sp>
      <p:pic>
        <p:nvPicPr>
          <p:cNvPr id="5" name="Picture 4">
            <a:extLst>
              <a:ext uri="{FF2B5EF4-FFF2-40B4-BE49-F238E27FC236}">
                <a16:creationId xmlns:a16="http://schemas.microsoft.com/office/drawing/2014/main" id="{C62AD97A-BB42-20F5-8F47-3DD49EAFBC4B}"/>
              </a:ext>
            </a:extLst>
          </p:cNvPr>
          <p:cNvPicPr>
            <a:picLocks noChangeAspect="1"/>
          </p:cNvPicPr>
          <p:nvPr/>
        </p:nvPicPr>
        <p:blipFill>
          <a:blip r:embed="rId2"/>
          <a:stretch>
            <a:fillRect/>
          </a:stretch>
        </p:blipFill>
        <p:spPr>
          <a:xfrm>
            <a:off x="1266940" y="681037"/>
            <a:ext cx="10785513" cy="5171123"/>
          </a:xfrm>
          <a:prstGeom prst="rect">
            <a:avLst/>
          </a:prstGeom>
        </p:spPr>
      </p:pic>
    </p:spTree>
    <p:extLst>
      <p:ext uri="{BB962C8B-B14F-4D97-AF65-F5344CB8AC3E}">
        <p14:creationId xmlns:p14="http://schemas.microsoft.com/office/powerpoint/2010/main" val="8608083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61F7-12B6-081E-ACFF-E2B0351376D5}"/>
              </a:ext>
            </a:extLst>
          </p:cNvPr>
          <p:cNvSpPr>
            <a:spLocks noGrp="1"/>
          </p:cNvSpPr>
          <p:nvPr>
            <p:ph type="title"/>
          </p:nvPr>
        </p:nvSpPr>
        <p:spPr/>
        <p:txBody>
          <a:bodyPr/>
          <a:lstStyle/>
          <a:p>
            <a:r>
              <a:rPr lang="en-US" dirty="0"/>
              <a:t>11/07/2025- </a:t>
            </a:r>
            <a:r>
              <a:rPr lang="en-US" dirty="0" err="1"/>
              <a:t>pl_IRDCDM_Margin_Detail_Client_CM</a:t>
            </a:r>
            <a:r>
              <a:rPr lang="en-US" dirty="0"/>
              <a:t> </a:t>
            </a:r>
            <a:endParaRPr lang="en-ZA" dirty="0"/>
          </a:p>
        </p:txBody>
      </p:sp>
      <p:pic>
        <p:nvPicPr>
          <p:cNvPr id="5" name="Content Placeholder 4">
            <a:extLst>
              <a:ext uri="{FF2B5EF4-FFF2-40B4-BE49-F238E27FC236}">
                <a16:creationId xmlns:a16="http://schemas.microsoft.com/office/drawing/2014/main" id="{5C2DEB9A-7C79-1EFE-7C61-88B8D0675A5F}"/>
              </a:ext>
            </a:extLst>
          </p:cNvPr>
          <p:cNvPicPr>
            <a:picLocks noGrp="1" noChangeAspect="1"/>
          </p:cNvPicPr>
          <p:nvPr>
            <p:ph idx="1"/>
          </p:nvPr>
        </p:nvPicPr>
        <p:blipFill>
          <a:blip r:embed="rId2"/>
          <a:stretch>
            <a:fillRect/>
          </a:stretch>
        </p:blipFill>
        <p:spPr>
          <a:xfrm>
            <a:off x="1032094" y="1935793"/>
            <a:ext cx="9819337" cy="4351338"/>
          </a:xfrm>
          <a:prstGeom prst="rect">
            <a:avLst/>
          </a:prstGeom>
        </p:spPr>
      </p:pic>
    </p:spTree>
    <p:extLst>
      <p:ext uri="{BB962C8B-B14F-4D97-AF65-F5344CB8AC3E}">
        <p14:creationId xmlns:p14="http://schemas.microsoft.com/office/powerpoint/2010/main" val="19374717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1D51-08D3-C211-EA08-FFBDB0B8FCA4}"/>
              </a:ext>
            </a:extLst>
          </p:cNvPr>
          <p:cNvSpPr>
            <a:spLocks noGrp="1"/>
          </p:cNvSpPr>
          <p:nvPr>
            <p:ph type="title"/>
          </p:nvPr>
        </p:nvSpPr>
        <p:spPr/>
        <p:txBody>
          <a:bodyPr/>
          <a:lstStyle/>
          <a:p>
            <a:r>
              <a:rPr lang="en-US" dirty="0"/>
              <a:t>Capture the Result: Final.</a:t>
            </a:r>
            <a:endParaRPr lang="en-ZA" dirty="0"/>
          </a:p>
        </p:txBody>
      </p:sp>
      <p:pic>
        <p:nvPicPr>
          <p:cNvPr id="5" name="Content Placeholder 4">
            <a:extLst>
              <a:ext uri="{FF2B5EF4-FFF2-40B4-BE49-F238E27FC236}">
                <a16:creationId xmlns:a16="http://schemas.microsoft.com/office/drawing/2014/main" id="{336F7E04-8472-F16D-2ABB-F82ECB2837C0}"/>
              </a:ext>
            </a:extLst>
          </p:cNvPr>
          <p:cNvPicPr>
            <a:picLocks noGrp="1" noChangeAspect="1"/>
          </p:cNvPicPr>
          <p:nvPr>
            <p:ph idx="1"/>
          </p:nvPr>
        </p:nvPicPr>
        <p:blipFill>
          <a:blip r:embed="rId2"/>
          <a:stretch>
            <a:fillRect/>
          </a:stretch>
        </p:blipFill>
        <p:spPr>
          <a:xfrm>
            <a:off x="1737198" y="1825625"/>
            <a:ext cx="8717603" cy="4351338"/>
          </a:xfrm>
          <a:prstGeom prst="rect">
            <a:avLst/>
          </a:prstGeom>
          <a:ln w="57150">
            <a:solidFill>
              <a:schemeClr val="tx1"/>
            </a:solidFill>
          </a:ln>
        </p:spPr>
      </p:pic>
    </p:spTree>
    <p:extLst>
      <p:ext uri="{BB962C8B-B14F-4D97-AF65-F5344CB8AC3E}">
        <p14:creationId xmlns:p14="http://schemas.microsoft.com/office/powerpoint/2010/main" val="419616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DDBC-1BE8-5F1C-99D0-B7BAE6EE6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D1C4E-41E8-831B-D304-B536303D3195}"/>
              </a:ext>
            </a:extLst>
          </p:cNvPr>
          <p:cNvSpPr>
            <a:spLocks noGrp="1"/>
          </p:cNvSpPr>
          <p:nvPr>
            <p:ph type="title"/>
          </p:nvPr>
        </p:nvSpPr>
        <p:spPr>
          <a:xfrm>
            <a:off x="838200" y="365125"/>
            <a:ext cx="10515600" cy="766445"/>
          </a:xfrm>
        </p:spPr>
        <p:txBody>
          <a:bodyPr/>
          <a:lstStyle/>
          <a:p>
            <a:r>
              <a:rPr lang="en-US" dirty="0"/>
              <a:t>Process Pl Components </a:t>
            </a:r>
            <a:endParaRPr lang="en-ZA" dirty="0"/>
          </a:p>
        </p:txBody>
      </p:sp>
      <p:pic>
        <p:nvPicPr>
          <p:cNvPr id="5" name="Content Placeholder 4">
            <a:extLst>
              <a:ext uri="{FF2B5EF4-FFF2-40B4-BE49-F238E27FC236}">
                <a16:creationId xmlns:a16="http://schemas.microsoft.com/office/drawing/2014/main" id="{8A52DDBD-6BD8-7459-0A5F-4F68E7851C71}"/>
              </a:ext>
            </a:extLst>
          </p:cNvPr>
          <p:cNvPicPr>
            <a:picLocks noGrp="1" noChangeAspect="1"/>
          </p:cNvPicPr>
          <p:nvPr>
            <p:ph idx="1"/>
          </p:nvPr>
        </p:nvPicPr>
        <p:blipFill>
          <a:blip r:embed="rId3"/>
          <a:stretch>
            <a:fillRect/>
          </a:stretch>
        </p:blipFill>
        <p:spPr>
          <a:xfrm>
            <a:off x="112326" y="2082731"/>
            <a:ext cx="2447994" cy="2692538"/>
          </a:xfrm>
          <a:prstGeom prst="rect">
            <a:avLst/>
          </a:prstGeom>
          <a:ln w="28575">
            <a:solidFill>
              <a:schemeClr val="tx1"/>
            </a:solidFill>
          </a:ln>
        </p:spPr>
      </p:pic>
      <p:pic>
        <p:nvPicPr>
          <p:cNvPr id="7" name="Picture 6">
            <a:extLst>
              <a:ext uri="{FF2B5EF4-FFF2-40B4-BE49-F238E27FC236}">
                <a16:creationId xmlns:a16="http://schemas.microsoft.com/office/drawing/2014/main" id="{CB7CB6BC-4BB8-CE97-08CC-3EF78CC0EB03}"/>
              </a:ext>
            </a:extLst>
          </p:cNvPr>
          <p:cNvPicPr>
            <a:picLocks noChangeAspect="1"/>
          </p:cNvPicPr>
          <p:nvPr/>
        </p:nvPicPr>
        <p:blipFill>
          <a:blip r:embed="rId4"/>
          <a:stretch>
            <a:fillRect/>
          </a:stretch>
        </p:blipFill>
        <p:spPr>
          <a:xfrm>
            <a:off x="2651760" y="2459385"/>
            <a:ext cx="2912196" cy="2224603"/>
          </a:xfrm>
          <a:prstGeom prst="rect">
            <a:avLst/>
          </a:prstGeom>
          <a:ln w="19050">
            <a:solidFill>
              <a:schemeClr val="tx1"/>
            </a:solidFill>
          </a:ln>
        </p:spPr>
      </p:pic>
      <p:pic>
        <p:nvPicPr>
          <p:cNvPr id="9" name="Picture 8">
            <a:extLst>
              <a:ext uri="{FF2B5EF4-FFF2-40B4-BE49-F238E27FC236}">
                <a16:creationId xmlns:a16="http://schemas.microsoft.com/office/drawing/2014/main" id="{D7A29C65-BD6F-B578-4A21-6A95A469149F}"/>
              </a:ext>
            </a:extLst>
          </p:cNvPr>
          <p:cNvPicPr>
            <a:picLocks noChangeAspect="1"/>
          </p:cNvPicPr>
          <p:nvPr/>
        </p:nvPicPr>
        <p:blipFill>
          <a:blip r:embed="rId5"/>
          <a:stretch>
            <a:fillRect/>
          </a:stretch>
        </p:blipFill>
        <p:spPr>
          <a:xfrm>
            <a:off x="5655396" y="2429271"/>
            <a:ext cx="2946486" cy="2254717"/>
          </a:xfrm>
          <a:prstGeom prst="rect">
            <a:avLst/>
          </a:prstGeom>
          <a:ln w="38100">
            <a:solidFill>
              <a:schemeClr val="tx1"/>
            </a:solidFill>
          </a:ln>
        </p:spPr>
      </p:pic>
      <p:pic>
        <p:nvPicPr>
          <p:cNvPr id="11" name="Picture 10">
            <a:extLst>
              <a:ext uri="{FF2B5EF4-FFF2-40B4-BE49-F238E27FC236}">
                <a16:creationId xmlns:a16="http://schemas.microsoft.com/office/drawing/2014/main" id="{B7353612-6558-17D5-261B-E8025C47D1D6}"/>
              </a:ext>
            </a:extLst>
          </p:cNvPr>
          <p:cNvPicPr>
            <a:picLocks noChangeAspect="1"/>
          </p:cNvPicPr>
          <p:nvPr/>
        </p:nvPicPr>
        <p:blipFill>
          <a:blip r:embed="rId6"/>
          <a:stretch>
            <a:fillRect/>
          </a:stretch>
        </p:blipFill>
        <p:spPr>
          <a:xfrm>
            <a:off x="8693322" y="2429270"/>
            <a:ext cx="3064758" cy="2254718"/>
          </a:xfrm>
          <a:prstGeom prst="rect">
            <a:avLst/>
          </a:prstGeom>
          <a:ln w="28575">
            <a:solidFill>
              <a:schemeClr val="tx1"/>
            </a:solidFill>
          </a:ln>
        </p:spPr>
      </p:pic>
    </p:spTree>
    <p:extLst>
      <p:ext uri="{BB962C8B-B14F-4D97-AF65-F5344CB8AC3E}">
        <p14:creationId xmlns:p14="http://schemas.microsoft.com/office/powerpoint/2010/main" val="27132180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201FC-0833-0FDC-C873-22B4A73CAB1D}"/>
              </a:ext>
            </a:extLst>
          </p:cNvPr>
          <p:cNvSpPr>
            <a:spLocks noGrp="1"/>
          </p:cNvSpPr>
          <p:nvPr>
            <p:ph type="title"/>
          </p:nvPr>
        </p:nvSpPr>
        <p:spPr>
          <a:xfrm>
            <a:off x="838200" y="365126"/>
            <a:ext cx="10515600" cy="483174"/>
          </a:xfrm>
        </p:spPr>
        <p:txBody>
          <a:bodyPr>
            <a:normAutofit fontScale="90000"/>
          </a:bodyPr>
          <a:lstStyle/>
          <a:p>
            <a:r>
              <a:rPr lang="en-ZA" dirty="0" err="1"/>
              <a:t>pl_Parent_IRDCDM_Margin_Detail_Client_CM</a:t>
            </a:r>
            <a:endParaRPr lang="en-ZA" dirty="0"/>
          </a:p>
        </p:txBody>
      </p:sp>
      <p:pic>
        <p:nvPicPr>
          <p:cNvPr id="5" name="Content Placeholder 4">
            <a:extLst>
              <a:ext uri="{FF2B5EF4-FFF2-40B4-BE49-F238E27FC236}">
                <a16:creationId xmlns:a16="http://schemas.microsoft.com/office/drawing/2014/main" id="{7A2792C8-D8DF-CB48-96B6-8F8AB215C91F}"/>
              </a:ext>
            </a:extLst>
          </p:cNvPr>
          <p:cNvPicPr>
            <a:picLocks noGrp="1" noChangeAspect="1"/>
          </p:cNvPicPr>
          <p:nvPr>
            <p:ph idx="1"/>
          </p:nvPr>
        </p:nvPicPr>
        <p:blipFill>
          <a:blip r:embed="rId2"/>
          <a:stretch>
            <a:fillRect/>
          </a:stretch>
        </p:blipFill>
        <p:spPr>
          <a:xfrm>
            <a:off x="838200" y="1427535"/>
            <a:ext cx="8873369" cy="4291695"/>
          </a:xfrm>
          <a:prstGeom prst="rect">
            <a:avLst/>
          </a:prstGeom>
        </p:spPr>
      </p:pic>
    </p:spTree>
    <p:extLst>
      <p:ext uri="{BB962C8B-B14F-4D97-AF65-F5344CB8AC3E}">
        <p14:creationId xmlns:p14="http://schemas.microsoft.com/office/powerpoint/2010/main" val="28456176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5807-D2ED-F8B5-1F0A-5AC3C62C8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8A8C7-B0D0-D9E8-5273-00F8DE58EF18}"/>
              </a:ext>
            </a:extLst>
          </p:cNvPr>
          <p:cNvSpPr>
            <a:spLocks noGrp="1"/>
          </p:cNvSpPr>
          <p:nvPr>
            <p:ph type="title"/>
          </p:nvPr>
        </p:nvSpPr>
        <p:spPr>
          <a:xfrm>
            <a:off x="838200" y="365125"/>
            <a:ext cx="10515600" cy="747579"/>
          </a:xfrm>
        </p:spPr>
        <p:txBody>
          <a:bodyPr>
            <a:normAutofit fontScale="90000"/>
          </a:bodyPr>
          <a:lstStyle/>
          <a:p>
            <a:r>
              <a:rPr lang="en-US" dirty="0" err="1"/>
              <a:t>pl_Child_IRDCDM_Margin_Detail_Client_CM</a:t>
            </a:r>
            <a:r>
              <a:rPr lang="en-US" dirty="0"/>
              <a:t>_</a:t>
            </a:r>
            <a:endParaRPr lang="en-ZA" dirty="0"/>
          </a:p>
        </p:txBody>
      </p:sp>
      <p:pic>
        <p:nvPicPr>
          <p:cNvPr id="5" name="Content Placeholder 4">
            <a:extLst>
              <a:ext uri="{FF2B5EF4-FFF2-40B4-BE49-F238E27FC236}">
                <a16:creationId xmlns:a16="http://schemas.microsoft.com/office/drawing/2014/main" id="{831191F2-078A-03BD-8FF1-C0B1438C1991}"/>
              </a:ext>
            </a:extLst>
          </p:cNvPr>
          <p:cNvPicPr>
            <a:picLocks noGrp="1" noChangeAspect="1"/>
          </p:cNvPicPr>
          <p:nvPr>
            <p:ph idx="1"/>
          </p:nvPr>
        </p:nvPicPr>
        <p:blipFill>
          <a:blip r:embed="rId2"/>
          <a:stretch>
            <a:fillRect/>
          </a:stretch>
        </p:blipFill>
        <p:spPr>
          <a:xfrm>
            <a:off x="1559076" y="1845454"/>
            <a:ext cx="7531487" cy="3562533"/>
          </a:xfrm>
          <a:prstGeom prst="rect">
            <a:avLst/>
          </a:prstGeom>
        </p:spPr>
      </p:pic>
      <p:pic>
        <p:nvPicPr>
          <p:cNvPr id="7" name="Picture 6">
            <a:extLst>
              <a:ext uri="{FF2B5EF4-FFF2-40B4-BE49-F238E27FC236}">
                <a16:creationId xmlns:a16="http://schemas.microsoft.com/office/drawing/2014/main" id="{CEF75D59-A4BA-6C5F-D745-0CFA8923E3A1}"/>
              </a:ext>
            </a:extLst>
          </p:cNvPr>
          <p:cNvPicPr>
            <a:picLocks noChangeAspect="1"/>
          </p:cNvPicPr>
          <p:nvPr/>
        </p:nvPicPr>
        <p:blipFill>
          <a:blip r:embed="rId3"/>
          <a:stretch>
            <a:fillRect/>
          </a:stretch>
        </p:blipFill>
        <p:spPr>
          <a:xfrm>
            <a:off x="838200" y="1451733"/>
            <a:ext cx="9970012" cy="4349974"/>
          </a:xfrm>
          <a:prstGeom prst="rect">
            <a:avLst/>
          </a:prstGeom>
        </p:spPr>
      </p:pic>
    </p:spTree>
    <p:extLst>
      <p:ext uri="{BB962C8B-B14F-4D97-AF65-F5344CB8AC3E}">
        <p14:creationId xmlns:p14="http://schemas.microsoft.com/office/powerpoint/2010/main" val="4910554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FDCAA-B3FF-A0AE-A309-5C690AEC0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5828D-05DD-446E-AEA7-22EB1FD23001}"/>
              </a:ext>
            </a:extLst>
          </p:cNvPr>
          <p:cNvSpPr>
            <a:spLocks noGrp="1"/>
          </p:cNvSpPr>
          <p:nvPr>
            <p:ph type="title"/>
          </p:nvPr>
        </p:nvSpPr>
        <p:spPr>
          <a:xfrm>
            <a:off x="838200" y="365125"/>
            <a:ext cx="10515600" cy="417073"/>
          </a:xfrm>
        </p:spPr>
        <p:txBody>
          <a:bodyPr>
            <a:normAutofit fontScale="90000"/>
          </a:bodyPr>
          <a:lstStyle/>
          <a:p>
            <a:r>
              <a:rPr lang="fr-FR" dirty="0" err="1"/>
              <a:t>Ingest_IRD_CDM_Margin_Detail_Client_CM_auto</a:t>
            </a:r>
            <a:endParaRPr lang="en-ZA" dirty="0"/>
          </a:p>
        </p:txBody>
      </p:sp>
      <p:pic>
        <p:nvPicPr>
          <p:cNvPr id="9" name="Content Placeholder 8">
            <a:extLst>
              <a:ext uri="{FF2B5EF4-FFF2-40B4-BE49-F238E27FC236}">
                <a16:creationId xmlns:a16="http://schemas.microsoft.com/office/drawing/2014/main" id="{35D50312-8126-8F68-5A27-8781CE044BAC}"/>
              </a:ext>
            </a:extLst>
          </p:cNvPr>
          <p:cNvPicPr>
            <a:picLocks noGrp="1" noChangeAspect="1"/>
          </p:cNvPicPr>
          <p:nvPr>
            <p:ph idx="1"/>
          </p:nvPr>
        </p:nvPicPr>
        <p:blipFill>
          <a:blip r:embed="rId2"/>
          <a:stretch>
            <a:fillRect/>
          </a:stretch>
        </p:blipFill>
        <p:spPr>
          <a:xfrm>
            <a:off x="744033" y="1032410"/>
            <a:ext cx="10609767" cy="5346355"/>
          </a:xfrm>
          <a:prstGeom prst="rect">
            <a:avLst/>
          </a:prstGeom>
          <a:ln w="38100">
            <a:solidFill>
              <a:schemeClr val="tx1"/>
            </a:solidFill>
          </a:ln>
        </p:spPr>
      </p:pic>
    </p:spTree>
    <p:extLst>
      <p:ext uri="{BB962C8B-B14F-4D97-AF65-F5344CB8AC3E}">
        <p14:creationId xmlns:p14="http://schemas.microsoft.com/office/powerpoint/2010/main" val="3493660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7667-FF23-A496-5ACF-C2EBBACD4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7555E-D1DB-9000-318A-8056B77BA299}"/>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B25D23D0-3649-5890-777B-9CD9CB338628}"/>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9471740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28920-B4CB-6F7B-DA8B-5C404D1EC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93905-AE92-A283-F816-A3ED0CFD981C}"/>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708572D9-4602-6348-A52B-56FF94638CF4}"/>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19513927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251B5-052D-8C8D-A653-AC79982C3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5EFA4-4BE5-1968-EC8E-B5C6660EAAD5}"/>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9E708788-5C36-CF6C-8C4C-F1C5781E07EE}"/>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0055880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B4A35-1AE2-AEEE-D2DF-2E089B019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356F0-2937-C22C-45ED-7C730E6E66C6}"/>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9C8FA6DE-645F-70BA-1AB1-75F371EECD4B}"/>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7526488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EAD86-81F4-2D9F-CFA5-7D2DB70A5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29392-4396-F19D-F42D-0688FDBC7A1A}"/>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CAF449AE-F688-7DF6-CFA9-B95912273C6E}"/>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4849263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405A-9F6D-361E-A595-4959FA2CF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B3937-F884-4F86-578F-1F7306CEF9E9}"/>
              </a:ext>
            </a:extLst>
          </p:cNvPr>
          <p:cNvSpPr>
            <a:spLocks noGrp="1"/>
          </p:cNvSpPr>
          <p:nvPr>
            <p:ph type="title"/>
          </p:nvPr>
        </p:nvSpPr>
        <p:spPr>
          <a:xfrm>
            <a:off x="838200" y="365125"/>
            <a:ext cx="10515600" cy="668545"/>
          </a:xfrm>
        </p:spPr>
        <p:txBody>
          <a:bodyPr>
            <a:normAutofit fontScale="90000"/>
          </a:bodyPr>
          <a:lstStyle/>
          <a:p>
            <a:r>
              <a:rPr lang="en-US" dirty="0" err="1"/>
              <a:t>Pl_JSPAN_parametres</a:t>
            </a:r>
            <a:endParaRPr lang="en-ZA" dirty="0"/>
          </a:p>
        </p:txBody>
      </p:sp>
      <p:pic>
        <p:nvPicPr>
          <p:cNvPr id="5" name="Content Placeholder 4">
            <a:extLst>
              <a:ext uri="{FF2B5EF4-FFF2-40B4-BE49-F238E27FC236}">
                <a16:creationId xmlns:a16="http://schemas.microsoft.com/office/drawing/2014/main" id="{B841B946-6C91-30B9-4377-71DD8C75436F}"/>
              </a:ext>
            </a:extLst>
          </p:cNvPr>
          <p:cNvPicPr>
            <a:picLocks noGrp="1" noChangeAspect="1"/>
          </p:cNvPicPr>
          <p:nvPr>
            <p:ph idx="1"/>
          </p:nvPr>
        </p:nvPicPr>
        <p:blipFill>
          <a:blip r:embed="rId2"/>
          <a:stretch>
            <a:fillRect/>
          </a:stretch>
        </p:blipFill>
        <p:spPr>
          <a:xfrm>
            <a:off x="550455" y="1420676"/>
            <a:ext cx="10411819" cy="4351338"/>
          </a:xfrm>
          <a:prstGeom prst="rect">
            <a:avLst/>
          </a:prstGeom>
          <a:ln w="38100">
            <a:solidFill>
              <a:schemeClr val="tx1"/>
            </a:solidFill>
          </a:ln>
        </p:spPr>
      </p:pic>
    </p:spTree>
    <p:extLst>
      <p:ext uri="{BB962C8B-B14F-4D97-AF65-F5344CB8AC3E}">
        <p14:creationId xmlns:p14="http://schemas.microsoft.com/office/powerpoint/2010/main" val="1727905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4125D-5043-03C8-3BA8-07B204395AC5}"/>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45DA26BA-1493-BBB3-96B3-2875B7DD1DA8}"/>
              </a:ext>
            </a:extLst>
          </p:cNvPr>
          <p:cNvPicPr>
            <a:picLocks noGrp="1" noChangeAspect="1"/>
          </p:cNvPicPr>
          <p:nvPr>
            <p:ph idx="1"/>
          </p:nvPr>
        </p:nvPicPr>
        <p:blipFill>
          <a:blip r:embed="rId3"/>
          <a:stretch>
            <a:fillRect/>
          </a:stretch>
        </p:blipFill>
        <p:spPr>
          <a:xfrm>
            <a:off x="125031" y="520460"/>
            <a:ext cx="6115904" cy="1552792"/>
          </a:xfrm>
          <a:prstGeom prst="rect">
            <a:avLst/>
          </a:prstGeom>
          <a:ln w="38100">
            <a:solidFill>
              <a:schemeClr val="tx1"/>
            </a:solidFill>
          </a:ln>
        </p:spPr>
      </p:pic>
      <p:pic>
        <p:nvPicPr>
          <p:cNvPr id="7" name="Picture 6">
            <a:extLst>
              <a:ext uri="{FF2B5EF4-FFF2-40B4-BE49-F238E27FC236}">
                <a16:creationId xmlns:a16="http://schemas.microsoft.com/office/drawing/2014/main" id="{AFE00394-D134-CA1A-FF51-909D6D80473D}"/>
              </a:ext>
            </a:extLst>
          </p:cNvPr>
          <p:cNvPicPr>
            <a:picLocks noChangeAspect="1"/>
          </p:cNvPicPr>
          <p:nvPr/>
        </p:nvPicPr>
        <p:blipFill>
          <a:blip r:embed="rId4"/>
          <a:stretch>
            <a:fillRect/>
          </a:stretch>
        </p:blipFill>
        <p:spPr>
          <a:xfrm>
            <a:off x="125031" y="2455815"/>
            <a:ext cx="2642956" cy="3569108"/>
          </a:xfrm>
          <a:prstGeom prst="rect">
            <a:avLst/>
          </a:prstGeom>
          <a:ln w="28575">
            <a:solidFill>
              <a:schemeClr val="tx1"/>
            </a:solidFill>
          </a:ln>
        </p:spPr>
      </p:pic>
      <p:pic>
        <p:nvPicPr>
          <p:cNvPr id="9" name="Picture 8">
            <a:extLst>
              <a:ext uri="{FF2B5EF4-FFF2-40B4-BE49-F238E27FC236}">
                <a16:creationId xmlns:a16="http://schemas.microsoft.com/office/drawing/2014/main" id="{3533B5CA-CBC0-C622-F9AF-6724FFCDF6F9}"/>
              </a:ext>
            </a:extLst>
          </p:cNvPr>
          <p:cNvPicPr>
            <a:picLocks noChangeAspect="1"/>
          </p:cNvPicPr>
          <p:nvPr/>
        </p:nvPicPr>
        <p:blipFill>
          <a:blip r:embed="rId5"/>
          <a:stretch>
            <a:fillRect/>
          </a:stretch>
        </p:blipFill>
        <p:spPr>
          <a:xfrm>
            <a:off x="2767987" y="2455813"/>
            <a:ext cx="2891241" cy="3873951"/>
          </a:xfrm>
          <a:prstGeom prst="rect">
            <a:avLst/>
          </a:prstGeom>
          <a:ln w="38100">
            <a:solidFill>
              <a:schemeClr val="tx1"/>
            </a:solidFill>
          </a:ln>
        </p:spPr>
      </p:pic>
      <p:pic>
        <p:nvPicPr>
          <p:cNvPr id="11" name="Picture 10">
            <a:extLst>
              <a:ext uri="{FF2B5EF4-FFF2-40B4-BE49-F238E27FC236}">
                <a16:creationId xmlns:a16="http://schemas.microsoft.com/office/drawing/2014/main" id="{9CDC8B16-6C1C-9137-5191-90537825C662}"/>
              </a:ext>
            </a:extLst>
          </p:cNvPr>
          <p:cNvPicPr>
            <a:picLocks noChangeAspect="1"/>
          </p:cNvPicPr>
          <p:nvPr/>
        </p:nvPicPr>
        <p:blipFill>
          <a:blip r:embed="rId6"/>
          <a:stretch>
            <a:fillRect/>
          </a:stretch>
        </p:blipFill>
        <p:spPr>
          <a:xfrm>
            <a:off x="5820528" y="2455814"/>
            <a:ext cx="2891240" cy="3873951"/>
          </a:xfrm>
          <a:prstGeom prst="rect">
            <a:avLst/>
          </a:prstGeom>
          <a:ln w="28575">
            <a:solidFill>
              <a:schemeClr val="tx1"/>
            </a:solidFill>
          </a:ln>
        </p:spPr>
      </p:pic>
      <p:pic>
        <p:nvPicPr>
          <p:cNvPr id="13" name="Picture 12">
            <a:extLst>
              <a:ext uri="{FF2B5EF4-FFF2-40B4-BE49-F238E27FC236}">
                <a16:creationId xmlns:a16="http://schemas.microsoft.com/office/drawing/2014/main" id="{2020E230-0A95-3FE1-FC4C-48D0C6078B41}"/>
              </a:ext>
            </a:extLst>
          </p:cNvPr>
          <p:cNvPicPr>
            <a:picLocks noChangeAspect="1"/>
          </p:cNvPicPr>
          <p:nvPr/>
        </p:nvPicPr>
        <p:blipFill>
          <a:blip r:embed="rId7"/>
          <a:stretch>
            <a:fillRect/>
          </a:stretch>
        </p:blipFill>
        <p:spPr>
          <a:xfrm>
            <a:off x="8873068" y="2230311"/>
            <a:ext cx="2871454" cy="4324954"/>
          </a:xfrm>
          <a:prstGeom prst="rect">
            <a:avLst/>
          </a:prstGeom>
          <a:ln w="38100">
            <a:solidFill>
              <a:schemeClr val="tx1"/>
            </a:solidFill>
          </a:ln>
        </p:spPr>
      </p:pic>
    </p:spTree>
    <p:extLst>
      <p:ext uri="{BB962C8B-B14F-4D97-AF65-F5344CB8AC3E}">
        <p14:creationId xmlns:p14="http://schemas.microsoft.com/office/powerpoint/2010/main" val="15019234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A603-D1B3-552C-B566-9951760EE356}"/>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BC848BB5-50EC-4469-9DF1-7F98B19E92F5}"/>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8048647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A2727-1E68-A3E6-0D21-5F77C6AD0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87D73-93BF-D048-C2DD-1FE3E78162F0}"/>
              </a:ext>
            </a:extLst>
          </p:cNvPr>
          <p:cNvSpPr>
            <a:spLocks noGrp="1"/>
          </p:cNvSpPr>
          <p:nvPr>
            <p:ph type="title"/>
          </p:nvPr>
        </p:nvSpPr>
        <p:spPr>
          <a:xfrm>
            <a:off x="838200" y="365126"/>
            <a:ext cx="10515600" cy="736562"/>
          </a:xfrm>
        </p:spPr>
        <p:txBody>
          <a:bodyPr/>
          <a:lstStyle/>
          <a:p>
            <a:r>
              <a:rPr lang="en-US" dirty="0" err="1"/>
              <a:t>Backtest</a:t>
            </a:r>
            <a:r>
              <a:rPr lang="en-US" dirty="0"/>
              <a:t>..Client Auto </a:t>
            </a:r>
            <a:endParaRPr lang="en-ZA" dirty="0"/>
          </a:p>
        </p:txBody>
      </p:sp>
      <p:pic>
        <p:nvPicPr>
          <p:cNvPr id="5" name="Content Placeholder 4">
            <a:extLst>
              <a:ext uri="{FF2B5EF4-FFF2-40B4-BE49-F238E27FC236}">
                <a16:creationId xmlns:a16="http://schemas.microsoft.com/office/drawing/2014/main" id="{CBBB41A4-6DA7-0F81-5BFD-4A4C7A138FDC}"/>
              </a:ext>
            </a:extLst>
          </p:cNvPr>
          <p:cNvPicPr>
            <a:picLocks noGrp="1" noChangeAspect="1"/>
          </p:cNvPicPr>
          <p:nvPr>
            <p:ph idx="1"/>
          </p:nvPr>
        </p:nvPicPr>
        <p:blipFill>
          <a:blip r:embed="rId2"/>
          <a:stretch>
            <a:fillRect/>
          </a:stretch>
        </p:blipFill>
        <p:spPr>
          <a:xfrm>
            <a:off x="742192" y="1485030"/>
            <a:ext cx="10515599" cy="4761534"/>
          </a:xfrm>
          <a:prstGeom prst="rect">
            <a:avLst/>
          </a:prstGeom>
          <a:ln w="57150">
            <a:solidFill>
              <a:schemeClr val="tx1"/>
            </a:solidFill>
          </a:ln>
        </p:spPr>
      </p:pic>
    </p:spTree>
    <p:extLst>
      <p:ext uri="{BB962C8B-B14F-4D97-AF65-F5344CB8AC3E}">
        <p14:creationId xmlns:p14="http://schemas.microsoft.com/office/powerpoint/2010/main" val="41615854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50224-2963-686C-676F-3F5E1811ADD8}"/>
              </a:ext>
            </a:extLst>
          </p:cNvPr>
          <p:cNvSpPr>
            <a:spLocks noGrp="1"/>
          </p:cNvSpPr>
          <p:nvPr>
            <p:ph type="title"/>
          </p:nvPr>
        </p:nvSpPr>
        <p:spPr>
          <a:xfrm>
            <a:off x="838200" y="365126"/>
            <a:ext cx="10515600" cy="736562"/>
          </a:xfrm>
        </p:spPr>
        <p:txBody>
          <a:bodyPr/>
          <a:lstStyle/>
          <a:p>
            <a:r>
              <a:rPr lang="en-ZA" dirty="0"/>
              <a:t>pl__</a:t>
            </a:r>
            <a:r>
              <a:rPr lang="en-ZA" dirty="0" err="1"/>
              <a:t>Med_BT_Client_SetVar_RMS_SC_Auto</a:t>
            </a:r>
            <a:endParaRPr lang="en-ZA" dirty="0"/>
          </a:p>
        </p:txBody>
      </p:sp>
      <p:pic>
        <p:nvPicPr>
          <p:cNvPr id="5" name="Content Placeholder 4">
            <a:extLst>
              <a:ext uri="{FF2B5EF4-FFF2-40B4-BE49-F238E27FC236}">
                <a16:creationId xmlns:a16="http://schemas.microsoft.com/office/drawing/2014/main" id="{E2C92DC7-288B-97C8-35E9-254C3255BED4}"/>
              </a:ext>
            </a:extLst>
          </p:cNvPr>
          <p:cNvPicPr>
            <a:picLocks noGrp="1" noChangeAspect="1"/>
          </p:cNvPicPr>
          <p:nvPr>
            <p:ph idx="1"/>
          </p:nvPr>
        </p:nvPicPr>
        <p:blipFill>
          <a:blip r:embed="rId2"/>
          <a:stretch>
            <a:fillRect/>
          </a:stretch>
        </p:blipFill>
        <p:spPr>
          <a:xfrm>
            <a:off x="1104269" y="1605287"/>
            <a:ext cx="9670228" cy="4351338"/>
          </a:xfrm>
          <a:prstGeom prst="rect">
            <a:avLst/>
          </a:prstGeom>
        </p:spPr>
      </p:pic>
    </p:spTree>
    <p:extLst>
      <p:ext uri="{BB962C8B-B14F-4D97-AF65-F5344CB8AC3E}">
        <p14:creationId xmlns:p14="http://schemas.microsoft.com/office/powerpoint/2010/main" val="30267456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D2052-BA46-7EE4-9504-4F3D4E33F9D1}"/>
              </a:ext>
            </a:extLst>
          </p:cNvPr>
          <p:cNvSpPr>
            <a:spLocks noGrp="1"/>
          </p:cNvSpPr>
          <p:nvPr>
            <p:ph type="title"/>
          </p:nvPr>
        </p:nvSpPr>
        <p:spPr>
          <a:xfrm>
            <a:off x="838200" y="349646"/>
            <a:ext cx="10515600" cy="662782"/>
          </a:xfrm>
        </p:spPr>
        <p:txBody>
          <a:bodyPr>
            <a:normAutofit fontScale="90000"/>
          </a:bodyPr>
          <a:lstStyle/>
          <a:p>
            <a:r>
              <a:rPr lang="en-US" dirty="0"/>
              <a:t>pl__</a:t>
            </a:r>
            <a:r>
              <a:rPr lang="en-US" dirty="0" err="1"/>
              <a:t>Med_BT_Contract_SetVar_RMS_SC_Auto</a:t>
            </a:r>
            <a:endParaRPr lang="en-ZA" dirty="0"/>
          </a:p>
        </p:txBody>
      </p:sp>
      <p:pic>
        <p:nvPicPr>
          <p:cNvPr id="5" name="Content Placeholder 4">
            <a:extLst>
              <a:ext uri="{FF2B5EF4-FFF2-40B4-BE49-F238E27FC236}">
                <a16:creationId xmlns:a16="http://schemas.microsoft.com/office/drawing/2014/main" id="{D26BDEBE-B497-6436-BA1D-EF999E99BF20}"/>
              </a:ext>
            </a:extLst>
          </p:cNvPr>
          <p:cNvPicPr>
            <a:picLocks noGrp="1" noChangeAspect="1"/>
          </p:cNvPicPr>
          <p:nvPr>
            <p:ph idx="1"/>
          </p:nvPr>
        </p:nvPicPr>
        <p:blipFill>
          <a:blip r:embed="rId2"/>
          <a:stretch>
            <a:fillRect/>
          </a:stretch>
        </p:blipFill>
        <p:spPr>
          <a:xfrm>
            <a:off x="1535197" y="1473085"/>
            <a:ext cx="8181680" cy="4938731"/>
          </a:xfrm>
          <a:prstGeom prst="rect">
            <a:avLst/>
          </a:prstGeom>
        </p:spPr>
      </p:pic>
    </p:spTree>
    <p:extLst>
      <p:ext uri="{BB962C8B-B14F-4D97-AF65-F5344CB8AC3E}">
        <p14:creationId xmlns:p14="http://schemas.microsoft.com/office/powerpoint/2010/main" val="22718112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B032-AC56-A27D-8BB7-4B8DCC20D3A6}"/>
              </a:ext>
            </a:extLst>
          </p:cNvPr>
          <p:cNvSpPr>
            <a:spLocks noGrp="1"/>
          </p:cNvSpPr>
          <p:nvPr>
            <p:ph type="title"/>
          </p:nvPr>
        </p:nvSpPr>
        <p:spPr/>
        <p:txBody>
          <a:bodyPr>
            <a:normAutofit/>
          </a:bodyPr>
          <a:lstStyle/>
          <a:p>
            <a:r>
              <a:rPr lang="en-ZA" sz="2400" dirty="0" err="1"/>
              <a:t>pl_Ingest_IRDCD_JSpan_Params_RMS_SC_Auto</a:t>
            </a:r>
            <a:endParaRPr lang="en-ZA" sz="2400" dirty="0"/>
          </a:p>
        </p:txBody>
      </p:sp>
      <p:pic>
        <p:nvPicPr>
          <p:cNvPr id="5" name="Content Placeholder 4">
            <a:extLst>
              <a:ext uri="{FF2B5EF4-FFF2-40B4-BE49-F238E27FC236}">
                <a16:creationId xmlns:a16="http://schemas.microsoft.com/office/drawing/2014/main" id="{4A0C36EB-6164-018D-EF97-66A9B02B89E9}"/>
              </a:ext>
            </a:extLst>
          </p:cNvPr>
          <p:cNvPicPr>
            <a:picLocks noGrp="1" noChangeAspect="1"/>
          </p:cNvPicPr>
          <p:nvPr>
            <p:ph idx="1"/>
          </p:nvPr>
        </p:nvPicPr>
        <p:blipFill>
          <a:blip r:embed="rId2"/>
          <a:stretch>
            <a:fillRect/>
          </a:stretch>
        </p:blipFill>
        <p:spPr>
          <a:xfrm>
            <a:off x="838200" y="2027104"/>
            <a:ext cx="10515600" cy="3254420"/>
          </a:xfrm>
          <a:prstGeom prst="rect">
            <a:avLst/>
          </a:prstGeom>
        </p:spPr>
      </p:pic>
    </p:spTree>
    <p:extLst>
      <p:ext uri="{BB962C8B-B14F-4D97-AF65-F5344CB8AC3E}">
        <p14:creationId xmlns:p14="http://schemas.microsoft.com/office/powerpoint/2010/main" val="12484944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57ADD-AC91-B969-6AEF-DED3756394D7}"/>
              </a:ext>
            </a:extLst>
          </p:cNvPr>
          <p:cNvSpPr>
            <a:spLocks noGrp="1"/>
          </p:cNvSpPr>
          <p:nvPr>
            <p:ph type="title"/>
          </p:nvPr>
        </p:nvSpPr>
        <p:spPr/>
        <p:txBody>
          <a:bodyPr/>
          <a:lstStyle/>
          <a:p>
            <a:r>
              <a:rPr lang="en-US" dirty="0" err="1"/>
              <a:t>Jspan</a:t>
            </a:r>
            <a:r>
              <a:rPr lang="en-US" dirty="0"/>
              <a:t> Ran on New Data Shortcut : </a:t>
            </a:r>
            <a:r>
              <a:rPr lang="en-US" dirty="0" err="1"/>
              <a:t>pl_JSPAN_parametres_auto</a:t>
            </a:r>
            <a:endParaRPr lang="en-ZA" dirty="0"/>
          </a:p>
        </p:txBody>
      </p:sp>
      <p:pic>
        <p:nvPicPr>
          <p:cNvPr id="5" name="Content Placeholder 4">
            <a:extLst>
              <a:ext uri="{FF2B5EF4-FFF2-40B4-BE49-F238E27FC236}">
                <a16:creationId xmlns:a16="http://schemas.microsoft.com/office/drawing/2014/main" id="{9BC60282-402F-E99C-D953-DA8C81F61449}"/>
              </a:ext>
            </a:extLst>
          </p:cNvPr>
          <p:cNvPicPr>
            <a:picLocks noGrp="1" noChangeAspect="1"/>
          </p:cNvPicPr>
          <p:nvPr>
            <p:ph idx="1"/>
          </p:nvPr>
        </p:nvPicPr>
        <p:blipFill>
          <a:blip r:embed="rId2"/>
          <a:stretch>
            <a:fillRect/>
          </a:stretch>
        </p:blipFill>
        <p:spPr>
          <a:xfrm>
            <a:off x="1212206" y="1979861"/>
            <a:ext cx="9661442" cy="4351338"/>
          </a:xfrm>
          <a:prstGeom prst="rect">
            <a:avLst/>
          </a:prstGeom>
        </p:spPr>
      </p:pic>
    </p:spTree>
    <p:extLst>
      <p:ext uri="{BB962C8B-B14F-4D97-AF65-F5344CB8AC3E}">
        <p14:creationId xmlns:p14="http://schemas.microsoft.com/office/powerpoint/2010/main" val="18392740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5CDF0-E931-3CC3-6A90-B2E8BD924C74}"/>
              </a:ext>
            </a:extLst>
          </p:cNvPr>
          <p:cNvSpPr>
            <a:spLocks noGrp="1"/>
          </p:cNvSpPr>
          <p:nvPr>
            <p:ph type="title"/>
          </p:nvPr>
        </p:nvSpPr>
        <p:spPr>
          <a:xfrm>
            <a:off x="838200" y="365125"/>
            <a:ext cx="10515600" cy="670461"/>
          </a:xfrm>
        </p:spPr>
        <p:txBody>
          <a:bodyPr>
            <a:normAutofit fontScale="90000"/>
          </a:bodyPr>
          <a:lstStyle/>
          <a:p>
            <a:r>
              <a:rPr lang="en-US" dirty="0" err="1"/>
              <a:t>Ingest_IRD_CDM_Margin_Detail_Client_CM_RMS_SC_auto</a:t>
            </a:r>
            <a:endParaRPr lang="en-ZA" dirty="0"/>
          </a:p>
        </p:txBody>
      </p:sp>
      <p:pic>
        <p:nvPicPr>
          <p:cNvPr id="5" name="Content Placeholder 4">
            <a:extLst>
              <a:ext uri="{FF2B5EF4-FFF2-40B4-BE49-F238E27FC236}">
                <a16:creationId xmlns:a16="http://schemas.microsoft.com/office/drawing/2014/main" id="{EFEA2B5F-F72F-E4F7-630E-851F1BD6C575}"/>
              </a:ext>
            </a:extLst>
          </p:cNvPr>
          <p:cNvPicPr>
            <a:picLocks noGrp="1" noChangeAspect="1"/>
          </p:cNvPicPr>
          <p:nvPr>
            <p:ph idx="1"/>
          </p:nvPr>
        </p:nvPicPr>
        <p:blipFill>
          <a:blip r:embed="rId2"/>
          <a:stretch>
            <a:fillRect/>
          </a:stretch>
        </p:blipFill>
        <p:spPr>
          <a:xfrm>
            <a:off x="838200" y="1564395"/>
            <a:ext cx="10515600" cy="3935031"/>
          </a:xfrm>
          <a:prstGeom prst="rect">
            <a:avLst/>
          </a:prstGeom>
        </p:spPr>
      </p:pic>
    </p:spTree>
    <p:extLst>
      <p:ext uri="{BB962C8B-B14F-4D97-AF65-F5344CB8AC3E}">
        <p14:creationId xmlns:p14="http://schemas.microsoft.com/office/powerpoint/2010/main" val="7488965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E4130-F653-E450-1330-443A4C744BBB}"/>
              </a:ext>
            </a:extLst>
          </p:cNvPr>
          <p:cNvSpPr>
            <a:spLocks noGrp="1"/>
          </p:cNvSpPr>
          <p:nvPr>
            <p:ph type="title"/>
          </p:nvPr>
        </p:nvSpPr>
        <p:spPr/>
        <p:txBody>
          <a:bodyPr/>
          <a:lstStyle/>
          <a:p>
            <a:r>
              <a:rPr lang="en-US" dirty="0" err="1"/>
              <a:t>pl_IRDCDM_Margin_Detail_Client_CM</a:t>
            </a:r>
            <a:endParaRPr lang="en-ZA" dirty="0"/>
          </a:p>
        </p:txBody>
      </p:sp>
      <p:pic>
        <p:nvPicPr>
          <p:cNvPr id="5" name="Content Placeholder 4">
            <a:extLst>
              <a:ext uri="{FF2B5EF4-FFF2-40B4-BE49-F238E27FC236}">
                <a16:creationId xmlns:a16="http://schemas.microsoft.com/office/drawing/2014/main" id="{21A948CA-3E33-6550-73CD-3B855C9F75D5}"/>
              </a:ext>
            </a:extLst>
          </p:cNvPr>
          <p:cNvPicPr>
            <a:picLocks noGrp="1" noChangeAspect="1"/>
          </p:cNvPicPr>
          <p:nvPr>
            <p:ph idx="1"/>
          </p:nvPr>
        </p:nvPicPr>
        <p:blipFill>
          <a:blip r:embed="rId2"/>
          <a:stretch>
            <a:fillRect/>
          </a:stretch>
        </p:blipFill>
        <p:spPr>
          <a:xfrm>
            <a:off x="1023433" y="1988143"/>
            <a:ext cx="9596825" cy="4351338"/>
          </a:xfrm>
          <a:prstGeom prst="rect">
            <a:avLst/>
          </a:prstGeom>
        </p:spPr>
      </p:pic>
    </p:spTree>
    <p:extLst>
      <p:ext uri="{BB962C8B-B14F-4D97-AF65-F5344CB8AC3E}">
        <p14:creationId xmlns:p14="http://schemas.microsoft.com/office/powerpoint/2010/main" val="361715691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45FC-5F6F-3647-946F-CBFEF8D673AA}"/>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E1815D31-F63B-8F9A-4FCA-2EF72E15F3D4}"/>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7350078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E85C3-FD37-066B-40B2-11387BD19A99}"/>
              </a:ext>
            </a:extLst>
          </p:cNvPr>
          <p:cNvSpPr>
            <a:spLocks noGrp="1"/>
          </p:cNvSpPr>
          <p:nvPr>
            <p:ph type="title"/>
          </p:nvPr>
        </p:nvSpPr>
        <p:spPr/>
        <p:txBody>
          <a:bodyPr/>
          <a:lstStyle/>
          <a:p>
            <a:r>
              <a:rPr lang="en-US" dirty="0"/>
              <a:t>Contract run </a:t>
            </a:r>
            <a:r>
              <a:rPr lang="en-US" dirty="0" err="1"/>
              <a:t>Backtesting</a:t>
            </a:r>
            <a:r>
              <a:rPr lang="en-US" dirty="0"/>
              <a:t> Latest</a:t>
            </a:r>
            <a:endParaRPr lang="en-ZA" dirty="0"/>
          </a:p>
        </p:txBody>
      </p:sp>
      <p:pic>
        <p:nvPicPr>
          <p:cNvPr id="5" name="Content Placeholder 4">
            <a:extLst>
              <a:ext uri="{FF2B5EF4-FFF2-40B4-BE49-F238E27FC236}">
                <a16:creationId xmlns:a16="http://schemas.microsoft.com/office/drawing/2014/main" id="{C5815498-54FE-E0C4-821B-A91DEEA8A7A4}"/>
              </a:ext>
            </a:extLst>
          </p:cNvPr>
          <p:cNvPicPr>
            <a:picLocks noGrp="1" noChangeAspect="1"/>
          </p:cNvPicPr>
          <p:nvPr>
            <p:ph idx="1"/>
          </p:nvPr>
        </p:nvPicPr>
        <p:blipFill>
          <a:blip r:embed="rId2"/>
          <a:stretch>
            <a:fillRect/>
          </a:stretch>
        </p:blipFill>
        <p:spPr>
          <a:xfrm>
            <a:off x="3220789" y="1825625"/>
            <a:ext cx="5750422" cy="4351338"/>
          </a:xfrm>
          <a:prstGeom prst="rect">
            <a:avLst/>
          </a:prstGeom>
        </p:spPr>
      </p:pic>
    </p:spTree>
    <p:extLst>
      <p:ext uri="{BB962C8B-B14F-4D97-AF65-F5344CB8AC3E}">
        <p14:creationId xmlns:p14="http://schemas.microsoft.com/office/powerpoint/2010/main" val="20162887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2353-C562-7539-C1EE-48E0809EF2A8}"/>
              </a:ext>
            </a:extLst>
          </p:cNvPr>
          <p:cNvSpPr>
            <a:spLocks noGrp="1"/>
          </p:cNvSpPr>
          <p:nvPr>
            <p:ph type="title"/>
          </p:nvPr>
        </p:nvSpPr>
        <p:spPr>
          <a:xfrm>
            <a:off x="838200" y="365126"/>
            <a:ext cx="10515600" cy="511568"/>
          </a:xfrm>
        </p:spPr>
        <p:txBody>
          <a:bodyPr>
            <a:normAutofit fontScale="90000"/>
          </a:bodyPr>
          <a:lstStyle/>
          <a:p>
            <a:r>
              <a:rPr lang="en-US" sz="2800" dirty="0"/>
              <a:t>pl_Simulate_JSpan_w_FileCheck_All_5_Check_Blocks_w_JSPAN</a:t>
            </a:r>
            <a:br>
              <a:rPr lang="en-US" sz="2800" dirty="0"/>
            </a:br>
            <a:r>
              <a:rPr lang="en-US" sz="2800" dirty="0"/>
              <a:t>(1 Run with Date =0250910)</a:t>
            </a:r>
            <a:endParaRPr lang="en-ZA" sz="2800" dirty="0"/>
          </a:p>
        </p:txBody>
      </p:sp>
      <p:pic>
        <p:nvPicPr>
          <p:cNvPr id="5" name="Content Placeholder 4">
            <a:extLst>
              <a:ext uri="{FF2B5EF4-FFF2-40B4-BE49-F238E27FC236}">
                <a16:creationId xmlns:a16="http://schemas.microsoft.com/office/drawing/2014/main" id="{11383515-733A-594C-9B3B-7E6A4B52235A}"/>
              </a:ext>
            </a:extLst>
          </p:cNvPr>
          <p:cNvPicPr>
            <a:picLocks noGrp="1" noChangeAspect="1"/>
          </p:cNvPicPr>
          <p:nvPr>
            <p:ph idx="1"/>
          </p:nvPr>
        </p:nvPicPr>
        <p:blipFill>
          <a:blip r:embed="rId2"/>
          <a:stretch>
            <a:fillRect/>
          </a:stretch>
        </p:blipFill>
        <p:spPr>
          <a:xfrm>
            <a:off x="838200" y="1677971"/>
            <a:ext cx="10515600" cy="4298623"/>
          </a:xfrm>
          <a:prstGeom prst="rect">
            <a:avLst/>
          </a:prstGeom>
        </p:spPr>
      </p:pic>
    </p:spTree>
    <p:extLst>
      <p:ext uri="{BB962C8B-B14F-4D97-AF65-F5344CB8AC3E}">
        <p14:creationId xmlns:p14="http://schemas.microsoft.com/office/powerpoint/2010/main" val="158264804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E1ED-FDDC-664F-C002-13E74938C3FF}"/>
              </a:ext>
            </a:extLst>
          </p:cNvPr>
          <p:cNvSpPr>
            <a:spLocks noGrp="1"/>
          </p:cNvSpPr>
          <p:nvPr>
            <p:ph type="title"/>
          </p:nvPr>
        </p:nvSpPr>
        <p:spPr>
          <a:xfrm>
            <a:off x="838200" y="365125"/>
            <a:ext cx="10515600" cy="436153"/>
          </a:xfrm>
        </p:spPr>
        <p:txBody>
          <a:bodyPr>
            <a:normAutofit/>
          </a:bodyPr>
          <a:lstStyle/>
          <a:p>
            <a:r>
              <a:rPr lang="en-US" sz="2400" dirty="0"/>
              <a:t>pl_Simulate_JSpan_w_FileCheck_All_5_Check_Blocks_w_JSPAN</a:t>
            </a:r>
            <a:endParaRPr lang="en-ZA" sz="2400" dirty="0"/>
          </a:p>
        </p:txBody>
      </p:sp>
      <p:pic>
        <p:nvPicPr>
          <p:cNvPr id="5" name="Content Placeholder 4">
            <a:extLst>
              <a:ext uri="{FF2B5EF4-FFF2-40B4-BE49-F238E27FC236}">
                <a16:creationId xmlns:a16="http://schemas.microsoft.com/office/drawing/2014/main" id="{D685CFC5-8436-0E86-FBA3-4627AD6E8708}"/>
              </a:ext>
            </a:extLst>
          </p:cNvPr>
          <p:cNvPicPr>
            <a:picLocks noGrp="1" noChangeAspect="1"/>
          </p:cNvPicPr>
          <p:nvPr>
            <p:ph idx="1"/>
          </p:nvPr>
        </p:nvPicPr>
        <p:blipFill>
          <a:blip r:embed="rId2"/>
          <a:stretch>
            <a:fillRect/>
          </a:stretch>
        </p:blipFill>
        <p:spPr>
          <a:xfrm>
            <a:off x="461128" y="1335431"/>
            <a:ext cx="10737915" cy="5157444"/>
          </a:xfrm>
          <a:prstGeom prst="rect">
            <a:avLst/>
          </a:prstGeom>
        </p:spPr>
      </p:pic>
    </p:spTree>
    <p:extLst>
      <p:ext uri="{BB962C8B-B14F-4D97-AF65-F5344CB8AC3E}">
        <p14:creationId xmlns:p14="http://schemas.microsoft.com/office/powerpoint/2010/main" val="201327414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D0CA-FA80-1CB4-B00A-15A3388F9248}"/>
              </a:ext>
            </a:extLst>
          </p:cNvPr>
          <p:cNvSpPr>
            <a:spLocks noGrp="1"/>
          </p:cNvSpPr>
          <p:nvPr>
            <p:ph type="title"/>
          </p:nvPr>
        </p:nvSpPr>
        <p:spPr/>
        <p:txBody>
          <a:bodyPr>
            <a:normAutofit/>
          </a:bodyPr>
          <a:lstStyle/>
          <a:p>
            <a:r>
              <a:rPr lang="en-US" sz="2400" dirty="0"/>
              <a:t>pl_Simulate_JSpan_w_FileCheck_All_5_Check_Blocks_w_JSPAN</a:t>
            </a:r>
            <a:br>
              <a:rPr lang="en-US" sz="2400" dirty="0"/>
            </a:br>
            <a:r>
              <a:rPr lang="en-US" sz="2400" dirty="0"/>
              <a:t>(1 Run with 3XDate =0250910/11/12)</a:t>
            </a:r>
            <a:endParaRPr lang="en-ZA" sz="2400" dirty="0"/>
          </a:p>
        </p:txBody>
      </p:sp>
      <p:pic>
        <p:nvPicPr>
          <p:cNvPr id="5" name="Content Placeholder 4">
            <a:extLst>
              <a:ext uri="{FF2B5EF4-FFF2-40B4-BE49-F238E27FC236}">
                <a16:creationId xmlns:a16="http://schemas.microsoft.com/office/drawing/2014/main" id="{1FC9D3B8-73A6-824F-DA95-2C543740F163}"/>
              </a:ext>
            </a:extLst>
          </p:cNvPr>
          <p:cNvPicPr>
            <a:picLocks noGrp="1" noChangeAspect="1"/>
          </p:cNvPicPr>
          <p:nvPr>
            <p:ph idx="1"/>
          </p:nvPr>
        </p:nvPicPr>
        <p:blipFill>
          <a:blip r:embed="rId3"/>
          <a:stretch>
            <a:fillRect/>
          </a:stretch>
        </p:blipFill>
        <p:spPr>
          <a:xfrm>
            <a:off x="1564850" y="1825625"/>
            <a:ext cx="8380428" cy="4351338"/>
          </a:xfrm>
          <a:prstGeom prst="rect">
            <a:avLst/>
          </a:prstGeom>
        </p:spPr>
      </p:pic>
    </p:spTree>
    <p:extLst>
      <p:ext uri="{BB962C8B-B14F-4D97-AF65-F5344CB8AC3E}">
        <p14:creationId xmlns:p14="http://schemas.microsoft.com/office/powerpoint/2010/main" val="3246396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D61C7-0621-2AAD-61F5-4B15FD86815E}"/>
              </a:ext>
            </a:extLst>
          </p:cNvPr>
          <p:cNvSpPr>
            <a:spLocks noGrp="1"/>
          </p:cNvSpPr>
          <p:nvPr>
            <p:ph type="title"/>
          </p:nvPr>
        </p:nvSpPr>
        <p:spPr>
          <a:xfrm>
            <a:off x="838200" y="365126"/>
            <a:ext cx="10515600" cy="634116"/>
          </a:xfrm>
        </p:spPr>
        <p:txBody>
          <a:bodyPr>
            <a:normAutofit fontScale="90000"/>
          </a:bodyPr>
          <a:lstStyle/>
          <a:p>
            <a:r>
              <a:rPr lang="en-US" dirty="0"/>
              <a:t>Now we monitor </a:t>
            </a:r>
            <a:endParaRPr lang="en-ZA" dirty="0"/>
          </a:p>
        </p:txBody>
      </p:sp>
      <p:pic>
        <p:nvPicPr>
          <p:cNvPr id="5" name="Content Placeholder 4">
            <a:extLst>
              <a:ext uri="{FF2B5EF4-FFF2-40B4-BE49-F238E27FC236}">
                <a16:creationId xmlns:a16="http://schemas.microsoft.com/office/drawing/2014/main" id="{31E3675E-9A1C-113B-A02B-5D66A74B0E51}"/>
              </a:ext>
            </a:extLst>
          </p:cNvPr>
          <p:cNvPicPr>
            <a:picLocks noGrp="1" noChangeAspect="1"/>
          </p:cNvPicPr>
          <p:nvPr>
            <p:ph idx="1"/>
          </p:nvPr>
        </p:nvPicPr>
        <p:blipFill>
          <a:blip r:embed="rId2"/>
          <a:stretch>
            <a:fillRect/>
          </a:stretch>
        </p:blipFill>
        <p:spPr>
          <a:xfrm>
            <a:off x="1151819" y="1099760"/>
            <a:ext cx="9679579" cy="5583843"/>
          </a:xfrm>
          <a:prstGeom prst="rect">
            <a:avLst/>
          </a:prstGeom>
        </p:spPr>
      </p:pic>
    </p:spTree>
    <p:extLst>
      <p:ext uri="{BB962C8B-B14F-4D97-AF65-F5344CB8AC3E}">
        <p14:creationId xmlns:p14="http://schemas.microsoft.com/office/powerpoint/2010/main" val="4857957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52C18-BEB5-74C6-D52F-E390ADDF250A}"/>
              </a:ext>
            </a:extLst>
          </p:cNvPr>
          <p:cNvSpPr>
            <a:spLocks noGrp="1"/>
          </p:cNvSpPr>
          <p:nvPr>
            <p:ph type="title"/>
          </p:nvPr>
        </p:nvSpPr>
        <p:spPr/>
        <p:txBody>
          <a:bodyPr/>
          <a:lstStyle/>
          <a:p>
            <a:r>
              <a:rPr lang="en-US" dirty="0"/>
              <a:t>3 Consecutive runs </a:t>
            </a:r>
            <a:endParaRPr lang="en-ZA" dirty="0"/>
          </a:p>
        </p:txBody>
      </p:sp>
      <p:pic>
        <p:nvPicPr>
          <p:cNvPr id="5" name="Content Placeholder 4">
            <a:extLst>
              <a:ext uri="{FF2B5EF4-FFF2-40B4-BE49-F238E27FC236}">
                <a16:creationId xmlns:a16="http://schemas.microsoft.com/office/drawing/2014/main" id="{E0B33002-AD65-C4D7-506C-75728D599606}"/>
              </a:ext>
            </a:extLst>
          </p:cNvPr>
          <p:cNvPicPr>
            <a:picLocks noGrp="1" noChangeAspect="1"/>
          </p:cNvPicPr>
          <p:nvPr>
            <p:ph idx="1"/>
          </p:nvPr>
        </p:nvPicPr>
        <p:blipFill>
          <a:blip r:embed="rId2"/>
          <a:stretch>
            <a:fillRect/>
          </a:stretch>
        </p:blipFill>
        <p:spPr>
          <a:xfrm>
            <a:off x="1772030" y="1778491"/>
            <a:ext cx="7629846" cy="4351338"/>
          </a:xfrm>
          <a:prstGeom prst="rect">
            <a:avLst/>
          </a:prstGeom>
        </p:spPr>
      </p:pic>
    </p:spTree>
    <p:extLst>
      <p:ext uri="{BB962C8B-B14F-4D97-AF65-F5344CB8AC3E}">
        <p14:creationId xmlns:p14="http://schemas.microsoft.com/office/powerpoint/2010/main" val="17860688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9617-2B21-C8F7-D293-4EABB9A38562}"/>
              </a:ext>
            </a:extLst>
          </p:cNvPr>
          <p:cNvSpPr>
            <a:spLocks noGrp="1"/>
          </p:cNvSpPr>
          <p:nvPr>
            <p:ph type="title"/>
          </p:nvPr>
        </p:nvSpPr>
        <p:spPr/>
        <p:txBody>
          <a:bodyPr>
            <a:normAutofit/>
          </a:bodyPr>
          <a:lstStyle/>
          <a:p>
            <a:r>
              <a:rPr lang="en-US" sz="2000" dirty="0" err="1"/>
              <a:t>pl_Simulate_Backtest_Client_w_FileCheck</a:t>
            </a:r>
            <a:endParaRPr lang="en-ZA" sz="2000" dirty="0"/>
          </a:p>
        </p:txBody>
      </p:sp>
      <p:pic>
        <p:nvPicPr>
          <p:cNvPr id="9" name="Content Placeholder 8">
            <a:extLst>
              <a:ext uri="{FF2B5EF4-FFF2-40B4-BE49-F238E27FC236}">
                <a16:creationId xmlns:a16="http://schemas.microsoft.com/office/drawing/2014/main" id="{5340F889-B28C-2C1B-0610-B8BA76F5832F}"/>
              </a:ext>
            </a:extLst>
          </p:cNvPr>
          <p:cNvPicPr>
            <a:picLocks noGrp="1" noChangeAspect="1"/>
          </p:cNvPicPr>
          <p:nvPr>
            <p:ph idx="1"/>
          </p:nvPr>
        </p:nvPicPr>
        <p:blipFill>
          <a:blip r:embed="rId2"/>
          <a:stretch>
            <a:fillRect/>
          </a:stretch>
        </p:blipFill>
        <p:spPr>
          <a:xfrm>
            <a:off x="1311228" y="1690688"/>
            <a:ext cx="9569543" cy="4351338"/>
          </a:xfrm>
          <a:prstGeom prst="rect">
            <a:avLst/>
          </a:prstGeom>
        </p:spPr>
      </p:pic>
    </p:spTree>
    <p:extLst>
      <p:ext uri="{BB962C8B-B14F-4D97-AF65-F5344CB8AC3E}">
        <p14:creationId xmlns:p14="http://schemas.microsoft.com/office/powerpoint/2010/main" val="40506035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4215-7FAA-A6DE-33A7-BE8D99C837C6}"/>
              </a:ext>
            </a:extLst>
          </p:cNvPr>
          <p:cNvSpPr>
            <a:spLocks noGrp="1"/>
          </p:cNvSpPr>
          <p:nvPr>
            <p:ph type="title"/>
          </p:nvPr>
        </p:nvSpPr>
        <p:spPr>
          <a:xfrm>
            <a:off x="838200" y="365126"/>
            <a:ext cx="10515600" cy="558702"/>
          </a:xfrm>
        </p:spPr>
        <p:txBody>
          <a:bodyPr>
            <a:normAutofit/>
          </a:bodyPr>
          <a:lstStyle/>
          <a:p>
            <a:r>
              <a:rPr lang="en-US" sz="2400" dirty="0" err="1"/>
              <a:t>pl_Simulate_Backtest_Contract_w_FileCheck</a:t>
            </a:r>
            <a:endParaRPr lang="en-ZA" sz="2400" dirty="0"/>
          </a:p>
        </p:txBody>
      </p:sp>
      <p:pic>
        <p:nvPicPr>
          <p:cNvPr id="5" name="Content Placeholder 4">
            <a:extLst>
              <a:ext uri="{FF2B5EF4-FFF2-40B4-BE49-F238E27FC236}">
                <a16:creationId xmlns:a16="http://schemas.microsoft.com/office/drawing/2014/main" id="{6E094617-6376-DAEE-0222-90F82B4DA94C}"/>
              </a:ext>
            </a:extLst>
          </p:cNvPr>
          <p:cNvPicPr>
            <a:picLocks noGrp="1" noChangeAspect="1"/>
          </p:cNvPicPr>
          <p:nvPr>
            <p:ph idx="1"/>
          </p:nvPr>
        </p:nvPicPr>
        <p:blipFill>
          <a:blip r:embed="rId2"/>
          <a:stretch>
            <a:fillRect/>
          </a:stretch>
        </p:blipFill>
        <p:spPr>
          <a:xfrm>
            <a:off x="806777" y="1149636"/>
            <a:ext cx="10039284" cy="5138042"/>
          </a:xfrm>
          <a:prstGeom prst="rect">
            <a:avLst/>
          </a:prstGeom>
        </p:spPr>
      </p:pic>
    </p:spTree>
    <p:extLst>
      <p:ext uri="{BB962C8B-B14F-4D97-AF65-F5344CB8AC3E}">
        <p14:creationId xmlns:p14="http://schemas.microsoft.com/office/powerpoint/2010/main" val="137357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22581</TotalTime>
  <Words>4863</Words>
  <Application>Microsoft Office PowerPoint</Application>
  <PresentationFormat>Widescreen</PresentationFormat>
  <Paragraphs>341</Paragraphs>
  <Slides>114</Slides>
  <Notes>55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114</vt:i4>
      </vt:variant>
    </vt:vector>
  </HeadingPairs>
  <TitlesOfParts>
    <vt:vector size="119" baseType="lpstr">
      <vt:lpstr>Aptos</vt:lpstr>
      <vt:lpstr>Aptos Display</vt:lpstr>
      <vt:lpstr>Arial</vt:lpstr>
      <vt:lpstr>Consolas</vt:lpstr>
      <vt:lpstr>Office Theme</vt:lpstr>
      <vt:lpstr>PipelineDevForAutomation</vt:lpstr>
      <vt:lpstr>pl__Med_BT_Contract_SetVar</vt:lpstr>
      <vt:lpstr>The different settings :</vt:lpstr>
      <vt:lpstr>pl_Med_BT_Client_SetVar</vt:lpstr>
      <vt:lpstr>Component Configs</vt:lpstr>
      <vt:lpstr>pl_Med_Sim_Offset_BT_Client</vt:lpstr>
      <vt:lpstr>pl_Med_Sim_Offset_BT_Client – w Schedule</vt:lpstr>
      <vt:lpstr>Variables : These are essential variables , set during the run or at the start  These variables are explained below , and you will see them referred to in the equations in the settings.</vt:lpstr>
      <vt:lpstr>Individual Block Settings (1) </vt:lpstr>
      <vt:lpstr>Block Settings (2) </vt:lpstr>
      <vt:lpstr>Block settings (3) </vt:lpstr>
      <vt:lpstr>Block Settings (4) For Notebooks</vt:lpstr>
      <vt:lpstr>The Monitor Screen for all the runs for Client Backtest Sim </vt:lpstr>
      <vt:lpstr>pl_Med_Sim_Offset_BT_Contract– w Schedule</vt:lpstr>
      <vt:lpstr>Notebooks for contract same , but call different notebooks</vt:lpstr>
      <vt:lpstr>Record of Simulation Results</vt:lpstr>
      <vt:lpstr>Bronze_Gold_Silver_Lakehouses, Bronze is shown as example , others are identical </vt:lpstr>
      <vt:lpstr>Pl_Simulate_Date_File_Checker</vt:lpstr>
      <vt:lpstr>Pl_Simulate _File_Checker At present these are the parametres and variables declared in the main pipeline </vt:lpstr>
      <vt:lpstr>Variables: Many Variables Set in the Different variable blocks and discussed there</vt:lpstr>
      <vt:lpstr>Pipeline Trigger time Block </vt:lpstr>
      <vt:lpstr>Invoke Accelerator Block.</vt:lpstr>
      <vt:lpstr>Pl child Accelerator </vt:lpstr>
      <vt:lpstr>Pl_child_Accelerator :Elapsed Minutes </vt:lpstr>
      <vt:lpstr>Pl_child_Accelerator : Iterations </vt:lpstr>
      <vt:lpstr>Pl_child_accelerator:Iterations out : Return Pipeline Varaibales </vt:lpstr>
      <vt:lpstr>Continuing with pl_simulate Date File Checker : SetAnyDate</vt:lpstr>
      <vt:lpstr>Pl_simulate_Date_File_Checker: </vt:lpstr>
      <vt:lpstr>pl_Simulate_Date_File_Checker;  Part 1 of File Checker</vt:lpstr>
      <vt:lpstr>pl_Simulate_Date_File_Checker</vt:lpstr>
      <vt:lpstr>Pl_Simulate+Date_File_Checker: Get Meta data Part of file checker </vt:lpstr>
      <vt:lpstr>Final setting of exist variable for that file to use in if block (Boolean variable) </vt:lpstr>
      <vt:lpstr>Last part of File checker part is to calculate the numbrer of exists to compare to 3 in the if block. </vt:lpstr>
      <vt:lpstr>If condition block, at present it sends messages if and if not there are 3 files </vt:lpstr>
      <vt:lpstr>PowerPoint Presentation</vt:lpstr>
      <vt:lpstr>Simulations</vt:lpstr>
      <vt:lpstr>PowerPoint Presentation</vt:lpstr>
      <vt:lpstr>pl_Simulate_Date_File_Checker_w_Offset</vt:lpstr>
      <vt:lpstr>Change set any date , now to take in the offset </vt:lpstr>
      <vt:lpstr>pl_Simulate_Date_File_Checker_w_Offset</vt:lpstr>
      <vt:lpstr>New Blocks , Set Variable – Calc Offset from Date </vt:lpstr>
      <vt:lpstr>Calculate Offset from date </vt:lpstr>
      <vt:lpstr>Set Any Data </vt:lpstr>
      <vt:lpstr>pl_Simulate_Backtest_Client_w_FileCheck</vt:lpstr>
      <vt:lpstr>Performance in the successful run (7min about)  </vt:lpstr>
      <vt:lpstr>More detailed analysis of the run is shown below to show components and their times </vt:lpstr>
      <vt:lpstr>pl_Simulate_Backtest_Client_w_FileCheck</vt:lpstr>
      <vt:lpstr>pl_Simulate_Backtest_Client_w_FileCheck</vt:lpstr>
      <vt:lpstr>True part of If condition. </vt:lpstr>
      <vt:lpstr>pl_Simulate_Backtest_Contract_w_FileCheck</vt:lpstr>
      <vt:lpstr>Performance of Contract ( 6mins) </vt:lpstr>
      <vt:lpstr>pl_Simulate_JSpan_w_FileCheck_All_5_Check_Blocks</vt:lpstr>
      <vt:lpstr>Performance </vt:lpstr>
      <vt:lpstr>Initial Variables </vt:lpstr>
      <vt:lpstr>Variables</vt:lpstr>
      <vt:lpstr>Settings</vt:lpstr>
      <vt:lpstr>PowerPoint Presentation</vt:lpstr>
      <vt:lpstr>Extraction of Date Components </vt:lpstr>
      <vt:lpstr>Target Paths</vt:lpstr>
      <vt:lpstr>PowerPoint Presentation</vt:lpstr>
      <vt:lpstr>PowerPoint Presentation</vt:lpstr>
      <vt:lpstr>PowerPoint Presentation</vt:lpstr>
      <vt:lpstr>PowerPoint Presentation</vt:lpstr>
      <vt:lpstr>Folders</vt:lpstr>
      <vt:lpstr>Folders</vt:lpstr>
      <vt:lpstr>PowerPoint Presentation</vt:lpstr>
      <vt:lpstr>PowerPoint Presentation</vt:lpstr>
      <vt:lpstr>True part of if block</vt:lpstr>
      <vt:lpstr>True part of if block , the child pipeline in the invoke block </vt:lpstr>
      <vt:lpstr>False part of if block. Only the mail terminates the run , nothing after mail block , see message – missing files </vt:lpstr>
      <vt:lpstr>Jspan pl_Child Pipeline Run.</vt:lpstr>
      <vt:lpstr>PowerPoint Presentation</vt:lpstr>
      <vt:lpstr>PowerPoint Presentation</vt:lpstr>
      <vt:lpstr>Engineering</vt:lpstr>
      <vt:lpstr>PowerPoint Presentation</vt:lpstr>
      <vt:lpstr>Restesting pl_Parent_BackTest_Client Since Wspace Change </vt:lpstr>
      <vt:lpstr>Pl_Pipeline_Parent_Backtest_Client was retested with success after editing notebooks to address new Wspace/Lakehouses  and resetting the default lakehouses </vt:lpstr>
      <vt:lpstr>pl_Child_Contract_BackTest_Using_Parameterswas retested with success after editing notebooks to address new Wspace/Lakehouses  and resetting the default lakehouses </vt:lpstr>
      <vt:lpstr>pl_Parent_BackTest_Contract</vt:lpstr>
      <vt:lpstr>Jspan ,.. We altered the notebooks for the New Medallion Workspace , Now test First entire pipeline for Jspan ie pl_JSPAN_parameters, blew settings for each block are shown</vt:lpstr>
      <vt:lpstr>Run as is pl_JSPAN_parametres</vt:lpstr>
      <vt:lpstr>Now we convert to child and parent pipelines: Child is pl_child_Jspan_Parametres</vt:lpstr>
      <vt:lpstr>Pl_Parent_JSPAN_parametres</vt:lpstr>
      <vt:lpstr>PowerPoint Presentation</vt:lpstr>
      <vt:lpstr>11/07/2025- pl_IRDCDM_Margin_Detail_Client_CM </vt:lpstr>
      <vt:lpstr>Capture the Result: Final.</vt:lpstr>
      <vt:lpstr>Process Pl Components </vt:lpstr>
      <vt:lpstr>pl_Parent_IRDCDM_Margin_Detail_Client_CM</vt:lpstr>
      <vt:lpstr>pl_Child_IRDCDM_Margin_Detail_Client_CM_</vt:lpstr>
      <vt:lpstr>Ingest_IRD_CDM_Margin_Detail_Client_CM_auto</vt:lpstr>
      <vt:lpstr>PowerPoint Presentation</vt:lpstr>
      <vt:lpstr>PowerPoint Presentation</vt:lpstr>
      <vt:lpstr>PowerPoint Presentation</vt:lpstr>
      <vt:lpstr>PowerPoint Presentation</vt:lpstr>
      <vt:lpstr>PowerPoint Presentation</vt:lpstr>
      <vt:lpstr>Pl_JSPAN_parametres</vt:lpstr>
      <vt:lpstr>PowerPoint Presentation</vt:lpstr>
      <vt:lpstr>PowerPoint Presentation</vt:lpstr>
      <vt:lpstr>Backtest..Client Auto </vt:lpstr>
      <vt:lpstr>pl__Med_BT_Client_SetVar_RMS_SC_Auto</vt:lpstr>
      <vt:lpstr>pl__Med_BT_Contract_SetVar_RMS_SC_Auto</vt:lpstr>
      <vt:lpstr>pl_Ingest_IRDCD_JSpan_Params_RMS_SC_Auto</vt:lpstr>
      <vt:lpstr>Jspan Ran on New Data Shortcut : pl_JSPAN_parametres_auto</vt:lpstr>
      <vt:lpstr>Ingest_IRD_CDM_Margin_Detail_Client_CM_RMS_SC_auto</vt:lpstr>
      <vt:lpstr>pl_IRDCDM_Margin_Detail_Client_CM</vt:lpstr>
      <vt:lpstr>PowerPoint Presentation</vt:lpstr>
      <vt:lpstr>Contract run Backtesting Latest</vt:lpstr>
      <vt:lpstr>pl_Simulate_JSpan_w_FileCheck_All_5_Check_Blocks_w_JSPAN (1 Run with Date =0250910)</vt:lpstr>
      <vt:lpstr>pl_Simulate_JSpan_w_FileCheck_All_5_Check_Blocks_w_JSPAN</vt:lpstr>
      <vt:lpstr>pl_Simulate_JSpan_w_FileCheck_All_5_Check_Blocks_w_JSPAN (1 Run with 3XDate =0250910/11/12)</vt:lpstr>
      <vt:lpstr>Now we monitor </vt:lpstr>
      <vt:lpstr>3 Consecutive runs </vt:lpstr>
      <vt:lpstr>pl_Simulate_Backtest_Client_w_FileCheck</vt:lpstr>
      <vt:lpstr>pl_Simulate_Backtest_Contract_w_FileCheck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Graham Bortz</dc:creator>
  <cp:lastModifiedBy>Graham Bortz</cp:lastModifiedBy>
  <cp:revision>130</cp:revision>
  <dcterms:created xsi:type="dcterms:W3CDTF">2025-10-06T05:52:34Z</dcterms:created>
  <dcterms:modified xsi:type="dcterms:W3CDTF">2025-11-12T05:29:55Z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93fc94-2a04-4870-acee-9c0cd4b7d590_Enabled">
    <vt:lpwstr>true</vt:lpwstr>
  </property>
  <property fmtid="{D5CDD505-2E9C-101B-9397-08002B2CF9AE}" pid="3" name="MSIP_Label_ce93fc94-2a04-4870-acee-9c0cd4b7d590_SetDate">
    <vt:lpwstr>2025-10-06T05:52:34Z</vt:lpwstr>
  </property>
  <property fmtid="{D5CDD505-2E9C-101B-9397-08002B2CF9AE}" pid="4" name="MSIP_Label_ce93fc94-2a04-4870-acee-9c0cd4b7d590_Method">
    <vt:lpwstr>Standard</vt:lpwstr>
  </property>
  <property fmtid="{D5CDD505-2E9C-101B-9397-08002B2CF9AE}" pid="5" name="MSIP_Label_ce93fc94-2a04-4870-acee-9c0cd4b7d590_Name">
    <vt:lpwstr>Internal</vt:lpwstr>
  </property>
  <property fmtid="{D5CDD505-2E9C-101B-9397-08002B2CF9AE}" pid="6" name="MSIP_Label_ce93fc94-2a04-4870-acee-9c0cd4b7d590_SiteId">
    <vt:lpwstr>cffa6640-7572-4f05-9c64-cd88068c19d4</vt:lpwstr>
  </property>
  <property fmtid="{D5CDD505-2E9C-101B-9397-08002B2CF9AE}" pid="7" name="MSIP_Label_ce93fc94-2a04-4870-acee-9c0cd4b7d590_ActionId">
    <vt:lpwstr>ead5cb60-006f-4a12-a7bb-6606b9e64339</vt:lpwstr>
  </property>
  <property fmtid="{D5CDD505-2E9C-101B-9397-08002B2CF9AE}" pid="8" name="MSIP_Label_ce93fc94-2a04-4870-acee-9c0cd4b7d590_ContentBits">
    <vt:lpwstr>0</vt:lpwstr>
  </property>
  <property fmtid="{D5CDD505-2E9C-101B-9397-08002B2CF9AE}" pid="9" name="MSIP_Label_ce93fc94-2a04-4870-acee-9c0cd4b7d590_Tag">
    <vt:lpwstr>10, 3, 0, 1</vt:lpwstr>
  </property>
</Properties>
</file>