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9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80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19" r:id="rId45"/>
    <p:sldId id="320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21" r:id="rId60"/>
    <p:sldId id="312" r:id="rId61"/>
    <p:sldId id="313" r:id="rId62"/>
    <p:sldId id="314" r:id="rId63"/>
    <p:sldId id="315" r:id="rId64"/>
    <p:sldId id="333" r:id="rId65"/>
    <p:sldId id="316" r:id="rId66"/>
    <p:sldId id="317" r:id="rId67"/>
    <p:sldId id="318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70" r:id="rId87"/>
    <p:sldId id="341" r:id="rId88"/>
    <p:sldId id="342" r:id="rId89"/>
    <p:sldId id="343" r:id="rId90"/>
    <p:sldId id="344" r:id="rId9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55D0BE-DF2F-4DD5-B6C8-6BC87C14FD3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1"/>
            <p14:sldId id="282"/>
            <p14:sldId id="291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80"/>
            <p14:sldId id="292"/>
            <p14:sldId id="293"/>
            <p14:sldId id="294"/>
            <p14:sldId id="295"/>
            <p14:sldId id="296"/>
            <p14:sldId id="297"/>
            <p14:sldId id="298"/>
            <p14:sldId id="319"/>
            <p14:sldId id="320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File Deleted A Variable" id="{8A56858B-BC77-4215-951B-9534CA0065D9}">
          <p14:sldIdLst>
            <p14:sldId id="307"/>
            <p14:sldId id="308"/>
            <p14:sldId id="309"/>
            <p14:sldId id="310"/>
            <p14:sldId id="311"/>
          </p14:sldIdLst>
        </p14:section>
        <p14:section name="New Pipeline Orchestration" id="{343B46BA-D2E5-4960-8140-13297E6BFBA5}">
          <p14:sldIdLst>
            <p14:sldId id="321"/>
            <p14:sldId id="312"/>
            <p14:sldId id="313"/>
            <p14:sldId id="314"/>
            <p14:sldId id="315"/>
            <p14:sldId id="333"/>
          </p14:sldIdLst>
        </p14:section>
        <p14:section name="DataFlowGen2" id="{600AD1FF-8316-40FA-92CF-38E8C06E82FB}">
          <p14:sldIdLst>
            <p14:sldId id="316"/>
            <p14:sldId id="317"/>
            <p14:sldId id="318"/>
            <p14:sldId id="322"/>
            <p14:sldId id="323"/>
            <p14:sldId id="324"/>
            <p14:sldId id="325"/>
            <p14:sldId id="326"/>
            <p14:sldId id="327"/>
            <p14:sldId id="328"/>
          </p14:sldIdLst>
        </p14:section>
        <p14:section name="Connection ADLS Gen2" id="{0AC9BA3D-80BC-4E79-AE7E-E0B69FDDAD01}">
          <p14:sldIdLst>
            <p14:sldId id="329"/>
            <p14:sldId id="330"/>
            <p14:sldId id="331"/>
            <p14:sldId id="332"/>
          </p14:sldIdLst>
        </p14:section>
        <p14:section name="Bactesting Pipeline" id="{CAFD1DDA-DA6C-411F-B8A0-DAA2275CF55A}">
          <p14:sldIdLst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  <p14:section name="Triggers" id="{8E2EBB1E-15FC-4E20-9C76-245F12CA0AED}">
          <p14:sldIdLst>
            <p14:sldId id="370"/>
            <p14:sldId id="341"/>
            <p14:sldId id="342"/>
            <p14:sldId id="343"/>
            <p14:sldId id="344"/>
          </p14:sldIdLst>
        </p14:section>
        <p14:section name="S8. Spark Dev" id="{5FC7B8AA-4347-4E18-ACDA-9BC809E07A42}">
          <p14:sldIdLst/>
        </p14:section>
        <p14:section name="Pipeline Orchestration" id="{5855B474-ADAD-40D4-A755-C45B5A6C3F14}">
          <p14:sldIdLst/>
        </p14:section>
        <p14:section name="Data Factory-  Fabric Ultimate Guide Course - Revision" id="{A65FF854-2C40-4BC5-BF79-20A06A7B4447}">
          <p14:sldIdLst/>
        </p14:section>
        <p14:section name="Data Factory-  Fabric Ultimate Guide Course - Revision" id="{9FF5407A-184D-4FC3-A3E1-C5F5F27D62BE}">
          <p14:sldIdLst/>
        </p14:section>
        <p14:section name="Data Factory-  Fabric Ultimate Guide Course - Revision" id="{8ED132F7-908D-4D21-B1C6-4FE3B8A83E06}">
          <p14:sldIdLst/>
        </p14:section>
        <p14:section name="Data Flow Gen 2" id="{9A0615DE-12F8-4F41-9A1E-E50088925C14}">
          <p14:sldIdLst/>
        </p14:section>
        <p14:section name="Important notes on data Factory" id="{987676E8-6D9A-4C4A-97E0-714F224F6EE8}">
          <p14:sldIdLst/>
        </p14:section>
        <p14:section name="Incremental_Refresh" id="{19D3C58D-00BA-412A-90FA-4E96A552A0F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2038" autoAdjust="0"/>
  </p:normalViewPr>
  <p:slideViewPr>
    <p:cSldViewPr snapToGrid="0">
      <p:cViewPr varScale="1">
        <p:scale>
          <a:sx n="61" d="100"/>
          <a:sy n="61" d="100"/>
        </p:scale>
        <p:origin x="89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10497-554C-4378-9C11-BE55D1208B54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6BF0D-08FC-4CF2-8F18-07FB0867168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2037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to access control / Role Assignments / </a:t>
            </a:r>
            <a:r>
              <a:rPr lang="en-US" dirty="0" err="1"/>
              <a:t>Oick</a:t>
            </a:r>
            <a:r>
              <a:rPr lang="en-US" dirty="0"/>
              <a:t> Storage Blob Contributor in the Add role Assignment / Next ..select Members , and choose that member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09131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Se;ect</a:t>
            </a:r>
            <a:r>
              <a:rPr lang="en-US" dirty="0"/>
              <a:t> Review and Assign and then go back to see it 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3941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Files/new Shortcut / Create new connection , Asks for URL ..G0 back to ADSL Gen 2 Storage account and copy in URL from settings / end points </a:t>
            </a:r>
          </a:p>
          <a:p>
            <a:r>
              <a:rPr lang="en-US" dirty="0"/>
              <a:t>See data lake storage URL bottom Left , copy it from there. And paste to </a:t>
            </a:r>
            <a:r>
              <a:rPr lang="en-US" dirty="0" err="1"/>
              <a:t>url</a:t>
            </a:r>
            <a:r>
              <a:rPr lang="en-US" dirty="0"/>
              <a:t> .. And give a good connection name , he uses organizational account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4579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Either the container (top left ) or the folder , top right.</a:t>
            </a:r>
          </a:p>
          <a:p>
            <a:r>
              <a:rPr lang="en-US" dirty="0"/>
              <a:t>Next , you can rename it / create </a:t>
            </a:r>
          </a:p>
          <a:p>
            <a:r>
              <a:rPr lang="en-US" dirty="0" err="1"/>
              <a:t>Thye</a:t>
            </a:r>
            <a:r>
              <a:rPr lang="en-US" dirty="0"/>
              <a:t> result at the bottom is not residing in the </a:t>
            </a:r>
            <a:r>
              <a:rPr lang="en-US" dirty="0" err="1"/>
              <a:t>lakehouse</a:t>
            </a:r>
            <a:r>
              <a:rPr lang="en-US" dirty="0"/>
              <a:t> but in Azure DL Storage </a:t>
            </a:r>
          </a:p>
          <a:p>
            <a:r>
              <a:rPr lang="en-US" dirty="0"/>
              <a:t>Search for fabric external shortcuts on google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4671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gives a dem where he breaks the shortcut.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19654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 cost associated with this data / so we need to cache it , as it get transferred to memory ..so to prevent traffic going from source to Fabric we cache it …</a:t>
            </a:r>
          </a:p>
          <a:p>
            <a:r>
              <a:rPr lang="en-US" dirty="0"/>
              <a:t>If the data is not changing </a:t>
            </a:r>
            <a:r>
              <a:rPr lang="en-US" dirty="0" err="1"/>
              <a:t>regularly..we</a:t>
            </a:r>
            <a:r>
              <a:rPr lang="en-US" dirty="0"/>
              <a:t> can use the cache </a:t>
            </a:r>
            <a:r>
              <a:rPr lang="en-US" dirty="0" err="1"/>
              <a:t>ie</a:t>
            </a:r>
            <a:r>
              <a:rPr lang="en-US" dirty="0"/>
              <a:t> caching in shortcut, to prevent egress costs </a:t>
            </a:r>
          </a:p>
          <a:p>
            <a:r>
              <a:rPr lang="en-US" dirty="0"/>
              <a:t>Its all automated, </a:t>
            </a:r>
            <a:r>
              <a:rPr lang="en-US" dirty="0" err="1"/>
              <a:t>selecdt</a:t>
            </a:r>
            <a:r>
              <a:rPr lang="en-US" dirty="0"/>
              <a:t> one box </a:t>
            </a:r>
          </a:p>
          <a:p>
            <a:r>
              <a:rPr lang="en-US" dirty="0"/>
              <a:t>If data is updated , cached data is compared to the source , and will update automatically. Makes a call to the source to update the cache.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28942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retention period is for 28 days , if data accessed before 28 days the timer is reset.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7269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refresh …you will see it </a:t>
            </a:r>
          </a:p>
          <a:p>
            <a:r>
              <a:rPr lang="en-US" dirty="0"/>
              <a:t>If he deletes SC , no impact on source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92877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also create a new schema. And a new schema shortcut, it will create a shortcut on the whole schema , where you have </a:t>
            </a:r>
            <a:r>
              <a:rPr lang="en-US" dirty="0" err="1"/>
              <a:t>multiplre</a:t>
            </a:r>
            <a:r>
              <a:rPr lang="en-US" dirty="0"/>
              <a:t> data tables, it will create a shortcut on all the tables. </a:t>
            </a:r>
          </a:p>
          <a:p>
            <a:r>
              <a:rPr lang="en-US" dirty="0"/>
              <a:t>Click on New Schema Shortcut. </a:t>
            </a:r>
          </a:p>
          <a:p>
            <a:r>
              <a:rPr lang="en-US" dirty="0"/>
              <a:t>Error , you get Unidentified , this is not the schema</a:t>
            </a:r>
          </a:p>
          <a:p>
            <a:r>
              <a:rPr lang="en-US" dirty="0"/>
              <a:t>Note there is a difference between Lakehouse and Lakehouse with Schema, when dealing with Notebooks.</a:t>
            </a:r>
          </a:p>
          <a:p>
            <a:r>
              <a:rPr lang="en-US" dirty="0"/>
              <a:t>When you create a shortcut to the schema, you need multiple data files , else it not a schema.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68911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another folder as schema folder, then drag and drop the Parquet table into the schema folder , </a:t>
            </a:r>
            <a:r>
              <a:rPr lang="en-US" dirty="0" err="1"/>
              <a:t>ie</a:t>
            </a:r>
            <a:r>
              <a:rPr lang="en-US" dirty="0"/>
              <a:t> from the left picture to the right , we see table parquet inside schema folder </a:t>
            </a:r>
          </a:p>
          <a:p>
            <a:r>
              <a:rPr lang="en-US" dirty="0"/>
              <a:t>Now we create shortcut in </a:t>
            </a:r>
            <a:r>
              <a:rPr lang="en-US" dirty="0" err="1"/>
              <a:t>lakehouse</a:t>
            </a:r>
            <a:r>
              <a:rPr lang="en-US" dirty="0"/>
              <a:t> schema. Make the source the Bronze Lakehouse , we pick the schema folder </a:t>
            </a:r>
          </a:p>
          <a:p>
            <a:r>
              <a:rPr lang="en-US" dirty="0"/>
              <a:t>The result is a parquet file with the schema folder as the schema.</a:t>
            </a:r>
          </a:p>
          <a:p>
            <a:r>
              <a:rPr lang="en-US" dirty="0"/>
              <a:t>You should </a:t>
            </a:r>
            <a:r>
              <a:rPr lang="en-US" dirty="0" err="1"/>
              <a:t>havre</a:t>
            </a:r>
            <a:r>
              <a:rPr lang="en-US" dirty="0"/>
              <a:t> </a:t>
            </a:r>
            <a:r>
              <a:rPr lang="en-US" dirty="0" err="1"/>
              <a:t>muiltiple</a:t>
            </a:r>
            <a:r>
              <a:rPr lang="en-US" dirty="0"/>
              <a:t> files in that schema , we only had one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1262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who do not want to alter tables , just run queries and build a report, its only read mode.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615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share the end point using the SQL connection string. </a:t>
            </a:r>
          </a:p>
          <a:p>
            <a:r>
              <a:rPr lang="en-US" dirty="0"/>
              <a:t>See screen below for </a:t>
            </a:r>
            <a:r>
              <a:rPr lang="en-US" dirty="0" err="1"/>
              <a:t>sql</a:t>
            </a:r>
            <a:r>
              <a:rPr lang="en-US" dirty="0"/>
              <a:t> end point , see the </a:t>
            </a:r>
            <a:r>
              <a:rPr lang="en-US" dirty="0" err="1"/>
              <a:t>sql</a:t>
            </a:r>
            <a:r>
              <a:rPr lang="en-US" dirty="0"/>
              <a:t> workbench</a:t>
            </a:r>
          </a:p>
          <a:p>
            <a:r>
              <a:rPr lang="en-US" dirty="0"/>
              <a:t>In some instances we see a schema that we did not create this is the default schema.</a:t>
            </a:r>
          </a:p>
          <a:p>
            <a:r>
              <a:rPr lang="en-US" dirty="0"/>
              <a:t>We specify full path ..see </a:t>
            </a:r>
            <a:r>
              <a:rPr lang="en-US" dirty="0" err="1"/>
              <a:t>lhs</a:t>
            </a:r>
            <a:r>
              <a:rPr lang="en-US" dirty="0"/>
              <a:t> on the table 1 </a:t>
            </a:r>
          </a:p>
          <a:p>
            <a:r>
              <a:rPr lang="en-US" dirty="0"/>
              <a:t>On the right we can query the table shortcut ..table [parquet.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4776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 Flows Gen2 , Low Code ETL..ELT.. </a:t>
            </a:r>
          </a:p>
          <a:p>
            <a:r>
              <a:rPr lang="en-US" dirty="0"/>
              <a:t>Much </a:t>
            </a:r>
            <a:r>
              <a:rPr lang="en-US" dirty="0" err="1"/>
              <a:t>Much</a:t>
            </a:r>
            <a:r>
              <a:rPr lang="en-US" dirty="0"/>
              <a:t> Enhanced from azure data factory , Spark Notebooks.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61543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ETL vs ELT.</a:t>
            </a:r>
          </a:p>
          <a:p>
            <a:r>
              <a:rPr lang="en-US" dirty="0"/>
              <a:t>Extract Transform and Load</a:t>
            </a:r>
          </a:p>
          <a:p>
            <a:r>
              <a:rPr lang="en-US" dirty="0"/>
              <a:t>With the rise of Big Data we Focus on ELT. Extract Load and Transform.</a:t>
            </a:r>
          </a:p>
          <a:p>
            <a:r>
              <a:rPr lang="en-US" dirty="0"/>
              <a:t>Its expensive now to do ETL…Resources , disturb raw data.</a:t>
            </a:r>
          </a:p>
          <a:p>
            <a:r>
              <a:rPr lang="en-US" dirty="0"/>
              <a:t>Fabric Data Factory ..ELT Directly. ETL Indirectly.</a:t>
            </a:r>
          </a:p>
          <a:p>
            <a:r>
              <a:rPr lang="en-US" dirty="0"/>
              <a:t>No transformation abilities in Azure DF directly. </a:t>
            </a:r>
          </a:p>
          <a:p>
            <a:r>
              <a:rPr lang="en-US" dirty="0"/>
              <a:t>Transformation is done on Notebooks. </a:t>
            </a:r>
            <a:r>
              <a:rPr lang="en-US" dirty="0" err="1"/>
              <a:t>DataFlows</a:t>
            </a:r>
            <a:r>
              <a:rPr lang="en-US" dirty="0"/>
              <a:t>. Custom Functions, But you </a:t>
            </a:r>
            <a:r>
              <a:rPr lang="en-US" dirty="0" err="1"/>
              <a:t>wil</a:t>
            </a:r>
            <a:r>
              <a:rPr lang="en-US" dirty="0"/>
              <a:t> first load the data,</a:t>
            </a:r>
          </a:p>
          <a:p>
            <a:r>
              <a:rPr lang="en-US" dirty="0"/>
              <a:t>Why Fabric so NB. – Low/No Code to write DAGS.. These are the flows in Fabric DF.  Unless U want to and it is very Scalable. </a:t>
            </a:r>
          </a:p>
          <a:p>
            <a:r>
              <a:rPr lang="en-US" dirty="0"/>
              <a:t>No same as Azure DF , new activities , new UI’s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6034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manage ADF from </a:t>
            </a:r>
            <a:r>
              <a:rPr lang="en-US" dirty="0" err="1"/>
              <a:t>Fabric..its</a:t>
            </a:r>
            <a:r>
              <a:rPr lang="en-US" dirty="0"/>
              <a:t> not FDF.!</a:t>
            </a:r>
          </a:p>
          <a:p>
            <a:r>
              <a:rPr lang="en-US" dirty="0"/>
              <a:t>2 options , start with blank canvass, or start with guidance.(orange), not good if go with guidance ..you will not learn</a:t>
            </a:r>
          </a:p>
          <a:p>
            <a:r>
              <a:rPr lang="en-US" dirty="0"/>
              <a:t>Click on Green one , with options , we pick copy activity , it will take to canvas and then delete ..route to canvas.</a:t>
            </a:r>
          </a:p>
          <a:p>
            <a:r>
              <a:rPr lang="en-US" dirty="0"/>
              <a:t>Note you can use pipeline as a template , se circle above </a:t>
            </a:r>
          </a:p>
          <a:p>
            <a:r>
              <a:rPr lang="en-US" dirty="0"/>
              <a:t>Note you can also View Run History , to right of trigger ..instead on Monitor.. </a:t>
            </a:r>
          </a:p>
          <a:p>
            <a:r>
              <a:rPr lang="en-US" dirty="0"/>
              <a:t>To the </a:t>
            </a:r>
            <a:r>
              <a:rPr lang="en-US" dirty="0" err="1"/>
              <a:t>righ</a:t>
            </a:r>
            <a:r>
              <a:rPr lang="en-US" dirty="0"/>
              <a:t> t are common activities , the activities tab is better , there rare more here , and click on 3 ellipses  far more , categorized ones </a:t>
            </a:r>
          </a:p>
          <a:p>
            <a:r>
              <a:rPr lang="en-US" dirty="0"/>
              <a:t>There is Json Code behind data factory </a:t>
            </a:r>
          </a:p>
          <a:p>
            <a:r>
              <a:rPr lang="en-US" dirty="0"/>
              <a:t>In the view menu u can edit Jason code , </a:t>
            </a:r>
            <a:r>
              <a:rPr lang="en-US" dirty="0" err="1"/>
              <a:t>sayas</a:t>
            </a:r>
            <a:r>
              <a:rPr lang="en-US" dirty="0"/>
              <a:t> parameter.</a:t>
            </a:r>
          </a:p>
          <a:p>
            <a:endParaRPr lang="en-US" dirty="0"/>
          </a:p>
          <a:p>
            <a:r>
              <a:rPr lang="en-US" dirty="0" err="1"/>
              <a:t>Impotant</a:t>
            </a:r>
            <a:r>
              <a:rPr lang="en-US" dirty="0"/>
              <a:t> to </a:t>
            </a:r>
            <a:r>
              <a:rPr lang="en-US" dirty="0" err="1"/>
              <a:t>Patrameterise</a:t>
            </a:r>
            <a:r>
              <a:rPr lang="en-US" dirty="0"/>
              <a:t> the code. Dynamic…</a:t>
            </a:r>
          </a:p>
          <a:p>
            <a:r>
              <a:rPr lang="en-US" dirty="0"/>
              <a:t>Settings just t do with concurrency.</a:t>
            </a:r>
          </a:p>
          <a:p>
            <a:r>
              <a:rPr lang="en-US" dirty="0"/>
              <a:t>Output of </a:t>
            </a:r>
            <a:r>
              <a:rPr lang="en-US" dirty="0" err="1"/>
              <a:t>pipelne</a:t>
            </a:r>
            <a:r>
              <a:rPr lang="en-US" dirty="0"/>
              <a:t> </a:t>
            </a:r>
            <a:endParaRPr lang="en-ZA" dirty="0"/>
          </a:p>
          <a:p>
            <a:endParaRPr lang="en-US" dirty="0"/>
          </a:p>
          <a:p>
            <a:endParaRPr lang="en-US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03856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Copy / Add to Canvas. Extract and Load , must have a connection, Source and Destination.</a:t>
            </a:r>
          </a:p>
          <a:p>
            <a:r>
              <a:rPr lang="en-US" dirty="0"/>
              <a:t>Note you can convert the file from csv to Parquet in the copy block.</a:t>
            </a:r>
          </a:p>
          <a:p>
            <a:r>
              <a:rPr lang="en-US" dirty="0"/>
              <a:t>Copy is most fundamental activity in all the blocks.</a:t>
            </a:r>
          </a:p>
          <a:p>
            <a:r>
              <a:rPr lang="en-US" dirty="0"/>
              <a:t>Move Data one place to another. There is a </a:t>
            </a:r>
            <a:r>
              <a:rPr lang="en-US" dirty="0" err="1"/>
              <a:t>timkeout</a:t>
            </a:r>
            <a:r>
              <a:rPr lang="en-US" dirty="0"/>
              <a:t> of 12 Hours/ min 10min.</a:t>
            </a:r>
          </a:p>
          <a:p>
            <a:r>
              <a:rPr lang="en-US" dirty="0"/>
              <a:t>He </a:t>
            </a:r>
            <a:r>
              <a:rPr lang="en-US" dirty="0" err="1"/>
              <a:t>creatsews</a:t>
            </a:r>
            <a:r>
              <a:rPr lang="en-US" dirty="0"/>
              <a:t> a new source by clicking on more in the source option.</a:t>
            </a:r>
          </a:p>
          <a:p>
            <a:r>
              <a:rPr lang="en-US" dirty="0"/>
              <a:t>Choose the lake house , we can browse to the file by clicking file option then </a:t>
            </a:r>
            <a:r>
              <a:rPr lang="en-US" dirty="0" err="1"/>
              <a:t>browswe</a:t>
            </a:r>
            <a:r>
              <a:rPr lang="en-US" dirty="0"/>
              <a:t> and either pick whole folder (don’t click filer)or file </a:t>
            </a:r>
          </a:p>
          <a:p>
            <a:r>
              <a:rPr lang="en-US" dirty="0"/>
              <a:t>File format Parquet</a:t>
            </a:r>
          </a:p>
          <a:p>
            <a:r>
              <a:rPr lang="en-US" dirty="0"/>
              <a:t>In the destination block you can put in your own name, and it will create that folder for you. Don’t have to give filename unless you want to </a:t>
            </a:r>
          </a:p>
          <a:p>
            <a:r>
              <a:rPr lang="en-US" dirty="0"/>
              <a:t>See file format ,</a:t>
            </a:r>
          </a:p>
          <a:p>
            <a:r>
              <a:rPr lang="en-US" dirty="0"/>
              <a:t>Go to Mappings .. Here is the schema enforcement ..you can change things here if you want to . </a:t>
            </a:r>
          </a:p>
          <a:p>
            <a:r>
              <a:rPr lang="en-US" dirty="0"/>
              <a:t>Settings, you </a:t>
            </a:r>
            <a:r>
              <a:rPr lang="en-US" dirty="0" err="1"/>
              <a:t>mau</a:t>
            </a:r>
            <a:r>
              <a:rPr lang="en-US" dirty="0"/>
              <a:t>=y have some corrupt data that fails the pipeline, you may want to remove records to enable pipeline to run. </a:t>
            </a:r>
          </a:p>
          <a:p>
            <a:r>
              <a:rPr lang="en-US" dirty="0"/>
              <a:t>In the fault tolerance you skip incompatible rows. You need to enable logging , and save data to different location !</a:t>
            </a:r>
          </a:p>
          <a:p>
            <a:endParaRPr lang="en-US" dirty="0"/>
          </a:p>
          <a:p>
            <a:endParaRPr lang="en-US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8723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the run , input and output . </a:t>
            </a:r>
          </a:p>
          <a:p>
            <a:r>
              <a:rPr lang="en-US" dirty="0"/>
              <a:t>Shows a whole lot of meta data , at the beginning </a:t>
            </a:r>
            <a:r>
              <a:rPr lang="en-US" dirty="0" err="1"/>
              <a:t>ouof</a:t>
            </a:r>
            <a:r>
              <a:rPr lang="en-US" dirty="0"/>
              <a:t> the </a:t>
            </a:r>
            <a:r>
              <a:rPr lang="en-US" dirty="0" err="1"/>
              <a:t>ourput</a:t>
            </a:r>
            <a:r>
              <a:rPr lang="en-US" dirty="0"/>
              <a:t>.</a:t>
            </a:r>
          </a:p>
          <a:p>
            <a:r>
              <a:rPr lang="en-US" dirty="0"/>
              <a:t>Check if you are copying </a:t>
            </a:r>
            <a:r>
              <a:rPr lang="en-US" dirty="0" err="1"/>
              <a:t>everyrthing</a:t>
            </a:r>
            <a:r>
              <a:rPr lang="en-US" dirty="0"/>
              <a:t> as it should.</a:t>
            </a:r>
          </a:p>
          <a:p>
            <a:r>
              <a:rPr lang="en-US" dirty="0"/>
              <a:t>See the result.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82609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done the shortcut ..now we do the copy. From azure DL Gen2.</a:t>
            </a:r>
          </a:p>
          <a:p>
            <a:r>
              <a:rPr lang="en-US" dirty="0"/>
              <a:t>In the resource Group we have the storage account , go into the storage account .. </a:t>
            </a:r>
          </a:p>
          <a:p>
            <a:r>
              <a:rPr lang="en-US" dirty="0"/>
              <a:t>See IAM of the left , Check the role assignment for the fabric </a:t>
            </a:r>
            <a:r>
              <a:rPr lang="en-US" dirty="0" err="1"/>
              <a:t>accpount</a:t>
            </a:r>
            <a:r>
              <a:rPr lang="en-US" dirty="0"/>
              <a:t> </a:t>
            </a:r>
          </a:p>
          <a:p>
            <a:r>
              <a:rPr lang="en-US" dirty="0"/>
              <a:t>It seemed that mine is there?. THAT SHOIULD MEAN WE CAN ACCESS THIS DATA!.</a:t>
            </a:r>
          </a:p>
          <a:p>
            <a:r>
              <a:rPr lang="en-US" dirty="0"/>
              <a:t>Now go top menu on left , and under data storage see Containers,  Click on containers and u can see them</a:t>
            </a:r>
          </a:p>
          <a:p>
            <a:r>
              <a:rPr lang="en-US" dirty="0"/>
              <a:t>And in the container he has source data, under source data u can see the file</a:t>
            </a:r>
          </a:p>
          <a:p>
            <a:r>
              <a:rPr lang="en-US" dirty="0"/>
              <a:t>He now creates a new container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6017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call it source csv, </a:t>
            </a:r>
            <a:r>
              <a:rPr lang="en-US" dirty="0" err="1"/>
              <a:t>goues</a:t>
            </a:r>
            <a:r>
              <a:rPr lang="en-US" dirty="0"/>
              <a:t> into that directory to add files.</a:t>
            </a:r>
          </a:p>
          <a:p>
            <a:r>
              <a:rPr lang="en-US" dirty="0"/>
              <a:t>Click on upload , and he uploads all the </a:t>
            </a:r>
            <a:r>
              <a:rPr lang="en-US" dirty="0" err="1"/>
              <a:t>csvs</a:t>
            </a:r>
            <a:r>
              <a:rPr lang="en-US" dirty="0"/>
              <a:t> </a:t>
            </a:r>
          </a:p>
          <a:p>
            <a:r>
              <a:rPr lang="en-US" dirty="0"/>
              <a:t>Go to his </a:t>
            </a:r>
            <a:r>
              <a:rPr lang="en-US" dirty="0" err="1"/>
              <a:t>github</a:t>
            </a:r>
            <a:r>
              <a:rPr lang="en-US" dirty="0"/>
              <a:t> DP 700.. And </a:t>
            </a:r>
            <a:r>
              <a:rPr lang="en-US" dirty="0" err="1"/>
              <a:t>doewnload</a:t>
            </a:r>
            <a:r>
              <a:rPr lang="en-US" dirty="0"/>
              <a:t>.</a:t>
            </a:r>
          </a:p>
          <a:p>
            <a:r>
              <a:rPr lang="en-US" dirty="0"/>
              <a:t>We are going to load 1 file.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267281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Source Dropdown.</a:t>
            </a:r>
          </a:p>
          <a:p>
            <a:r>
              <a:rPr lang="en-US" dirty="0"/>
              <a:t>Mahy have to click on view More in the next screen to see Azure DL GEN 2 </a:t>
            </a:r>
          </a:p>
          <a:p>
            <a:r>
              <a:rPr lang="en-US" dirty="0" err="1"/>
              <a:t>Yioull</a:t>
            </a:r>
            <a:r>
              <a:rPr lang="en-US" dirty="0"/>
              <a:t> see config screen ..u need the </a:t>
            </a:r>
            <a:r>
              <a:rPr lang="en-US" dirty="0" err="1"/>
              <a:t>url</a:t>
            </a:r>
            <a:r>
              <a:rPr lang="en-US" dirty="0"/>
              <a:t>,</a:t>
            </a:r>
          </a:p>
          <a:p>
            <a:r>
              <a:rPr lang="en-US" dirty="0"/>
              <a:t>Go back to azure screen where you see containers , u may have to go up one level.  From </a:t>
            </a:r>
            <a:r>
              <a:rPr lang="en-US" dirty="0" err="1"/>
              <a:t>rthere</a:t>
            </a:r>
            <a:r>
              <a:rPr lang="en-US" dirty="0"/>
              <a:t> we go to settings and endpoints.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87266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the </a:t>
            </a:r>
            <a:r>
              <a:rPr lang="en-US" dirty="0" err="1"/>
              <a:t>url</a:t>
            </a:r>
            <a:r>
              <a:rPr lang="en-US" dirty="0"/>
              <a:t> , in data lake storage at the bottom, and put that </a:t>
            </a:r>
            <a:r>
              <a:rPr lang="en-US" dirty="0" err="1"/>
              <a:t>url</a:t>
            </a:r>
            <a:r>
              <a:rPr lang="en-US" dirty="0"/>
              <a:t> into the connections </a:t>
            </a:r>
            <a:r>
              <a:rPr lang="en-US" dirty="0" err="1"/>
              <a:t>Url</a:t>
            </a:r>
            <a:r>
              <a:rPr lang="en-US" dirty="0"/>
              <a:t>..in New connection in Fabric Lakehouse ,</a:t>
            </a:r>
          </a:p>
          <a:p>
            <a:r>
              <a:rPr lang="en-US" dirty="0"/>
              <a:t>If the connection has already been made </a:t>
            </a:r>
            <a:r>
              <a:rPr lang="en-US" dirty="0" err="1"/>
              <a:t>yoy</a:t>
            </a:r>
            <a:r>
              <a:rPr lang="en-US" dirty="0"/>
              <a:t> can find its name ..else a new one and you will have to grab the Key , or </a:t>
            </a:r>
            <a:r>
              <a:rPr lang="en-US" dirty="0" err="1"/>
              <a:t>Organuzational</a:t>
            </a:r>
            <a:r>
              <a:rPr lang="en-US" dirty="0"/>
              <a:t> account. </a:t>
            </a:r>
          </a:p>
          <a:p>
            <a:r>
              <a:rPr lang="en-US" dirty="0"/>
              <a:t>Then Connect ..see drop down he has 2 connections one from previous shortcut.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7246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we get the connection we must browse to get to the files. Now we see source CSV – the folder , now pic the file, if you want else OK , with none selected </a:t>
            </a:r>
          </a:p>
          <a:p>
            <a:r>
              <a:rPr lang="en-US" dirty="0"/>
              <a:t>It will copy all the files</a:t>
            </a:r>
          </a:p>
          <a:p>
            <a:r>
              <a:rPr lang="en-US" dirty="0"/>
              <a:t>Format as delimited text </a:t>
            </a:r>
          </a:p>
          <a:p>
            <a:r>
              <a:rPr lang="en-US" dirty="0"/>
              <a:t>Must click advanced ; NB </a:t>
            </a:r>
          </a:p>
          <a:p>
            <a:r>
              <a:rPr lang="en-US" dirty="0"/>
              <a:t>You can add additional columns , along with existing columns if you want.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26586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delay it and can add additional column , can check the file setting to see if delimited is </a:t>
            </a:r>
            <a:r>
              <a:rPr lang="en-US" dirty="0" err="1"/>
              <a:t>cottect</a:t>
            </a:r>
            <a:r>
              <a:rPr lang="en-US" dirty="0"/>
              <a:t> , </a:t>
            </a:r>
            <a:r>
              <a:rPr lang="en-US" dirty="0" err="1"/>
              <a:t>ie</a:t>
            </a:r>
            <a:r>
              <a:rPr lang="en-US" dirty="0"/>
              <a:t> , </a:t>
            </a:r>
            <a:r>
              <a:rPr lang="en-US" dirty="0" err="1"/>
              <a:t>etc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70401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pick mapping here .. We are </a:t>
            </a:r>
            <a:r>
              <a:rPr lang="en-US" dirty="0" err="1"/>
              <a:t>copyting</a:t>
            </a:r>
            <a:r>
              <a:rPr lang="en-US" dirty="0"/>
              <a:t> </a:t>
            </a:r>
            <a:r>
              <a:rPr lang="en-US" dirty="0" err="1"/>
              <a:t>manuy</a:t>
            </a:r>
            <a:r>
              <a:rPr lang="en-US" dirty="0"/>
              <a:t> files </a:t>
            </a:r>
          </a:p>
          <a:p>
            <a:r>
              <a:rPr lang="en-US" dirty="0"/>
              <a:t>But pick destination and see the settings, </a:t>
            </a:r>
          </a:p>
          <a:p>
            <a:r>
              <a:rPr lang="en-US" dirty="0"/>
              <a:t>You cab add you own directory name inside files folder , if you want a new one </a:t>
            </a:r>
          </a:p>
          <a:p>
            <a:r>
              <a:rPr lang="en-US" dirty="0"/>
              <a:t>Note he </a:t>
            </a:r>
            <a:r>
              <a:rPr lang="en-US" dirty="0" err="1"/>
              <a:t>piocks</a:t>
            </a:r>
            <a:r>
              <a:rPr lang="en-US" dirty="0"/>
              <a:t> parquet format. </a:t>
            </a:r>
          </a:p>
          <a:p>
            <a:r>
              <a:rPr lang="en-US" dirty="0"/>
              <a:t>Validate Ruin / Save and Run</a:t>
            </a:r>
          </a:p>
          <a:p>
            <a:r>
              <a:rPr lang="en-US" dirty="0"/>
              <a:t>So his failed , Why?  Bad </a:t>
            </a:r>
            <a:r>
              <a:rPr lang="en-US" dirty="0" err="1"/>
              <a:t>Datya</a:t>
            </a:r>
            <a:r>
              <a:rPr lang="en-US" dirty="0"/>
              <a:t> is Found!!! So Why? How to remedy?</a:t>
            </a:r>
          </a:p>
          <a:p>
            <a:r>
              <a:rPr lang="en-US" dirty="0"/>
              <a:t>Go back to pipeline , click on Settings </a:t>
            </a:r>
            <a:r>
              <a:rPr lang="en-US" dirty="0" err="1"/>
              <a:t>afte</a:t>
            </a:r>
            <a:r>
              <a:rPr lang="en-US" dirty="0"/>
              <a:t> select copy activity / Fault tolerance , Skip </a:t>
            </a:r>
            <a:r>
              <a:rPr lang="en-US" dirty="0" err="1"/>
              <a:t>incompoatable</a:t>
            </a:r>
            <a:r>
              <a:rPr lang="en-US" dirty="0"/>
              <a:t> rows as shown, and not logging..</a:t>
            </a:r>
          </a:p>
          <a:p>
            <a:r>
              <a:rPr lang="en-US" dirty="0"/>
              <a:t>Save and RUN ! </a:t>
            </a:r>
          </a:p>
          <a:p>
            <a:r>
              <a:rPr lang="en-US" dirty="0"/>
              <a:t>Read the meat </a:t>
            </a:r>
            <a:r>
              <a:rPr lang="en-US" dirty="0" err="1"/>
              <a:t>dat</a:t>
            </a:r>
            <a:r>
              <a:rPr lang="en-US" dirty="0"/>
              <a:t> on the output at top of the output JSON.</a:t>
            </a:r>
          </a:p>
          <a:p>
            <a:r>
              <a:rPr lang="en-US" dirty="0"/>
              <a:t>Go back to Bronze and check it 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212175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 For Loop Needed, goes to look at files </a:t>
            </a:r>
          </a:p>
          <a:p>
            <a:r>
              <a:rPr lang="en-US" dirty="0"/>
              <a:t>Lets say along with these files you had More more file , which you did not want to ingest , we leverage the for loop. </a:t>
            </a:r>
          </a:p>
          <a:p>
            <a:r>
              <a:rPr lang="en-US" dirty="0"/>
              <a:t>Iterations… San array of say numbers , and </a:t>
            </a:r>
            <a:r>
              <a:rPr lang="en-US" dirty="0" err="1"/>
              <a:t>terxt</a:t>
            </a:r>
            <a:r>
              <a:rPr lang="en-US" dirty="0"/>
              <a:t>.  Wil run on the iterations of the array. So above we don’t want to read </a:t>
            </a:r>
            <a:r>
              <a:rPr lang="en-US" dirty="0" err="1"/>
              <a:t>thye</a:t>
            </a:r>
            <a:r>
              <a:rPr lang="en-US" dirty="0"/>
              <a:t> last file , as shown above , in the azure folder</a:t>
            </a:r>
          </a:p>
          <a:p>
            <a:r>
              <a:rPr lang="en-US" dirty="0"/>
              <a:t>We create a new pipeline , we pick copy and delete to get empty pipeline ,</a:t>
            </a:r>
          </a:p>
          <a:p>
            <a:r>
              <a:rPr lang="en-US" dirty="0"/>
              <a:t>Find the For Each Block , near the bottom. </a:t>
            </a:r>
          </a:p>
          <a:p>
            <a:r>
              <a:rPr lang="en-US" dirty="0"/>
              <a:t>We need to provide an array of file names , we perform the copy activity 1 by 1 </a:t>
            </a:r>
          </a:p>
          <a:p>
            <a:r>
              <a:rPr lang="en-US" dirty="0"/>
              <a:t>Configure the copy to take the file name from the array. </a:t>
            </a:r>
          </a:p>
          <a:p>
            <a:r>
              <a:rPr lang="en-US" dirty="0"/>
              <a:t>Go add copy activity and in the settings use Brose to go to the files directory </a:t>
            </a:r>
            <a:r>
              <a:rPr lang="en-US" dirty="0" err="1"/>
              <a:t>source_csv</a:t>
            </a:r>
            <a:r>
              <a:rPr lang="en-US" dirty="0"/>
              <a:t>, there is a folder raw files , go in to look but done pick any files, OK</a:t>
            </a:r>
          </a:p>
          <a:p>
            <a:r>
              <a:rPr lang="en-US" dirty="0"/>
              <a:t>Note now there is no value for filename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399379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value for filename in Source settings , the value will be given by For Each </a:t>
            </a:r>
          </a:p>
          <a:p>
            <a:r>
              <a:rPr lang="en-US" dirty="0"/>
              <a:t>Now we set the destination. New directory in Bronze Lakehouse ..fill in name. </a:t>
            </a:r>
          </a:p>
          <a:p>
            <a:r>
              <a:rPr lang="en-US" dirty="0"/>
              <a:t>We leave the filenames blank. Filename comes from the loop. </a:t>
            </a:r>
          </a:p>
          <a:p>
            <a:r>
              <a:rPr lang="en-US" dirty="0"/>
              <a:t>We need to put thew Copy Activity inside the Control Loop.  Click on the Copy Block , </a:t>
            </a:r>
            <a:r>
              <a:rPr lang="en-US" dirty="0" err="1"/>
              <a:t>Contol</a:t>
            </a:r>
            <a:r>
              <a:rPr lang="en-US" dirty="0"/>
              <a:t> X , Click on the pencil , to go inside the For Loop </a:t>
            </a:r>
          </a:p>
          <a:p>
            <a:r>
              <a:rPr lang="en-US" dirty="0"/>
              <a:t>You are now in the For Each Block. , Click on main canvas to go back to </a:t>
            </a:r>
            <a:r>
              <a:rPr lang="en-US" dirty="0" err="1"/>
              <a:t>ForEach</a:t>
            </a:r>
            <a:r>
              <a:rPr lang="en-US" dirty="0"/>
              <a:t> Block </a:t>
            </a:r>
          </a:p>
          <a:p>
            <a:r>
              <a:rPr lang="en-US" dirty="0"/>
              <a:t>Where is the array.</a:t>
            </a:r>
          </a:p>
          <a:p>
            <a:r>
              <a:rPr lang="en-US" dirty="0"/>
              <a:t>Go into Settings (Red Mark), where are the items. </a:t>
            </a:r>
          </a:p>
          <a:p>
            <a:r>
              <a:rPr lang="en-US" dirty="0"/>
              <a:t>Few options to bring in array , see overleaf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29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29027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the Canvas , go into parameters, for the </a:t>
            </a:r>
            <a:r>
              <a:rPr lang="en-US" dirty="0" err="1"/>
              <a:t>arry</a:t>
            </a:r>
            <a:r>
              <a:rPr lang="en-US" dirty="0"/>
              <a:t>. New, provided names , array , and define the array. </a:t>
            </a:r>
          </a:p>
          <a:p>
            <a:r>
              <a:rPr lang="en-US" dirty="0"/>
              <a:t>Go to </a:t>
            </a:r>
            <a:r>
              <a:rPr lang="en-US" dirty="0" err="1"/>
              <a:t>datalake</a:t>
            </a:r>
            <a:r>
              <a:rPr lang="en-US" dirty="0"/>
              <a:t> in azure  , and copy each of the names into the array , copy and paste , creates it in Notepad. All in double quotes , one by one</a:t>
            </a:r>
          </a:p>
          <a:p>
            <a:r>
              <a:rPr lang="en-US" dirty="0"/>
              <a:t>[paste in default value , now we have provided the parameter to the foreach and then to copy block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827148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on For Each Block , to set the settings , Do we want to follow sequence , if yes check sequence, else no. </a:t>
            </a:r>
          </a:p>
          <a:p>
            <a:r>
              <a:rPr lang="en-US" dirty="0"/>
              <a:t>Lets go non sequential ..its then in parallel. </a:t>
            </a:r>
          </a:p>
          <a:p>
            <a:r>
              <a:rPr lang="en-US" dirty="0"/>
              <a:t>Now we need to provide the items. </a:t>
            </a:r>
          </a:p>
          <a:p>
            <a:r>
              <a:rPr lang="en-US" dirty="0"/>
              <a:t>Add dynamic content .. Under items , we have just set the parameter , and it opens the screen </a:t>
            </a:r>
          </a:p>
          <a:p>
            <a:r>
              <a:rPr lang="en-US" dirty="0"/>
              <a:t>We write expression in </a:t>
            </a:r>
            <a:r>
              <a:rPr lang="en-US" dirty="0" err="1"/>
              <a:t>expressioin</a:t>
            </a:r>
            <a:r>
              <a:rPr lang="en-US" dirty="0"/>
              <a:t> builder.  But we see we have menu items , pick parameter, and it automatically writes code for you </a:t>
            </a:r>
          </a:p>
          <a:p>
            <a:r>
              <a:rPr lang="en-US" dirty="0"/>
              <a:t>Go to activity ..and it shows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807596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TO PROVIDE FILENAME , ELSE IT WILL COPY ALL AT ONCE ..there may be unwanted files there </a:t>
            </a:r>
          </a:p>
          <a:p>
            <a:r>
              <a:rPr lang="en-US" dirty="0"/>
              <a:t>You need to add dynamic content (Expression builder) ..PICK FOR EACH iterator  , and See the For Each File </a:t>
            </a:r>
          </a:p>
          <a:p>
            <a:r>
              <a:rPr lang="en-US" dirty="0"/>
              <a:t>@item is the iterator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19322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and destination is the iterator , file </a:t>
            </a:r>
            <a:r>
              <a:rPr lang="en-US" dirty="0" err="1"/>
              <a:t>fornmat</a:t>
            </a:r>
            <a:r>
              <a:rPr lang="en-US" dirty="0"/>
              <a:t> csv, Text </a:t>
            </a:r>
            <a:r>
              <a:rPr lang="en-US" dirty="0" err="1"/>
              <a:t>deliomited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3379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upload a random file , so that he can show that file </a:t>
            </a:r>
            <a:r>
              <a:rPr lang="en-US" dirty="0" err="1"/>
              <a:t>wil</a:t>
            </a:r>
            <a:r>
              <a:rPr lang="en-US" dirty="0"/>
              <a:t> not be chosen amongst the at @item , in the place of a blank in the source and destination part. The @item represents the array in the Foreach part.</a:t>
            </a:r>
          </a:p>
          <a:p>
            <a:r>
              <a:rPr lang="en-US" dirty="0"/>
              <a:t>See the product category file was not part of the </a:t>
            </a:r>
            <a:r>
              <a:rPr lang="en-US" dirty="0" err="1"/>
              <a:t>arry</a:t>
            </a:r>
            <a:r>
              <a:rPr lang="en-US" dirty="0"/>
              <a:t> but is in the source folder, the last file</a:t>
            </a:r>
          </a:p>
          <a:p>
            <a:r>
              <a:rPr lang="en-US" dirty="0"/>
              <a:t>Home Validate and Run </a:t>
            </a:r>
          </a:p>
          <a:p>
            <a:r>
              <a:rPr lang="en-US" dirty="0"/>
              <a:t>Note that because it’s a parameter value , as it runs it ask for the parameter value.. It has got a default value though. </a:t>
            </a:r>
            <a:r>
              <a:rPr lang="en-US" dirty="0" err="1"/>
              <a:t>Wre</a:t>
            </a:r>
            <a:r>
              <a:rPr lang="en-US" dirty="0"/>
              <a:t> would not want to change this , now.</a:t>
            </a:r>
          </a:p>
          <a:p>
            <a:r>
              <a:rPr lang="en-US" dirty="0"/>
              <a:t>Note while its running on the output u have this drop down.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36987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Wer</a:t>
            </a:r>
            <a:r>
              <a:rPr lang="en-US" dirty="0"/>
              <a:t> could see before the end that only 6 were chosen , an indication that this is correct. All Succeeded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20669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 has this folder and uploads a parquet file, we have all types </a:t>
            </a:r>
          </a:p>
          <a:p>
            <a:r>
              <a:rPr lang="en-US" dirty="0"/>
              <a:t>We </a:t>
            </a:r>
            <a:r>
              <a:rPr lang="en-US" dirty="0" err="1"/>
              <a:t>wnt</a:t>
            </a:r>
            <a:r>
              <a:rPr lang="en-US" dirty="0"/>
              <a:t> to fetch the details of a file – Get </a:t>
            </a:r>
            <a:r>
              <a:rPr lang="en-US" dirty="0" err="1"/>
              <a:t>Metdata</a:t>
            </a:r>
            <a:r>
              <a:rPr lang="en-US" dirty="0"/>
              <a:t>, file or folder </a:t>
            </a:r>
          </a:p>
          <a:p>
            <a:r>
              <a:rPr lang="en-US" dirty="0"/>
              <a:t>Last modified , schema </a:t>
            </a:r>
            <a:r>
              <a:rPr lang="en-US" dirty="0" err="1"/>
              <a:t>etc</a:t>
            </a:r>
            <a:r>
              <a:rPr lang="en-US" dirty="0"/>
              <a:t>  for files </a:t>
            </a:r>
          </a:p>
          <a:p>
            <a:r>
              <a:rPr lang="en-US" dirty="0"/>
              <a:t>What about folders ?, what info you can get , list all the file , </a:t>
            </a:r>
            <a:r>
              <a:rPr lang="en-US" dirty="0" err="1"/>
              <a:t>wew</a:t>
            </a:r>
            <a:r>
              <a:rPr lang="en-US" dirty="0"/>
              <a:t> first pick a file , say we want structure </a:t>
            </a:r>
          </a:p>
          <a:p>
            <a:r>
              <a:rPr lang="en-US" dirty="0"/>
              <a:t>We can get the file structure , </a:t>
            </a:r>
            <a:r>
              <a:rPr lang="en-US" dirty="0" err="1"/>
              <a:t>ie</a:t>
            </a:r>
            <a:r>
              <a:rPr lang="en-US" dirty="0"/>
              <a:t> the columns and Type which are NB for us. Click on output tab and click on output </a:t>
            </a:r>
            <a:r>
              <a:rPr lang="en-US" dirty="0" err="1"/>
              <a:t>url</a:t>
            </a:r>
            <a:r>
              <a:rPr lang="en-US" dirty="0"/>
              <a:t>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15291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out the filename. Now its presumed folder , the possible arguments will change ,. Try child items </a:t>
            </a:r>
          </a:p>
          <a:p>
            <a:r>
              <a:rPr lang="en-US" dirty="0"/>
              <a:t>Can run </a:t>
            </a:r>
            <a:r>
              <a:rPr lang="en-US" dirty="0" err="1"/>
              <a:t>mulktiple</a:t>
            </a:r>
            <a:r>
              <a:rPr lang="en-US" dirty="0"/>
              <a:t> meta </a:t>
            </a:r>
            <a:r>
              <a:rPr lang="en-US" dirty="0" err="1"/>
              <a:t>dat</a:t>
            </a:r>
            <a:r>
              <a:rPr lang="en-US" dirty="0"/>
              <a:t> for different things based on files or folders </a:t>
            </a:r>
          </a:p>
          <a:p>
            <a:r>
              <a:rPr lang="en-US" dirty="0"/>
              <a:t>Question ..how can we use the output of this  activity later on in the pipeline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38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22718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an </a:t>
            </a:r>
            <a:r>
              <a:rPr lang="en-US" dirty="0" err="1"/>
              <a:t>array.from</a:t>
            </a:r>
            <a:r>
              <a:rPr lang="en-US" dirty="0"/>
              <a:t> the Get Metadata block, </a:t>
            </a:r>
          </a:p>
          <a:p>
            <a:r>
              <a:rPr lang="en-US" dirty="0"/>
              <a:t>I want to filter records that are parquet files for our purposes.</a:t>
            </a:r>
          </a:p>
          <a:p>
            <a:r>
              <a:rPr lang="en-US" dirty="0"/>
              <a:t>Filter activity </a:t>
            </a:r>
            <a:r>
              <a:rPr lang="en-US" dirty="0" err="1"/>
              <a:t>goues</a:t>
            </a:r>
            <a:r>
              <a:rPr lang="en-US" dirty="0"/>
              <a:t> through a for </a:t>
            </a:r>
            <a:r>
              <a:rPr lang="en-US" dirty="0" err="1"/>
              <a:t>loopp</a:t>
            </a:r>
            <a:r>
              <a:rPr lang="en-US" dirty="0"/>
              <a:t> In the above </a:t>
            </a:r>
            <a:r>
              <a:rPr lang="en-US" dirty="0" err="1"/>
              <a:t>itys</a:t>
            </a:r>
            <a:r>
              <a:rPr lang="en-US" dirty="0"/>
              <a:t> </a:t>
            </a:r>
            <a:r>
              <a:rPr lang="en-US" dirty="0" err="1"/>
              <a:t>csvs</a:t>
            </a:r>
            <a:r>
              <a:rPr lang="en-US" dirty="0"/>
              <a:t>, but mor my purposes its parquet,</a:t>
            </a:r>
          </a:p>
          <a:p>
            <a:r>
              <a:rPr lang="en-US" dirty="0"/>
              <a:t>As shown above we apply a condition, we use an iterator. Shows use of @ </a:t>
            </a:r>
            <a:r>
              <a:rPr lang="en-US" dirty="0" err="1"/>
              <a:t>item..@item</a:t>
            </a:r>
            <a:r>
              <a:rPr lang="en-US" dirty="0"/>
              <a:t>().name </a:t>
            </a:r>
          </a:p>
          <a:p>
            <a:r>
              <a:rPr lang="en-US" dirty="0"/>
              <a:t>If the name contains .csv , then pass it or ignore it.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1189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add dynamic content ; for items and go to expression builder , and choose the choice </a:t>
            </a:r>
          </a:p>
          <a:p>
            <a:r>
              <a:rPr lang="en-US" dirty="0"/>
              <a:t>Here it will be child items </a:t>
            </a:r>
            <a:r>
              <a:rPr lang="en-US" dirty="0" err="1"/>
              <a:t>ie</a:t>
            </a:r>
            <a:r>
              <a:rPr lang="en-US" dirty="0"/>
              <a:t> .</a:t>
            </a:r>
            <a:r>
              <a:rPr lang="en-US" dirty="0" err="1"/>
              <a:t>output.childItems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now need to put in the condition… in collections there is contains ..</a:t>
            </a:r>
            <a:r>
              <a:rPr lang="en-US" dirty="0" err="1"/>
              <a:t>ie</a:t>
            </a:r>
            <a:r>
              <a:rPr lang="en-US" dirty="0"/>
              <a:t> </a:t>
            </a:r>
            <a:r>
              <a:rPr lang="en-Z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@contains(item().name,’parquet')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07226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can do something wit the output of the filter with another for each </a:t>
            </a:r>
          </a:p>
          <a:p>
            <a:r>
              <a:rPr lang="en-US" dirty="0"/>
              <a:t>Go to settings , items , dynamic expressions , called Filter Parquet </a:t>
            </a:r>
          </a:p>
          <a:p>
            <a:r>
              <a:rPr lang="en-US" dirty="0"/>
              <a:t>Note in the expression builder ..</a:t>
            </a:r>
            <a:r>
              <a:rPr lang="en-US" dirty="0" err="1"/>
              <a:t>output.value</a:t>
            </a:r>
            <a:r>
              <a:rPr lang="en-US" dirty="0"/>
              <a:t>   as the output is Jason and there is a key value pair , must take the value bit,  remember </a:t>
            </a:r>
            <a:r>
              <a:rPr lang="en-US" dirty="0" err="1"/>
              <a:t>wew</a:t>
            </a:r>
            <a:r>
              <a:rPr lang="en-US" dirty="0"/>
              <a:t> have to choose all of them , not just one of them. As there are many parquet files , so we iterate through each of the values. </a:t>
            </a:r>
          </a:p>
          <a:p>
            <a:r>
              <a:rPr lang="en-US" dirty="0"/>
              <a:t>Go inside the canvas , get if condition , go to activities areas (Expression)</a:t>
            </a:r>
          </a:p>
          <a:p>
            <a:endParaRPr lang="en-US" dirty="0"/>
          </a:p>
          <a:p>
            <a:r>
              <a:rPr lang="en-US" dirty="0"/>
              <a:t>Note the If </a:t>
            </a:r>
            <a:r>
              <a:rPr lang="en-US" dirty="0" err="1"/>
              <a:t>contion</a:t>
            </a:r>
            <a:r>
              <a:rPr lang="en-US" dirty="0"/>
              <a:t> , @item()is all the items , we iterate through them , looking for the first file </a:t>
            </a:r>
          </a:p>
          <a:p>
            <a:r>
              <a:rPr lang="en-US" dirty="0"/>
              <a:t>Note on bottom right you </a:t>
            </a:r>
            <a:r>
              <a:rPr lang="en-US" dirty="0" err="1"/>
              <a:t>canj</a:t>
            </a:r>
            <a:r>
              <a:rPr lang="en-US" dirty="0"/>
              <a:t> perform 1 activity  if correct and another of False. </a:t>
            </a:r>
          </a:p>
          <a:p>
            <a:endParaRPr lang="en-US" dirty="0"/>
          </a:p>
          <a:p>
            <a:r>
              <a:rPr lang="en-US" dirty="0"/>
              <a:t>You can choose 1 or the other or both activities. Now we want </a:t>
            </a:r>
            <a:r>
              <a:rPr lang="en-US" dirty="0" err="1"/>
              <a:t>tpo</a:t>
            </a:r>
            <a:r>
              <a:rPr lang="en-US" dirty="0"/>
              <a:t> show a delete activity.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5080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have adynamic expression , from expression builder (NB: you are taking the @ item.name , from the For Each iterator as the input to the </a:t>
            </a:r>
            <a:r>
              <a:rPr lang="en-US" dirty="0" err="1"/>
              <a:t>ezpression</a:t>
            </a:r>
            <a:r>
              <a:rPr lang="en-US" dirty="0"/>
              <a:t> </a:t>
            </a:r>
            <a:r>
              <a:rPr lang="en-US" dirty="0" err="1"/>
              <a:t>ie</a:t>
            </a:r>
            <a:r>
              <a:rPr lang="en-US" dirty="0"/>
              <a:t> the if expression </a:t>
            </a:r>
            <a:r>
              <a:rPr lang="en-Z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@equals('yellow_tripdata_2024-02.parquet',item().name), see image above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518016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now use the Edit pencil to add the delete activity for the true case , see the delete function , @ item.name… we are not looking for the input to the fore each here.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Note: what is coming into the If expression is the </a:t>
            </a:r>
            <a:r>
              <a:rPr lang="en-US" dirty="0" err="1"/>
              <a:t>oiterator</a:t>
            </a:r>
            <a:r>
              <a:rPr lang="en-US" dirty="0"/>
              <a:t> value which it item().name  - we are using this in the if expression, so the files in the destination of the delete block , must be referred to as item().name, and it can only delete the one file that matched the expression. @ item()..is already Value…sole we want the name associated with Value.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9469376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select a set variable activity , to count the </a:t>
            </a:r>
            <a:r>
              <a:rPr lang="en-US" dirty="0" err="1"/>
              <a:t>num,ber</a:t>
            </a:r>
            <a:r>
              <a:rPr lang="en-US" dirty="0"/>
              <a:t> of files her , we are going to set the variable. Activity.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29716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got the deleted file back</a:t>
            </a:r>
          </a:p>
          <a:p>
            <a:r>
              <a:rPr lang="en-US" dirty="0"/>
              <a:t>Go to the variables and create v-files…, then go to canvas, ask for variable block and join it onto the filter block. Then go to settings option and set the </a:t>
            </a:r>
            <a:r>
              <a:rPr lang="en-US" dirty="0" err="1"/>
              <a:t>v_files</a:t>
            </a:r>
            <a:r>
              <a:rPr lang="en-US" dirty="0"/>
              <a:t> to the right and the value is the length of the array (dynamic as shown above , OK , it will store number of files into your variable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51734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of number of variables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26603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for notifications </a:t>
            </a:r>
            <a:r>
              <a:rPr lang="en-US" dirty="0" err="1"/>
              <a:t>acttibvity</a:t>
            </a:r>
            <a:r>
              <a:rPr lang="en-US" dirty="0"/>
              <a:t> , based on failure or </a:t>
            </a:r>
            <a:r>
              <a:rPr lang="en-US" dirty="0" err="1"/>
              <a:t>success..get</a:t>
            </a:r>
            <a:r>
              <a:rPr lang="en-US" dirty="0"/>
              <a:t> the email and click on the failure node of foreach , red , we need to be </a:t>
            </a:r>
            <a:r>
              <a:rPr lang="en-US" dirty="0" err="1"/>
              <a:t>notiufied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Orchestration: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49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064135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in the Invoke Pipeline Preview mode example: This activity runs the whole pipeline ..(Select Fabric and More / Fabric Data Pipelines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67616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call the data ingestion Pipeline , note we have parameters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072136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they joined and the second </a:t>
            </a:r>
            <a:r>
              <a:rPr lang="en-US" dirty="0" err="1"/>
              <a:t>pipekline</a:t>
            </a:r>
            <a:r>
              <a:rPr lang="en-US" dirty="0"/>
              <a:t> was wait and complete the other pipeline , they are joined and depend on each other </a:t>
            </a:r>
          </a:p>
          <a:p>
            <a:endParaRPr lang="en-US" dirty="0"/>
          </a:p>
          <a:p>
            <a:r>
              <a:rPr lang="en-US" dirty="0"/>
              <a:t>Error , Could Not invoke the </a:t>
            </a:r>
            <a:r>
              <a:rPr lang="en-US" dirty="0" err="1"/>
              <a:t>Ingrsetion</a:t>
            </a:r>
            <a:r>
              <a:rPr lang="en-US" dirty="0"/>
              <a:t> Pipeline, from Parent  but it runs by itself…Try renaming that pipeline ..and begin again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958469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developed the meta data ingest pipeline to parameterize the file I wanted to delete (pipeline called </a:t>
            </a:r>
            <a:r>
              <a:rPr lang="en-US" dirty="0" err="1"/>
              <a:t>Metadata_After_Ingest_VarFilename</a:t>
            </a:r>
            <a:r>
              <a:rPr lang="en-US" dirty="0"/>
              <a:t>)</a:t>
            </a:r>
          </a:p>
          <a:p>
            <a:pPr marL="228600" indent="-228600">
              <a:buAutoNum type="arabicParenR"/>
            </a:pPr>
            <a:r>
              <a:rPr lang="en-US" dirty="0"/>
              <a:t>This file was in the list of files, that came out of the filtered data for parquet.</a:t>
            </a:r>
          </a:p>
          <a:p>
            <a:pPr marL="228600" indent="-228600">
              <a:buAutoNum type="arabicParenR"/>
            </a:pPr>
            <a:r>
              <a:rPr lang="en-US" dirty="0" err="1"/>
              <a:t>Thye</a:t>
            </a:r>
            <a:r>
              <a:rPr lang="en-US" dirty="0"/>
              <a:t> file was previously set inside the comparison field as a dynamic expression </a:t>
            </a:r>
            <a:r>
              <a:rPr lang="en-US" dirty="0" err="1"/>
              <a:t>ie</a:t>
            </a:r>
            <a:r>
              <a:rPr lang="en-US" dirty="0"/>
              <a:t>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/>
              <a:t>Inside the if block in the expression it was </a:t>
            </a:r>
            <a:r>
              <a:rPr lang="en-Z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@equals('yellow_tripdata_2024-03.parquet',item().name)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Z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we make that filename a variable , and set it in the Set variable block and at the start 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Z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Shown above is the full pipeline , showing all succeeded ..</a:t>
            </a:r>
            <a:r>
              <a:rPr lang="en-ZA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mainl;y</a:t>
            </a:r>
            <a:r>
              <a:rPr lang="en-Z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delete file at the end ..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ZA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this stage there were only 3 files coming in , of which one was deleted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377150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Here you can see there are 2 variable inputs.. Ignore </a:t>
            </a:r>
            <a:r>
              <a:rPr lang="en-US" dirty="0" err="1"/>
              <a:t>v_files</a:t>
            </a:r>
            <a:r>
              <a:rPr lang="en-US" dirty="0"/>
              <a:t> ..it comes from another pipeline which will be joined to this</a:t>
            </a:r>
          </a:p>
          <a:p>
            <a:pPr marL="228600" indent="-228600">
              <a:buAutoNum type="arabicParenR"/>
            </a:pPr>
            <a:r>
              <a:rPr lang="en-US" dirty="0"/>
              <a:t>We just register the variable here (see image to right): Note that the file is not in inverted commas , as will be in the set variable block  </a:t>
            </a:r>
          </a:p>
          <a:p>
            <a:pPr marL="228600" indent="-228600">
              <a:buAutoNum type="arabicParenR"/>
            </a:pPr>
            <a:r>
              <a:rPr lang="en-US" dirty="0"/>
              <a:t>We have now put a set variable block into the previous pipeline NB: NOTE THE FILENAME IS NOT IN COMMAS: yellow_tripdata_2024-03.parquet</a:t>
            </a:r>
          </a:p>
          <a:p>
            <a:pPr marL="228600" indent="-228600">
              <a:buAutoNum type="arabicParenR"/>
            </a:pPr>
            <a:endParaRPr lang="en-US" dirty="0"/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74315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</a:t>
            </a:r>
            <a:r>
              <a:rPr lang="en-US" dirty="0" err="1"/>
              <a:t>ForeAch</a:t>
            </a:r>
            <a:r>
              <a:rPr lang="en-US" dirty="0"/>
              <a:t> </a:t>
            </a:r>
            <a:r>
              <a:rPr lang="en-US" dirty="0" err="1"/>
              <a:t>bloch</a:t>
            </a:r>
            <a:r>
              <a:rPr lang="en-US" dirty="0"/>
              <a:t> we still have same expression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7050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Workspace ..new item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59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923911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 Run , </a:t>
            </a:r>
            <a:r>
              <a:rPr lang="en-US" dirty="0" err="1"/>
              <a:t>everyt</a:t>
            </a:r>
            <a:r>
              <a:rPr lang="en-US" dirty="0"/>
              <a:t> hour …se </a:t>
            </a:r>
            <a:r>
              <a:rPr lang="en-US" dirty="0" err="1"/>
              <a:t>examp;le</a:t>
            </a:r>
            <a:r>
              <a:rPr lang="en-US" dirty="0"/>
              <a:t> above , every hour every day.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86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13776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events , what to do , bit different to what I get ..he is running older version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87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637861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View , view run history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88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11521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you see all the runs, Or you can filter for those you want </a:t>
            </a:r>
            <a:r>
              <a:rPr lang="en-US" dirty="0" err="1"/>
              <a:t>ie</a:t>
            </a:r>
            <a:r>
              <a:rPr lang="en-US" dirty="0"/>
              <a:t> say pipelines!</a:t>
            </a:r>
          </a:p>
          <a:p>
            <a:r>
              <a:rPr lang="en-US" dirty="0"/>
              <a:t>You </a:t>
            </a:r>
            <a:r>
              <a:rPr lang="en-US" dirty="0" err="1"/>
              <a:t>canm</a:t>
            </a:r>
            <a:r>
              <a:rPr lang="en-US" dirty="0"/>
              <a:t> apply filter on Status to get all failed pipelines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89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626534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and duration , time , lots of filtering options. 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6BF0D-08FC-4CF2-8F18-07FB08671681}" type="slidenum">
              <a:rPr lang="en-ZA" smtClean="0"/>
              <a:t>90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4716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0A393-22E5-E56D-F0E9-D94F833BD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8C6EC-E3F5-65B9-A4DA-83E0AAC1C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1B846-787A-E8B8-7354-834A690D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AD875-58E0-7DF1-A546-295854EFD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72F3A-7C14-192E-4426-9F99D07F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67111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4254A-CCF0-82A9-27E7-A6A15E39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B8596-B133-B909-ABB5-8B4F12B0E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2EEB6-036A-3466-35AF-28D4D5AA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1E371-7375-E679-43DD-4DF91EAC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5EEF-3616-94F8-5C2D-A32DCF6D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4196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F1E6-2CE8-40C8-D5DF-551514E6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8A930-7F20-7312-0A49-592F0A853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56EB9-73CC-A919-39B2-55256F4E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F7909-6A5A-12E7-D89D-A92A1B8A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9DF94-9543-FEC7-B6A9-07FBBE21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057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E779-C2B2-C566-300D-ECE3EA09F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BD71B-2154-D84F-4D9A-3B9BC36DC4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C507B-7A76-0F9D-1001-EE0088919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174D2-F916-3455-33DD-BB232974E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C80B3-5F76-D8CD-936F-023C301A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15A97-CA39-4B61-0F6A-D78819BC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6518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1212-5CB2-A1FD-5CD5-8D0EEA43F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C898D-6305-F624-4603-68EC91FAA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9130C-1B50-1480-2C41-2F69C9158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D4B4A-3BC3-9162-8687-D0AFD01A1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721DB-4EF1-7150-EA76-6272E0350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EFFA1-6AE6-ACB2-EE4D-20811DF0C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5F65BE-4808-F080-FD97-502E16E6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473DB-FD17-E454-6940-1503481D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019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9746-4E53-42A6-98E1-9E36E6ED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62FFD-95BA-7EFB-E8F9-B00BA16C9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5B8EB-822C-00F4-3C8D-F946D0E73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EE49-B158-7234-09F2-C4A8999A3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224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4AEFCC-B238-1912-CAD1-C72445C75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17CAF-29E8-F4FE-5658-D253AFA2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1910A-E234-1075-838B-8072B53E0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9496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EEDA-A202-73B6-337D-26FE1D296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53AE1-8E33-0EE2-7FBA-2EB3CF1E3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823AD-90D2-5F18-2773-7AFFA3F9D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EE50E-CE7F-3097-85A1-773E3E12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CFB4C-E7E7-35D2-E1C1-C11BC8B2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F730A-2153-9662-B8C0-65CBF4C92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887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47405-5FFE-1FAC-9716-A060A2E20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A2323B-B385-AB85-1A63-0A687724C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882E7-567F-A07F-77D1-B5CE98DF2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F2003-5D4F-1A63-FD58-E174F61BF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E243A-58DF-28B1-473F-27B935B28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21571-D1B8-DD55-499D-A5941B4E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483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E90CF-E6AE-931D-2C6E-6DA0C01A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80078-8374-7579-537A-CD7AF5338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B4DEB-660D-38E3-B862-D8EAF51C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49C75-412B-953C-3373-30430142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3DAC3-BFB0-E816-A993-CF28B4FC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78162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285373-E3FF-A212-5F86-1ED8F8040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98F71-CFC5-DEF0-1D6D-43A16A9BB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6E90B-8F81-8D98-5DB8-9B568B0F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5E7AF-F976-2D0B-A67D-5B3E06BBB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158B4-9347-467F-BFDB-E9AD5D95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094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06306-B904-77F9-CFCF-F8866CEB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10C60-C208-3BFE-8974-BA9D4F9DE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49EDD-CDAE-1844-E5AF-5DDDEAE07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C5F53-0D52-4E81-9E21-C03619D02BBA}" type="datetimeFigureOut">
              <a:rPr lang="en-ZA" smtClean="0"/>
              <a:t>2025/09/09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893C9-644C-260F-615C-924E0397D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7418-D000-20E9-9893-1C0814D9F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86355-10EB-4558-B3BF-B0A792059B2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4983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mailto:..@ite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1.png"/><Relationship Id="rId4" Type="http://schemas.openxmlformats.org/officeDocument/2006/relationships/image" Target="../media/image13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03D48-54A3-5E14-182E-CC2B6860E5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DP700 Exam Prep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40031-C244-3C1F-D69F-6564C9E7D9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8517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9ACD7-4020-8FC8-5CAC-1E150CC1A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4431"/>
          </a:xfrm>
        </p:spPr>
        <p:txBody>
          <a:bodyPr>
            <a:normAutofit fontScale="90000"/>
          </a:bodyPr>
          <a:lstStyle/>
          <a:p>
            <a:r>
              <a:rPr lang="en-US" dirty="0"/>
              <a:t>33. External Short Cuts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3FFD6D-CAA7-209A-9295-E9AA254AA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257" y="1163618"/>
            <a:ext cx="6158065" cy="2882289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CA3378-8AEF-BDAB-B66E-15A0D8686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63" y="4320429"/>
            <a:ext cx="5080930" cy="226012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510B5C-1F32-D30E-DA93-892B307E0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181" y="4537740"/>
            <a:ext cx="5191456" cy="204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19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544A-F69E-4921-4060-DAA6A717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4535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Continued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1039A4-C828-FA85-24F0-812B88B29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2733" y="1148931"/>
            <a:ext cx="4630902" cy="240846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2A181A-DF7D-D1FB-EC95-F3F26FDB8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33" y="3940244"/>
            <a:ext cx="6883754" cy="2682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85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A0558-E8FF-BEA5-2442-498890BBB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078"/>
            <a:ext cx="10515600" cy="241013"/>
          </a:xfrm>
        </p:spPr>
        <p:txBody>
          <a:bodyPr>
            <a:normAutofit fontScale="90000"/>
          </a:bodyPr>
          <a:lstStyle/>
          <a:p>
            <a:r>
              <a:rPr lang="en-US" dirty="0"/>
              <a:t>Creating the external shortcut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96329D-504E-0A2E-A2DF-FC8A955DC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3384" y="761927"/>
            <a:ext cx="2692538" cy="1568531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146965-7F79-A149-1028-090D1620E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708" y="634215"/>
            <a:ext cx="4515082" cy="18210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96E6E1-E0C4-7A1E-B62F-923F9C402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35" y="2605183"/>
            <a:ext cx="4819898" cy="13589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0D741F-6AC4-3F6E-C212-A087FE9C8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6674" y="3964153"/>
            <a:ext cx="4407126" cy="22048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590F80-FDD3-8011-B6E7-E091ECBF40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024" y="3964153"/>
            <a:ext cx="5863225" cy="251698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3745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B8E1-D3D7-C2A1-9243-2B7A7EEFD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56B73-2C3B-0E15-769A-0031A785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1697"/>
          </a:xfrm>
        </p:spPr>
        <p:txBody>
          <a:bodyPr>
            <a:normAutofit fontScale="90000"/>
          </a:bodyPr>
          <a:lstStyle/>
          <a:p>
            <a:r>
              <a:rPr lang="en-US" dirty="0"/>
              <a:t>Complete the storage account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08E13C-0108-C0A9-C832-7B39395A3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876822"/>
            <a:ext cx="4673840" cy="160663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3CD6D1-4796-3117-EC41-4A720911A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910" y="1150456"/>
            <a:ext cx="4578585" cy="1530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BB12CB-B9B9-89CA-04A3-2FC8FE8143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28" y="2680885"/>
            <a:ext cx="5473981" cy="19304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D86142-BFE0-F867-3452-0CAAD3C811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0740" y="2680885"/>
            <a:ext cx="5078870" cy="19304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20D0EB-890E-D3A5-50C5-A1392FFA98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161" y="4938996"/>
            <a:ext cx="5681448" cy="14764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B1BA35-7BFE-6038-935A-070AE2B075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0740" y="4938996"/>
            <a:ext cx="5473981" cy="175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00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C74A1-1BED-E55A-F914-6CE68BF7B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C00D-6E45-4175-A11F-5BA0E347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 Lakehouse to ADLS Gen 2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9AE419-0287-0516-61FB-6679A0546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3990" y="3429000"/>
            <a:ext cx="7427615" cy="313150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630AED-74C0-D3E3-D263-19FC09D09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577954"/>
            <a:ext cx="6130020" cy="159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37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ADDA-2F93-FADA-15B4-08963A27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398B5-9531-E39F-A8EA-CEB7886E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23598"/>
          </a:xfrm>
        </p:spPr>
        <p:txBody>
          <a:bodyPr>
            <a:normAutofit fontScale="90000"/>
          </a:bodyPr>
          <a:lstStyle/>
          <a:p>
            <a:r>
              <a:rPr lang="en-US" dirty="0"/>
              <a:t>Caching in Shortcuts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239E65-A03E-012C-9C44-C776801C1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369" y="764942"/>
            <a:ext cx="5467631" cy="276874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6A85F3-9FD6-F4E7-F9E0-7F49BC2B5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82" y="3863903"/>
            <a:ext cx="6350326" cy="278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40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489B-C4CE-37C3-89BD-5A3860432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620C-AB72-E037-7654-23B819BF0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3536"/>
            <a:ext cx="10515600" cy="561801"/>
          </a:xfrm>
        </p:spPr>
        <p:txBody>
          <a:bodyPr>
            <a:normAutofit/>
          </a:bodyPr>
          <a:lstStyle/>
          <a:p>
            <a:r>
              <a:rPr lang="en-US" sz="2400" dirty="0"/>
              <a:t>How to set the caching ..go to Workspace , </a:t>
            </a:r>
            <a:r>
              <a:rPr lang="en-US" sz="2400" dirty="0" err="1"/>
              <a:t>Wspace</a:t>
            </a:r>
            <a:r>
              <a:rPr lang="en-US" sz="2400" dirty="0"/>
              <a:t> settings/ one lake 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8DA5B7-9514-BD96-B085-9897CA2BA9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4376" y="1600981"/>
            <a:ext cx="7112366" cy="3873699"/>
          </a:xfrm>
        </p:spPr>
      </p:pic>
    </p:spTree>
    <p:extLst>
      <p:ext uri="{BB962C8B-B14F-4D97-AF65-F5344CB8AC3E}">
        <p14:creationId xmlns:p14="http://schemas.microsoft.com/office/powerpoint/2010/main" val="3290469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6BCB1-83BE-D142-78E1-E8D4A4F61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CBDEE-3969-4C1B-7BA1-A140A2BBE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9171"/>
          </a:xfrm>
        </p:spPr>
        <p:txBody>
          <a:bodyPr>
            <a:normAutofit/>
          </a:bodyPr>
          <a:lstStyle/>
          <a:p>
            <a:r>
              <a:rPr lang="en-US" sz="2400" dirty="0"/>
              <a:t>He reupload the parquet filer ..the shortcut appears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7C8903-F33C-831C-9101-B3A16078B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095971"/>
            <a:ext cx="7277474" cy="262903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E5C106-736D-423A-2865-E4455CF7B9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13" y="3956681"/>
            <a:ext cx="6744047" cy="22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06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F0D27-B31A-8252-8EF5-98A377B37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E6AFA-BB54-5176-0986-628CC06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1489"/>
          </a:xfrm>
        </p:spPr>
        <p:txBody>
          <a:bodyPr>
            <a:normAutofit fontScale="90000"/>
          </a:bodyPr>
          <a:lstStyle/>
          <a:p>
            <a:r>
              <a:rPr lang="en-US" dirty="0"/>
              <a:t>35. Lakehouse with schema.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EEED3B-1860-C7E6-9AA6-2A8558E5E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361948"/>
            <a:ext cx="1549480" cy="112400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41DE7E-3F18-D87E-B3FA-FC22C284B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7120" y="1390524"/>
            <a:ext cx="1543129" cy="10668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24CE09-28AF-5B28-7ECF-A3F7134A9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919" y="1120634"/>
            <a:ext cx="2178162" cy="1606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09E0EE-0D14-7DBC-DCC3-FDDD9A5FE0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1751" y="760956"/>
            <a:ext cx="4168719" cy="2692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6D46A1-044D-D824-BC99-2BEC9D88D3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3099866"/>
            <a:ext cx="4629388" cy="18161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4DAD8F-8E82-C781-753B-BFABBA502D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1276" y="3844969"/>
            <a:ext cx="4540483" cy="18923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AE22F6-15AC-C104-9D80-21488E48AE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4478990"/>
            <a:ext cx="2063856" cy="210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116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421B-97A8-8F16-5968-3A2A7EFD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FFD02-4AF0-F716-2A8D-11C254976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dirty="0"/>
              <a:t>So now we create another folder as schema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DB7497-6364-DD48-38D7-E7943ADDE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5062" y="1390394"/>
            <a:ext cx="3002122" cy="232421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E48FA0-7C64-409B-EA56-6AFADF17C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2850" y="1231635"/>
            <a:ext cx="3157822" cy="24829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6B685C-4F55-7DDD-C3A7-2F8827205D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8402" y="1390394"/>
            <a:ext cx="2552831" cy="24766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B66B18-894B-F4FE-4795-A5B8862767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456" y="4059977"/>
            <a:ext cx="3226394" cy="23242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7CB443-31FA-74AA-C753-1458FC0F55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9868" y="4211907"/>
            <a:ext cx="3157822" cy="21722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28A314-E054-0387-02A3-53FE7F0F52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2309" y="4059977"/>
            <a:ext cx="4349974" cy="10484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33C8BC-3AF8-9224-9C29-4FA54F4268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8402" y="5467605"/>
            <a:ext cx="3815398" cy="128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16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C731F-201D-8B68-DE14-C852B9D81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E3B2-C590-1DFC-049F-4D1D2DE52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36. SQL Endpoint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3FF01B-7B54-BEA8-8E33-33C3E1125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47492" y="1488400"/>
            <a:ext cx="6039160" cy="2806844"/>
          </a:xfrm>
        </p:spPr>
      </p:pic>
    </p:spTree>
    <p:extLst>
      <p:ext uri="{BB962C8B-B14F-4D97-AF65-F5344CB8AC3E}">
        <p14:creationId xmlns:p14="http://schemas.microsoft.com/office/powerpoint/2010/main" val="1003126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0BC07-0F09-91AC-8EFF-D3A15878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D9D2-212F-CACF-DE1F-4038DE973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3931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</a:t>
            </a:r>
            <a:r>
              <a:rPr lang="en-US" dirty="0" err="1"/>
              <a:t>sql</a:t>
            </a:r>
            <a:r>
              <a:rPr lang="en-US" dirty="0"/>
              <a:t> endpoint of the Lakehouse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AFF931-ED85-934F-FB4E-E09A3AF911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147794"/>
            <a:ext cx="4483330" cy="246392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D88D2D-6CF2-EF64-D7E3-617F50E52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203" y="1147794"/>
            <a:ext cx="2692538" cy="2730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7415DF-50BA-D9C5-9992-AFCEB07802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255" y="1287501"/>
            <a:ext cx="2819545" cy="10922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FB1D64-152E-689A-AB40-07D723682D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698" y="3878434"/>
            <a:ext cx="3929725" cy="24639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FB927A-14DF-2805-26A9-FD0FB38794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6518" y="4348357"/>
            <a:ext cx="4483330" cy="199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04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F39D3-3BB1-336D-03B3-090B0C6BC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FF25-FFA1-6000-B778-094C456D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5784" y="2901061"/>
            <a:ext cx="6013704" cy="793115"/>
          </a:xfrm>
        </p:spPr>
        <p:txBody>
          <a:bodyPr/>
          <a:lstStyle/>
          <a:p>
            <a:r>
              <a:rPr lang="en-US" dirty="0"/>
              <a:t>6.0 Fabric Data Factory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80390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763EC-2D73-A69C-844A-AB7F8E57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979FF-7BD6-5525-E9B9-F76A83EF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 fontScale="90000"/>
          </a:bodyPr>
          <a:lstStyle/>
          <a:p>
            <a:r>
              <a:rPr lang="en-US" dirty="0"/>
              <a:t>37. Data Ingestion in Fabric (3 Ways)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AED13F-3492-5388-3BCC-8C0F3B10C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18362" y="2061038"/>
            <a:ext cx="8544838" cy="3827698"/>
          </a:xfrm>
        </p:spPr>
      </p:pic>
    </p:spTree>
    <p:extLst>
      <p:ext uri="{BB962C8B-B14F-4D97-AF65-F5344CB8AC3E}">
        <p14:creationId xmlns:p14="http://schemas.microsoft.com/office/powerpoint/2010/main" val="840143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A7777-4889-2B2C-890E-F7329D39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FF531-CB26-D00D-964C-4B2745BA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2971"/>
          </a:xfrm>
        </p:spPr>
        <p:txBody>
          <a:bodyPr>
            <a:normAutofit fontScale="90000"/>
          </a:bodyPr>
          <a:lstStyle/>
          <a:p>
            <a:r>
              <a:rPr lang="en-US" dirty="0"/>
              <a:t>38. What is Data Factory.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444848-C22B-08B2-8777-4315FCAF7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73880" y="1703423"/>
            <a:ext cx="7702946" cy="4057859"/>
          </a:xfrm>
        </p:spPr>
      </p:pic>
    </p:spTree>
    <p:extLst>
      <p:ext uri="{BB962C8B-B14F-4D97-AF65-F5344CB8AC3E}">
        <p14:creationId xmlns:p14="http://schemas.microsoft.com/office/powerpoint/2010/main" val="1858321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DEB63-17ED-D94B-4CC2-8AD10C951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BC691-3FE3-B020-3FD6-B51A37E2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39.0 FDF Overview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763167-8BFB-0287-74AB-D6D21B7A3D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8341" y="1142260"/>
            <a:ext cx="1543129" cy="132086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DF3645-8C4A-1E7F-CCC6-77D29369F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613" y="1027954"/>
            <a:ext cx="3664138" cy="15494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535BEA-D07A-F3C3-3C61-5EED9D81DE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894" y="846970"/>
            <a:ext cx="2076557" cy="19114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BAA6C9-0E55-819F-A9A2-3458845C6E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53" y="3038656"/>
            <a:ext cx="4285129" cy="29056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A4F554-A68C-94EA-897C-130EE1CB0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2273" y="2924350"/>
            <a:ext cx="6818715" cy="1356217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79829103-C4C8-DD7B-A10F-109DD2C8143F}"/>
              </a:ext>
            </a:extLst>
          </p:cNvPr>
          <p:cNvSpPr/>
          <p:nvPr/>
        </p:nvSpPr>
        <p:spPr>
          <a:xfrm>
            <a:off x="5722751" y="3523129"/>
            <a:ext cx="906649" cy="75743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3F8408-305F-EFFB-A1F0-BAA1237DE6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4076" y="4369671"/>
            <a:ext cx="958899" cy="22734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65D5CA0-A50D-9904-C6FE-E567EB5B82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1059" y="4374850"/>
            <a:ext cx="1314518" cy="22162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BE6ACE5-4970-937D-BD82-28085C8036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1478" y="4280567"/>
            <a:ext cx="1263715" cy="23115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532449D-B302-4B61-A264-F0D8EF05F7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28605" y="4212089"/>
            <a:ext cx="1314518" cy="55882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E9A34C3-58ED-A686-5DFF-B248B062C7E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28605" y="5239899"/>
            <a:ext cx="1358970" cy="1187511"/>
          </a:xfrm>
          <a:prstGeom prst="rect">
            <a:avLst/>
          </a:prstGeom>
        </p:spPr>
      </p:pic>
      <p:pic>
        <p:nvPicPr>
          <p:cNvPr id="25" name="Content Placeholder 4">
            <a:extLst>
              <a:ext uri="{FF2B5EF4-FFF2-40B4-BE49-F238E27FC236}">
                <a16:creationId xmlns:a16="http://schemas.microsoft.com/office/drawing/2014/main" id="{EAEDD41B-C86D-ACCD-5479-00501D0CF2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0864" y="113993"/>
            <a:ext cx="5804647" cy="68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99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62FBF-A62F-265B-54E3-0FA45312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228A5-729E-6395-0585-47E38AB09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72756"/>
          </a:xfrm>
        </p:spPr>
        <p:txBody>
          <a:bodyPr>
            <a:normAutofit fontScale="90000"/>
          </a:bodyPr>
          <a:lstStyle/>
          <a:p>
            <a:r>
              <a:rPr lang="en-US" dirty="0"/>
              <a:t>40. Copy Activity  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984F9F-1405-78F5-2CFF-F583CCB3B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1229" y="1091102"/>
            <a:ext cx="4540483" cy="95254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FF93FE-34CB-C2FD-E2F3-13540BF9C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40" y="2327598"/>
            <a:ext cx="5054860" cy="198765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42DB95-EF17-3D8C-8A36-C0E5F885E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264" y="4599197"/>
            <a:ext cx="2601936" cy="19304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0C138A-C933-75B8-CB0C-D07234001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4206" y="5311712"/>
            <a:ext cx="2057506" cy="11811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134A1B-74F5-D1BE-D8AF-53057701F0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2428" y="734459"/>
            <a:ext cx="1949550" cy="24258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7079F44-5400-82AE-2799-072655E05F9E}"/>
              </a:ext>
            </a:extLst>
          </p:cNvPr>
          <p:cNvSpPr txBox="1"/>
          <p:nvPr/>
        </p:nvSpPr>
        <p:spPr>
          <a:xfrm>
            <a:off x="5849471" y="266839"/>
            <a:ext cx="2915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Choose </a:t>
            </a:r>
            <a:r>
              <a:rPr lang="en-US" dirty="0" err="1"/>
              <a:t>OneLake</a:t>
            </a:r>
            <a:r>
              <a:rPr lang="en-US" dirty="0"/>
              <a:t> in sidebar</a:t>
            </a:r>
            <a:endParaRPr lang="en-ZA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399B81E-C46F-09D4-564A-30F819E11E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3334" y="650875"/>
            <a:ext cx="3683189" cy="217181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9C98D80-1D4E-0A7A-EC75-E908A7EF47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1555" y="3444231"/>
            <a:ext cx="2601936" cy="25909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0DF0F28-544D-5CFE-2A2C-FADF4C5A06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5361" y="3173843"/>
            <a:ext cx="3558372" cy="144165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3631ECC-75E8-F8AD-8E6F-932CA14023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35361" y="4741481"/>
            <a:ext cx="3805627" cy="211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32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45F4-9149-B8B4-A907-EBED1438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D1470-8EC0-588C-D1CA-D995652E0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969"/>
          </a:xfrm>
        </p:spPr>
        <p:txBody>
          <a:bodyPr>
            <a:normAutofit fontScale="90000"/>
          </a:bodyPr>
          <a:lstStyle/>
          <a:p>
            <a:r>
              <a:rPr lang="en-US" dirty="0"/>
              <a:t>Now we run it.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89436F-3DCC-C9EB-49D8-E4F4C1CF1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8248" y="791935"/>
            <a:ext cx="5777752" cy="354348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F37F06-DAB2-6158-E29B-4605070D2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663" y="1077699"/>
            <a:ext cx="2540131" cy="2971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1081F7-E692-EB8B-85B8-4ACB858E6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487336"/>
            <a:ext cx="4686541" cy="226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828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EBD51-047C-F469-7330-E9521ED4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3F038-4386-1CC5-98CD-E13E154B8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5487"/>
          </a:xfrm>
        </p:spPr>
        <p:txBody>
          <a:bodyPr>
            <a:normAutofit fontScale="90000"/>
          </a:bodyPr>
          <a:lstStyle/>
          <a:p>
            <a:r>
              <a:rPr lang="en-US" dirty="0"/>
              <a:t>41. Ingest data from Azure Data Lake Gen 2.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BB07A0-CE03-A45E-81F5-577C07EEC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4174" y="1152330"/>
            <a:ext cx="4693286" cy="216688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D338DD-7226-7A89-0C46-C7CDF23B4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71" y="4048235"/>
            <a:ext cx="4693286" cy="1657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0879A2-4801-C066-C3B1-A2725534B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0871" y="1152330"/>
            <a:ext cx="6046955" cy="2021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D5FDF3-1FAB-14BE-E5A3-1FDD66755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0871" y="3959330"/>
            <a:ext cx="5494658" cy="183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32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2AC57-14BA-62C3-7A08-FB4D60230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A4B9A-D4CE-9EFE-5DBB-6D6B24414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12" y="176867"/>
            <a:ext cx="10515600" cy="253440"/>
          </a:xfrm>
        </p:spPr>
        <p:txBody>
          <a:bodyPr>
            <a:normAutofit fontScale="90000"/>
          </a:bodyPr>
          <a:lstStyle/>
          <a:p>
            <a:r>
              <a:rPr lang="en-US" sz="2700" dirty="0"/>
              <a:t>Create a new container for a new file in the storage account</a:t>
            </a:r>
            <a:r>
              <a:rPr lang="en-US" dirty="0"/>
              <a:t>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DF231E-2456-40C2-9CBF-F9399B888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9462" y="547037"/>
            <a:ext cx="6731346" cy="151036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3BD24E-9140-47DF-F0A5-ECB640188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85" y="2204825"/>
            <a:ext cx="6731346" cy="139914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80F811-C235-BB42-EC08-17E3E2A5B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35" y="3751393"/>
            <a:ext cx="6724996" cy="113035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EA52AF-D00E-DD1C-C337-9DB3161EEC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082" y="5058464"/>
            <a:ext cx="3429176" cy="17995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60A851-8B43-C48E-5872-AD0C0C1679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0258" y="5175164"/>
            <a:ext cx="3835597" cy="168283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FFDCFC-FE25-5764-3F64-34F8742FFA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2272" y="547007"/>
            <a:ext cx="4210266" cy="145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487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539D0-8ADA-1317-E508-B7EA4F9F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A97D-B3CE-FF4C-B37C-2C661C9C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45862"/>
          </a:xfrm>
        </p:spPr>
        <p:txBody>
          <a:bodyPr>
            <a:normAutofit fontScale="90000"/>
          </a:bodyPr>
          <a:lstStyle/>
          <a:p>
            <a:r>
              <a:rPr lang="en-US" dirty="0"/>
              <a:t>We open a new activity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174CAF-A2A7-ECB9-AA5B-9E9C4F2550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4788" y="981057"/>
            <a:ext cx="5325218" cy="2447944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3FE4D9-AB13-19AE-C476-E92E11617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88" y="3899070"/>
            <a:ext cx="5481918" cy="219105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F79FDD-88D0-E6A0-2010-B6C0330FA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090" y="849956"/>
            <a:ext cx="4968710" cy="24479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71897C-70DB-1EB8-EEBF-B433CD8E39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732359"/>
            <a:ext cx="5661212" cy="230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10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B84E-1335-5D3F-2B72-A0C6649F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6A81F-CEE6-A0A9-85B2-7FD04501D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2722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Configure link to ADLS Gen 2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FBCE3E-78D3-4A63-0773-5ED77F939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9461" y="1075765"/>
            <a:ext cx="5870317" cy="412490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22D06E-19B7-5DAD-EAA9-109E68FEA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116" y="927848"/>
            <a:ext cx="4652684" cy="19096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FFF4BF-E299-1CDE-F1B4-1203B980B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587" y="3628812"/>
            <a:ext cx="3705742" cy="263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20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32EA-5E17-6F6F-808B-A1826D2A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6D763-6946-EEEC-15B4-942E67A0A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61016"/>
          </a:xfrm>
        </p:spPr>
        <p:txBody>
          <a:bodyPr>
            <a:normAutofit fontScale="90000"/>
          </a:bodyPr>
          <a:lstStyle/>
          <a:p>
            <a:r>
              <a:rPr lang="en-US" dirty="0"/>
              <a:t>Check Connections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7C5552-0D27-22D4-F2EF-ED901A306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9888" y="900954"/>
            <a:ext cx="4763165" cy="337232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3D54EF-312A-69A7-CA5B-61F0A6B11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212" y="203762"/>
            <a:ext cx="6283371" cy="3372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21AA5D-051F-2BA1-A100-5C7B69C859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242" y="3828627"/>
            <a:ext cx="3029373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19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1C3EB-D4E5-4EC8-6D2C-CA300F349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C7DC-094C-B2CA-163E-65112327A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5828"/>
          </a:xfrm>
        </p:spPr>
        <p:txBody>
          <a:bodyPr>
            <a:normAutofit fontScale="90000"/>
          </a:bodyPr>
          <a:lstStyle/>
          <a:p>
            <a:r>
              <a:rPr lang="en-US" dirty="0"/>
              <a:t>See source Settings continued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E8ACA0-FDF1-9E4A-8026-2324A414B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5592" y="1153759"/>
            <a:ext cx="5553843" cy="171473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BFEB83-0E06-4907-FCC2-AD52B8485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051" y="3121303"/>
            <a:ext cx="5042855" cy="20947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85BFC8-472C-66E9-6E72-CB4590F1F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191" y="900954"/>
            <a:ext cx="4420217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436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79CAB-EC73-C11F-50CE-FB0C2B35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42F0-451F-CA82-1F82-C1918B1FE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 fontScale="90000"/>
          </a:bodyPr>
          <a:lstStyle/>
          <a:p>
            <a:r>
              <a:rPr lang="en-US" dirty="0"/>
              <a:t>Destination Settings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EE4B01-546D-DB9A-5427-662CE4D9ED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1972" y="1084453"/>
            <a:ext cx="4111088" cy="234454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D34E1-08CD-0C50-85DD-ABC098DD8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74" y="3738282"/>
            <a:ext cx="6420746" cy="25731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49C02D-39A4-8C15-88FB-A6F02FB2B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5719" y="365126"/>
            <a:ext cx="6303462" cy="29581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4FE9F7-7052-554E-C58E-5F61E27CD6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3534690"/>
            <a:ext cx="4446493" cy="295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085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A61E-A982-8B8E-1088-5D3C90AB1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as of 3/08/2025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277F3DF-3435-DE5A-ACF0-FEA95ECF7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2382" y="1852519"/>
            <a:ext cx="9229429" cy="4351338"/>
          </a:xfrm>
        </p:spPr>
      </p:pic>
    </p:spTree>
    <p:extLst>
      <p:ext uri="{BB962C8B-B14F-4D97-AF65-F5344CB8AC3E}">
        <p14:creationId xmlns:p14="http://schemas.microsoft.com/office/powerpoint/2010/main" val="4262734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59DF2-F61E-8594-2945-595493B8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DD8C-C530-2A81-2FAF-EE2AFD94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sz="2400" dirty="0"/>
              <a:t>42. Loops and </a:t>
            </a:r>
            <a:r>
              <a:rPr lang="en-US" sz="2400" dirty="0" err="1"/>
              <a:t>Parametres</a:t>
            </a:r>
            <a:r>
              <a:rPr lang="en-US" sz="2400" dirty="0"/>
              <a:t>,</a:t>
            </a:r>
            <a:endParaRPr lang="en-ZA" sz="2400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D20770D-BE4C-42CF-6BCC-A284125D0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026930"/>
            <a:ext cx="1962424" cy="3286584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1B7219-F881-73C8-96C5-14F7696D9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549" y="1026930"/>
            <a:ext cx="1362265" cy="39629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E96A137-578E-A554-CEB9-467FB9841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7082" y="365126"/>
            <a:ext cx="5744377" cy="178640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5796071-5C76-607C-233C-CF7BAC0BF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7082" y="2344946"/>
            <a:ext cx="6794835" cy="393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55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F7C34-3F09-33C0-799D-C56BFAA7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2B24-9971-DC61-B74F-738EBC377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80334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Continued </a:t>
            </a: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B73C24-BFF2-510C-7F52-716AE7CAE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092" y="942940"/>
            <a:ext cx="6137414" cy="161200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090877-79DC-957A-A7C5-C6738392D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239" y="505293"/>
            <a:ext cx="2849820" cy="2084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A38F1F-1E05-B1EF-4AE2-A70946FEB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520" y="2729754"/>
            <a:ext cx="3635188" cy="3477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EA675B-852E-6A07-4B98-6B79D1CBC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2658" y="2729754"/>
            <a:ext cx="3124636" cy="22843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A6E668-75F0-A6C3-123F-B5F5C2ECA0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6871" y="5188922"/>
            <a:ext cx="4162423" cy="145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53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B8B49-2C53-F02E-B6EF-C05AB40B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781CC-FA40-E399-0189-FA7B1C68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0839"/>
          </a:xfrm>
        </p:spPr>
        <p:txBody>
          <a:bodyPr>
            <a:normAutofit fontScale="90000"/>
          </a:bodyPr>
          <a:lstStyle/>
          <a:p>
            <a:r>
              <a:rPr lang="en-US" dirty="0"/>
              <a:t>Bring in </a:t>
            </a:r>
            <a:r>
              <a:rPr lang="en-US" dirty="0" err="1"/>
              <a:t>arraty</a:t>
            </a:r>
            <a:r>
              <a:rPr lang="en-US" dirty="0"/>
              <a:t> into </a:t>
            </a:r>
            <a:r>
              <a:rPr lang="en-US" dirty="0" err="1"/>
              <a:t>forloop</a:t>
            </a:r>
            <a:r>
              <a:rPr lang="en-US" dirty="0"/>
              <a:t>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5A8A62-FE36-6FD4-08C1-C20046F6E1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4876" y="1253923"/>
            <a:ext cx="3930979" cy="331807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6BE89D-2E06-C8C3-0FEC-EB1F94295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76" y="4869959"/>
            <a:ext cx="9288171" cy="1733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BD2070-1E4C-9549-E382-8888710F8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155" y="1094890"/>
            <a:ext cx="6058746" cy="321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32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F010F-9428-40DE-01A9-CD2374B1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B7259-0135-1731-A3F8-DF8E92205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EE14E1-15F6-381C-8F88-44FFEF1E01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6241" y="539534"/>
            <a:ext cx="4115374" cy="4124901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0A867A-7559-92B3-0304-AE636F72B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574" y="365125"/>
            <a:ext cx="5430008" cy="19901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4B9EFF-588B-6D28-C9C7-6853ADD43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3673" y="2819194"/>
            <a:ext cx="3953427" cy="121961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177844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B9DD-F5A0-4029-5C73-EDB6B305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74A35-8590-8A3C-CFBA-9A10388AA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820"/>
          </a:xfrm>
        </p:spPr>
        <p:txBody>
          <a:bodyPr>
            <a:normAutofit fontScale="90000"/>
          </a:bodyPr>
          <a:lstStyle/>
          <a:p>
            <a:r>
              <a:rPr lang="en-US" dirty="0"/>
              <a:t>WE go to </a:t>
            </a:r>
            <a:r>
              <a:rPr lang="en-US" dirty="0" err="1"/>
              <a:t>copyblok</a:t>
            </a:r>
            <a:r>
              <a:rPr lang="en-US" dirty="0"/>
              <a:t> to provide the source file name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28F02D-D07A-7BB0-BD98-5B19DD18E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3199" y="1441105"/>
            <a:ext cx="8190114" cy="181985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BE8D39-C28E-9D66-EF50-653D0BECD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99" y="3649123"/>
            <a:ext cx="4734437" cy="2723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B476ED-9A02-DE68-5E78-FAE96FD73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287" y="3649122"/>
            <a:ext cx="3781786" cy="1438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28BF20-1D24-834B-1147-D6DD3B2DBA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3670" y="3597038"/>
            <a:ext cx="2562583" cy="317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28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C34E-C72F-3018-E91E-2A0EFE62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7D54D-260C-54DC-7413-96D679C9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7820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 </a:t>
            </a:r>
            <a:r>
              <a:rPr lang="en-US" dirty="0">
                <a:hlinkClick r:id="rId3"/>
              </a:rPr>
              <a:t>..@item</a:t>
            </a:r>
            <a:r>
              <a:rPr lang="en-US" dirty="0"/>
              <a:t> is the filename , source block of copy.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FB97A2-32FF-1954-28D6-8647671EBB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55750" y="1233056"/>
            <a:ext cx="7915414" cy="254923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49AD98-C5F8-33B9-5BA2-4AD74F620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50" y="4170219"/>
            <a:ext cx="7630590" cy="214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304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2D2C2-EA8A-F440-8CA3-47AF4988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3E762-2BA8-A5B1-581B-FAB7E423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3429"/>
          </a:xfrm>
        </p:spPr>
        <p:txBody>
          <a:bodyPr>
            <a:normAutofit fontScale="90000"/>
          </a:bodyPr>
          <a:lstStyle/>
          <a:p>
            <a:r>
              <a:rPr lang="en-US" dirty="0"/>
              <a:t>Now we test it 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6D5F3F-61DC-7C40-8486-81BA43BD1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0937" y="1194800"/>
            <a:ext cx="5963310" cy="2548834"/>
          </a:xfr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C46807-9082-CB63-59D1-2896B9F91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35" y="1194800"/>
            <a:ext cx="4729865" cy="178992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C1C674-7F26-1BC0-40CD-921F965B4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25" y="4199880"/>
            <a:ext cx="2553467" cy="2245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4BC478-0A46-D76B-7705-7A0F051EE4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3785" y="4048144"/>
            <a:ext cx="7291754" cy="254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35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7E4B6-D5B0-BD23-6EC1-A2557811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4425B-3726-BF2D-D920-AD42D59A6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Success..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83516A-F5DD-E406-6D31-988FFF0AE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19624" y="1825625"/>
            <a:ext cx="8952752" cy="4351338"/>
          </a:xfrm>
        </p:spPr>
      </p:pic>
    </p:spTree>
    <p:extLst>
      <p:ext uri="{BB962C8B-B14F-4D97-AF65-F5344CB8AC3E}">
        <p14:creationId xmlns:p14="http://schemas.microsoft.com/office/powerpoint/2010/main" val="1421064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25DC9-96EA-DD10-97AD-805A5BFDA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E5615-EDAD-F6C5-AB0E-DB785261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Check Bronze </a:t>
            </a:r>
            <a:r>
              <a:rPr lang="en-US" dirty="0" err="1"/>
              <a:t>Lakhouse</a:t>
            </a:r>
            <a:r>
              <a:rPr lang="en-US" dirty="0"/>
              <a:t> folder(6 files)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D8B1E6-30C0-BC03-7E04-E44E66D86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4388" y="1895975"/>
            <a:ext cx="8583223" cy="4210638"/>
          </a:xfrm>
        </p:spPr>
      </p:pic>
    </p:spTree>
    <p:extLst>
      <p:ext uri="{BB962C8B-B14F-4D97-AF65-F5344CB8AC3E}">
        <p14:creationId xmlns:p14="http://schemas.microsoft.com/office/powerpoint/2010/main" val="2341452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4380B-175C-A53B-0625-5D225A54C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B7069-87E4-053C-4F0D-89865E60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623"/>
            <a:ext cx="10515600" cy="314144"/>
          </a:xfrm>
        </p:spPr>
        <p:txBody>
          <a:bodyPr>
            <a:normAutofit fontScale="90000"/>
          </a:bodyPr>
          <a:lstStyle/>
          <a:p>
            <a:r>
              <a:rPr lang="en-US" dirty="0"/>
              <a:t>43.Metadata Activity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4EDE9-DBBC-6AFE-5CBF-E444FE806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9303" y="867768"/>
            <a:ext cx="5458984" cy="2699022"/>
          </a:xfr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385F10-11E2-AA76-5539-9E9D6F802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576" y="417695"/>
            <a:ext cx="5277121" cy="20381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F32C96-8D62-7E2A-1FC0-202B9601F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544" y="2703146"/>
            <a:ext cx="2978303" cy="8636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3050D7-5280-7445-4BD6-6D4D5C5277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128737"/>
            <a:ext cx="5878287" cy="251707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7F25C8-9C69-57DE-18CA-15F1A5D4FA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576" y="3900174"/>
            <a:ext cx="3902458" cy="254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232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793BB-C427-EC5A-349C-3FA35ED9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8DB8-2CDF-4535-0AEB-FB2FCA359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4143"/>
          </a:xfrm>
        </p:spPr>
        <p:txBody>
          <a:bodyPr>
            <a:normAutofit fontScale="90000"/>
          </a:bodyPr>
          <a:lstStyle/>
          <a:p>
            <a:r>
              <a:rPr lang="en-US" dirty="0"/>
              <a:t>43. Meta Data of a folder.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4148CA-C1D9-4E42-77CB-712B38A52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5557" y="944260"/>
            <a:ext cx="5484352" cy="203845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FBD91A-DFB9-8EA7-25FC-CD2E3A617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049" y="944260"/>
            <a:ext cx="2597283" cy="1854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48BA20-1C0B-83AC-EDC9-B664A1099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103" y="3044495"/>
            <a:ext cx="5753396" cy="286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321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1109-532C-9D41-0E7B-C9AB856B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99AB2-27B0-7F13-97B7-E4DA1B50A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NB Latest file in a folder.</a:t>
            </a:r>
            <a:endParaRPr lang="en-Z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AF91C7-D38E-DC52-311E-262411A0A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91" y="1569163"/>
            <a:ext cx="9708172" cy="457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3285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F873-90DD-6D56-B97B-FC221F7B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32E4-4560-D68A-0EEB-35E6E734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US" dirty="0"/>
              <a:t>44. Filter Activity 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6939195-B954-52D3-391A-C6673E96D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48823" y="1554199"/>
            <a:ext cx="7406491" cy="3961229"/>
          </a:xfrm>
        </p:spPr>
      </p:pic>
    </p:spTree>
    <p:extLst>
      <p:ext uri="{BB962C8B-B14F-4D97-AF65-F5344CB8AC3E}">
        <p14:creationId xmlns:p14="http://schemas.microsoft.com/office/powerpoint/2010/main" val="34492807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1301F-6A90-3F3D-4FDF-628C813F6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92AEC-C3F3-B2F2-AEFE-E9A2A3803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Hook up Filter data to the output of the Meta Data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64B4A-2F92-3158-C905-FA1A81825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3347" y="1334634"/>
            <a:ext cx="5292507" cy="49149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643189-88DF-5E19-2C52-56A6B6468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491" y="1334634"/>
            <a:ext cx="5292507" cy="487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399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52FE1-4053-2868-AC22-5160009D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8B36-245A-4A4E-04FC-D09CCFD1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..it took 4 of 5 files , in the </a:t>
            </a:r>
            <a:r>
              <a:rPr lang="en-US" dirty="0" err="1"/>
              <a:t>metra</a:t>
            </a:r>
            <a:r>
              <a:rPr lang="en-US" dirty="0"/>
              <a:t> data.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97D9AA-175A-D6F1-5CD5-EE88273D3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588" y="1995038"/>
            <a:ext cx="6140766" cy="4273770"/>
          </a:xfrm>
        </p:spPr>
      </p:pic>
    </p:spTree>
    <p:extLst>
      <p:ext uri="{BB962C8B-B14F-4D97-AF65-F5344CB8AC3E}">
        <p14:creationId xmlns:p14="http://schemas.microsoft.com/office/powerpoint/2010/main" val="14787959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3CD00-F5FB-E096-7232-335C38FF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060E-4BE2-764E-70D1-3D76F49A0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/>
          <a:lstStyle/>
          <a:p>
            <a:r>
              <a:rPr lang="en-US" dirty="0"/>
              <a:t>If condition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601887-3C18-4E60-2652-09FD6A0F66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9596" y="1419226"/>
            <a:ext cx="5448061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380AAC-5A93-1424-7B5B-2A691EBCF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345" y="235857"/>
            <a:ext cx="5245472" cy="31931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76E61A-12BC-9A16-D61E-E0DA5CCA7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675" y="3733405"/>
            <a:ext cx="5553850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428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08061-FD58-A26C-D8F0-06E475E1C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5385"/>
          </a:xfrm>
        </p:spPr>
        <p:txBody>
          <a:bodyPr>
            <a:normAutofit fontScale="90000"/>
          </a:bodyPr>
          <a:lstStyle/>
          <a:p>
            <a:r>
              <a:rPr lang="en-US" dirty="0"/>
              <a:t>Inside </a:t>
            </a:r>
            <a:r>
              <a:rPr lang="en-US" dirty="0" err="1"/>
              <a:t>Foreaech</a:t>
            </a:r>
            <a:r>
              <a:rPr lang="en-US" dirty="0"/>
              <a:t> – we have if not satisfied , if condition 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2CDC181-F8C6-F78B-F16A-ECD400D90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0574" y="1577975"/>
            <a:ext cx="8734525" cy="4351338"/>
          </a:xfrm>
        </p:spPr>
      </p:pic>
    </p:spTree>
    <p:extLst>
      <p:ext uri="{BB962C8B-B14F-4D97-AF65-F5344CB8AC3E}">
        <p14:creationId xmlns:p14="http://schemas.microsoft.com/office/powerpoint/2010/main" val="6123873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FAFBD-F839-9331-AE63-6C74A9B4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Now if the condition passes , the Delete activity is added with @item().name as the dynamic expression </a:t>
            </a:r>
            <a:endParaRPr lang="en-Z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15FE6A2-4395-9901-F4C2-85F9EEEBAF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20875"/>
            <a:ext cx="10515600" cy="4351338"/>
          </a:xfrm>
        </p:spPr>
      </p:pic>
    </p:spTree>
    <p:extLst>
      <p:ext uri="{BB962C8B-B14F-4D97-AF65-F5344CB8AC3E}">
        <p14:creationId xmlns:p14="http://schemas.microsoft.com/office/powerpoint/2010/main" val="35320513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EADBD-B838-86B7-2ADF-950AD89ED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0576-F00C-CD3A-1895-BF7F7B5F3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</a:t>
            </a:r>
            <a:r>
              <a:rPr lang="en-US" dirty="0"/>
              <a:t> use  </a:t>
            </a:r>
            <a:r>
              <a:rPr lang="en-US" dirty="0" err="1"/>
              <a:t>aseyt</a:t>
            </a:r>
            <a:r>
              <a:rPr lang="en-US" dirty="0"/>
              <a:t> variable </a:t>
            </a:r>
            <a:r>
              <a:rPr lang="en-US" dirty="0" err="1"/>
              <a:t>actiovity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A5B969-DAEB-FFC9-84F3-5DF39804F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12032" y="1690688"/>
            <a:ext cx="9739671" cy="3795712"/>
          </a:xfrm>
        </p:spPr>
      </p:pic>
    </p:spTree>
    <p:extLst>
      <p:ext uri="{BB962C8B-B14F-4D97-AF65-F5344CB8AC3E}">
        <p14:creationId xmlns:p14="http://schemas.microsoft.com/office/powerpoint/2010/main" val="15220723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9EB22-C5C4-1E68-F20F-700B9A458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EFB9-25AC-922B-C6F6-85A07CEBB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69166"/>
          </a:xfrm>
        </p:spPr>
        <p:txBody>
          <a:bodyPr>
            <a:normAutofit fontScale="90000"/>
          </a:bodyPr>
          <a:lstStyle/>
          <a:p>
            <a:r>
              <a:rPr lang="en-US" dirty="0"/>
              <a:t>Set Variable activity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80255C-9B06-CDFF-469D-C80FAF20B5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6592" y="1145048"/>
            <a:ext cx="5619236" cy="168616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7FC52F-5EE8-9011-528C-023E6BAB0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20" y="3241964"/>
            <a:ext cx="5479580" cy="2912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71215D-8887-0919-44C1-D421EC8A6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851" y="1145048"/>
            <a:ext cx="4690948" cy="486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489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A496-06F8-4D7F-18E2-B3BB30311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76EBC-FD80-82DF-3449-F005D02EE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5420"/>
          </a:xfrm>
        </p:spPr>
        <p:txBody>
          <a:bodyPr>
            <a:normAutofit fontScale="90000"/>
          </a:bodyPr>
          <a:lstStyle/>
          <a:p>
            <a:r>
              <a:rPr lang="en-US" dirty="0"/>
              <a:t>Run the activity (</a:t>
            </a:r>
            <a:r>
              <a:rPr lang="en-US" dirty="0" err="1"/>
              <a:t>Variablr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269640-8D5D-20FA-E665-1C6212663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1267" y="900546"/>
            <a:ext cx="9666733" cy="34710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62A028-9499-AB45-FE70-23BFCA094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967" y="4907035"/>
            <a:ext cx="4334480" cy="183858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84550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A0FA1-8708-4DF4-B1FD-935C4EAD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3D7A-70AD-0106-35B9-C54E1707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2511"/>
          </a:xfrm>
        </p:spPr>
        <p:txBody>
          <a:bodyPr>
            <a:normAutofit fontScale="90000"/>
          </a:bodyPr>
          <a:lstStyle/>
          <a:p>
            <a:r>
              <a:rPr lang="en-US" dirty="0"/>
              <a:t>Email alerts and orchestration / Invoke Activity 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35DC8B-F045-4DF5-C5B6-4DF9B9884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8843" y="1733313"/>
            <a:ext cx="1619476" cy="339137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B0F282-739A-B5A0-04ED-AB79857A5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573" y="2106972"/>
            <a:ext cx="5344271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219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A93A1-0BC1-C31E-24D4-3DE24CBB7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EA979-2F0C-A39C-4353-0647FF2F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49. Parent and Child Pipelines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588F9C-F12E-0E7F-39B0-8D54B1091A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209082"/>
            <a:ext cx="1762371" cy="305795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A4C192-33FF-F830-69F7-F8C80920A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7171" y="2481082"/>
            <a:ext cx="2872794" cy="2785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9B31E3-AB6D-119E-F221-B17B312D0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6815" y="2481082"/>
            <a:ext cx="3972479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904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50386-F403-8701-C0BD-2EB82D9D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3AF2-6A69-30DD-47CC-326B588B2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/>
          <a:lstStyle/>
          <a:p>
            <a:r>
              <a:rPr lang="en-US" dirty="0"/>
              <a:t>Continue Parent Child / Invoke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EF144F-15F5-1741-5EDA-B23F7B4A4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2994" y="1839480"/>
            <a:ext cx="343896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04B8BE-A953-57C8-573A-1EABF1570A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951" y="1401762"/>
            <a:ext cx="5563286" cy="32949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F631BF-8D89-BCF1-2F5C-D25298BEE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309" y="5017797"/>
            <a:ext cx="4724401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683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2AA13-AF09-83FF-E00B-2B5AB76A9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F6DAA-FCD3-1EAE-CE8D-80018586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Invoking the second pipeline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09306B-A25A-363F-4840-CD193511C0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9977" y="1493117"/>
            <a:ext cx="4302023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CEA189-D4C8-B5CA-91AA-D22CC586D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008" y="1690688"/>
            <a:ext cx="5238238" cy="368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4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E02D0-3C69-C57F-FD5C-EF6837BAB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FBA1-6F97-5BA4-B7B7-4D3A506B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6B473F-F6A1-7E50-8450-4D6FE58D00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363" y="479502"/>
            <a:ext cx="9397378" cy="5675159"/>
          </a:xfrm>
        </p:spPr>
      </p:pic>
    </p:spTree>
    <p:extLst>
      <p:ext uri="{BB962C8B-B14F-4D97-AF65-F5344CB8AC3E}">
        <p14:creationId xmlns:p14="http://schemas.microsoft.com/office/powerpoint/2010/main" val="20859087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D2ED-8F8F-B691-8425-0A75F30EB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9D411-DD67-7F3E-B709-C3C8E5F59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 Data Ingest Pipeline(</a:t>
            </a:r>
            <a:r>
              <a:rPr lang="en-US" dirty="0" err="1"/>
              <a:t>Parmetrized</a:t>
            </a:r>
            <a:r>
              <a:rPr lang="en-US" dirty="0"/>
              <a:t>)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322CBE-EB0A-B225-DCB6-42C7B8D28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1100" y="1825625"/>
            <a:ext cx="9429750" cy="4351338"/>
          </a:xfrm>
        </p:spPr>
      </p:pic>
    </p:spTree>
    <p:extLst>
      <p:ext uri="{BB962C8B-B14F-4D97-AF65-F5344CB8AC3E}">
        <p14:creationId xmlns:p14="http://schemas.microsoft.com/office/powerpoint/2010/main" val="10176178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1D529-DC92-A2CD-3D0C-490675BEE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E82D-4FC1-DAA6-AEAD-434FAB873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Variable Inputs </a:t>
            </a:r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212B68A-41F3-1192-4FF6-A202CACF9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74387" y="1825625"/>
            <a:ext cx="8443226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FCD206-A712-209E-A45B-FEFE8E694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395" y="133989"/>
            <a:ext cx="7059010" cy="146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5246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9357-98D9-5A9D-5CBB-2E64C0E5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394FF-D518-BD7D-92B4-A3D9294D7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Foreeach</a:t>
            </a:r>
            <a:r>
              <a:rPr lang="en-US" dirty="0"/>
              <a:t> block expression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2069FD-7CF3-6D2F-DE2B-E925CD646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5919" y="1863725"/>
            <a:ext cx="8068561" cy="4351338"/>
          </a:xfrm>
        </p:spPr>
      </p:pic>
    </p:spTree>
    <p:extLst>
      <p:ext uri="{BB962C8B-B14F-4D97-AF65-F5344CB8AC3E}">
        <p14:creationId xmlns:p14="http://schemas.microsoft.com/office/powerpoint/2010/main" val="8292785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7C68-D510-90D3-7DEF-55A597CDB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A8CD-9B09-72B7-EE92-EA6CD8622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dirty="0"/>
              <a:t>Note in the If comparison statement the variable is put in instead of the filename </a:t>
            </a:r>
            <a:r>
              <a:rPr lang="en-US" sz="2400" dirty="0" err="1"/>
              <a:t>ie</a:t>
            </a:r>
            <a:r>
              <a:rPr lang="en-US" sz="2400" dirty="0"/>
              <a:t> </a:t>
            </a:r>
            <a:r>
              <a:rPr lang="en-US" sz="2400" dirty="0" err="1"/>
              <a:t>var_file_name..the</a:t>
            </a:r>
            <a:r>
              <a:rPr lang="en-US" sz="2400" dirty="0"/>
              <a:t> one we registered in the beginning . Note the construct where we use the variables function </a:t>
            </a:r>
            <a:r>
              <a:rPr lang="en-US" sz="2400" dirty="0" err="1"/>
              <a:t>ie</a:t>
            </a:r>
            <a:r>
              <a:rPr lang="en-US" sz="2400" dirty="0"/>
              <a:t>  </a:t>
            </a:r>
            <a:r>
              <a:rPr lang="en-ZA" dirty="0"/>
              <a:t>@equals(variables('var_file_name'),item().name)</a:t>
            </a:r>
            <a:br>
              <a:rPr lang="en-ZA" dirty="0"/>
            </a:br>
            <a:endParaRPr lang="en-ZA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F58AD1-CD56-5FCE-388C-3AC780DE2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0328" y="1958975"/>
            <a:ext cx="9327671" cy="4351338"/>
          </a:xfrm>
        </p:spPr>
      </p:pic>
    </p:spTree>
    <p:extLst>
      <p:ext uri="{BB962C8B-B14F-4D97-AF65-F5344CB8AC3E}">
        <p14:creationId xmlns:p14="http://schemas.microsoft.com/office/powerpoint/2010/main" val="12561528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C79DD-D209-4B12-9C3E-5CC946AD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1DD05-C43A-5D88-1569-9CD58DBE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Delete file remains the same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82E797-F1C3-7A4E-A2AB-6CFFF1DBF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1362" y="1690688"/>
            <a:ext cx="9250988" cy="4351338"/>
          </a:xfrm>
        </p:spPr>
      </p:pic>
    </p:spTree>
    <p:extLst>
      <p:ext uri="{BB962C8B-B14F-4D97-AF65-F5344CB8AC3E}">
        <p14:creationId xmlns:p14="http://schemas.microsoft.com/office/powerpoint/2010/main" val="19396770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0EE6-18E3-F98E-9007-7C0F7EC5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Orchestrate Multiple Pipelines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7E456F-A304-2C2F-3C0D-F752A440F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8271" y="1538780"/>
            <a:ext cx="9044479" cy="4315427"/>
          </a:xfrm>
        </p:spPr>
      </p:pic>
    </p:spTree>
    <p:extLst>
      <p:ext uri="{BB962C8B-B14F-4D97-AF65-F5344CB8AC3E}">
        <p14:creationId xmlns:p14="http://schemas.microsoft.com/office/powerpoint/2010/main" val="6048808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51000-23A2-2D2F-24D0-6EC984779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5B71C-9A50-BE9F-8321-0BD69BB27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DE06E6-0FEC-83BE-6E2E-A7F6438FB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900" y="736600"/>
            <a:ext cx="10153650" cy="5756275"/>
          </a:xfrm>
        </p:spPr>
      </p:pic>
    </p:spTree>
    <p:extLst>
      <p:ext uri="{BB962C8B-B14F-4D97-AF65-F5344CB8AC3E}">
        <p14:creationId xmlns:p14="http://schemas.microsoft.com/office/powerpoint/2010/main" val="9433198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C819C-10C5-DE2C-1E02-243D28A36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56A5-C8EC-83E1-D371-0C6473B7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0D4042-D26F-1EEB-893E-C0001D7E9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7916" y="2286554"/>
            <a:ext cx="7116168" cy="3429479"/>
          </a:xfrm>
        </p:spPr>
      </p:pic>
    </p:spTree>
    <p:extLst>
      <p:ext uri="{BB962C8B-B14F-4D97-AF65-F5344CB8AC3E}">
        <p14:creationId xmlns:p14="http://schemas.microsoft.com/office/powerpoint/2010/main" val="2991550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45047-634A-693A-42B2-1B53AA0B5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2200-B995-1BFB-94EF-CA36402C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the Wait on Completion as dependent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A4018A-A3B0-DA46-95BC-FCF183F2D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0" y="2141537"/>
            <a:ext cx="7600950" cy="4351338"/>
          </a:xfrm>
        </p:spPr>
      </p:pic>
    </p:spTree>
    <p:extLst>
      <p:ext uri="{BB962C8B-B14F-4D97-AF65-F5344CB8AC3E}">
        <p14:creationId xmlns:p14="http://schemas.microsoft.com/office/powerpoint/2010/main" val="26927294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6E8FD-D70B-C50F-19B8-603CEE216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BA3A9-3EDB-1A89-C090-818CD1F9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V2 </a:t>
            </a:r>
            <a:r>
              <a:rPr lang="en-US" dirty="0" err="1"/>
              <a:t>Succeded</a:t>
            </a:r>
            <a:r>
              <a:rPr lang="en-US" dirty="0"/>
              <a:t>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4355E8-F4C1-119A-7172-2588CA112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25625"/>
            <a:ext cx="10744200" cy="4351338"/>
          </a:xfrm>
        </p:spPr>
      </p:pic>
    </p:spTree>
    <p:extLst>
      <p:ext uri="{BB962C8B-B14F-4D97-AF65-F5344CB8AC3E}">
        <p14:creationId xmlns:p14="http://schemas.microsoft.com/office/powerpoint/2010/main" val="18973044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5DA43-0633-F8A7-5E92-0230525F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123F3-257F-AC35-A315-AB0232576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5409923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EBB6D-D85F-E358-9E05-31D717BCD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B40F-A0AD-4483-D6CE-41CBDA150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DA50F-12CF-5121-662F-9505C37AB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30244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ABCA2-A2CE-61EA-0331-2D9AD018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38597-3125-AF25-7693-C517615C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88E65-884A-859B-99BF-D0707A73A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24820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7185-EAF7-A280-3A56-63E98391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814B-0B9E-FE51-AA08-A9741CE7E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51297-9D31-B5AB-3112-CAF618816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04032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E6F3F-F44B-D7F5-8814-511220058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3C17-2145-6AB8-3423-F385A0727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528B6-A4E6-DA69-CAF8-F34097E57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17485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A2B5-6877-D4F8-B204-B826342E3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3DE92-6E13-6518-DFD7-0843F0786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857ED-4AB7-64CC-9C88-F17CCA3EB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44693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E4306-FAFE-0437-6555-2188FCB10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AD0DD-CDF7-1EC6-2EDF-8B5C1BAC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50F5F-E4CF-160B-646F-A1527FABE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18416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B439C-4D21-BAE2-4266-7CB95D0D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6BA4F-C17D-7A95-1B8D-EEC776FA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4F094-B18A-FEAE-3958-6A716A770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32745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09ABD-AAA4-0EF8-AAB3-CEB6A628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EE95-3FAA-A80A-8AC4-97FA9A9BE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B5D0D-C980-6B50-98F6-AA0621EE8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47943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14D95-D36C-26C4-B7B1-F755A5F5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2F327-D33C-759E-20E5-9B3CE56CE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E1E4D-549F-5A9E-C8E8-20A38E30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77245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9B6BA-4112-6BC6-C94B-9FB1A34D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4C0FF-76D9-EE2E-FE59-BA0228F1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9622B-ADF0-6ACA-8586-86C068F43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797468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C1DC1-6389-2C2D-1C93-EB09B8FCD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96146-258F-190B-52EB-6F1CC535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Settings 1 Secret Keys/</a:t>
            </a:r>
            <a:r>
              <a:rPr lang="en-US" dirty="0" err="1"/>
              <a:t>Provate</a:t>
            </a:r>
            <a:r>
              <a:rPr lang="en-US" dirty="0"/>
              <a:t>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3954E-5076-1203-9FC4-7F2E432B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B441A-15DF-E9DA-1095-4B6479A75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7" y="2026059"/>
            <a:ext cx="10031225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054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8F5E-3B6D-C5C7-013B-9DB78DAB9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883A0C-9DC0-ABE9-B047-FA2BB920B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1033" y="1825625"/>
            <a:ext cx="7742567" cy="4351338"/>
          </a:xfrm>
        </p:spPr>
      </p:pic>
    </p:spTree>
    <p:extLst>
      <p:ext uri="{BB962C8B-B14F-4D97-AF65-F5344CB8AC3E}">
        <p14:creationId xmlns:p14="http://schemas.microsoft.com/office/powerpoint/2010/main" val="30199477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BE5A4-C15A-CC21-3EAE-8C4D8F1B1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 Account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45245B-8932-2F9B-C67F-43449DA63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7293" y="1825625"/>
            <a:ext cx="7457414" cy="4351338"/>
          </a:xfrm>
        </p:spPr>
      </p:pic>
    </p:spTree>
    <p:extLst>
      <p:ext uri="{BB962C8B-B14F-4D97-AF65-F5344CB8AC3E}">
        <p14:creationId xmlns:p14="http://schemas.microsoft.com/office/powerpoint/2010/main" val="374062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909F4-9F3E-1B09-11F6-40B5E8086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1E179D-6206-966B-1D8C-6B0CE7EF05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5963" y="1825625"/>
            <a:ext cx="7440074" cy="4351338"/>
          </a:xfrm>
        </p:spPr>
      </p:pic>
    </p:spTree>
    <p:extLst>
      <p:ext uri="{BB962C8B-B14F-4D97-AF65-F5344CB8AC3E}">
        <p14:creationId xmlns:p14="http://schemas.microsoft.com/office/powerpoint/2010/main" val="22633587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A286-DED3-501A-D3CE-0AB23803A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Backtesting</a:t>
            </a:r>
            <a:r>
              <a:rPr lang="en-US" dirty="0"/>
              <a:t> Notebook Bronze Data Settings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763A00-2EF7-B036-0E37-C319880FA8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8338"/>
            <a:ext cx="10191750" cy="4351338"/>
          </a:xfrm>
        </p:spPr>
      </p:pic>
    </p:spTree>
    <p:extLst>
      <p:ext uri="{BB962C8B-B14F-4D97-AF65-F5344CB8AC3E}">
        <p14:creationId xmlns:p14="http://schemas.microsoft.com/office/powerpoint/2010/main" val="3197092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2CE2-739A-52CB-3D96-7BECA912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Backtesting</a:t>
            </a:r>
            <a:r>
              <a:rPr lang="en-US" dirty="0"/>
              <a:t> Notebook 2 Settings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5D4B0D-5E83-2659-E72B-D1E07AF17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503" y="1844675"/>
            <a:ext cx="9750547" cy="4351338"/>
          </a:xfrm>
        </p:spPr>
      </p:pic>
    </p:spTree>
    <p:extLst>
      <p:ext uri="{BB962C8B-B14F-4D97-AF65-F5344CB8AC3E}">
        <p14:creationId xmlns:p14="http://schemas.microsoft.com/office/powerpoint/2010/main" val="9372955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9A1A1-8213-2855-DF78-8712349C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Gold Settings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69516A-1169-1DA3-1733-B249E81F9A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365" y="1863725"/>
            <a:ext cx="9499269" cy="4351338"/>
          </a:xfrm>
        </p:spPr>
      </p:pic>
    </p:spTree>
    <p:extLst>
      <p:ext uri="{BB962C8B-B14F-4D97-AF65-F5344CB8AC3E}">
        <p14:creationId xmlns:p14="http://schemas.microsoft.com/office/powerpoint/2010/main" val="15665781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34D0A-269C-041D-11B0-CE97C214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Run Results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041EEC-059C-8BD9-7012-4AAC2FD87A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1100" y="1882775"/>
            <a:ext cx="8991600" cy="4351338"/>
          </a:xfrm>
        </p:spPr>
      </p:pic>
    </p:spTree>
    <p:extLst>
      <p:ext uri="{BB962C8B-B14F-4D97-AF65-F5344CB8AC3E}">
        <p14:creationId xmlns:p14="http://schemas.microsoft.com/office/powerpoint/2010/main" val="937526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221AE-F874-8E03-1025-7D1CC2CE9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Inputs and Outputs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BC9CC4-49F7-FEF3-F2DF-140D13118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9788" y="1690688"/>
            <a:ext cx="8930512" cy="4351338"/>
          </a:xfrm>
        </p:spPr>
      </p:pic>
    </p:spTree>
    <p:extLst>
      <p:ext uri="{BB962C8B-B14F-4D97-AF65-F5344CB8AC3E}">
        <p14:creationId xmlns:p14="http://schemas.microsoft.com/office/powerpoint/2010/main" val="220748540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5853-6DB3-673F-8908-8B66CCA4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Auditing From Fabric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813255-61F4-EED3-5648-D44216A0D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9551" y="1333500"/>
            <a:ext cx="9087949" cy="4843463"/>
          </a:xfrm>
        </p:spPr>
      </p:pic>
    </p:spTree>
    <p:extLst>
      <p:ext uri="{BB962C8B-B14F-4D97-AF65-F5344CB8AC3E}">
        <p14:creationId xmlns:p14="http://schemas.microsoft.com/office/powerpoint/2010/main" val="110319412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83517-5422-22ED-2E3A-A06ADD029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of Auditing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93323-7D5F-2634-B330-B5FCABA44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12966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6344-C7DA-53C5-4941-3D4FBD8B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50. Triggers – Schedule 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845226-3C76-DE2B-3789-340201F18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3000" y="1690688"/>
            <a:ext cx="9201650" cy="4519612"/>
          </a:xfrm>
        </p:spPr>
      </p:pic>
    </p:spTree>
    <p:extLst>
      <p:ext uri="{BB962C8B-B14F-4D97-AF65-F5344CB8AC3E}">
        <p14:creationId xmlns:p14="http://schemas.microsoft.com/office/powerpoint/2010/main" val="96420755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24F6-CA9E-2892-6C33-D32BD329A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7263"/>
          </a:xfrm>
        </p:spPr>
        <p:txBody>
          <a:bodyPr>
            <a:normAutofit fontScale="90000"/>
          </a:bodyPr>
          <a:lstStyle/>
          <a:p>
            <a:r>
              <a:rPr lang="en-US" dirty="0"/>
              <a:t>Akso click Add Trigger ,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698A63-D77C-1FFE-5701-EC63A5EF3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85394" y="1353075"/>
            <a:ext cx="8944455" cy="4800075"/>
          </a:xfrm>
        </p:spPr>
      </p:pic>
    </p:spTree>
    <p:extLst>
      <p:ext uri="{BB962C8B-B14F-4D97-AF65-F5344CB8AC3E}">
        <p14:creationId xmlns:p14="http://schemas.microsoft.com/office/powerpoint/2010/main" val="31008221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6AEF-A38B-A5A3-DC36-0B109110C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FFCE7-55C7-D052-242C-4469426B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51. Monitoring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8E3635-D794-4B2B-D4B5-2F89B0AEC3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47750" y="1825625"/>
            <a:ext cx="8762999" cy="4351338"/>
          </a:xfrm>
        </p:spPr>
      </p:pic>
    </p:spTree>
    <p:extLst>
      <p:ext uri="{BB962C8B-B14F-4D97-AF65-F5344CB8AC3E}">
        <p14:creationId xmlns:p14="http://schemas.microsoft.com/office/powerpoint/2010/main" val="17094740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F60D-2492-2583-9BBC-57B3D6AED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5F7A-1331-0E1C-A59C-36A46B349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on the Monitor on left menu!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AB4B7E-3600-6478-83AB-6E9A510534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9205" y="2367547"/>
            <a:ext cx="781159" cy="30007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F53A91-3639-1070-9978-B9FFE80BC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314" y="1325563"/>
            <a:ext cx="7682977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073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6DBB3-0846-0573-4897-19CF74BD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6720-C686-264F-4B64-BB877FA77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click on Column Options 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7E207D-5666-EC17-F9D0-161D1A8E3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4676" y="1690688"/>
            <a:ext cx="5029373" cy="4443412"/>
          </a:xfrm>
        </p:spPr>
      </p:pic>
    </p:spTree>
    <p:extLst>
      <p:ext uri="{BB962C8B-B14F-4D97-AF65-F5344CB8AC3E}">
        <p14:creationId xmlns:p14="http://schemas.microsoft.com/office/powerpoint/2010/main" val="3337988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16689</TotalTime>
  <Words>3931</Words>
  <Application>Microsoft Office PowerPoint</Application>
  <PresentationFormat>Widescreen</PresentationFormat>
  <Paragraphs>330</Paragraphs>
  <Slides>90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4" baseType="lpstr">
      <vt:lpstr>Aptos</vt:lpstr>
      <vt:lpstr>Aptos Display</vt:lpstr>
      <vt:lpstr>Arial</vt:lpstr>
      <vt:lpstr>Office Theme</vt:lpstr>
      <vt:lpstr>DP700 Exam Prep</vt:lpstr>
      <vt:lpstr>33. External Short Cuts</vt:lpstr>
      <vt:lpstr>Continued </vt:lpstr>
      <vt:lpstr>Creating the external shortcut </vt:lpstr>
      <vt:lpstr>Complete the storage account </vt:lpstr>
      <vt:lpstr>Fabric Lakehouse to ADLS Gen 2 </vt:lpstr>
      <vt:lpstr>Caching in Shortcuts</vt:lpstr>
      <vt:lpstr>How to set the caching ..go to Workspace , Wspace settings/ one lake  </vt:lpstr>
      <vt:lpstr>He reupload the parquet filer ..the shortcut appears </vt:lpstr>
      <vt:lpstr>35. Lakehouse with schema.</vt:lpstr>
      <vt:lpstr>So now we create another folder as schema</vt:lpstr>
      <vt:lpstr>36. SQL Endpoint</vt:lpstr>
      <vt:lpstr>Go to sql endpoint of the Lakehouse </vt:lpstr>
      <vt:lpstr>6.0 Fabric Data Factory</vt:lpstr>
      <vt:lpstr>37. Data Ingestion in Fabric (3 Ways) </vt:lpstr>
      <vt:lpstr>38. What is Data Factory. </vt:lpstr>
      <vt:lpstr>39.0 FDF Overview</vt:lpstr>
      <vt:lpstr>40. Copy Activity  </vt:lpstr>
      <vt:lpstr>Now we run it.</vt:lpstr>
      <vt:lpstr>41. Ingest data from Azure Data Lake Gen 2.</vt:lpstr>
      <vt:lpstr>Create a new container for a new file in the storage account.</vt:lpstr>
      <vt:lpstr>We open a new activity </vt:lpstr>
      <vt:lpstr>Configure link to ADLS Gen 2</vt:lpstr>
      <vt:lpstr>Check Connections</vt:lpstr>
      <vt:lpstr>See source Settings continued </vt:lpstr>
      <vt:lpstr>Destination Settings</vt:lpstr>
      <vt:lpstr>Problem as of 3/08/2025</vt:lpstr>
      <vt:lpstr>42. Loops and Parametres,</vt:lpstr>
      <vt:lpstr>Continued </vt:lpstr>
      <vt:lpstr>Bring in arraty into forloop. </vt:lpstr>
      <vt:lpstr>PowerPoint Presentation</vt:lpstr>
      <vt:lpstr>WE go to copyblok to provide the source file name </vt:lpstr>
      <vt:lpstr>Result ..@item is the filename , source block of copy.</vt:lpstr>
      <vt:lpstr>Now we test it . </vt:lpstr>
      <vt:lpstr>Success..</vt:lpstr>
      <vt:lpstr>Go Check Bronze Lakhouse folder(6 files) </vt:lpstr>
      <vt:lpstr>43.Metadata Activity</vt:lpstr>
      <vt:lpstr>43. Meta Data of a folder. </vt:lpstr>
      <vt:lpstr>NB Latest file in a folder.</vt:lpstr>
      <vt:lpstr>44. Filter Activity </vt:lpstr>
      <vt:lpstr>Hook up Filter data to the output of the Meta Data </vt:lpstr>
      <vt:lpstr>Result ..it took 4 of 5 files , in the metra data.</vt:lpstr>
      <vt:lpstr>If condition</vt:lpstr>
      <vt:lpstr>Inside Foreaech – we have if not satisfied , if condition </vt:lpstr>
      <vt:lpstr>Now if the condition passes , the Delete activity is added with @item().name as the dynamic expression </vt:lpstr>
      <vt:lpstr>wE use  aseyt variable actiovity </vt:lpstr>
      <vt:lpstr>Set Variable activity </vt:lpstr>
      <vt:lpstr>Run the activity (Variablr</vt:lpstr>
      <vt:lpstr>Email alerts and orchestration / Invoke Activity  </vt:lpstr>
      <vt:lpstr>49. Parent and Child Pipelines</vt:lpstr>
      <vt:lpstr>Continue Parent Child / Invoke </vt:lpstr>
      <vt:lpstr>Invoking the second pipeline </vt:lpstr>
      <vt:lpstr>PowerPoint Presentation</vt:lpstr>
      <vt:lpstr>Meta Data Ingest Pipeline(Parmetrized)</vt:lpstr>
      <vt:lpstr>Variable Inputs </vt:lpstr>
      <vt:lpstr>Foreeach block expression</vt:lpstr>
      <vt:lpstr>Note in the If comparison statement the variable is put in instead of the filename ie var_file_name..the one we registered in the beginning . Note the construct where we use the variables function ie  @equals(variables('var_file_name'),item().name) </vt:lpstr>
      <vt:lpstr>The Delete file remains the same </vt:lpstr>
      <vt:lpstr>Orchestrate Multiple Pipelines</vt:lpstr>
      <vt:lpstr>PowerPoint Presentation</vt:lpstr>
      <vt:lpstr>PowerPoint Presentation</vt:lpstr>
      <vt:lpstr>Note the Wait on Completion as dependent </vt:lpstr>
      <vt:lpstr>Pipeline V2 Succeded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Connection Settings 1 Secret Keys/Provate </vt:lpstr>
      <vt:lpstr>PowerPoint Presentation</vt:lpstr>
      <vt:lpstr>Org Account </vt:lpstr>
      <vt:lpstr>PowerPoint Presentation</vt:lpstr>
      <vt:lpstr>Backtesting Notebook Bronze Data Settings</vt:lpstr>
      <vt:lpstr>Backtesting Notebook 2 Settings </vt:lpstr>
      <vt:lpstr>Gold Settings</vt:lpstr>
      <vt:lpstr>Last Run Results </vt:lpstr>
      <vt:lpstr>Inputs and Outputs </vt:lpstr>
      <vt:lpstr>Auditing From Fabric </vt:lpstr>
      <vt:lpstr>Result of Auditing </vt:lpstr>
      <vt:lpstr>50. Triggers – Schedule  </vt:lpstr>
      <vt:lpstr>Akso click Add Trigger , </vt:lpstr>
      <vt:lpstr>51. Monitoring </vt:lpstr>
      <vt:lpstr>Click on the Monitor on left menu!</vt:lpstr>
      <vt:lpstr>Also click on Column Options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 Bortz</dc:creator>
  <cp:lastModifiedBy>Graham Bortz</cp:lastModifiedBy>
  <cp:revision>213</cp:revision>
  <dcterms:created xsi:type="dcterms:W3CDTF">2025-08-02T06:53:26Z</dcterms:created>
  <dcterms:modified xsi:type="dcterms:W3CDTF">2025-09-09T19:49:52Z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93fc94-2a04-4870-acee-9c0cd4b7d590_Enabled">
    <vt:lpwstr>true</vt:lpwstr>
  </property>
  <property fmtid="{D5CDD505-2E9C-101B-9397-08002B2CF9AE}" pid="3" name="MSIP_Label_ce93fc94-2a04-4870-acee-9c0cd4b7d590_SetDate">
    <vt:lpwstr>2025-08-02T06:53:26Z</vt:lpwstr>
  </property>
  <property fmtid="{D5CDD505-2E9C-101B-9397-08002B2CF9AE}" pid="4" name="MSIP_Label_ce93fc94-2a04-4870-acee-9c0cd4b7d590_Method">
    <vt:lpwstr>Standard</vt:lpwstr>
  </property>
  <property fmtid="{D5CDD505-2E9C-101B-9397-08002B2CF9AE}" pid="5" name="MSIP_Label_ce93fc94-2a04-4870-acee-9c0cd4b7d590_Name">
    <vt:lpwstr>Internal</vt:lpwstr>
  </property>
  <property fmtid="{D5CDD505-2E9C-101B-9397-08002B2CF9AE}" pid="6" name="MSIP_Label_ce93fc94-2a04-4870-acee-9c0cd4b7d590_SiteId">
    <vt:lpwstr>cffa6640-7572-4f05-9c64-cd88068c19d4</vt:lpwstr>
  </property>
  <property fmtid="{D5CDD505-2E9C-101B-9397-08002B2CF9AE}" pid="7" name="MSIP_Label_ce93fc94-2a04-4870-acee-9c0cd4b7d590_ActionId">
    <vt:lpwstr>0b3fac4b-5b11-431c-8ed2-03b2261b8c8d</vt:lpwstr>
  </property>
  <property fmtid="{D5CDD505-2E9C-101B-9397-08002B2CF9AE}" pid="8" name="MSIP_Label_ce93fc94-2a04-4870-acee-9c0cd4b7d590_ContentBits">
    <vt:lpwstr>0</vt:lpwstr>
  </property>
  <property fmtid="{D5CDD505-2E9C-101B-9397-08002B2CF9AE}" pid="9" name="MSIP_Label_ce93fc94-2a04-4870-acee-9c0cd4b7d590_Tag">
    <vt:lpwstr>10, 3, 0, 1</vt:lpwstr>
  </property>
</Properties>
</file>