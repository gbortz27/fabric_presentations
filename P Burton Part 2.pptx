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256" r:id="rId2"/>
    <p:sldId id="357" r:id="rId3"/>
    <p:sldId id="340" r:id="rId4"/>
    <p:sldId id="341" r:id="rId5"/>
    <p:sldId id="342" r:id="rId6"/>
    <p:sldId id="343" r:id="rId7"/>
    <p:sldId id="344" r:id="rId8"/>
    <p:sldId id="347" r:id="rId9"/>
    <p:sldId id="348" r:id="rId10"/>
    <p:sldId id="346" r:id="rId11"/>
    <p:sldId id="349" r:id="rId12"/>
    <p:sldId id="350" r:id="rId13"/>
    <p:sldId id="351" r:id="rId14"/>
    <p:sldId id="352" r:id="rId15"/>
    <p:sldId id="353" r:id="rId16"/>
    <p:sldId id="354" r:id="rId17"/>
    <p:sldId id="355" r:id="rId18"/>
    <p:sldId id="356" r:id="rId19"/>
    <p:sldId id="358" r:id="rId20"/>
    <p:sldId id="359" r:id="rId21"/>
    <p:sldId id="360" r:id="rId22"/>
    <p:sldId id="361" r:id="rId23"/>
    <p:sldId id="362" r:id="rId24"/>
    <p:sldId id="363" r:id="rId25"/>
    <p:sldId id="364" r:id="rId26"/>
    <p:sldId id="365" r:id="rId27"/>
    <p:sldId id="369" r:id="rId28"/>
    <p:sldId id="366" r:id="rId29"/>
    <p:sldId id="367" r:id="rId30"/>
    <p:sldId id="368" r:id="rId31"/>
    <p:sldId id="370" r:id="rId32"/>
    <p:sldId id="371" r:id="rId33"/>
    <p:sldId id="372" r:id="rId34"/>
    <p:sldId id="373" r:id="rId35"/>
    <p:sldId id="374" r:id="rId36"/>
    <p:sldId id="375" r:id="rId37"/>
    <p:sldId id="376" r:id="rId38"/>
    <p:sldId id="377" r:id="rId39"/>
    <p:sldId id="378" r:id="rId40"/>
    <p:sldId id="379" r:id="rId41"/>
    <p:sldId id="380" r:id="rId42"/>
    <p:sldId id="381" r:id="rId43"/>
    <p:sldId id="382" r:id="rId44"/>
    <p:sldId id="383" r:id="rId45"/>
    <p:sldId id="384" r:id="rId46"/>
    <p:sldId id="385" r:id="rId47"/>
    <p:sldId id="386" r:id="rId48"/>
    <p:sldId id="387" r:id="rId49"/>
    <p:sldId id="388" r:id="rId50"/>
    <p:sldId id="389" r:id="rId51"/>
    <p:sldId id="390" r:id="rId52"/>
    <p:sldId id="391" r:id="rId53"/>
    <p:sldId id="392" r:id="rId54"/>
    <p:sldId id="393" r:id="rId55"/>
    <p:sldId id="395" r:id="rId56"/>
    <p:sldId id="396" r:id="rId57"/>
    <p:sldId id="397" r:id="rId58"/>
    <p:sldId id="398" r:id="rId59"/>
    <p:sldId id="399" r:id="rId60"/>
    <p:sldId id="400" r:id="rId61"/>
    <p:sldId id="401" r:id="rId62"/>
    <p:sldId id="402" r:id="rId63"/>
    <p:sldId id="403" r:id="rId64"/>
    <p:sldId id="404" r:id="rId65"/>
    <p:sldId id="405" r:id="rId66"/>
    <p:sldId id="406" r:id="rId67"/>
    <p:sldId id="394" r:id="rId68"/>
    <p:sldId id="411" r:id="rId69"/>
    <p:sldId id="407" r:id="rId70"/>
    <p:sldId id="408" r:id="rId71"/>
    <p:sldId id="409" r:id="rId72"/>
    <p:sldId id="410" r:id="rId73"/>
    <p:sldId id="412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B9C648A-CADD-4367-B917-B7356330BFB6}">
          <p14:sldIdLst>
            <p14:sldId id="256"/>
          </p14:sldIdLst>
        </p14:section>
        <p14:section name="S9_Transforming_Data" id="{95C4379C-052F-45A0-8A08-9B94ACCA6315}">
          <p14:sldIdLst>
            <p14:sldId id="357"/>
            <p14:sldId id="340"/>
            <p14:sldId id="341"/>
            <p14:sldId id="342"/>
            <p14:sldId id="343"/>
            <p14:sldId id="344"/>
            <p14:sldId id="347"/>
            <p14:sldId id="348"/>
            <p14:sldId id="346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9"/>
            <p14:sldId id="366"/>
            <p14:sldId id="367"/>
            <p14:sldId id="368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394"/>
            <p14:sldId id="411"/>
            <p14:sldId id="407"/>
            <p14:sldId id="408"/>
            <p14:sldId id="409"/>
            <p14:sldId id="410"/>
            <p14:sldId id="4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6" y="5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BABBA3-9D32-465F-851A-C902C97AC780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B5C9E5-10DC-49B4-87FC-FD8D1BFB0C5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8561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How we going to merge this data.</a:t>
            </a:r>
          </a:p>
          <a:p>
            <a:pPr marL="228600" indent="-228600">
              <a:buAutoNum type="arabicParenR"/>
            </a:pPr>
            <a:r>
              <a:rPr lang="en-US" dirty="0"/>
              <a:t>We first import that file</a:t>
            </a:r>
          </a:p>
          <a:p>
            <a:pPr marL="228600" indent="-228600">
              <a:buAutoNum type="arabicParenR"/>
            </a:pPr>
            <a:r>
              <a:rPr lang="en-US" dirty="0" err="1"/>
              <a:t>Wew</a:t>
            </a:r>
            <a:r>
              <a:rPr lang="en-US" dirty="0"/>
              <a:t> now convert </a:t>
            </a:r>
            <a:r>
              <a:rPr lang="en-US" dirty="0" err="1"/>
              <a:t>thye</a:t>
            </a:r>
            <a:r>
              <a:rPr lang="en-US" dirty="0"/>
              <a:t> file to a </a:t>
            </a:r>
            <a:r>
              <a:rPr lang="en-US" dirty="0" err="1"/>
              <a:t>trable</a:t>
            </a:r>
            <a:r>
              <a:rPr lang="en-US" dirty="0"/>
              <a:t> </a:t>
            </a:r>
          </a:p>
          <a:p>
            <a:pPr marL="228600" indent="-228600">
              <a:buAutoNum type="arabicParenR"/>
            </a:pPr>
            <a:r>
              <a:rPr lang="en-US" dirty="0"/>
              <a:t>This was the additional table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62247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want to </a:t>
            </a:r>
            <a:r>
              <a:rPr lang="en-US" dirty="0" err="1"/>
              <a:t>mkerge</a:t>
            </a:r>
            <a:r>
              <a:rPr lang="en-US" dirty="0"/>
              <a:t> the </a:t>
            </a:r>
            <a:r>
              <a:rPr lang="en-US" dirty="0" err="1"/>
              <a:t>dfs</a:t>
            </a:r>
            <a:r>
              <a:rPr lang="en-US" dirty="0"/>
              <a:t> </a:t>
            </a:r>
          </a:p>
          <a:p>
            <a:pPr marL="228600" indent="-228600">
              <a:buAutoNum type="arabicParenR"/>
            </a:pPr>
            <a:r>
              <a:rPr lang="en-US" dirty="0"/>
              <a:t>We use union (similar to append) , we also save it </a:t>
            </a:r>
          </a:p>
          <a:p>
            <a:pPr marL="228600" indent="-228600">
              <a:buAutoNum type="arabicParenR"/>
            </a:pPr>
            <a:r>
              <a:rPr lang="en-US" dirty="0"/>
              <a:t>U can also use </a:t>
            </a:r>
            <a:r>
              <a:rPr lang="en-US" dirty="0" err="1"/>
              <a:t>unionAll</a:t>
            </a:r>
            <a:r>
              <a:rPr lang="en-US" dirty="0"/>
              <a:t>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51380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Note 8 rows , not 9 rows</a:t>
            </a:r>
          </a:p>
          <a:p>
            <a:pPr marL="228600" indent="-228600">
              <a:buAutoNum type="arabicParenR"/>
            </a:pPr>
            <a:r>
              <a:rPr lang="en-US" dirty="0"/>
              <a:t>NB. Union in SQL removes duplicates </a:t>
            </a:r>
          </a:p>
          <a:p>
            <a:pPr marL="228600" indent="-228600">
              <a:buAutoNum type="arabicParenR"/>
            </a:pPr>
            <a:r>
              <a:rPr lang="en-US" dirty="0"/>
              <a:t>Union and </a:t>
            </a:r>
            <a:r>
              <a:rPr lang="en-US" dirty="0" err="1"/>
              <a:t>unionall</a:t>
            </a:r>
            <a:r>
              <a:rPr lang="en-US" dirty="0"/>
              <a:t> does not remove duplicates </a:t>
            </a:r>
          </a:p>
          <a:p>
            <a:pPr marL="228600" indent="-228600">
              <a:buAutoNum type="arabicParenR"/>
            </a:pPr>
            <a:r>
              <a:rPr lang="en-US" dirty="0"/>
              <a:t>If you want all rows in </a:t>
            </a:r>
            <a:r>
              <a:rPr lang="en-US" dirty="0" err="1"/>
              <a:t>sql</a:t>
            </a:r>
            <a:r>
              <a:rPr lang="en-US" dirty="0"/>
              <a:t> use </a:t>
            </a:r>
            <a:r>
              <a:rPr lang="en-US" dirty="0" err="1"/>
              <a:t>unionall</a:t>
            </a:r>
            <a:r>
              <a:rPr lang="en-US" dirty="0"/>
              <a:t>.</a:t>
            </a:r>
          </a:p>
          <a:p>
            <a:pPr marL="228600" indent="-228600">
              <a:buAutoNum type="arabicParenR"/>
            </a:pPr>
            <a:r>
              <a:rPr lang="en-US" dirty="0"/>
              <a:t>NB&gt; In </a:t>
            </a:r>
            <a:r>
              <a:rPr lang="en-US" dirty="0" err="1"/>
              <a:t>sql</a:t>
            </a:r>
            <a:r>
              <a:rPr lang="en-US" dirty="0"/>
              <a:t> </a:t>
            </a:r>
            <a:r>
              <a:rPr lang="en-US" dirty="0" err="1"/>
              <a:t>tye</a:t>
            </a:r>
            <a:r>
              <a:rPr lang="en-US" dirty="0"/>
              <a:t> columns need not be </a:t>
            </a:r>
            <a:r>
              <a:rPr lang="en-US" dirty="0" err="1"/>
              <a:t>idenbtically</a:t>
            </a:r>
            <a:r>
              <a:rPr lang="en-US" dirty="0"/>
              <a:t> names for union to take place.</a:t>
            </a:r>
          </a:p>
          <a:p>
            <a:pPr marL="228600" indent="-228600">
              <a:buAutoNum type="arabicParenR"/>
            </a:pPr>
            <a:r>
              <a:rPr lang="en-US" dirty="0"/>
              <a:t>Now we try union where one of tables has extra column.  It errors out , see error on the top right.</a:t>
            </a:r>
          </a:p>
          <a:p>
            <a:pPr marL="228600" indent="-228600">
              <a:buAutoNum type="arabicParenR"/>
            </a:pPr>
            <a:r>
              <a:rPr lang="en-US" dirty="0"/>
              <a:t>We add a column of nulls to the table with less columns and it works in SQL. </a:t>
            </a:r>
          </a:p>
          <a:p>
            <a:pPr marL="228600" indent="-228600">
              <a:buAutoNum type="arabicParenR"/>
            </a:pPr>
            <a:r>
              <a:rPr lang="en-US" dirty="0"/>
              <a:t>In </a:t>
            </a:r>
            <a:r>
              <a:rPr lang="en-US" dirty="0" err="1"/>
              <a:t>pyspark</a:t>
            </a:r>
            <a:r>
              <a:rPr lang="en-US" dirty="0"/>
              <a:t> it also does not work. Same error </a:t>
            </a:r>
          </a:p>
          <a:p>
            <a:pPr marL="228600" indent="-228600">
              <a:buAutoNum type="arabicParenR"/>
            </a:pPr>
            <a:r>
              <a:rPr lang="en-US" dirty="0"/>
              <a:t>But here we can use </a:t>
            </a:r>
            <a:r>
              <a:rPr lang="en-US" dirty="0" err="1"/>
              <a:t>unionByuName</a:t>
            </a:r>
            <a:r>
              <a:rPr lang="en-US" dirty="0"/>
              <a:t> .. To get round the problem of different columns, with </a:t>
            </a:r>
            <a:r>
              <a:rPr lang="en-US" dirty="0" err="1"/>
              <a:t>allowMissingColumns</a:t>
            </a:r>
            <a:r>
              <a:rPr lang="en-US" dirty="0"/>
              <a:t> = True as a parameter. Works.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69124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Choose data </a:t>
            </a:r>
          </a:p>
          <a:p>
            <a:pPr marL="228600" indent="-228600">
              <a:buAutoNum type="arabicParenR"/>
            </a:pPr>
            <a:r>
              <a:rPr lang="en-US" dirty="0"/>
              <a:t>Select L:akehouse and select the tables to bring into Dataflow.</a:t>
            </a:r>
          </a:p>
          <a:p>
            <a:pPr marL="228600" indent="-228600">
              <a:buAutoNum type="arabicParenR"/>
            </a:pPr>
            <a:r>
              <a:rPr lang="en-US" dirty="0"/>
              <a:t>Home Append Queries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67994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can find duplicates by counting them in a </a:t>
            </a:r>
            <a:r>
              <a:rPr lang="en-US" dirty="0" err="1"/>
              <a:t>groupby</a:t>
            </a:r>
            <a:r>
              <a:rPr lang="en-US" dirty="0"/>
              <a:t> of all the columns., see above. Spot the </a:t>
            </a:r>
            <a:r>
              <a:rPr lang="en-US" dirty="0" err="1"/>
              <a:t>dupolicate</a:t>
            </a:r>
            <a:r>
              <a:rPr lang="en-US" dirty="0"/>
              <a:t>.</a:t>
            </a:r>
          </a:p>
          <a:p>
            <a:pPr marL="228600" indent="-228600">
              <a:buAutoNum type="arabicParenR"/>
            </a:pPr>
            <a:r>
              <a:rPr lang="en-US" dirty="0"/>
              <a:t>To identify </a:t>
            </a:r>
            <a:r>
              <a:rPr lang="en-US" dirty="0" err="1"/>
              <a:t>dulicates</a:t>
            </a:r>
            <a:r>
              <a:rPr lang="en-US" dirty="0"/>
              <a:t> we say where count &gt; 1 ; </a:t>
            </a:r>
            <a:r>
              <a:rPr lang="en-US" dirty="0" err="1"/>
              <a:t>counjt</a:t>
            </a:r>
            <a:r>
              <a:rPr lang="en-US" dirty="0"/>
              <a:t> is name of column.</a:t>
            </a:r>
          </a:p>
          <a:p>
            <a:pPr marL="228600" indent="-228600">
              <a:buAutoNum type="arabicParenR"/>
            </a:pPr>
            <a:r>
              <a:rPr lang="en-US" dirty="0"/>
              <a:t>And in SQL . Musty use having , and count(*) &gt;1; NB We didn’t have it in the select clause , </a:t>
            </a:r>
            <a:r>
              <a:rPr lang="en-US" dirty="0" err="1"/>
              <a:t>jusdt</a:t>
            </a:r>
            <a:r>
              <a:rPr lang="en-US" dirty="0"/>
              <a:t> in </a:t>
            </a:r>
            <a:r>
              <a:rPr lang="en-US" dirty="0" err="1"/>
              <a:t>having..spark</a:t>
            </a:r>
            <a:r>
              <a:rPr lang="en-US" dirty="0"/>
              <a:t> is not the same!</a:t>
            </a:r>
          </a:p>
          <a:p>
            <a:pPr marL="228600" indent="-228600">
              <a:buAutoNum type="arabicParenR"/>
            </a:pPr>
            <a:r>
              <a:rPr lang="en-US" dirty="0"/>
              <a:t>How do we get rid of problem. ..use select distinct in </a:t>
            </a:r>
            <a:r>
              <a:rPr lang="en-US" dirty="0" err="1"/>
              <a:t>Pyspark</a:t>
            </a:r>
            <a:r>
              <a:rPr lang="en-US" dirty="0"/>
              <a:t>, same in SQL </a:t>
            </a:r>
          </a:p>
          <a:p>
            <a:pPr marL="228600" indent="-228600">
              <a:buAutoNum type="arabicParenR"/>
            </a:pPr>
            <a:r>
              <a:rPr lang="en-US" dirty="0"/>
              <a:t>Or just do a Group By , no aggregation .. Gets you distinct combinations. </a:t>
            </a:r>
          </a:p>
          <a:p>
            <a:pPr marL="228600" indent="-228600">
              <a:buAutoNum type="arabicParenR"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66046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So if you list country , it will drop </a:t>
            </a:r>
            <a:r>
              <a:rPr lang="en-US" dirty="0" err="1"/>
              <a:t>dupliocates</a:t>
            </a:r>
            <a:r>
              <a:rPr lang="en-US" dirty="0"/>
              <a:t> in Country , </a:t>
            </a:r>
            <a:r>
              <a:rPr lang="en-US" dirty="0" err="1"/>
              <a:t>ie</a:t>
            </a:r>
            <a:r>
              <a:rPr lang="en-US" dirty="0"/>
              <a:t> keep </a:t>
            </a:r>
          </a:p>
          <a:p>
            <a:pPr marL="228600" indent="-228600">
              <a:buAutoNum type="arabicParenR"/>
            </a:pPr>
            <a:r>
              <a:rPr lang="en-US" dirty="0"/>
              <a:t>In dataflow </a:t>
            </a:r>
            <a:r>
              <a:rPr lang="en-US" dirty="0" err="1"/>
              <a:t>genb</a:t>
            </a:r>
            <a:r>
              <a:rPr lang="en-US" dirty="0"/>
              <a:t> 2 we can also drop duplicates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47422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First read in the 2 datasets </a:t>
            </a:r>
          </a:p>
          <a:p>
            <a:pPr marL="228600" indent="-228600">
              <a:buAutoNum type="arabicParenR"/>
            </a:pPr>
            <a:r>
              <a:rPr lang="en-US" dirty="0"/>
              <a:t>Note </a:t>
            </a:r>
            <a:r>
              <a:rPr lang="en-US" dirty="0" err="1"/>
              <a:t>thye</a:t>
            </a:r>
            <a:r>
              <a:rPr lang="en-US" dirty="0"/>
              <a:t> casting of actual as int</a:t>
            </a:r>
          </a:p>
          <a:p>
            <a:pPr marL="228600" indent="-228600">
              <a:buAutoNum type="arabicParenR"/>
            </a:pPr>
            <a:r>
              <a:rPr lang="en-US" dirty="0"/>
              <a:t>Need to </a:t>
            </a:r>
            <a:r>
              <a:rPr lang="en-US" dirty="0" err="1"/>
              <a:t>Groiup</a:t>
            </a:r>
            <a:r>
              <a:rPr lang="en-US" dirty="0"/>
              <a:t> by and Rename of the first </a:t>
            </a:r>
            <a:r>
              <a:rPr lang="en-US" dirty="0" err="1"/>
              <a:t>dataframe</a:t>
            </a:r>
            <a:r>
              <a:rPr lang="en-US" dirty="0"/>
              <a:t> </a:t>
            </a:r>
          </a:p>
          <a:p>
            <a:pPr marL="228600" indent="-228600">
              <a:buAutoNum type="arabicParenR"/>
            </a:pPr>
            <a:r>
              <a:rPr lang="en-US" dirty="0"/>
              <a:t>We repeat with the Target </a:t>
            </a:r>
          </a:p>
          <a:p>
            <a:pPr marL="228600" indent="-228600">
              <a:buAutoNum type="arabicParenR"/>
            </a:pPr>
            <a:r>
              <a:rPr lang="en-US" dirty="0"/>
              <a:t>We save the tables</a:t>
            </a:r>
          </a:p>
          <a:p>
            <a:pPr marL="228600" indent="-228600">
              <a:buAutoNum type="arabicParenR"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6443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Note </a:t>
            </a:r>
            <a:r>
              <a:rPr lang="en-US" dirty="0" err="1"/>
              <a:t>thye</a:t>
            </a:r>
            <a:r>
              <a:rPr lang="en-US" dirty="0"/>
              <a:t> 2 equal signs in the join statement, the above statement implies inner join (default)</a:t>
            </a:r>
          </a:p>
          <a:p>
            <a:pPr marL="228600" indent="-228600">
              <a:buAutoNum type="arabicParenR"/>
            </a:pPr>
            <a:r>
              <a:rPr lang="en-US" dirty="0"/>
              <a:t>See the SQL.</a:t>
            </a:r>
          </a:p>
          <a:p>
            <a:pPr marL="228600" indent="-228600">
              <a:buAutoNum type="arabicParenR"/>
            </a:pPr>
            <a:r>
              <a:rPr lang="en-US" dirty="0"/>
              <a:t>Because the </a:t>
            </a:r>
            <a:r>
              <a:rPr lang="en-US" dirty="0" err="1"/>
              <a:t>namesare</a:t>
            </a:r>
            <a:r>
              <a:rPr lang="en-US" dirty="0"/>
              <a:t> the same you could have country once.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078604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may want non overlapping rows in the result, hence use other joins </a:t>
            </a:r>
          </a:p>
          <a:p>
            <a:pPr marL="228600" indent="-228600">
              <a:buAutoNum type="arabicParenR"/>
            </a:pPr>
            <a:r>
              <a:rPr lang="en-US" dirty="0"/>
              <a:t>Se result for left join ..all rows left , note the position , last position says the join type , right in similar way </a:t>
            </a:r>
          </a:p>
          <a:p>
            <a:pPr marL="228600" indent="-228600">
              <a:buAutoNum type="arabicParenR"/>
            </a:pPr>
            <a:r>
              <a:rPr lang="en-US" dirty="0"/>
              <a:t>Full takes both , </a:t>
            </a:r>
            <a:r>
              <a:rPr lang="en-US" dirty="0" err="1"/>
              <a:t>sql</a:t>
            </a:r>
            <a:r>
              <a:rPr lang="en-US" dirty="0"/>
              <a:t> , left </a:t>
            </a:r>
            <a:r>
              <a:rPr lang="en-US" dirty="0" err="1"/>
              <a:t>righ</a:t>
            </a:r>
            <a:r>
              <a:rPr lang="en-US" dirty="0"/>
              <a:t> or full. , we save the full </a:t>
            </a:r>
            <a:r>
              <a:rPr lang="en-US" dirty="0" err="1"/>
              <a:t>jpoin</a:t>
            </a: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The save gave an error., see </a:t>
            </a:r>
            <a:r>
              <a:rPr lang="en-US" dirty="0" err="1"/>
              <a:t>rhs</a:t>
            </a:r>
            <a:r>
              <a:rPr lang="en-US" dirty="0"/>
              <a:t> , the joins work but the saving does not, as col is duplicated.(Country)</a:t>
            </a:r>
          </a:p>
          <a:p>
            <a:pPr marL="228600" indent="-228600">
              <a:buAutoNum type="arabicParenR"/>
            </a:pPr>
            <a:r>
              <a:rPr lang="en-US" dirty="0"/>
              <a:t>We rename the country cols before the join , so then we have to specify joining columns , as they are not the same name!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392171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ther</a:t>
            </a:r>
            <a:r>
              <a:rPr lang="en-US" dirty="0"/>
              <a:t> table </a:t>
            </a:r>
            <a:r>
              <a:rPr lang="en-US" dirty="0" err="1"/>
              <a:t>nbames</a:t>
            </a:r>
            <a:r>
              <a:rPr lang="en-US" dirty="0"/>
              <a:t> before the country with a dot. And then use aliases.</a:t>
            </a:r>
          </a:p>
          <a:p>
            <a:r>
              <a:rPr lang="en-US" dirty="0"/>
              <a:t>Don’t use aliases in where clauses and in joins.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90938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Import data from </a:t>
            </a:r>
            <a:r>
              <a:rPr lang="en-US" dirty="0" err="1"/>
              <a:t>lakehouses</a:t>
            </a: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Home Merge as New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74453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use the example table from the right join where we got a null value </a:t>
            </a:r>
          </a:p>
          <a:p>
            <a:pPr marL="228600" indent="-228600">
              <a:buAutoNum type="arabicParenR"/>
            </a:pPr>
            <a:r>
              <a:rPr lang="en-US" dirty="0"/>
              <a:t>Use where </a:t>
            </a:r>
            <a:r>
              <a:rPr lang="en-US" dirty="0" err="1"/>
              <a:t>isNull</a:t>
            </a:r>
            <a:r>
              <a:rPr lang="en-US" dirty="0"/>
              <a:t> to capture the null </a:t>
            </a:r>
            <a:r>
              <a:rPr lang="en-US" dirty="0" err="1"/>
              <a:t>valie</a:t>
            </a: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Can do in </a:t>
            </a:r>
            <a:r>
              <a:rPr lang="en-US" dirty="0" err="1"/>
              <a:t>sql</a:t>
            </a:r>
            <a:r>
              <a:rPr lang="en-US" dirty="0"/>
              <a:t>/</a:t>
            </a:r>
          </a:p>
          <a:p>
            <a:pPr marL="228600" indent="-228600">
              <a:buAutoNum type="arabicParenR"/>
            </a:pPr>
            <a:r>
              <a:rPr lang="en-US" dirty="0"/>
              <a:t>Note on Right we do full </a:t>
            </a:r>
            <a:r>
              <a:rPr lang="en-US" dirty="0" err="1"/>
              <a:t>joinj</a:t>
            </a:r>
            <a:r>
              <a:rPr lang="en-US" dirty="0"/>
              <a:t> and therefore rename the country columns…so we now get 2 cols with different names.</a:t>
            </a:r>
          </a:p>
          <a:p>
            <a:pPr marL="228600" indent="-228600">
              <a:buAutoNum type="arabicParenR"/>
            </a:pPr>
            <a:r>
              <a:rPr lang="en-US" dirty="0"/>
              <a:t>Replacing null with fill </a:t>
            </a:r>
            <a:r>
              <a:rPr lang="en-US" dirty="0" err="1"/>
              <a:t>na</a:t>
            </a:r>
            <a:r>
              <a:rPr lang="en-US" dirty="0"/>
              <a:t> , you name the col in a dictionary , see bottom </a:t>
            </a:r>
            <a:r>
              <a:rPr lang="en-US" dirty="0" err="1"/>
              <a:t>righyt</a:t>
            </a:r>
            <a:r>
              <a:rPr lang="en-US" dirty="0"/>
              <a:t>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026820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 err="1"/>
              <a:t>Fillna</a:t>
            </a:r>
            <a:r>
              <a:rPr lang="en-US" dirty="0"/>
              <a:t> targets particular cols, </a:t>
            </a:r>
            <a:r>
              <a:rPr lang="en-US" dirty="0" err="1"/>
              <a:t>na.fill</a:t>
            </a:r>
            <a:r>
              <a:rPr lang="en-US" dirty="0"/>
              <a:t>, targets </a:t>
            </a:r>
            <a:r>
              <a:rPr lang="en-US" dirty="0" err="1"/>
              <a:t>allthe</a:t>
            </a:r>
            <a:r>
              <a:rPr lang="en-US" dirty="0"/>
              <a:t> columns.</a:t>
            </a:r>
          </a:p>
          <a:p>
            <a:pPr marL="228600" indent="-228600">
              <a:buAutoNum type="arabicParenR"/>
            </a:pPr>
            <a:r>
              <a:rPr lang="en-US" dirty="0"/>
              <a:t>Can do in SQL as well. See </a:t>
            </a:r>
            <a:r>
              <a:rPr lang="en-US" dirty="0" err="1"/>
              <a:t>thye</a:t>
            </a:r>
            <a:r>
              <a:rPr lang="en-US" dirty="0"/>
              <a:t> COALESCE to fill in blanks with null for remaining columns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541382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 Replace values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1280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duplicates from the initial join.</a:t>
            </a:r>
          </a:p>
          <a:p>
            <a:r>
              <a:rPr lang="en-US" dirty="0"/>
              <a:t>Remove duplications with distinct </a:t>
            </a:r>
          </a:p>
          <a:p>
            <a:r>
              <a:rPr lang="en-US" dirty="0"/>
              <a:t>See top right for bridge table </a:t>
            </a:r>
            <a:r>
              <a:rPr lang="en-US" dirty="0" err="1"/>
              <a:t>impolementation</a:t>
            </a:r>
            <a:r>
              <a:rPr lang="en-US" dirty="0"/>
              <a:t>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245181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get an error in Union </a:t>
            </a:r>
          </a:p>
          <a:p>
            <a:pPr marL="228600" indent="-228600">
              <a:buAutoNum type="arabicParenR"/>
            </a:pPr>
            <a:r>
              <a:rPr lang="en-US" dirty="0"/>
              <a:t>We try use </a:t>
            </a:r>
            <a:r>
              <a:rPr lang="en-US" dirty="0" err="1"/>
              <a:t>unionByName</a:t>
            </a:r>
            <a:r>
              <a:rPr lang="en-US" dirty="0"/>
              <a:t>.. But get  </a:t>
            </a:r>
            <a:r>
              <a:rPr lang="en-US" dirty="0" err="1"/>
              <a:t>adifferent</a:t>
            </a:r>
            <a:r>
              <a:rPr lang="en-US" dirty="0"/>
              <a:t> error ..</a:t>
            </a:r>
            <a:r>
              <a:rPr lang="en-US" dirty="0" err="1"/>
              <a:t>sse</a:t>
            </a:r>
            <a:r>
              <a:rPr lang="en-US" dirty="0"/>
              <a:t> above , so on top right we say </a:t>
            </a:r>
            <a:r>
              <a:rPr lang="en-US" dirty="0" err="1"/>
              <a:t>allowMissingColumns</a:t>
            </a:r>
            <a:r>
              <a:rPr lang="en-US" dirty="0"/>
              <a:t>=True , note nulls in missing columns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68686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are union tables with </a:t>
            </a:r>
            <a:r>
              <a:rPr lang="en-US" dirty="0" err="1"/>
              <a:t>dufferent</a:t>
            </a:r>
            <a:r>
              <a:rPr lang="en-US" dirty="0"/>
              <a:t> number of columns and coping in different ways ..</a:t>
            </a:r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Ie put null there , better to give </a:t>
            </a:r>
            <a:r>
              <a:rPr lang="en-US" dirty="0" err="1"/>
              <a:t>anallias</a:t>
            </a:r>
            <a:r>
              <a:rPr lang="en-US" dirty="0"/>
              <a:t> , else name is NULL</a:t>
            </a:r>
          </a:p>
          <a:p>
            <a:pPr marL="228600" indent="-228600">
              <a:buAutoNum type="arabicParenR"/>
            </a:pPr>
            <a:r>
              <a:rPr lang="en-US" dirty="0"/>
              <a:t>The </a:t>
            </a:r>
            <a:r>
              <a:rPr lang="en-US" dirty="0" err="1"/>
              <a:t>firstquery</a:t>
            </a:r>
            <a:r>
              <a:rPr lang="en-US" dirty="0"/>
              <a:t> </a:t>
            </a:r>
            <a:r>
              <a:rPr lang="en-US" dirty="0" err="1"/>
              <a:t>givesthecolumnnames</a:t>
            </a:r>
            <a:endParaRPr lang="en-US" dirty="0"/>
          </a:p>
          <a:p>
            <a:pPr marL="228600" indent="-228600">
              <a:buAutoNum type="arabicParenR"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21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964804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23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41915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</a:t>
            </a:r>
            <a:r>
              <a:rPr lang="en-US" dirty="0" err="1"/>
              <a:t>UseGroup</a:t>
            </a:r>
            <a:r>
              <a:rPr lang="en-US" dirty="0"/>
              <a:t> By and Having  &gt; 1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24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878055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 err="1"/>
              <a:t>Notrbook</a:t>
            </a:r>
            <a:r>
              <a:rPr lang="en-US" dirty="0"/>
              <a:t> ingest files to tables and transform them..</a:t>
            </a:r>
          </a:p>
          <a:p>
            <a:pPr marL="228600" indent="-228600">
              <a:buAutoNum type="arabicParenR"/>
            </a:pPr>
            <a:r>
              <a:rPr lang="en-US" dirty="0"/>
              <a:t>Youi can schedule note books </a:t>
            </a:r>
          </a:p>
          <a:p>
            <a:pPr marL="228600" indent="-228600">
              <a:buAutoNum type="arabicParenR"/>
            </a:pPr>
            <a:r>
              <a:rPr lang="en-US" dirty="0"/>
              <a:t>Run/ Schedule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25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193524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Run/View All runs , see scheduled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26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55679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27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409840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</a:t>
            </a:r>
            <a:r>
              <a:rPr lang="en-US" dirty="0" err="1"/>
              <a:t>ery</a:t>
            </a:r>
            <a:r>
              <a:rPr lang="en-US" dirty="0"/>
              <a:t> important for debugging.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28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360390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note ..you can see recent runs.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29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150782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Data comes in and auto processed</a:t>
            </a:r>
          </a:p>
          <a:p>
            <a:pPr marL="228600" indent="-228600">
              <a:buAutoNum type="arabicParenR"/>
            </a:pPr>
            <a:r>
              <a:rPr lang="en-US" dirty="0"/>
              <a:t>Loads a shopping file, asks for schema, note the schema.</a:t>
            </a:r>
          </a:p>
          <a:p>
            <a:pPr marL="228600" indent="-228600">
              <a:buAutoNum type="arabicParenR"/>
            </a:pPr>
            <a:r>
              <a:rPr lang="en-US" dirty="0"/>
              <a:t>Note he wants to use the schema, see how he need to import </a:t>
            </a:r>
            <a:r>
              <a:rPr lang="en-US" dirty="0" err="1"/>
              <a:t>StructType</a:t>
            </a:r>
            <a:r>
              <a:rPr lang="en-US" dirty="0"/>
              <a:t> and </a:t>
            </a:r>
            <a:r>
              <a:rPr lang="en-US" dirty="0" err="1"/>
              <a:t>StructField</a:t>
            </a: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And then uses the out put of </a:t>
            </a:r>
            <a:r>
              <a:rPr lang="en-US" dirty="0" err="1"/>
              <a:t>df,Schema..to</a:t>
            </a:r>
            <a:r>
              <a:rPr lang="en-US" dirty="0"/>
              <a:t> configure the schema</a:t>
            </a:r>
          </a:p>
          <a:p>
            <a:pPr marL="228600" indent="-228600">
              <a:buAutoNum type="arabicParenR"/>
            </a:pPr>
            <a:r>
              <a:rPr lang="en-US" dirty="0"/>
              <a:t>Now he </a:t>
            </a:r>
            <a:r>
              <a:rPr lang="en-US" dirty="0" err="1"/>
              <a:t>readsit</a:t>
            </a:r>
            <a:r>
              <a:rPr lang="en-US" dirty="0"/>
              <a:t> in as </a:t>
            </a:r>
            <a:r>
              <a:rPr lang="en-US" dirty="0" err="1"/>
              <a:t>readStream</a:t>
            </a:r>
            <a:r>
              <a:rPr lang="en-US" dirty="0"/>
              <a:t>, and uses the schema brough in when reading the csv. </a:t>
            </a:r>
          </a:p>
          <a:p>
            <a:pPr marL="228600" indent="-228600">
              <a:buAutoNum type="arabicParenR"/>
            </a:pPr>
            <a:r>
              <a:rPr lang="en-US" dirty="0"/>
              <a:t>Note how he uses *.csv…..</a:t>
            </a:r>
          </a:p>
          <a:p>
            <a:pPr marL="228600" indent="-228600">
              <a:buAutoNum type="arabicParenR"/>
            </a:pPr>
            <a:r>
              <a:rPr lang="en-US" dirty="0"/>
              <a:t>He gets error as leaves our </a:t>
            </a:r>
            <a:r>
              <a:rPr lang="en-US" dirty="0" err="1"/>
              <a:t>StringType</a:t>
            </a:r>
            <a:r>
              <a:rPr lang="en-US" dirty="0"/>
              <a:t>..need to import all </a:t>
            </a:r>
            <a:r>
              <a:rPr lang="en-US" dirty="0" err="1"/>
              <a:t>thes</a:t>
            </a:r>
            <a:r>
              <a:rPr lang="en-US" dirty="0"/>
              <a:t> types that are </a:t>
            </a:r>
            <a:r>
              <a:rPr lang="en-US" dirty="0" err="1"/>
              <a:t>are</a:t>
            </a:r>
            <a:r>
              <a:rPr lang="en-US" dirty="0"/>
              <a:t> in </a:t>
            </a:r>
            <a:r>
              <a:rPr lang="en-US" dirty="0" err="1"/>
              <a:t>StructType</a:t>
            </a: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 Still gets error “</a:t>
            </a:r>
            <a:r>
              <a:rPr lang="en-US" dirty="0" err="1"/>
              <a:t>writeStream</a:t>
            </a:r>
            <a:r>
              <a:rPr lang="en-US" dirty="0"/>
              <a:t>…” , see above.  Cant use display(</a:t>
            </a:r>
            <a:r>
              <a:rPr lang="en-US" dirty="0" err="1"/>
              <a:t>dfs</a:t>
            </a:r>
            <a:r>
              <a:rPr lang="en-US" dirty="0"/>
              <a:t>) ..Must write to a table..</a:t>
            </a:r>
          </a:p>
          <a:p>
            <a:pPr marL="228600" indent="-228600">
              <a:buAutoNum type="arabicParenR"/>
            </a:pPr>
            <a:r>
              <a:rPr lang="en-US" dirty="0"/>
              <a:t>Note , checkpoint location ..allows spark to </a:t>
            </a:r>
            <a:r>
              <a:rPr lang="en-US" dirty="0" err="1"/>
              <a:t>synchronise</a:t>
            </a:r>
            <a:r>
              <a:rPr lang="en-US" dirty="0"/>
              <a:t> with the streaming data..; does not process old data.</a:t>
            </a:r>
          </a:p>
          <a:p>
            <a:pPr marL="228600" indent="-228600">
              <a:buAutoNum type="arabicParenR"/>
            </a:pPr>
            <a:r>
              <a:rPr lang="en-US" dirty="0"/>
              <a:t>If it fails  spark can recover from the checkpoint ..therefore you need a location to store it.,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30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686561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See how he adds a </a:t>
            </a:r>
            <a:r>
              <a:rPr lang="en-US" dirty="0" err="1"/>
              <a:t>deltatablepath</a:t>
            </a:r>
            <a:r>
              <a:rPr lang="en-US" dirty="0"/>
              <a:t> variable </a:t>
            </a:r>
          </a:p>
          <a:p>
            <a:pPr marL="228600" indent="-228600">
              <a:buAutoNum type="arabicParenR"/>
            </a:pPr>
            <a:r>
              <a:rPr lang="en-US" dirty="0"/>
              <a:t>Then uses it in the query. And places it in a subfolder called ‘_checkpoint’</a:t>
            </a:r>
          </a:p>
          <a:p>
            <a:pPr marL="228600" indent="-228600">
              <a:buAutoNum type="arabicParenR"/>
            </a:pPr>
            <a:r>
              <a:rPr lang="en-US" dirty="0"/>
              <a:t>.start infers that it is a continuous action. </a:t>
            </a:r>
          </a:p>
          <a:p>
            <a:pPr marL="228600" indent="-228600">
              <a:buAutoNum type="arabicParenR"/>
            </a:pPr>
            <a:r>
              <a:rPr lang="en-ZA" dirty="0"/>
              <a:t>If we have the query like as in the first </a:t>
            </a:r>
            <a:r>
              <a:rPr lang="en-ZA" dirty="0" err="1"/>
              <a:t>block..it</a:t>
            </a:r>
            <a:r>
              <a:rPr lang="en-ZA" dirty="0"/>
              <a:t> would run and stop </a:t>
            </a:r>
          </a:p>
          <a:p>
            <a:pPr marL="228600" indent="-228600">
              <a:buAutoNum type="arabicParenR"/>
            </a:pPr>
            <a:r>
              <a:rPr lang="en-ZA" dirty="0"/>
              <a:t>We need the cell to keep going until query is finished.</a:t>
            </a:r>
          </a:p>
          <a:p>
            <a:pPr marL="228600" indent="-228600">
              <a:buAutoNum type="arabicParenR"/>
            </a:pPr>
            <a:r>
              <a:rPr lang="en-ZA" dirty="0"/>
              <a:t>We add the function </a:t>
            </a:r>
            <a:r>
              <a:rPr lang="en-ZA" dirty="0" err="1"/>
              <a:t>query.awaaitTermination</a:t>
            </a:r>
            <a:r>
              <a:rPr lang="en-ZA" dirty="0"/>
              <a:t>…which is never </a:t>
            </a:r>
          </a:p>
          <a:p>
            <a:pPr marL="228600" indent="-228600">
              <a:buAutoNum type="arabicParenR"/>
            </a:pPr>
            <a:r>
              <a:rPr lang="en-ZA" dirty="0"/>
              <a:t>The second block with </a:t>
            </a:r>
            <a:r>
              <a:rPr lang="en-ZA" dirty="0" err="1"/>
              <a:t>awaitTermination</a:t>
            </a:r>
            <a:r>
              <a:rPr lang="en-ZA" dirty="0"/>
              <a:t> will continue to run.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31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917376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Goes to query the </a:t>
            </a:r>
            <a:r>
              <a:rPr lang="en-US" dirty="0" err="1"/>
              <a:t>shop_table</a:t>
            </a:r>
            <a:r>
              <a:rPr lang="en-US" dirty="0"/>
              <a:t> in the </a:t>
            </a:r>
            <a:r>
              <a:rPr lang="en-US" dirty="0" err="1"/>
              <a:t>lakehouse</a:t>
            </a:r>
            <a:r>
              <a:rPr lang="en-US" dirty="0"/>
              <a:t> </a:t>
            </a:r>
            <a:r>
              <a:rPr lang="en-US" dirty="0" err="1"/>
              <a:t>sql</a:t>
            </a:r>
            <a:r>
              <a:rPr lang="en-US" dirty="0"/>
              <a:t> endpoint.</a:t>
            </a:r>
          </a:p>
          <a:p>
            <a:r>
              <a:rPr lang="en-US" dirty="0"/>
              <a:t>We go back to the </a:t>
            </a:r>
            <a:r>
              <a:rPr lang="en-US" dirty="0" err="1"/>
              <a:t>lakehouse</a:t>
            </a:r>
            <a:r>
              <a:rPr lang="en-US" dirty="0"/>
              <a:t> into files , we load additional file called </a:t>
            </a:r>
            <a:r>
              <a:rPr lang="en-US" dirty="0" err="1"/>
              <a:t>ShoppingApril</a:t>
            </a:r>
            <a:r>
              <a:rPr lang="en-US" dirty="0"/>
              <a:t>…2 files</a:t>
            </a:r>
          </a:p>
          <a:p>
            <a:r>
              <a:rPr lang="en-US" dirty="0"/>
              <a:t>Goes back </a:t>
            </a:r>
            <a:r>
              <a:rPr lang="en-US" dirty="0" err="1"/>
              <a:t>toi</a:t>
            </a:r>
            <a:r>
              <a:rPr lang="en-US" dirty="0"/>
              <a:t> </a:t>
            </a:r>
            <a:r>
              <a:rPr lang="en-US" dirty="0" err="1"/>
              <a:t>sql</a:t>
            </a:r>
            <a:r>
              <a:rPr lang="en-US" dirty="0"/>
              <a:t> endpoint ..and runs the same query as before </a:t>
            </a:r>
          </a:p>
          <a:p>
            <a:r>
              <a:rPr lang="en-US" dirty="0"/>
              <a:t>Previously 12,, Requires a bit of refreshing and now 14 Rows.</a:t>
            </a:r>
          </a:p>
          <a:p>
            <a:r>
              <a:rPr lang="en-US" dirty="0"/>
              <a:t>Uploads May and </a:t>
            </a:r>
            <a:r>
              <a:rPr lang="en-US" dirty="0" err="1"/>
              <a:t>Junew</a:t>
            </a:r>
            <a:r>
              <a:rPr lang="en-US" dirty="0"/>
              <a:t> files , goes to SQL analytics endpoint ..</a:t>
            </a:r>
            <a:r>
              <a:rPr lang="en-US" dirty="0" err="1"/>
              <a:t>requeries</a:t>
            </a:r>
            <a:r>
              <a:rPr lang="en-US" dirty="0"/>
              <a:t> it.  Refresh queries ..18 rows..</a:t>
            </a:r>
          </a:p>
          <a:p>
            <a:r>
              <a:rPr lang="en-US" dirty="0"/>
              <a:t>Note the wild card ..so names not exactly the same.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32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058168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Do we have to have this code in a notebook for this to run. </a:t>
            </a:r>
          </a:p>
          <a:p>
            <a:pPr marL="228600" indent="-228600">
              <a:buAutoNum type="arabicParenR"/>
            </a:pPr>
            <a:r>
              <a:rPr lang="en-US" dirty="0"/>
              <a:t>Take the code and run independent from Notebook.</a:t>
            </a:r>
          </a:p>
          <a:p>
            <a:pPr marL="228600" indent="-228600">
              <a:buAutoNum type="arabicParenR"/>
            </a:pPr>
            <a:r>
              <a:rPr lang="en-US" dirty="0"/>
              <a:t>We copy and paste to Notepad. </a:t>
            </a:r>
          </a:p>
          <a:p>
            <a:pPr marL="228600" indent="-228600">
              <a:buAutoNum type="arabicParenR"/>
            </a:pPr>
            <a:r>
              <a:rPr lang="en-US" dirty="0"/>
              <a:t>And save it pysparkcode.py.. A python file,</a:t>
            </a:r>
          </a:p>
          <a:p>
            <a:pPr marL="228600" indent="-228600">
              <a:buAutoNum type="arabicParenR"/>
            </a:pPr>
            <a:r>
              <a:rPr lang="en-US" dirty="0"/>
              <a:t>Goes back to the </a:t>
            </a:r>
            <a:r>
              <a:rPr lang="en-US" dirty="0" err="1"/>
              <a:t>lakehouse</a:t>
            </a:r>
            <a:r>
              <a:rPr lang="en-US" dirty="0"/>
              <a:t> and deletes all of the additional files and deletes the table..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33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682566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now upload the .</a:t>
            </a:r>
            <a:r>
              <a:rPr lang="en-US" dirty="0" err="1"/>
              <a:t>py</a:t>
            </a:r>
            <a:r>
              <a:rPr lang="en-US" dirty="0"/>
              <a:t> local file </a:t>
            </a:r>
          </a:p>
          <a:p>
            <a:pPr marL="228600" indent="-228600">
              <a:buAutoNum type="arabicParenR"/>
            </a:pPr>
            <a:r>
              <a:rPr lang="en-US" dirty="0"/>
              <a:t>Can also add reference files </a:t>
            </a:r>
            <a:r>
              <a:rPr lang="en-US" dirty="0" err="1"/>
              <a:t>etxc</a:t>
            </a:r>
            <a:r>
              <a:rPr lang="en-US" dirty="0"/>
              <a:t> </a:t>
            </a:r>
          </a:p>
          <a:p>
            <a:pPr marL="228600" indent="-228600">
              <a:buAutoNum type="arabicParenR"/>
            </a:pPr>
            <a:r>
              <a:rPr lang="en-US" dirty="0"/>
              <a:t>Need a </a:t>
            </a:r>
            <a:r>
              <a:rPr lang="en-US" dirty="0" err="1"/>
              <a:t>lakehouse</a:t>
            </a:r>
            <a:r>
              <a:rPr lang="en-US" dirty="0"/>
              <a:t> reference , select shopping </a:t>
            </a:r>
            <a:r>
              <a:rPr lang="en-US" dirty="0" err="1"/>
              <a:t>lakrehouse</a:t>
            </a:r>
            <a:r>
              <a:rPr lang="en-US" dirty="0"/>
              <a:t> </a:t>
            </a:r>
          </a:p>
          <a:p>
            <a:pPr marL="228600" indent="-228600">
              <a:buAutoNum type="arabicParenR"/>
            </a:pPr>
            <a:r>
              <a:rPr lang="en-US" dirty="0"/>
              <a:t>Save the Job  definition…Run, Refresh and see the Job start and run,,,</a:t>
            </a:r>
          </a:p>
          <a:p>
            <a:pPr marL="228600" indent="-228600">
              <a:buAutoNum type="arabicParenR"/>
            </a:pPr>
            <a:r>
              <a:rPr lang="en-US" dirty="0"/>
              <a:t>It failed ..Read the message ..”Spark JVM……See on left bottom!</a:t>
            </a:r>
          </a:p>
          <a:p>
            <a:pPr marL="228600" indent="-228600">
              <a:buAutoNum type="arabicParenR"/>
            </a:pPr>
            <a:r>
              <a:rPr lang="en-US" dirty="0"/>
              <a:t>Read the </a:t>
            </a:r>
            <a:r>
              <a:rPr lang="en-US" dirty="0" err="1"/>
              <a:t>code..we</a:t>
            </a:r>
            <a:r>
              <a:rPr lang="en-US" dirty="0"/>
              <a:t> have </a:t>
            </a:r>
            <a:r>
              <a:rPr lang="en-US" dirty="0" err="1"/>
              <a:t>spark.readStream</a:t>
            </a:r>
            <a:r>
              <a:rPr lang="en-US" dirty="0"/>
              <a:t>…. But spark is implicit in the </a:t>
            </a:r>
            <a:r>
              <a:rPr lang="en-US" dirty="0" err="1"/>
              <a:t>Noptebook</a:t>
            </a:r>
            <a:r>
              <a:rPr lang="en-US" dirty="0"/>
              <a:t>.</a:t>
            </a:r>
          </a:p>
          <a:p>
            <a:pPr marL="228600" indent="-228600">
              <a:buAutoNum type="arabicParenR"/>
            </a:pPr>
            <a:r>
              <a:rPr lang="en-US" dirty="0"/>
              <a:t>In a </a:t>
            </a:r>
            <a:r>
              <a:rPr lang="en-US" dirty="0" err="1"/>
              <a:t>Sparkj</a:t>
            </a:r>
            <a:r>
              <a:rPr lang="en-US" dirty="0"/>
              <a:t> Job we </a:t>
            </a:r>
            <a:r>
              <a:rPr lang="en-US" dirty="0" err="1"/>
              <a:t>mustr</a:t>
            </a:r>
            <a:r>
              <a:rPr lang="en-US" dirty="0"/>
              <a:t> explicitly define it . </a:t>
            </a:r>
          </a:p>
          <a:p>
            <a:pPr marL="228600" indent="-228600">
              <a:buAutoNum type="arabicParenR"/>
            </a:pPr>
            <a:r>
              <a:rPr lang="en-US" dirty="0"/>
              <a:t>See 2 additional lines in the code… </a:t>
            </a:r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Ie import the spark session , and the define what spark </a:t>
            </a:r>
            <a:r>
              <a:rPr lang="en-US" dirty="0" err="1"/>
              <a:t>means..see</a:t>
            </a:r>
            <a:r>
              <a:rPr lang="en-US" dirty="0"/>
              <a:t> bottom left of screen ..  The first and third line…</a:t>
            </a:r>
          </a:p>
          <a:p>
            <a:pPr marL="228600" indent="-228600">
              <a:buAutoNum type="arabicParenR"/>
            </a:pPr>
            <a:r>
              <a:rPr lang="en-US" dirty="0" err="1"/>
              <a:t>Del;ete</a:t>
            </a:r>
            <a:r>
              <a:rPr lang="en-US" dirty="0"/>
              <a:t> </a:t>
            </a:r>
            <a:r>
              <a:rPr lang="en-US" dirty="0" err="1"/>
              <a:t>existring</a:t>
            </a:r>
            <a:r>
              <a:rPr lang="en-US" dirty="0"/>
              <a:t> file and upload again.</a:t>
            </a:r>
          </a:p>
          <a:p>
            <a:pPr marL="228600" indent="-228600">
              <a:buAutoNum type="arabicParenR"/>
            </a:pPr>
            <a:r>
              <a:rPr lang="en-US" dirty="0"/>
              <a:t>Open and run again, see the runs and see the definition running.,</a:t>
            </a:r>
          </a:p>
          <a:p>
            <a:pPr marL="228600" indent="-228600">
              <a:buAutoNum type="arabicParenR"/>
            </a:pPr>
            <a:r>
              <a:rPr lang="en-US" dirty="0"/>
              <a:t>Go back to lake house and see the </a:t>
            </a:r>
            <a:r>
              <a:rPr lang="en-US" dirty="0" err="1"/>
              <a:t>shop_table</a:t>
            </a:r>
            <a:r>
              <a:rPr lang="en-US" dirty="0"/>
              <a:t>  table</a:t>
            </a:r>
          </a:p>
          <a:p>
            <a:pPr marL="228600" indent="-228600">
              <a:buAutoNum type="arabicParenR"/>
            </a:pPr>
            <a:r>
              <a:rPr lang="en-US" dirty="0"/>
              <a:t>Go back to endpoint and select the table, but error , so refresh the table,</a:t>
            </a:r>
          </a:p>
          <a:p>
            <a:pPr marL="0" indent="0">
              <a:buNone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 </a:t>
            </a:r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 </a:t>
            </a:r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I</a:t>
            </a:r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M</a:t>
            </a:r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34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075772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lake house and close the job definition… , so we only have the endpoint.</a:t>
            </a:r>
          </a:p>
          <a:p>
            <a:r>
              <a:rPr lang="en-US" dirty="0"/>
              <a:t>He goes to </a:t>
            </a:r>
            <a:r>
              <a:rPr lang="en-US" dirty="0" err="1"/>
              <a:t>onelake</a:t>
            </a:r>
            <a:r>
              <a:rPr lang="en-US" dirty="0"/>
              <a:t> explorer ,, and copies in more files.. Into the </a:t>
            </a:r>
            <a:r>
              <a:rPr lang="en-US" dirty="0" err="1"/>
              <a:t>onelake</a:t>
            </a:r>
            <a:r>
              <a:rPr lang="en-US" dirty="0"/>
              <a:t> folder.</a:t>
            </a:r>
          </a:p>
          <a:p>
            <a:r>
              <a:rPr lang="en-US" dirty="0"/>
              <a:t>He runs the query in the SQL endpoint…after few minutes u now have  18 lines.</a:t>
            </a:r>
          </a:p>
          <a:p>
            <a:r>
              <a:rPr lang="en-US" dirty="0"/>
              <a:t>You now have added lines </a:t>
            </a:r>
          </a:p>
          <a:p>
            <a:r>
              <a:rPr lang="en-US" dirty="0"/>
              <a:t>Go to Job Def , must provide a </a:t>
            </a:r>
            <a:r>
              <a:rPr lang="en-US" dirty="0" err="1"/>
              <a:t>py</a:t>
            </a:r>
            <a:r>
              <a:rPr lang="en-US" dirty="0"/>
              <a:t> file..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35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37428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</a:t>
            </a:r>
            <a:r>
              <a:rPr lang="en-US" dirty="0" err="1"/>
              <a:t>Secify</a:t>
            </a:r>
            <a:r>
              <a:rPr lang="en-US" dirty="0"/>
              <a:t> the </a:t>
            </a:r>
            <a:r>
              <a:rPr lang="en-US" dirty="0" err="1"/>
              <a:t>lkakehouse</a:t>
            </a:r>
            <a:r>
              <a:rPr lang="en-US" dirty="0"/>
              <a:t> and see messages  and runs to see the </a:t>
            </a:r>
            <a:r>
              <a:rPr lang="en-US" dirty="0" err="1"/>
              <a:t>executioin</a:t>
            </a:r>
            <a:r>
              <a:rPr lang="en-US" dirty="0"/>
              <a:t>!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36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65119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all the menus </a:t>
            </a:r>
            <a:r>
              <a:rPr lang="en-US" dirty="0" err="1"/>
              <a:t>tp</a:t>
            </a:r>
            <a:r>
              <a:rPr lang="en-US" dirty="0"/>
              <a:t> see details of the Runs.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37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280529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Datsaflow</a:t>
            </a:r>
            <a:r>
              <a:rPr lang="en-US" dirty="0"/>
              <a:t> vs notebook for </a:t>
            </a:r>
            <a:r>
              <a:rPr lang="en-US" dirty="0" err="1"/>
              <a:t>inmgestion</a:t>
            </a:r>
            <a:r>
              <a:rPr lang="en-US" dirty="0"/>
              <a:t>.</a:t>
            </a:r>
          </a:p>
          <a:p>
            <a:r>
              <a:rPr lang="en-US" dirty="0"/>
              <a:t>1)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38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628206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Opens New Notebook. With a </a:t>
            </a:r>
            <a:r>
              <a:rPr lang="en-US" dirty="0" err="1"/>
              <a:t>lakehouse</a:t>
            </a:r>
            <a:r>
              <a:rPr lang="en-US" dirty="0"/>
              <a:t>.</a:t>
            </a:r>
          </a:p>
          <a:p>
            <a:pPr marL="228600" indent="-228600">
              <a:buAutoNum type="arabicParenR"/>
            </a:pPr>
            <a:r>
              <a:rPr lang="en-US" dirty="0"/>
              <a:t>He has an existing Table </a:t>
            </a:r>
            <a:r>
              <a:rPr lang="en-US" dirty="0" err="1"/>
              <a:t>mtoM</a:t>
            </a:r>
            <a:r>
              <a:rPr lang="en-US" dirty="0"/>
              <a:t> actual </a:t>
            </a:r>
          </a:p>
          <a:p>
            <a:pPr marL="228600" indent="-228600">
              <a:buAutoNum type="arabicParenR"/>
            </a:pPr>
            <a:r>
              <a:rPr lang="en-US" dirty="0"/>
              <a:t>Now he wants an extract for England.  Leaves a cell open above </a:t>
            </a:r>
            <a:r>
              <a:rPr lang="en-US" dirty="0" err="1"/>
              <a:t>theis</a:t>
            </a:r>
            <a:r>
              <a:rPr lang="en-US" dirty="0"/>
              <a:t> one </a:t>
            </a:r>
          </a:p>
          <a:p>
            <a:pPr marL="228600" indent="-228600">
              <a:buAutoNum type="arabicParenR"/>
            </a:pPr>
            <a:r>
              <a:rPr lang="en-US" dirty="0"/>
              <a:t>Does  a test to filter for England m saves England </a:t>
            </a:r>
            <a:r>
              <a:rPr lang="en-US" dirty="0" err="1"/>
              <a:t>Dtaframe</a:t>
            </a:r>
            <a:r>
              <a:rPr lang="en-US" dirty="0"/>
              <a:t> </a:t>
            </a:r>
          </a:p>
          <a:p>
            <a:pPr marL="228600" indent="-228600">
              <a:buAutoNum type="arabicParenR"/>
            </a:pPr>
            <a:r>
              <a:rPr lang="en-US" dirty="0"/>
              <a:t>Tests a query on the England table in the SQL endpoint </a:t>
            </a:r>
          </a:p>
          <a:p>
            <a:pPr marL="228600" indent="-228600">
              <a:buAutoNum type="arabicParenR"/>
            </a:pPr>
            <a:r>
              <a:rPr lang="en-US" dirty="0"/>
              <a:t>We now </a:t>
            </a:r>
            <a:r>
              <a:rPr lang="en-US" dirty="0" err="1"/>
              <a:t>wanr</a:t>
            </a:r>
            <a:r>
              <a:rPr lang="en-US" dirty="0"/>
              <a:t> a Country we specify , by creating a parameter…</a:t>
            </a:r>
            <a:r>
              <a:rPr lang="en-US" dirty="0" err="1"/>
              <a:t>goesd</a:t>
            </a:r>
            <a:r>
              <a:rPr lang="en-US" dirty="0"/>
              <a:t> in first cell. N We just put in </a:t>
            </a:r>
            <a:r>
              <a:rPr lang="en-US" dirty="0" err="1"/>
              <a:t>thre</a:t>
            </a:r>
            <a:r>
              <a:rPr lang="en-US" dirty="0"/>
              <a:t> variable , and populate with England and get same result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39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525077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Set the parameter buy going to … on RHS top of blank cell , toggle parameter cell. </a:t>
            </a:r>
          </a:p>
          <a:p>
            <a:pPr marL="228600" indent="-228600">
              <a:buAutoNum type="arabicParenR"/>
            </a:pPr>
            <a:r>
              <a:rPr lang="en-US" dirty="0"/>
              <a:t>See word parameters , and can still run cell. / notebook. Nothing has changed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40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053505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In this </a:t>
            </a:r>
            <a:r>
              <a:rPr lang="en-US" dirty="0" err="1"/>
              <a:t>pipelkine</a:t>
            </a:r>
            <a:r>
              <a:rPr lang="en-US" dirty="0"/>
              <a:t> we create a notebook activity </a:t>
            </a:r>
          </a:p>
          <a:p>
            <a:pPr marL="228600" indent="-228600">
              <a:buAutoNum type="arabicParenR"/>
            </a:pPr>
            <a:r>
              <a:rPr lang="en-US" dirty="0"/>
              <a:t>We now select our notebook parameters ,as our notebook </a:t>
            </a:r>
          </a:p>
          <a:p>
            <a:pPr marL="228600" indent="-228600">
              <a:buAutoNum type="arabicParenR"/>
            </a:pPr>
            <a:r>
              <a:rPr lang="en-US" dirty="0"/>
              <a:t>We need to assign a value to </a:t>
            </a:r>
            <a:r>
              <a:rPr lang="en-US" dirty="0" err="1"/>
              <a:t>Parameter_Country</a:t>
            </a:r>
            <a:r>
              <a:rPr lang="en-US" dirty="0"/>
              <a:t> in Notebook , so go the base parameters in main pipeline settings </a:t>
            </a:r>
          </a:p>
          <a:p>
            <a:pPr marL="228600" indent="-228600">
              <a:buAutoNum type="arabicParenR"/>
            </a:pPr>
            <a:r>
              <a:rPr lang="en-US" dirty="0"/>
              <a:t>Base parameters , new name and value , must be same name as notebook., Type ..</a:t>
            </a:r>
            <a:r>
              <a:rPr lang="en-US" dirty="0" err="1"/>
              <a:t>ie</a:t>
            </a:r>
            <a:r>
              <a:rPr lang="en-US" dirty="0"/>
              <a:t> String or Int , Value Franse</a:t>
            </a:r>
          </a:p>
          <a:p>
            <a:pPr marL="228600" indent="-228600">
              <a:buAutoNum type="arabicParenR"/>
            </a:pPr>
            <a:r>
              <a:rPr lang="en-US" dirty="0"/>
              <a:t>Save it and Run ..Pipeline .. </a:t>
            </a:r>
            <a:r>
              <a:rPr lang="en-US" dirty="0" err="1"/>
              <a:t>Suvccedss</a:t>
            </a:r>
            <a:r>
              <a:rPr lang="en-US" dirty="0"/>
              <a:t> </a:t>
            </a:r>
          </a:p>
          <a:p>
            <a:pPr marL="228600" indent="-228600">
              <a:buAutoNum type="arabicParenR"/>
            </a:pPr>
            <a:r>
              <a:rPr lang="en-US" dirty="0"/>
              <a:t>Go to SQL Analytics endpoint and see the query of the table to see Franse ..???</a:t>
            </a:r>
          </a:p>
          <a:p>
            <a:pPr marL="228600" indent="-228600">
              <a:buAutoNum type="arabicParenR"/>
            </a:pPr>
            <a:r>
              <a:rPr lang="en-US" dirty="0"/>
              <a:t>To change it again go the </a:t>
            </a:r>
            <a:r>
              <a:rPr lang="en-US" dirty="0" err="1"/>
              <a:t>the</a:t>
            </a:r>
            <a:r>
              <a:rPr lang="en-US" dirty="0"/>
              <a:t> Notebook </a:t>
            </a:r>
            <a:r>
              <a:rPr lang="en-US" dirty="0" err="1"/>
              <a:t>Itenm</a:t>
            </a:r>
            <a:r>
              <a:rPr lang="en-US" dirty="0"/>
              <a:t> in pipeline , </a:t>
            </a:r>
            <a:r>
              <a:rPr lang="en-US" dirty="0" err="1"/>
              <a:t>clicj</a:t>
            </a:r>
            <a:r>
              <a:rPr lang="en-US" dirty="0"/>
              <a:t> on it and change the value of the parameter. And </a:t>
            </a:r>
            <a:r>
              <a:rPr lang="en-US" dirty="0" err="1"/>
              <a:t>Rumn</a:t>
            </a:r>
            <a:r>
              <a:rPr lang="en-US" dirty="0"/>
              <a:t> </a:t>
            </a:r>
            <a:r>
              <a:rPr lang="en-US" dirty="0" err="1"/>
              <a:t>wirg</a:t>
            </a:r>
            <a:r>
              <a:rPr lang="en-US" dirty="0"/>
              <a:t> Italy , query gain in Endpoint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41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320263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want the user to change the parameter in a run and not have it fixed prior to Run. </a:t>
            </a:r>
          </a:p>
          <a:p>
            <a:pPr marL="228600" indent="-228600">
              <a:buAutoNum type="arabicParenR"/>
            </a:pPr>
            <a:r>
              <a:rPr lang="en-US" dirty="0"/>
              <a:t>We use dynamic expressions, </a:t>
            </a:r>
            <a:r>
              <a:rPr lang="en-US" dirty="0" err="1"/>
              <a:t>Clixck</a:t>
            </a:r>
            <a:r>
              <a:rPr lang="en-US" dirty="0"/>
              <a:t> on add dynamic content , and seed side screen… We add a pipeline parameter , Click + sign, while in </a:t>
            </a:r>
            <a:r>
              <a:rPr lang="en-US" dirty="0" err="1"/>
              <a:t>paqrameter</a:t>
            </a:r>
            <a:r>
              <a:rPr lang="en-US" dirty="0"/>
              <a:t> </a:t>
            </a:r>
            <a:r>
              <a:rPr lang="en-US" dirty="0" err="1"/>
              <a:t>menue</a:t>
            </a:r>
            <a:r>
              <a:rPr lang="en-US" dirty="0"/>
              <a:t> on the right, , Put in parameter details , this parameter is over and above the current one in the </a:t>
            </a:r>
            <a:r>
              <a:rPr lang="en-US" dirty="0" err="1"/>
              <a:t>pipelinre</a:t>
            </a:r>
            <a:r>
              <a:rPr lang="en-US" dirty="0"/>
              <a:t> …</a:t>
            </a:r>
          </a:p>
          <a:p>
            <a:pPr marL="228600" indent="-228600">
              <a:buAutoNum type="arabicParenR"/>
            </a:pPr>
            <a:r>
              <a:rPr lang="en-US" dirty="0"/>
              <a:t>Now click country parameter , that you have as a listed choice </a:t>
            </a:r>
          </a:p>
          <a:p>
            <a:pPr marL="228600" indent="-228600">
              <a:buAutoNum type="arabicParenR"/>
            </a:pPr>
            <a:r>
              <a:rPr lang="en-US" dirty="0"/>
              <a:t>Notice the </a:t>
            </a:r>
            <a:r>
              <a:rPr lang="en-US" dirty="0" err="1"/>
              <a:t>expressin</a:t>
            </a:r>
            <a:r>
              <a:rPr lang="en-US" dirty="0"/>
              <a:t> builder @pipeline.parameters…Notice the </a:t>
            </a:r>
            <a:r>
              <a:rPr lang="en-US" dirty="0" err="1"/>
              <a:t>xpression</a:t>
            </a:r>
            <a:r>
              <a:rPr lang="en-US" dirty="0"/>
              <a:t> builder expression in the Value box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42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45805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Pipeline asks for Input into </a:t>
            </a:r>
            <a:r>
              <a:rPr lang="en-US" dirty="0" err="1"/>
              <a:t>param,eter</a:t>
            </a:r>
            <a:r>
              <a:rPr lang="en-US" dirty="0"/>
              <a:t> as it runs , England in the default in </a:t>
            </a:r>
            <a:r>
              <a:rPr lang="en-US" dirty="0" err="1"/>
              <a:t>thed</a:t>
            </a:r>
            <a:r>
              <a:rPr lang="en-US" dirty="0"/>
              <a:t> notebook.</a:t>
            </a:r>
          </a:p>
          <a:p>
            <a:pPr marL="228600" indent="-228600">
              <a:buAutoNum type="arabicParenR"/>
            </a:pPr>
            <a:r>
              <a:rPr lang="en-US" dirty="0"/>
              <a:t>Change </a:t>
            </a:r>
            <a:r>
              <a:rPr lang="en-US" dirty="0" err="1"/>
              <a:t>tpo</a:t>
            </a:r>
            <a:r>
              <a:rPr lang="en-US" dirty="0"/>
              <a:t> </a:t>
            </a:r>
            <a:r>
              <a:rPr lang="en-US" dirty="0" err="1"/>
              <a:t>Fransse</a:t>
            </a:r>
            <a:r>
              <a:rPr lang="en-US" dirty="0"/>
              <a:t> and click. Run</a:t>
            </a:r>
          </a:p>
          <a:p>
            <a:pPr marL="228600" indent="-228600">
              <a:buAutoNum type="arabicParenR"/>
            </a:pPr>
            <a:r>
              <a:rPr lang="en-US" dirty="0"/>
              <a:t>Go to SQL Endpoint to Query The table , But we still have </a:t>
            </a:r>
            <a:r>
              <a:rPr lang="en-US" dirty="0" err="1"/>
              <a:t>Italy..the</a:t>
            </a:r>
            <a:r>
              <a:rPr lang="en-US" dirty="0"/>
              <a:t> old parameter value,</a:t>
            </a:r>
          </a:p>
          <a:p>
            <a:pPr marL="228600" indent="-228600">
              <a:buAutoNum type="arabicParenR"/>
            </a:pPr>
            <a:r>
              <a:rPr lang="en-US" dirty="0"/>
              <a:t>Note you are populations the Parameter in the notebook with the Dynamic parameter of the expression builder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43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760789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</a:t>
            </a:r>
            <a:r>
              <a:rPr lang="en-US" dirty="0" err="1"/>
              <a:t>Triggeer</a:t>
            </a:r>
            <a:r>
              <a:rPr lang="en-US" dirty="0"/>
              <a:t> </a:t>
            </a:r>
            <a:r>
              <a:rPr lang="en-US" dirty="0" err="1"/>
              <a:t>Paramertres</a:t>
            </a:r>
            <a:r>
              <a:rPr lang="en-US" dirty="0"/>
              <a:t> 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44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476890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Large function language available , See example date functions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45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54924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first set  up parameter Notebook , where the parameter is initialized and used </a:t>
            </a:r>
            <a:r>
              <a:rPr lang="en-US" dirty="0" err="1"/>
              <a:t>ie</a:t>
            </a:r>
            <a:r>
              <a:rPr lang="en-US" dirty="0"/>
              <a:t> </a:t>
            </a:r>
            <a:r>
              <a:rPr lang="en-US" dirty="0" err="1"/>
              <a:t>Lnmae</a:t>
            </a:r>
            <a:r>
              <a:rPr lang="en-US" dirty="0"/>
              <a:t> =Lopez , check in endpoint , Refresh!!!</a:t>
            </a:r>
          </a:p>
          <a:p>
            <a:pPr marL="228600" indent="-228600">
              <a:buAutoNum type="arabicParenR"/>
            </a:pPr>
            <a:r>
              <a:rPr lang="en-US" dirty="0" err="1"/>
              <a:t>Notyebook</a:t>
            </a:r>
            <a:r>
              <a:rPr lang="en-US" dirty="0"/>
              <a:t> working with Parameter we can close it!</a:t>
            </a:r>
          </a:p>
          <a:p>
            <a:pPr marL="228600" indent="-228600">
              <a:buAutoNum type="arabicParenR"/>
            </a:pPr>
            <a:r>
              <a:rPr lang="en-US" dirty="0"/>
              <a:t>We create a pipeline – add </a:t>
            </a:r>
            <a:r>
              <a:rPr lang="en-US" dirty="0" err="1"/>
              <a:t>notebook..settings</a:t>
            </a:r>
            <a:r>
              <a:rPr lang="en-US" dirty="0"/>
              <a:t> ,,,</a:t>
            </a:r>
          </a:p>
          <a:p>
            <a:pPr marL="228600" indent="-228600">
              <a:buAutoNum type="arabicParenR"/>
            </a:pPr>
            <a:r>
              <a:rPr lang="en-US" dirty="0"/>
              <a:t>Attach the notebook to the Notebook Activity , </a:t>
            </a:r>
            <a:r>
              <a:rPr lang="en-US" dirty="0" err="1"/>
              <a:t>andgo</a:t>
            </a:r>
            <a:r>
              <a:rPr lang="en-US" dirty="0"/>
              <a:t> to base parameters, next page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46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4019668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Note , name of this parameter needs to be name of the parameter in the Notebook , see the </a:t>
            </a:r>
            <a:r>
              <a:rPr lang="en-US" dirty="0" err="1"/>
              <a:t>Tpe</a:t>
            </a:r>
            <a:r>
              <a:rPr lang="en-US" dirty="0"/>
              <a:t>, see value Hernanadez , Run </a:t>
            </a:r>
            <a:r>
              <a:rPr lang="en-US" dirty="0" err="1"/>
              <a:t>Pipelibe</a:t>
            </a:r>
            <a:r>
              <a:rPr lang="en-US" dirty="0"/>
              <a:t> , go to Endpoint ..and check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47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8180661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Now </a:t>
            </a:r>
            <a:r>
              <a:rPr lang="en-US" dirty="0" err="1"/>
              <a:t>addd</a:t>
            </a:r>
            <a:r>
              <a:rPr lang="en-US" dirty="0"/>
              <a:t> </a:t>
            </a:r>
            <a:r>
              <a:rPr lang="en-US" dirty="0" err="1"/>
              <a:t>Dynamixc</a:t>
            </a:r>
            <a:r>
              <a:rPr lang="en-US" dirty="0"/>
              <a:t> Content , and add a dynamic expression parameter that you are going to use to populate the Parameter with , don’t call it the same as the base parameter !!!..</a:t>
            </a:r>
          </a:p>
          <a:p>
            <a:pPr marL="228600" indent="-228600">
              <a:buAutoNum type="arabicParenR"/>
            </a:pPr>
            <a:r>
              <a:rPr lang="en-US" dirty="0"/>
              <a:t>Ie Family Name , default name of Sanchez, Save it and REMEMBER TO CHOOSE THE PARAMETER in the List .. We created it as maybe one of many to choose from , so make sure to choose it so it </a:t>
            </a:r>
            <a:r>
              <a:rPr lang="en-US" dirty="0" err="1"/>
              <a:t>apoperas</a:t>
            </a:r>
            <a:r>
              <a:rPr lang="en-US" dirty="0"/>
              <a:t> in the Dynamic Expression above and then in the value </a:t>
            </a:r>
            <a:r>
              <a:rPr lang="en-US" dirty="0" err="1"/>
              <a:t>fiels</a:t>
            </a:r>
            <a:r>
              <a:rPr lang="en-US" dirty="0"/>
              <a:t> in the Base parameter</a:t>
            </a:r>
          </a:p>
          <a:p>
            <a:pPr marL="228600" indent="-228600">
              <a:buAutoNum type="arabicParenR"/>
            </a:pPr>
            <a:r>
              <a:rPr lang="en-US" dirty="0"/>
              <a:t>Note the expression in the value of the </a:t>
            </a:r>
            <a:r>
              <a:rPr lang="en-US" dirty="0" err="1"/>
              <a:t>the</a:t>
            </a:r>
            <a:r>
              <a:rPr lang="en-US" dirty="0"/>
              <a:t> base parameter </a:t>
            </a:r>
          </a:p>
          <a:p>
            <a:pPr marL="228600" indent="-228600">
              <a:buAutoNum type="arabicParenR"/>
            </a:pPr>
            <a:r>
              <a:rPr lang="en-US" dirty="0"/>
              <a:t>Run and override default with Perez</a:t>
            </a:r>
          </a:p>
          <a:p>
            <a:pPr marL="228600" indent="-228600">
              <a:buAutoNum type="arabicParenR"/>
            </a:pPr>
            <a:r>
              <a:rPr lang="en-US" dirty="0"/>
              <a:t>Go to SQLK endpoint and run query , refresh and see Perez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48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073736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Shortcuts point to the data</a:t>
            </a:r>
          </a:p>
          <a:p>
            <a:pPr marL="228600" indent="-228600">
              <a:buAutoNum type="arabicParenR"/>
            </a:pPr>
            <a:r>
              <a:rPr lang="en-US" dirty="0"/>
              <a:t>He creates a table in the WH… called </a:t>
            </a:r>
            <a:r>
              <a:rPr lang="en-US" dirty="0" err="1"/>
              <a:t>tblBridhge</a:t>
            </a: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Now create a shortcut to that table from LH…</a:t>
            </a:r>
          </a:p>
          <a:p>
            <a:pPr marL="228600" indent="-228600">
              <a:buAutoNum type="arabicParenR"/>
            </a:pPr>
            <a:r>
              <a:rPr lang="en-US" dirty="0"/>
              <a:t>Go to Tables …   New Shortcut.. We use One Lake , look at the top headings to get a sense of a short path to find your data.</a:t>
            </a:r>
          </a:p>
          <a:p>
            <a:pPr marL="228600" indent="-228600">
              <a:buAutoNum type="arabicParenR"/>
            </a:pPr>
            <a:r>
              <a:rPr lang="en-US" dirty="0"/>
              <a:t>Can also Filter by Type of Source </a:t>
            </a:r>
          </a:p>
          <a:p>
            <a:pPr marL="228600" indent="-228600">
              <a:buAutoNum type="arabicParenR"/>
            </a:pPr>
            <a:r>
              <a:rPr lang="en-US" dirty="0"/>
              <a:t>Go to </a:t>
            </a:r>
            <a:r>
              <a:rPr lang="en-US" dirty="0" err="1"/>
              <a:t>Exploreerr</a:t>
            </a:r>
            <a:r>
              <a:rPr lang="en-US" dirty="0"/>
              <a:t> , and Click the </a:t>
            </a:r>
            <a:r>
              <a:rPr lang="en-US" dirty="0" err="1"/>
              <a:t>Worlspace</a:t>
            </a:r>
            <a:r>
              <a:rPr lang="en-US" dirty="0"/>
              <a:t> to filter , DW, and go find that table. , check the table and Next / Create </a:t>
            </a:r>
          </a:p>
          <a:p>
            <a:pPr marL="228600" indent="-228600">
              <a:buAutoNum type="arabicParenR"/>
            </a:pPr>
            <a:r>
              <a:rPr lang="en-US" dirty="0"/>
              <a:t>Notice the Two headed arrow Icon.</a:t>
            </a:r>
          </a:p>
          <a:p>
            <a:pPr marL="228600" indent="-228600">
              <a:buAutoNum type="arabicParenR"/>
            </a:pPr>
            <a:r>
              <a:rPr lang="en-US" dirty="0"/>
              <a:t>The user must have read permissions for target location.</a:t>
            </a:r>
          </a:p>
          <a:p>
            <a:pPr marL="228600" indent="-228600">
              <a:buAutoNum type="arabicParenR"/>
            </a:pPr>
            <a:r>
              <a:rPr lang="en-US" dirty="0"/>
              <a:t>Use the shortcut like any </a:t>
            </a:r>
            <a:r>
              <a:rPr lang="en-US" dirty="0" err="1"/>
              <a:t>othedr</a:t>
            </a:r>
            <a:r>
              <a:rPr lang="en-US" dirty="0"/>
              <a:t> table…</a:t>
            </a:r>
          </a:p>
          <a:p>
            <a:pPr marL="228600" indent="-228600">
              <a:buAutoNum type="arabicParenR"/>
            </a:pPr>
            <a:r>
              <a:rPr lang="en-US" dirty="0"/>
              <a:t>You now use it in Notebook , like any other </a:t>
            </a:r>
            <a:r>
              <a:rPr lang="en-US" dirty="0" err="1"/>
              <a:t>tablre</a:t>
            </a:r>
            <a:r>
              <a:rPr lang="en-US" dirty="0"/>
              <a:t>. Ie load </a:t>
            </a:r>
            <a:r>
              <a:rPr lang="en-US" dirty="0" err="1"/>
              <a:t>ir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,. Ie load to Spark. </a:t>
            </a:r>
          </a:p>
          <a:p>
            <a:pPr marL="228600" indent="-228600">
              <a:buAutoNum type="arabicParenR"/>
            </a:pPr>
            <a:r>
              <a:rPr lang="en-US" dirty="0"/>
              <a:t>What happened when u delete </a:t>
            </a:r>
            <a:r>
              <a:rPr lang="en-US" dirty="0" err="1"/>
              <a:t>shotrtcut</a:t>
            </a:r>
            <a:r>
              <a:rPr lang="en-US" dirty="0"/>
              <a:t> , would target be affected? No. </a:t>
            </a:r>
          </a:p>
          <a:p>
            <a:pPr marL="228600" indent="-228600">
              <a:buAutoNum type="arabicParenR"/>
            </a:pPr>
            <a:r>
              <a:rPr lang="en-US" dirty="0"/>
              <a:t>What happens if you delete or rename table in WH? </a:t>
            </a:r>
            <a:r>
              <a:rPr lang="en-US" dirty="0" err="1"/>
              <a:t>Thre</a:t>
            </a:r>
            <a:r>
              <a:rPr lang="en-US" dirty="0"/>
              <a:t> shortcut can break ..it </a:t>
            </a:r>
            <a:r>
              <a:rPr lang="en-US" dirty="0" err="1"/>
              <a:t>wonyt</a:t>
            </a:r>
            <a:r>
              <a:rPr lang="en-US" dirty="0"/>
              <a:t> automatically track it .</a:t>
            </a:r>
          </a:p>
          <a:p>
            <a:pPr marL="228600" indent="-228600">
              <a:buAutoNum type="arabicParenR"/>
            </a:pPr>
            <a:r>
              <a:rPr lang="en-US" dirty="0"/>
              <a:t>You can create shortcuts in table and files folders ..</a:t>
            </a:r>
            <a:r>
              <a:rPr lang="en-US" dirty="0" err="1"/>
              <a:t>Dont</a:t>
            </a:r>
            <a:r>
              <a:rPr lang="en-US" dirty="0"/>
              <a:t> use spaces in the Filenames ..</a:t>
            </a:r>
            <a:r>
              <a:rPr lang="en-US" dirty="0" err="1"/>
              <a:t>Shrtcut</a:t>
            </a:r>
            <a:r>
              <a:rPr lang="en-US" dirty="0"/>
              <a:t> wont recognize them!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50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0658172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it reads these files they are stored in a Cache., </a:t>
            </a:r>
          </a:p>
          <a:p>
            <a:r>
              <a:rPr lang="en-US" dirty="0"/>
              <a:t>If cloud source updated , then it reads from source and cache updated, cached maintained for at least 1 day and can be </a:t>
            </a:r>
            <a:r>
              <a:rPr lang="en-US" dirty="0" err="1"/>
              <a:t>uopdated</a:t>
            </a:r>
            <a:r>
              <a:rPr lang="en-US" dirty="0"/>
              <a:t>.</a:t>
            </a:r>
          </a:p>
          <a:p>
            <a:r>
              <a:rPr lang="en-US" dirty="0" err="1"/>
              <a:t>Thedre</a:t>
            </a:r>
            <a:r>
              <a:rPr lang="en-US" dirty="0"/>
              <a:t> are many tenant settings , many </a:t>
            </a:r>
            <a:r>
              <a:rPr lang="en-US" dirty="0" err="1"/>
              <a:t>oned</a:t>
            </a:r>
            <a:r>
              <a:rPr lang="en-US" dirty="0"/>
              <a:t> lake settings in the tenant </a:t>
            </a:r>
          </a:p>
          <a:p>
            <a:r>
              <a:rPr lang="en-US" dirty="0"/>
              <a:t>See tenant settings for one lake </a:t>
            </a:r>
          </a:p>
          <a:p>
            <a:r>
              <a:rPr lang="en-US" dirty="0"/>
              <a:t>Allows uses to use the One Lake explorer App. </a:t>
            </a:r>
            <a:endParaRPr lang="en-ZA" dirty="0"/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51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2211801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Go to Azure SQL Database in Portal. </a:t>
            </a:r>
          </a:p>
          <a:p>
            <a:pPr marL="228600" indent="-228600">
              <a:buAutoNum type="arabicParenR"/>
            </a:pPr>
            <a:r>
              <a:rPr lang="en-US" dirty="0"/>
              <a:t>Create new resource group. </a:t>
            </a:r>
          </a:p>
          <a:p>
            <a:pPr marL="228600" indent="-228600">
              <a:buAutoNum type="arabicParenR"/>
            </a:pPr>
            <a:r>
              <a:rPr lang="en-US" dirty="0" err="1"/>
              <a:t>Datsabase</a:t>
            </a:r>
            <a:r>
              <a:rPr lang="en-US" dirty="0"/>
              <a:t> Name and Server , Microsoft Authentication…/ set Admin / LR backup </a:t>
            </a:r>
            <a:r>
              <a:rPr lang="en-US" dirty="0" err="1"/>
              <a:t>Storgae</a:t>
            </a:r>
            <a:r>
              <a:rPr lang="en-US" dirty="0"/>
              <a:t> / </a:t>
            </a:r>
            <a:r>
              <a:rPr lang="en-US" dirty="0" err="1"/>
              <a:t>Addd</a:t>
            </a:r>
            <a:r>
              <a:rPr lang="en-US" dirty="0"/>
              <a:t> </a:t>
            </a:r>
            <a:r>
              <a:rPr lang="en-US" dirty="0" err="1"/>
              <a:t>sampole</a:t>
            </a:r>
            <a:r>
              <a:rPr lang="en-US" dirty="0"/>
              <a:t> DB /Public End Point and Create </a:t>
            </a:r>
          </a:p>
          <a:p>
            <a:pPr marL="228600" indent="-228600">
              <a:buAutoNum type="arabicParenR"/>
            </a:pPr>
            <a:r>
              <a:rPr lang="en-US" dirty="0"/>
              <a:t>Go top Resource ..and its there.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52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6058915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53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9572460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In Azure we go to the query editor in the database and </a:t>
            </a:r>
            <a:r>
              <a:rPr lang="en-US" dirty="0" err="1"/>
              <a:t>selkect</a:t>
            </a:r>
            <a:r>
              <a:rPr lang="en-US" dirty="0"/>
              <a:t> the table.</a:t>
            </a:r>
          </a:p>
          <a:p>
            <a:pPr marL="228600" indent="-228600">
              <a:buAutoNum type="arabicParenR"/>
            </a:pPr>
            <a:r>
              <a:rPr lang="en-US" dirty="0" err="1"/>
              <a:t>Thisapplication</a:t>
            </a:r>
            <a:r>
              <a:rPr lang="en-US" dirty="0"/>
              <a:t> would be for big files.</a:t>
            </a:r>
          </a:p>
          <a:p>
            <a:pPr marL="228600" indent="-228600">
              <a:buAutoNum type="arabicParenR"/>
            </a:pPr>
            <a:r>
              <a:rPr lang="en-US" dirty="0"/>
              <a:t>We now divide the table up, sensibly ..(Year or Month or Regions..)</a:t>
            </a:r>
          </a:p>
          <a:p>
            <a:pPr marL="228600" indent="-228600">
              <a:buAutoNum type="arabicParenR"/>
            </a:pPr>
            <a:r>
              <a:rPr lang="en-US" dirty="0" err="1"/>
              <a:t>Wew</a:t>
            </a:r>
            <a:r>
              <a:rPr lang="en-US" dirty="0"/>
              <a:t> have a look at the count of lines by state ..would this be a suitable partitioning strategy? Each </a:t>
            </a:r>
            <a:r>
              <a:rPr lang="en-US" dirty="0" err="1"/>
              <a:t>partion</a:t>
            </a:r>
            <a:r>
              <a:rPr lang="en-US" dirty="0"/>
              <a:t> can be processed separately. </a:t>
            </a:r>
          </a:p>
          <a:p>
            <a:pPr marL="228600" indent="-228600">
              <a:buAutoNum type="arabicParenR"/>
            </a:pPr>
            <a:r>
              <a:rPr lang="en-US" dirty="0"/>
              <a:t>How do we do this.. Data </a:t>
            </a:r>
            <a:r>
              <a:rPr lang="en-US" dirty="0" err="1"/>
              <a:t>Piperlines</a:t>
            </a:r>
            <a:r>
              <a:rPr lang="en-US" dirty="0"/>
              <a:t>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54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2626593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B0B6A-8D64-7140-0DBF-CC65463C7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265ED-D938-607B-F383-28B1F14C4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A2AE85-50FC-6AC5-1B83-1A3A2A03D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New </a:t>
            </a:r>
            <a:r>
              <a:rPr lang="en-US" dirty="0" err="1"/>
              <a:t>Pipleline</a:t>
            </a:r>
            <a:r>
              <a:rPr lang="en-US" dirty="0"/>
              <a:t> / Copy Data Activity …</a:t>
            </a:r>
          </a:p>
          <a:p>
            <a:pPr marL="228600" indent="-228600">
              <a:buAutoNum type="arabicParenR"/>
            </a:pPr>
            <a:r>
              <a:rPr lang="en-US" dirty="0"/>
              <a:t>Source is Azure SQL Database..</a:t>
            </a:r>
          </a:p>
          <a:p>
            <a:pPr marL="228600" indent="-228600">
              <a:buAutoNum type="arabicParenR"/>
            </a:pPr>
            <a:r>
              <a:rPr lang="en-US" dirty="0"/>
              <a:t>Must get connection settings … Go to azure , </a:t>
            </a:r>
            <a:r>
              <a:rPr lang="en-US" dirty="0" err="1"/>
              <a:t>tio</a:t>
            </a:r>
            <a:r>
              <a:rPr lang="en-US" dirty="0"/>
              <a:t> the database and </a:t>
            </a:r>
            <a:r>
              <a:rPr lang="en-US" dirty="0" err="1"/>
              <a:t>gedt</a:t>
            </a:r>
            <a:r>
              <a:rPr lang="en-US" dirty="0"/>
              <a:t> the server Name , and the </a:t>
            </a:r>
            <a:r>
              <a:rPr lang="en-US" dirty="0" err="1"/>
              <a:t>databnase</a:t>
            </a:r>
            <a:r>
              <a:rPr lang="en-US" dirty="0"/>
              <a:t> name </a:t>
            </a:r>
            <a:r>
              <a:rPr lang="en-US" dirty="0" err="1"/>
              <a:t>SQLServerDatabase</a:t>
            </a: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Organizational </a:t>
            </a:r>
            <a:r>
              <a:rPr lang="en-US" dirty="0" err="1"/>
              <a:t>Accvount</a:t>
            </a:r>
            <a:r>
              <a:rPr lang="en-US" dirty="0"/>
              <a:t> , sign in </a:t>
            </a:r>
          </a:p>
          <a:p>
            <a:pPr marL="228600" indent="-228600">
              <a:buAutoNum type="arabicParenR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43805-06D1-5E0A-3448-9C043419D4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55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9375262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Feed in the destination Settings as shown ..see advanced settings as well. Bottom right , </a:t>
            </a:r>
          </a:p>
          <a:p>
            <a:pPr marL="228600" indent="-228600">
              <a:buAutoNum type="arabicParenR"/>
            </a:pPr>
            <a:r>
              <a:rPr lang="en-US" dirty="0"/>
              <a:t>You can do multiple Partitions .. 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56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2918192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Refresh a couple of times to see the table</a:t>
            </a:r>
          </a:p>
          <a:p>
            <a:r>
              <a:rPr lang="en-US" dirty="0"/>
              <a:t>2) Right click on Address table ..View Files … you can now see the partitioned files and it shows how they were partitioned. </a:t>
            </a:r>
          </a:p>
          <a:p>
            <a:r>
              <a:rPr lang="en-US" dirty="0"/>
              <a:t>3) By Country , and then click on Country , and see States , and finally the Parquet Files.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57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4518188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8953E-01EC-8A6D-7774-FC109DEA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851C8-5141-2542-31DE-EF912AEB6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16ED5-03A8-E7C9-0A42-EE99387CA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can we use address Data </a:t>
            </a:r>
            <a:r>
              <a:rPr lang="en-US" dirty="0" err="1"/>
              <a:t>tabler</a:t>
            </a:r>
            <a:r>
              <a:rPr lang="en-US" dirty="0"/>
              <a:t> ( </a:t>
            </a:r>
            <a:r>
              <a:rPr lang="en-US" dirty="0" err="1"/>
              <a:t>tye</a:t>
            </a:r>
            <a:r>
              <a:rPr lang="en-US" dirty="0"/>
              <a:t> </a:t>
            </a:r>
            <a:r>
              <a:rPr lang="en-US" dirty="0" err="1"/>
              <a:t>partityioned</a:t>
            </a:r>
            <a:r>
              <a:rPr lang="en-US" dirty="0"/>
              <a:t> table ) just like any other table, as per </a:t>
            </a:r>
            <a:r>
              <a:rPr lang="en-US" dirty="0" err="1"/>
              <a:t>noterbook</a:t>
            </a:r>
            <a:r>
              <a:rPr lang="en-US" dirty="0"/>
              <a:t> read in ..</a:t>
            </a:r>
          </a:p>
          <a:p>
            <a:pPr marL="228600" indent="-228600">
              <a:buAutoNum type="arabicParenR"/>
            </a:pPr>
            <a:r>
              <a:rPr lang="en-US" dirty="0"/>
              <a:t>We use the normal read , as if default .. And we get the result,</a:t>
            </a:r>
          </a:p>
          <a:p>
            <a:pPr marL="228600" indent="-228600">
              <a:buAutoNum type="arabicParenR"/>
            </a:pPr>
            <a:r>
              <a:rPr lang="en-ZA" dirty="0"/>
              <a:t>We can read as Parquet files as well .. Same as before …</a:t>
            </a:r>
          </a:p>
          <a:p>
            <a:pPr marL="228600" indent="-228600">
              <a:buAutoNum type="arabicParenR"/>
            </a:pPr>
            <a:r>
              <a:rPr lang="en-ZA" dirty="0"/>
              <a:t>But now wee can drill down .. To the individual files </a:t>
            </a:r>
          </a:p>
          <a:p>
            <a:pPr marL="228600" indent="-228600">
              <a:buAutoNum type="arabicParenR"/>
            </a:pPr>
            <a:r>
              <a:rPr lang="en-ZA" dirty="0"/>
              <a:t>But note we don’t have country region , that’s part of the Folder name.</a:t>
            </a:r>
          </a:p>
          <a:p>
            <a:pPr marL="228600" indent="-228600">
              <a:buAutoNum type="arabicParenR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29C0C-4DBF-8278-0BCA-E2879159B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58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8409600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where the Parquet is stored.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60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2810867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01127-543D-A400-5EC8-C0D89DD91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24D164-C481-A289-C386-AB57D10C8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8CF741-3728-46A2-A825-468759C6D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 err="1"/>
              <a:t>Previoiusly</a:t>
            </a:r>
            <a:r>
              <a:rPr lang="en-US" dirty="0"/>
              <a:t> we </a:t>
            </a:r>
            <a:r>
              <a:rPr lang="en-US" dirty="0" err="1"/>
              <a:t>impolemented</a:t>
            </a:r>
            <a:r>
              <a:rPr lang="en-US" dirty="0"/>
              <a:t> </a:t>
            </a:r>
            <a:r>
              <a:rPr lang="en-US" dirty="0" err="1"/>
              <a:t>Partioning</a:t>
            </a:r>
            <a:r>
              <a:rPr lang="en-US" dirty="0"/>
              <a:t> from a Warehouse into a Lakehouse.</a:t>
            </a:r>
          </a:p>
          <a:p>
            <a:pPr marL="228600" indent="-228600">
              <a:buAutoNum type="arabicParenR"/>
            </a:pPr>
            <a:r>
              <a:rPr lang="en-US" dirty="0"/>
              <a:t>Now we implement where source is a </a:t>
            </a:r>
            <a:r>
              <a:rPr lang="en-US" dirty="0" err="1"/>
              <a:t>lakehouse</a:t>
            </a:r>
            <a:r>
              <a:rPr lang="en-US" dirty="0"/>
              <a:t> and do it via Spark.</a:t>
            </a:r>
          </a:p>
          <a:p>
            <a:pPr marL="228600" indent="-228600">
              <a:buAutoNum type="arabicParenR"/>
            </a:pPr>
            <a:r>
              <a:rPr lang="en-US" dirty="0"/>
              <a:t>We now add the partition By clause , in the </a:t>
            </a:r>
            <a:r>
              <a:rPr lang="en-US" dirty="0" err="1"/>
              <a:t>saveAsTable</a:t>
            </a:r>
            <a:r>
              <a:rPr lang="en-US" dirty="0"/>
              <a:t> clause … in order to create the </a:t>
            </a:r>
            <a:r>
              <a:rPr lang="en-US" dirty="0" err="1"/>
              <a:t>partions</a:t>
            </a:r>
            <a:r>
              <a:rPr lang="en-US" dirty="0"/>
              <a:t> in the lake house </a:t>
            </a:r>
          </a:p>
          <a:p>
            <a:pPr marL="228600" indent="-228600">
              <a:buAutoNum type="arabicParenR"/>
            </a:pPr>
            <a:r>
              <a:rPr lang="en-US" dirty="0"/>
              <a:t>We partition by many Categories , here Color and Product Subcategory </a:t>
            </a:r>
          </a:p>
          <a:p>
            <a:pPr marL="228600" indent="-228600">
              <a:buAutoNum type="arabicParenR"/>
            </a:pPr>
            <a:r>
              <a:rPr lang="en-US" dirty="0"/>
              <a:t>We can also just use save , must specify the location , </a:t>
            </a:r>
            <a:r>
              <a:rPr lang="en-US" dirty="0" err="1"/>
              <a:t>ie</a:t>
            </a:r>
            <a:r>
              <a:rPr lang="en-US" dirty="0"/>
              <a:t> Tables .. Which is different .. Between the 2 instructions.</a:t>
            </a:r>
          </a:p>
          <a:p>
            <a:pPr marL="228600" indent="-228600">
              <a:buAutoNum type="arabicParenR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85C47-41EC-CB64-E882-26D742AB31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61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349214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Refresh in the </a:t>
            </a:r>
            <a:r>
              <a:rPr lang="en-US" dirty="0" err="1"/>
              <a:t>lakehouse</a:t>
            </a:r>
            <a:r>
              <a:rPr lang="en-US" dirty="0"/>
              <a:t> ; click on … and View Files </a:t>
            </a:r>
          </a:p>
          <a:p>
            <a:pPr marL="228600" indent="-228600">
              <a:buAutoNum type="arabicParenR"/>
            </a:pPr>
            <a:r>
              <a:rPr lang="en-US" dirty="0"/>
              <a:t>See all the separation of the files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62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0035422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</a:t>
            </a:r>
            <a:r>
              <a:rPr lang="en-US" dirty="0" err="1"/>
              <a:t>Veryt</a:t>
            </a:r>
            <a:r>
              <a:rPr lang="en-US" dirty="0"/>
              <a:t> Simple , use a </a:t>
            </a:r>
            <a:r>
              <a:rPr lang="en-US" dirty="0" err="1"/>
              <a:t>PartionBy</a:t>
            </a:r>
            <a:r>
              <a:rPr lang="en-US" dirty="0"/>
              <a:t>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63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1760777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32AFD-A720-E26A-36A1-E6F588D9C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53CF4-7740-FD52-7E2C-183B08D64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A1CC6B-457A-E8F5-6A81-03247A08E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Toi create </a:t>
            </a:r>
            <a:r>
              <a:rPr lang="en-US" dirty="0" err="1"/>
              <a:t>mirriored</a:t>
            </a:r>
            <a:r>
              <a:rPr lang="en-US" dirty="0"/>
              <a:t> Db </a:t>
            </a:r>
          </a:p>
          <a:p>
            <a:r>
              <a:rPr lang="en-US" dirty="0"/>
              <a:t>New Item , Mirror , and can see various </a:t>
            </a:r>
            <a:r>
              <a:rPr lang="en-US" dirty="0" err="1"/>
              <a:t>mirroered</a:t>
            </a:r>
            <a:r>
              <a:rPr lang="en-US" dirty="0"/>
              <a:t> databases.</a:t>
            </a:r>
          </a:p>
          <a:p>
            <a:r>
              <a:rPr lang="en-US" dirty="0"/>
              <a:t>New sources , Azure SQL databases , we have to fill in all the connection settings , so we go back to the SQL DB </a:t>
            </a:r>
            <a:r>
              <a:rPr lang="en-US" dirty="0" err="1"/>
              <a:t>etf</a:t>
            </a:r>
            <a:r>
              <a:rPr lang="en-US" dirty="0"/>
              <a:t> </a:t>
            </a:r>
          </a:p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69644-7342-F56C-A450-13DF338419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64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791772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</a:t>
            </a:r>
            <a:r>
              <a:rPr lang="en-US" dirty="0" err="1"/>
              <a:t>tyeway</a:t>
            </a:r>
            <a:r>
              <a:rPr lang="en-US" dirty="0"/>
              <a:t> to Partition the Table..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65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3775640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Right Click to View Properties </a:t>
            </a:r>
          </a:p>
          <a:p>
            <a:pPr marL="228600" indent="-228600">
              <a:buAutoNum type="arabicParenR"/>
            </a:pPr>
            <a:r>
              <a:rPr lang="en-US" dirty="0"/>
              <a:t>See the </a:t>
            </a:r>
            <a:r>
              <a:rPr lang="en-US" dirty="0" err="1"/>
              <a:t>urls</a:t>
            </a:r>
            <a:r>
              <a:rPr lang="en-US" dirty="0"/>
              <a:t> of full and </a:t>
            </a:r>
            <a:r>
              <a:rPr lang="en-US" dirty="0" err="1"/>
              <a:t>Re;lative</a:t>
            </a:r>
            <a:r>
              <a:rPr lang="en-US" dirty="0"/>
              <a:t> paths </a:t>
            </a:r>
          </a:p>
          <a:p>
            <a:pPr marL="228600" indent="-228600">
              <a:buAutoNum type="arabicParenR"/>
            </a:pPr>
            <a:r>
              <a:rPr lang="en-US" dirty="0"/>
              <a:t>C0opy </a:t>
            </a:r>
            <a:r>
              <a:rPr lang="en-US" dirty="0" err="1"/>
              <a:t>thye</a:t>
            </a:r>
            <a:r>
              <a:rPr lang="en-US" dirty="0"/>
              <a:t> Relative path , go back to the note book </a:t>
            </a:r>
          </a:p>
          <a:p>
            <a:pPr marL="228600" indent="-228600">
              <a:buAutoNum type="arabicParenR"/>
            </a:pPr>
            <a:r>
              <a:rPr lang="en-US" dirty="0"/>
              <a:t>The because </a:t>
            </a:r>
            <a:r>
              <a:rPr lang="en-US" dirty="0" err="1"/>
              <a:t>ther</a:t>
            </a:r>
            <a:r>
              <a:rPr lang="en-US" dirty="0"/>
              <a:t> files </a:t>
            </a:r>
            <a:r>
              <a:rPr lang="en-US" dirty="0" err="1"/>
              <a:t>arer</a:t>
            </a:r>
            <a:r>
              <a:rPr lang="en-US" dirty="0"/>
              <a:t> partitioned we can just load </a:t>
            </a:r>
            <a:r>
              <a:rPr lang="en-US" dirty="0" err="1"/>
              <a:t>frpom</a:t>
            </a:r>
            <a:r>
              <a:rPr lang="en-US" dirty="0"/>
              <a:t> that partition from the path </a:t>
            </a:r>
          </a:p>
          <a:p>
            <a:pPr marL="228600" indent="-228600">
              <a:buAutoNum type="arabicParenR"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66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686073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its read. Parquet as it’s a file partition not a table </a:t>
            </a:r>
          </a:p>
          <a:p>
            <a:r>
              <a:rPr lang="en-US" dirty="0"/>
              <a:t>We </a:t>
            </a:r>
            <a:r>
              <a:rPr lang="en-US" dirty="0" err="1"/>
              <a:t>hasd</a:t>
            </a:r>
            <a:r>
              <a:rPr lang="en-US" dirty="0"/>
              <a:t> 655 in entire </a:t>
            </a:r>
            <a:r>
              <a:rPr lang="en-US" dirty="0" err="1"/>
              <a:t>df</a:t>
            </a:r>
            <a:r>
              <a:rPr lang="en-US" dirty="0"/>
              <a:t> , now 48 rows ANDNO COLUMN FOR COUNTRYT REGION CODE !!!</a:t>
            </a:r>
          </a:p>
          <a:p>
            <a:r>
              <a:rPr lang="en-US" dirty="0"/>
              <a:t>It would be constant over the entire table, and the column name is in the folder or path name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67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5177009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1)We have </a:t>
            </a:r>
            <a:r>
              <a:rPr lang="en-US" dirty="0" err="1"/>
              <a:t>datra</a:t>
            </a:r>
            <a:r>
              <a:rPr lang="en-US" dirty="0"/>
              <a:t> stored </a:t>
            </a:r>
            <a:r>
              <a:rPr lang="en-US" dirty="0" err="1"/>
              <a:t>iun</a:t>
            </a:r>
            <a:r>
              <a:rPr lang="en-US" dirty="0"/>
              <a:t> partitions, by </a:t>
            </a:r>
            <a:r>
              <a:rPr lang="en-US" dirty="0" err="1"/>
              <a:t>Country_Region</a:t>
            </a:r>
            <a:r>
              <a:rPr lang="en-US" dirty="0"/>
              <a:t> , and then by state.</a:t>
            </a:r>
          </a:p>
          <a:p>
            <a:r>
              <a:rPr lang="en-US" dirty="0"/>
              <a:t>2) If I was interested in 1 State it would improve performance .</a:t>
            </a:r>
          </a:p>
          <a:p>
            <a:r>
              <a:rPr lang="en-US" dirty="0"/>
              <a:t>3) If I run a new notebook it takes a while to start the pools.</a:t>
            </a:r>
          </a:p>
          <a:p>
            <a:r>
              <a:rPr lang="en-US" dirty="0"/>
              <a:t>4) To speed things up have high concurrency settings so that each notebook not need its own </a:t>
            </a:r>
            <a:r>
              <a:rPr lang="en-US" dirty="0" err="1"/>
              <a:t>sessioin</a:t>
            </a:r>
            <a:r>
              <a:rPr lang="en-US" dirty="0"/>
              <a:t>. </a:t>
            </a:r>
          </a:p>
          <a:p>
            <a:r>
              <a:rPr lang="en-US" dirty="0"/>
              <a:t>5) High concurrency sessions are run by same user , and have same default </a:t>
            </a:r>
            <a:r>
              <a:rPr lang="en-US" dirty="0" err="1"/>
              <a:t>lakehouse</a:t>
            </a:r>
            <a:endParaRPr lang="en-US" dirty="0"/>
          </a:p>
          <a:p>
            <a:r>
              <a:rPr lang="en-US" dirty="0"/>
              <a:t>6) Have the same spark compute configs  / same library packages</a:t>
            </a:r>
          </a:p>
          <a:p>
            <a:r>
              <a:rPr lang="en-US" dirty="0"/>
              <a:t>7) Standard session , dedicated compute for 1 notebook.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69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8955794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Now opens another </a:t>
            </a:r>
            <a:r>
              <a:rPr lang="en-US" dirty="0" err="1"/>
              <a:t>rnotebook</a:t>
            </a:r>
            <a:r>
              <a:rPr lang="en-US" dirty="0"/>
              <a:t> .., you connect that notebook to the high concurrency sessions we just set up. </a:t>
            </a:r>
          </a:p>
          <a:p>
            <a:pPr marL="228600" indent="-228600">
              <a:buAutoNum type="arabicParenR"/>
            </a:pPr>
            <a:r>
              <a:rPr lang="en-US" dirty="0"/>
              <a:t>See if high concurrency is set </a:t>
            </a:r>
            <a:r>
              <a:rPr lang="en-US" dirty="0" err="1"/>
              <a:t>upo</a:t>
            </a:r>
            <a:r>
              <a:rPr lang="en-US" dirty="0"/>
              <a:t> in your workspace settings .. Data science ..high concurrency … </a:t>
            </a:r>
          </a:p>
          <a:p>
            <a:pPr marL="228600" indent="-228600">
              <a:buAutoNum type="arabicParenR"/>
            </a:pPr>
            <a:r>
              <a:rPr lang="en-US" dirty="0"/>
              <a:t>Need to see if that’s on.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70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7445436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V order enables fast read in Spark and SQL. </a:t>
            </a:r>
          </a:p>
          <a:p>
            <a:r>
              <a:rPr lang="en-US" dirty="0"/>
              <a:t>2) Applies sorting and </a:t>
            </a:r>
            <a:r>
              <a:rPr lang="en-US" dirty="0" err="1"/>
              <a:t>compressioin</a:t>
            </a:r>
            <a:r>
              <a:rPr lang="en-US" dirty="0"/>
              <a:t> </a:t>
            </a:r>
          </a:p>
          <a:p>
            <a:r>
              <a:rPr lang="en-US" dirty="0"/>
              <a:t>3) Why not apply it all over… decreases write speed , </a:t>
            </a:r>
          </a:p>
          <a:p>
            <a:r>
              <a:rPr lang="en-US" dirty="0"/>
              <a:t>4) How to check V order Enablement!. </a:t>
            </a:r>
          </a:p>
          <a:p>
            <a:r>
              <a:rPr lang="en-US" dirty="0"/>
              <a:t>5) See above how to enable in SQL and Spark. </a:t>
            </a:r>
          </a:p>
          <a:p>
            <a:r>
              <a:rPr lang="en-US" dirty="0"/>
              <a:t>6) The above was getting , to set it see above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71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6971873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First test if is enabled </a:t>
            </a:r>
          </a:p>
          <a:p>
            <a:pPr marL="228600" indent="-228600">
              <a:buAutoNum type="arabicParenR"/>
            </a:pPr>
            <a:r>
              <a:rPr lang="en-US" dirty="0" err="1"/>
              <a:t>Setr</a:t>
            </a:r>
            <a:r>
              <a:rPr lang="en-US" dirty="0"/>
              <a:t> it ..true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4C357-0044-421A-98B1-2498657850A1}" type="slidenum">
              <a:rPr lang="en-ZA" smtClean="0"/>
              <a:t>73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90286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A7A91-F354-90CF-5DEF-B453960BC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649401-0A0B-A00C-A896-A66830205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F6926-DA47-B268-DB40-2DED19A0B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8BFC8-1719-43CB-89EA-F2792EC3BBD4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77F98-5807-3335-83C9-4CDF53CAE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1A912-D1F0-A124-249B-B6FDF9F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DCBF0-0353-4C64-8E3D-AF5A66F9812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9269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9DA8-071B-91E0-D9B0-027EC84FA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7F13E-0A9F-47D7-875A-FEFACB21E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9B55D-AE10-1E8D-2BC1-1884E6B25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8BFC8-1719-43CB-89EA-F2792EC3BBD4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E3FB9-9F77-0000-6BFF-E7553EB41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AACD2-C2EB-7802-15A7-EAD61B39F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DCBF0-0353-4C64-8E3D-AF5A66F9812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903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CBA11-C0EB-D906-2C1C-46739914B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57D4C-6194-92FD-F955-24F7AE9FC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4377D-0010-3798-A2D9-C42B99EB9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8BFC8-1719-43CB-89EA-F2792EC3BBD4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330C8-0F1B-03B3-0252-457503D81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3CE07-6C22-3EA8-E3B9-26DCB168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DCBF0-0353-4C64-8E3D-AF5A66F9812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92402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D77D6-9119-8551-E5E5-41B7A426C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2E535-79A8-A672-EF03-DDCE22DDF2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D5EA3-49E5-AC4A-4FF0-32753E524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C084E-53F5-E98D-4A4A-010EEF575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8BFC8-1719-43CB-89EA-F2792EC3BBD4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7DF01-4A61-DDF7-2D5A-CB1815F7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D9293-0A7B-FCB9-9020-0803FCB93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DCBF0-0353-4C64-8E3D-AF5A66F9812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9792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85727-A48F-D561-8693-4209598A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4D947-101D-89C1-2EE0-6CC432716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58835-4C85-D96D-FC3C-B8ABAADDD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53834B-88A9-DDAF-1093-B81933A12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58D374-4D79-B4F0-7C58-F24854586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199AAD-4B0F-B46F-369F-5467FA1C9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8BFC8-1719-43CB-89EA-F2792EC3BBD4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AE2FCD-40A3-9BC7-23AC-C9B30A9DA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01F2A2-5497-B141-4ABD-F61EA046C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DCBF0-0353-4C64-8E3D-AF5A66F9812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86121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C1532-7C68-CD02-6B08-1DB796B32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DAB70-D776-9C52-C7AE-C6B7B616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8BFC8-1719-43CB-89EA-F2792EC3BBD4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9C1403-3407-A2F5-4163-7D4DC979D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760C8-303E-A792-B595-6E4C787FC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DCBF0-0353-4C64-8E3D-AF5A66F9812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9867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81CA8B-8A58-FCB1-8DE0-76B66295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8BFC8-1719-43CB-89EA-F2792EC3BBD4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A437F0-1D2F-2FBF-5621-08D132418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CD27B-879A-87E5-2AAA-6F77DA14F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DCBF0-0353-4C64-8E3D-AF5A66F9812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84573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152ED-057A-2E3F-F5A8-10709B840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CFE1D-C098-94D0-13C2-1BBF23252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0654DE-4BD8-E9AF-FDAD-7BB8EBB47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2C5E7-0BB0-D9CC-D61A-CFA40A333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8BFC8-1719-43CB-89EA-F2792EC3BBD4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4920D-E10C-6F5D-7DFC-2B408766F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B1863-9584-0556-CCF4-EF325A81B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DCBF0-0353-4C64-8E3D-AF5A66F9812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35539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24361-9895-E962-776A-5B8DDB1A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A6718B-C858-A5A0-EB81-8B866CB6D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6D237F-45D1-0115-D260-18E5BF364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BC465-BC7A-1881-EDED-BAC4A9DD4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8BFC8-1719-43CB-89EA-F2792EC3BBD4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F1F1A-1143-BCBF-9431-AD41F4309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EF466-E3B2-3A95-0A52-DC3BA30EC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DCBF0-0353-4C64-8E3D-AF5A66F9812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05846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FF2D6-514B-C94E-A2B7-59A2BBB72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D54933-3528-77A2-9856-00985EC22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C490B-7170-A51E-1FB5-F1BBC8C07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8BFC8-1719-43CB-89EA-F2792EC3BBD4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C9C09-F739-80F3-7183-AB87BA2E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8100E-49CB-E49C-0D34-C91CF408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DCBF0-0353-4C64-8E3D-AF5A66F9812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71330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9109C5-8586-5625-BDD9-CE580C41EE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DAB45E-450B-1930-36C2-406FF911C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CEF61-E067-B9C3-E9A4-C0B02B1D9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8BFC8-1719-43CB-89EA-F2792EC3BBD4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81BCD-8201-CD7C-E639-E9721FF87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C504F-811B-DCBF-B7F4-6627DDA7D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DCBF0-0353-4C64-8E3D-AF5A66F9812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74438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8F146-572F-82C7-9F04-31828B5E4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DA60B-5A90-E2FC-0C29-428D84A8F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73A30-9B3F-C632-2E5B-88EC4AFFED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98BFC8-1719-43CB-89EA-F2792EC3BBD4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296F3-C23C-5E2B-59F2-311B1A5305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E4DD3-DA46-D4A6-D364-B5D6CA2F5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1DCBF0-0353-4C64-8E3D-AF5A66F9812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64760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7" Type="http://schemas.openxmlformats.org/officeDocument/2006/relationships/image" Target="../media/image12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1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6.png"/><Relationship Id="rId4" Type="http://schemas.openxmlformats.org/officeDocument/2006/relationships/image" Target="../media/image15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8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5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24669-C111-0F91-6955-FBDA865DE7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D8253E-AB05-FAF7-F2ED-A4CFB238D3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175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9E695-ABCD-AA0E-E200-ECDE02F82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45513"/>
          </a:xfrm>
        </p:spPr>
        <p:txBody>
          <a:bodyPr>
            <a:normAutofit fontScale="90000"/>
          </a:bodyPr>
          <a:lstStyle/>
          <a:p>
            <a:r>
              <a:rPr lang="en-US" dirty="0"/>
              <a:t>60. Merging Data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C707EF-13F7-4A4C-D761-292F2C6A0F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8531" y="887474"/>
            <a:ext cx="4492850" cy="33401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AF4F6B-CA76-C14E-5074-4CE0C08B5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61" y="887474"/>
            <a:ext cx="4120664" cy="199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219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5D5A6-051D-5A5C-DB19-5B98A91AB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0A3B8-7546-588D-2B29-EA584609E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4272"/>
          </a:xfrm>
        </p:spPr>
        <p:txBody>
          <a:bodyPr>
            <a:normAutofit/>
          </a:bodyPr>
          <a:lstStyle/>
          <a:p>
            <a:r>
              <a:rPr lang="en-US" sz="2400" dirty="0"/>
              <a:t>Now we load the 2 tables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3BC9B5-0853-3977-874A-DDED79D6CB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5383" y="819398"/>
            <a:ext cx="3357843" cy="435133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634AD9-E17D-8C37-2549-9E0EC4D48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425" y="819398"/>
            <a:ext cx="3556085" cy="435133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A1B593-D7D1-C96F-DE3D-8BC63955A1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8959" y="601168"/>
            <a:ext cx="3814040" cy="467147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75788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C510A-1419-91BE-E1F9-D6D7ABEC6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1DF02-3382-F39A-29C0-7192D89D8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4272"/>
          </a:xfrm>
        </p:spPr>
        <p:txBody>
          <a:bodyPr>
            <a:normAutofit fontScale="90000"/>
          </a:bodyPr>
          <a:lstStyle/>
          <a:p>
            <a:r>
              <a:rPr lang="en-US" dirty="0"/>
              <a:t>SQL Merge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C828B3-070B-CEBD-8286-12F763E91D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7979" y="908946"/>
            <a:ext cx="3499632" cy="380555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B62C65-8460-4E87-E9F2-C54828F05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79" y="4944026"/>
            <a:ext cx="3019846" cy="154884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1881F4-857D-68AE-6134-BA586A2D2A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0221" y="504077"/>
            <a:ext cx="7163800" cy="8097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BD88B2-E01A-48DD-C34C-495606F993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8102" y="1452767"/>
            <a:ext cx="5839640" cy="213358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FE6C8B-5B48-39C0-B319-4C3484DA73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4233" y="3806292"/>
            <a:ext cx="6287377" cy="254763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02467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796A4-D229-A54E-FD0B-3DC8408CC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85A45-C04A-E307-3625-6DAC9813D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2397"/>
          </a:xfrm>
        </p:spPr>
        <p:txBody>
          <a:bodyPr>
            <a:normAutofit/>
          </a:bodyPr>
          <a:lstStyle/>
          <a:p>
            <a:r>
              <a:rPr lang="en-US" sz="2400" dirty="0"/>
              <a:t>Merge By Using </a:t>
            </a:r>
            <a:r>
              <a:rPr lang="en-US" sz="2400" dirty="0" err="1"/>
              <a:t>DataFlow</a:t>
            </a:r>
            <a:r>
              <a:rPr lang="en-US" sz="2400" dirty="0"/>
              <a:t> Gen2.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8708EC-8895-180B-1A37-12585B48B6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7327" y="1294616"/>
            <a:ext cx="2975881" cy="457358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EE6644-AF1A-6C67-849E-7CEE2C0D8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752" y="365125"/>
            <a:ext cx="4277322" cy="272839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0A16EC-4173-845C-BAAB-8185C2959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8882" y="3429000"/>
            <a:ext cx="4957133" cy="259082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91691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BBA66-E2CB-3FF4-050A-230BB6C83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5CB9D-917F-DBBB-536E-40CDE3D75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81139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61. Identify and resolve duplicates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B52DF5-F00E-37EE-5E00-BDDDCBEE71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1862" y="574357"/>
            <a:ext cx="4327780" cy="236318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5C81F5-E19D-AA1E-EFE0-EABDA5D81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62" y="3058935"/>
            <a:ext cx="4137910" cy="236253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A123BA-9591-85C6-0131-9F158392C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8477" y="53702"/>
            <a:ext cx="5725324" cy="139242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501C0B-9D49-335C-3A6D-D1742D4811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8477" y="1496729"/>
            <a:ext cx="5725323" cy="156220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F4587A-761A-9B19-0C41-B6B9472078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5187" y="3058935"/>
            <a:ext cx="5391902" cy="111688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8E9C5D-B6B7-4806-921B-01EC37DFD7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1767" y="4262936"/>
            <a:ext cx="5725322" cy="231705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8308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5893D-E6A3-259A-71B4-ABD79C948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00424-DB20-584E-45A5-7D924EB98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7400"/>
          </a:xfrm>
        </p:spPr>
        <p:txBody>
          <a:bodyPr>
            <a:normAutofit fontScale="90000"/>
          </a:bodyPr>
          <a:lstStyle/>
          <a:p>
            <a:r>
              <a:rPr lang="en-US" dirty="0"/>
              <a:t>In Spark , you use </a:t>
            </a:r>
            <a:r>
              <a:rPr lang="en-US" dirty="0" err="1"/>
              <a:t>dropduplicates</a:t>
            </a:r>
            <a:r>
              <a:rPr lang="en-US" dirty="0"/>
              <a:t> , </a:t>
            </a:r>
            <a:r>
              <a:rPr lang="en-US" dirty="0" err="1"/>
              <a:t>ande</a:t>
            </a:r>
            <a:r>
              <a:rPr lang="en-US" dirty="0"/>
              <a:t> can mention columns in a list , brackets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237959-337F-24B0-53D2-FFAB591B77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4332" y="1365238"/>
            <a:ext cx="5039428" cy="226861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74945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8752F-DD1B-3D57-4D50-3EE1BED6E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9C4C7-D3D7-B5CE-7FFD-5199C99FD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81139"/>
          </a:xfrm>
        </p:spPr>
        <p:txBody>
          <a:bodyPr>
            <a:normAutofit fontScale="90000"/>
          </a:bodyPr>
          <a:lstStyle/>
          <a:p>
            <a:r>
              <a:rPr lang="en-US" dirty="0"/>
              <a:t>Joining Data Using Inner Joins.</a:t>
            </a:r>
            <a:endParaRPr lang="en-Z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7EF2190-6FC5-5835-D2C0-9D4DE1E65E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3841" y="741312"/>
            <a:ext cx="7582958" cy="153373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8F3340-4FC0-DDFD-2F40-566A0639F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841" y="2275051"/>
            <a:ext cx="7582958" cy="17052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D80556-9C23-A2FE-54A5-9953BB45E7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348" y="3980265"/>
            <a:ext cx="4020111" cy="9717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E140E1C-BEFA-78D2-6381-B7CD22819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844" y="5019171"/>
            <a:ext cx="6858957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264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0AB50-409F-EE12-FBEA-B65FB4E57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A8720-ACEA-6680-7B7D-488BD93F5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58396"/>
          </a:xfrm>
        </p:spPr>
        <p:txBody>
          <a:bodyPr>
            <a:normAutofit fontScale="90000"/>
          </a:bodyPr>
          <a:lstStyle/>
          <a:p>
            <a:r>
              <a:rPr lang="en-US" dirty="0"/>
              <a:t>We now join by country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B6D2BA-FB76-A705-DA0F-B6F55DD583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9091" y="901650"/>
            <a:ext cx="4997304" cy="270547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C388EA-F9DF-E43C-02EB-EF273C658C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60" y="3895284"/>
            <a:ext cx="5306165" cy="23600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B27C34-ADE1-ADCA-C930-AF4422AAD2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4761" y="792097"/>
            <a:ext cx="5830114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999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F532B-D775-C7BD-0FBF-E3A079932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E1FC0-E2B6-F03B-13B5-2B1D9B2EB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2397"/>
          </a:xfrm>
        </p:spPr>
        <p:txBody>
          <a:bodyPr>
            <a:normAutofit fontScale="90000"/>
          </a:bodyPr>
          <a:lstStyle/>
          <a:p>
            <a:r>
              <a:rPr lang="en-US" dirty="0"/>
              <a:t>25. Other Joins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243756-0B97-D360-2044-0C61CB782D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7426" y="1379589"/>
            <a:ext cx="3647106" cy="168506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437C68-9BFE-3FA1-FE1D-2037E1C91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69" y="3636722"/>
            <a:ext cx="3647105" cy="239938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7F5593-0389-8667-25CE-37E80A208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698" y="-15620"/>
            <a:ext cx="5363323" cy="146705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408E66-0EAD-718D-0704-5F76D71B1C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7698" y="1659339"/>
            <a:ext cx="7201905" cy="146705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E2C8CB-F98E-D8BD-FE10-FA338B980C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7108" y="3212309"/>
            <a:ext cx="7201905" cy="84882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3AB58B1-2F41-0A2A-1D0B-435CD2C5F3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7108" y="4147050"/>
            <a:ext cx="6092920" cy="234582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15766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7B838-1C35-F4BC-A067-C7991B5C4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C924F-5383-DA16-1108-6A15E974B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8652"/>
          </a:xfrm>
        </p:spPr>
        <p:txBody>
          <a:bodyPr>
            <a:normAutofit/>
          </a:bodyPr>
          <a:lstStyle/>
          <a:p>
            <a:r>
              <a:rPr lang="en-US" sz="2000" dirty="0"/>
              <a:t>In </a:t>
            </a:r>
            <a:r>
              <a:rPr lang="en-US" sz="2000" dirty="0" err="1"/>
              <a:t>sql</a:t>
            </a:r>
            <a:r>
              <a:rPr lang="en-US" sz="2000" dirty="0"/>
              <a:t> you also need to rename the cols and put in all the columns </a:t>
            </a:r>
            <a:endParaRPr lang="en-ZA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01AAC5-6FF5-FF96-8AF7-7FEBA07F1F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5642" y="973778"/>
            <a:ext cx="6781066" cy="220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857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3D52E-9001-FEEA-E865-9BFE22060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4E57C-0C8E-7BB2-BA5E-88BA8A01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3649"/>
          </a:xfrm>
        </p:spPr>
        <p:txBody>
          <a:bodyPr>
            <a:normAutofit/>
          </a:bodyPr>
          <a:lstStyle/>
          <a:p>
            <a:r>
              <a:rPr lang="en-US" sz="2400" dirty="0"/>
              <a:t>Using </a:t>
            </a:r>
            <a:r>
              <a:rPr lang="en-US" sz="2400" dirty="0" err="1"/>
              <a:t>df</a:t>
            </a:r>
            <a:r>
              <a:rPr lang="en-US" sz="2400" dirty="0"/>
              <a:t> gen 2 for joins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AE7B00-06D0-D587-9BE3-79BAFE35FC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6907" y="878774"/>
            <a:ext cx="9658144" cy="28738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C03E00-EC7B-276A-BF67-05FE8F72E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709" y="4266252"/>
            <a:ext cx="2838846" cy="1933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34F8E9-C155-9D58-27C4-08B6D6140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6908" y="3752603"/>
            <a:ext cx="7465263" cy="287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509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37E35-0EBB-4877-954E-F58615AB7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52D1-31A2-D486-60EF-147778C1A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9265"/>
          </a:xfrm>
        </p:spPr>
        <p:txBody>
          <a:bodyPr>
            <a:noAutofit/>
          </a:bodyPr>
          <a:lstStyle/>
          <a:p>
            <a:r>
              <a:rPr lang="en-US" sz="4000" dirty="0"/>
              <a:t>26. Missing Data </a:t>
            </a:r>
            <a:endParaRPr lang="en-ZA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1FEC5A-0322-3187-E3BF-D61C0EE645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3138" y="769513"/>
            <a:ext cx="4043236" cy="140651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D3EB96-EC08-7CA3-6D95-3DBA6A2E3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570" y="2362709"/>
            <a:ext cx="3353790" cy="160555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5FD277-BF13-4638-9644-0589B2A09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2" y="4154942"/>
            <a:ext cx="4858428" cy="248765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72D6CA-2EED-92F3-A85C-0A08B52EA3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9692" y="333695"/>
            <a:ext cx="6619738" cy="283179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C93B98-3E3F-DF39-1BB3-D5A9DCD661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7013" y="3428999"/>
            <a:ext cx="6804561" cy="309530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52282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2E66E-E0F6-E4E1-7365-45BFE334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9FF7F-C932-3E96-420F-E421AC4B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370"/>
            <a:ext cx="10515600" cy="466148"/>
          </a:xfrm>
        </p:spPr>
        <p:txBody>
          <a:bodyPr>
            <a:normAutofit/>
          </a:bodyPr>
          <a:lstStyle/>
          <a:p>
            <a:r>
              <a:rPr lang="en-US" sz="2000" dirty="0"/>
              <a:t>Full scope null replacement ..some with values others with zero. </a:t>
            </a:r>
            <a:endParaRPr lang="en-ZA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3F93BF-500E-1C48-4E7D-0198885D28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4103" y="617518"/>
            <a:ext cx="7816125" cy="250507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D667D7-4125-F8AB-718C-086FC281D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50" y="3429000"/>
            <a:ext cx="9278645" cy="317207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537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0E67E-DD6C-AE64-9FFB-38114BEA4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9D28C-2F8F-98AA-CE4F-808AC76B5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8028"/>
          </a:xfrm>
        </p:spPr>
        <p:txBody>
          <a:bodyPr>
            <a:normAutofit fontScale="90000"/>
          </a:bodyPr>
          <a:lstStyle/>
          <a:p>
            <a:r>
              <a:rPr lang="en-US" dirty="0"/>
              <a:t>Dataflow Gen2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C81F80-47E9-DB73-EC7F-BCE8420B58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6466" y="885264"/>
            <a:ext cx="4420217" cy="1695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33CF42-8EE2-FE28-EF56-FF7AA65E7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58" y="2691869"/>
            <a:ext cx="5439534" cy="38010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F17709-8BEE-23B8-F6AD-6130F6A355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450" y="2126831"/>
            <a:ext cx="5801535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062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42D4F-3D0D-906A-A171-35B511028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29FA5-EFC2-A0B2-23D7-AFB995408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3638"/>
          </a:xfrm>
        </p:spPr>
        <p:txBody>
          <a:bodyPr>
            <a:normAutofit fontScale="90000"/>
          </a:bodyPr>
          <a:lstStyle/>
          <a:p>
            <a:r>
              <a:rPr lang="en-US" dirty="0"/>
              <a:t>66. </a:t>
            </a:r>
            <a:r>
              <a:rPr lang="en-US" dirty="0" err="1"/>
              <a:t>Practoice</a:t>
            </a:r>
            <a:r>
              <a:rPr lang="en-US" dirty="0"/>
              <a:t> Activity 8 – bridge table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1F4D99-8901-2FA9-7E2A-A91F076DF6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9773" y="1376597"/>
            <a:ext cx="4387230" cy="372479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4BD6A4-BF23-849D-3398-58F40352B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96" y="5294275"/>
            <a:ext cx="4874118" cy="111458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459764-DBBB-DBEC-5BD9-E519B5F221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5781" y="935303"/>
            <a:ext cx="5716957" cy="547355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09868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EDB7-14A8-EF6F-C7F4-C573513BB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BF39-5B12-C39C-D4F2-489E25941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64266"/>
          </a:xfrm>
        </p:spPr>
        <p:txBody>
          <a:bodyPr>
            <a:normAutofit fontScale="90000"/>
          </a:bodyPr>
          <a:lstStyle/>
          <a:p>
            <a:r>
              <a:rPr lang="en-US" dirty="0"/>
              <a:t>68. Practice activity Spark</a:t>
            </a:r>
            <a:endParaRPr lang="en-Z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A7F26E3-637F-A67E-B108-2071A5174A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1612" y="795648"/>
            <a:ext cx="6166694" cy="228006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D92105-6B7B-E3F3-0259-EF1A404B5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439" y="3429000"/>
            <a:ext cx="11441122" cy="86295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F8B68F-66A6-3B7C-63D6-E9406DD6C3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439" y="4560684"/>
            <a:ext cx="8326012" cy="13146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1F128E3-07CB-C707-5C98-0514CE641A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694" y="397783"/>
            <a:ext cx="4738867" cy="267792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60807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5F58F-2178-D89E-6665-9A17CE45C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AA2FF-2358-3A5C-5498-7B5966B66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9898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 of a Join.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8E81AB-39AA-EC45-21F3-612E840F2A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179" y="980198"/>
            <a:ext cx="8479319" cy="2629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2CB9E0-501F-59AD-5186-787AB0BC2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79" y="4029229"/>
            <a:ext cx="9192908" cy="262990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62735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5251-C5FF-D5FA-A974-84F32806B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EEDC-1933-2184-8B73-37F91C1FD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duplicates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C1CFF9-7F97-7F99-D1B8-EA98E62E92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3255" y="1801874"/>
            <a:ext cx="484534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445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2133E-0FCB-E799-E9C6-24F49D26E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B4061-0FA6-B4D7-9D08-37BFC169A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B2024-C27C-A88B-98F0-CDD0F5D19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40039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6E38-6B29-7AE5-18AD-A1D3D37F3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3C7BF-6122-BA31-B79A-FD77E2E5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/>
          <a:lstStyle/>
          <a:p>
            <a:r>
              <a:rPr lang="en-US" dirty="0"/>
              <a:t>SQL …</a:t>
            </a:r>
            <a:r>
              <a:rPr lang="en-US" dirty="0" err="1"/>
              <a:t>Practiceactivity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A8159C-1543-65EA-B390-E84B422941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7562" y="1080656"/>
            <a:ext cx="4277897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E24093-3E6B-9B81-4A34-7A76F9A34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756" y="1080656"/>
            <a:ext cx="7261982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755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843B5-5D07-8F9E-7246-D88585E1E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EA72E-34F0-13E0-12D0-C88F84F7C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1779"/>
          </a:xfrm>
        </p:spPr>
        <p:txBody>
          <a:bodyPr>
            <a:normAutofit fontScale="90000"/>
          </a:bodyPr>
          <a:lstStyle/>
          <a:p>
            <a:r>
              <a:rPr lang="en-US" dirty="0"/>
              <a:t>Change to full join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4A023F-9FA1-0B0E-6CBE-71670F778E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81648"/>
            <a:ext cx="10515600" cy="419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07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AE13F-C864-D7B9-3572-AD5E38298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CC18A-6105-77AF-F50B-039B80EDD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2397"/>
          </a:xfrm>
        </p:spPr>
        <p:txBody>
          <a:bodyPr>
            <a:normAutofit fontScale="90000"/>
          </a:bodyPr>
          <a:lstStyle/>
          <a:p>
            <a:r>
              <a:rPr lang="en-US" dirty="0"/>
              <a:t>Finding </a:t>
            </a:r>
            <a:r>
              <a:rPr lang="en-US" dirty="0" err="1"/>
              <a:t>Missiong</a:t>
            </a:r>
            <a:r>
              <a:rPr lang="en-US" dirty="0"/>
              <a:t> Data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2197F6-CCE2-47EF-9BC3-4542F2BACA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1317" y="1058171"/>
            <a:ext cx="10515600" cy="256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8071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E9E8D-9A54-8FB9-B981-EDF4C907C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2F5CD-B73F-9FBC-F13A-1AA4BC75A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Duplicates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09AB97-3217-3450-6367-F19ECC3C75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4225" y="1576244"/>
            <a:ext cx="51559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847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0B249-7B2E-F6A2-8949-99EBEB7F0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0655C-56A7-24E2-2183-ABE15F13E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292"/>
          </a:xfrm>
        </p:spPr>
        <p:txBody>
          <a:bodyPr>
            <a:normAutofit/>
          </a:bodyPr>
          <a:lstStyle/>
          <a:p>
            <a:r>
              <a:rPr lang="en-US" sz="2400" dirty="0"/>
              <a:t>15. Schedule Notebooks; Run/schedule  In the RUN Menu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2C6F6E-4240-B0D8-9479-06E2873E2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5896" y="1165196"/>
            <a:ext cx="4617964" cy="435133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4C98FC-7A95-3E92-D71B-CADB5DDDB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619" y="1166497"/>
            <a:ext cx="5144218" cy="452500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471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D9273-9F42-F7CD-1C12-3DA9490F2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3209D-AB96-BA84-13D5-0C1AD2863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74702"/>
          </a:xfrm>
        </p:spPr>
        <p:txBody>
          <a:bodyPr>
            <a:normAutofit fontScale="90000"/>
          </a:bodyPr>
          <a:lstStyle/>
          <a:p>
            <a:r>
              <a:rPr lang="en-US" dirty="0"/>
              <a:t>Watch </a:t>
            </a:r>
            <a:r>
              <a:rPr lang="en-US" dirty="0" err="1"/>
              <a:t>notebook..View</a:t>
            </a:r>
            <a:r>
              <a:rPr lang="en-US" dirty="0"/>
              <a:t> All Runs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DD8CBC-1E20-5054-5F83-8EEF92685A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5495" y="860884"/>
            <a:ext cx="6684429" cy="231671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11C4A8C1-AD8B-04AC-68CC-88A34C80A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680399"/>
            <a:ext cx="10515600" cy="280752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80759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342C3-FA91-7F55-28CE-AAE71EA72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7EFB2-0915-66B9-3BAF-CAE44CFEC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2157"/>
          </a:xfrm>
        </p:spPr>
        <p:txBody>
          <a:bodyPr>
            <a:normAutofit fontScale="90000"/>
          </a:bodyPr>
          <a:lstStyle/>
          <a:p>
            <a:r>
              <a:rPr lang="en-US" dirty="0"/>
              <a:t>View resources </a:t>
            </a:r>
            <a:endParaRPr lang="en-Z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6791CE9-F3DC-8516-DF27-EF203EC8F6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5829" y="1182506"/>
            <a:ext cx="10515600" cy="213357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B5A497-25D1-5BA9-BF3B-D5BC1B66C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092" y="3897025"/>
            <a:ext cx="8849960" cy="274358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823934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08FB6-9362-9EA0-290C-BF8653A83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AD45F-4E12-DEFF-DDB8-25259B7B2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0123"/>
          </a:xfrm>
        </p:spPr>
        <p:txBody>
          <a:bodyPr>
            <a:normAutofit fontScale="90000"/>
          </a:bodyPr>
          <a:lstStyle/>
          <a:p>
            <a:r>
              <a:rPr lang="en-US" dirty="0"/>
              <a:t>Item Snapshots – what it did during the run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C8E074-A03B-5322-9B29-1FC7DCDFA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594271"/>
            <a:ext cx="88511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2386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749BB-7989-7C56-7522-7E63DA01F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F7993-82F9-1808-452B-8C86E16D6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3174"/>
          </a:xfrm>
        </p:spPr>
        <p:txBody>
          <a:bodyPr>
            <a:normAutofit/>
          </a:bodyPr>
          <a:lstStyle/>
          <a:p>
            <a:r>
              <a:rPr lang="en-US" sz="2000" dirty="0"/>
              <a:t>NB: Can Schedule from the </a:t>
            </a:r>
            <a:r>
              <a:rPr lang="en-US" sz="2000" dirty="0" err="1"/>
              <a:t>wspace</a:t>
            </a:r>
            <a:r>
              <a:rPr lang="en-US" sz="2000" dirty="0"/>
              <a:t> ..</a:t>
            </a:r>
            <a:r>
              <a:rPr lang="en-US" sz="2000" dirty="0" err="1"/>
              <a:t>dont</a:t>
            </a:r>
            <a:r>
              <a:rPr lang="en-US" sz="2000" dirty="0"/>
              <a:t> have to go into the Notebook</a:t>
            </a:r>
            <a:endParaRPr lang="en-ZA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840A08-CB64-549C-AF71-7B4F96CBC1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6906" y="1342451"/>
            <a:ext cx="5024673" cy="435133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345245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01C2A-C65B-BF0A-3645-36EDCEC65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30679-20C1-4DBE-CBD5-60DD3FC05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144052"/>
            <a:ext cx="10515600" cy="505208"/>
          </a:xfrm>
        </p:spPr>
        <p:txBody>
          <a:bodyPr>
            <a:normAutofit/>
          </a:bodyPr>
          <a:lstStyle/>
          <a:p>
            <a:r>
              <a:rPr lang="en-US" sz="2400" dirty="0"/>
              <a:t>31. Spark Structured Streaming.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1FF226-DE38-5A47-D87F-7B5B5149A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6937" y="649260"/>
            <a:ext cx="10515600" cy="101162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0DF25C-65FE-607F-43EE-F75F9BEC2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37" y="1836600"/>
            <a:ext cx="11718758" cy="177985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89EAE3-BC58-06D4-6575-E91946A722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1974" y="4341767"/>
            <a:ext cx="7468642" cy="92405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074228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7734B-62F0-F0E2-24D9-E9F2EC51B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A6D17-FD8E-706A-377B-DA5368E3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Spark structured streaming continued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F674D3-0BE1-E4D9-277C-429A5D8B4C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6309" y="681038"/>
            <a:ext cx="10891185" cy="1977941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8AFF7E-E56C-F79B-E2C9-21EA22E52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289" y="3149132"/>
            <a:ext cx="9307224" cy="334374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173953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B6280-BFF0-3E38-A2ED-B8C6C4F54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4DF4A-4AEB-F8E8-AC3D-FFEC8D942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652"/>
            <a:ext cx="10515600" cy="200358"/>
          </a:xfrm>
        </p:spPr>
        <p:txBody>
          <a:bodyPr>
            <a:normAutofit fontScale="90000"/>
          </a:bodyPr>
          <a:lstStyle/>
          <a:p>
            <a:r>
              <a:rPr lang="en-US" dirty="0"/>
              <a:t>31. Testing the process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B2DEA8-76B7-2104-3FBC-7C6F3676C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4433" y="711060"/>
            <a:ext cx="5439534" cy="2200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8044FD-8BC4-D762-0E52-58B7B048A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348" y="184652"/>
            <a:ext cx="5832470" cy="655411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96449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D2992-C41A-4682-FA31-70A332624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7769A-07C9-F5A0-AC6D-AA4E7BD5F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2391"/>
          </a:xfrm>
        </p:spPr>
        <p:txBody>
          <a:bodyPr>
            <a:normAutofit fontScale="90000"/>
          </a:bodyPr>
          <a:lstStyle/>
          <a:p>
            <a:r>
              <a:rPr lang="en-US" dirty="0"/>
              <a:t>74. Spark Job definition.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99A6B6-3F9A-6E78-CBC5-E888E1EEB4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9720" y="993950"/>
            <a:ext cx="8478433" cy="2886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1DCC83-A240-DACB-A1C8-E6425B9E6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563" y="3880428"/>
            <a:ext cx="7992590" cy="277216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098217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37BE1-DBE9-6DFC-4BFE-0DA043ED1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0F9F2-B806-A261-98CE-33BCB24D7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72549"/>
          </a:xfrm>
        </p:spPr>
        <p:txBody>
          <a:bodyPr>
            <a:normAutofit fontScale="90000"/>
          </a:bodyPr>
          <a:lstStyle/>
          <a:p>
            <a:r>
              <a:rPr lang="en-US" dirty="0"/>
              <a:t>Go back to </a:t>
            </a:r>
            <a:r>
              <a:rPr lang="en-US" dirty="0" err="1"/>
              <a:t>wspace</a:t>
            </a:r>
            <a:r>
              <a:rPr lang="en-US" dirty="0"/>
              <a:t> , new item , Spark Job def.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2B55E2-47CB-F9A7-81F6-6DD10AAE5F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7148" y="793888"/>
            <a:ext cx="4245326" cy="23625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ADAF91-AF7A-A8E5-8775-09306BB04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474" y="1058780"/>
            <a:ext cx="5792813" cy="50053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457D28-8E24-B7B4-9C3F-9AE0D5AE73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148" y="3312665"/>
            <a:ext cx="3910453" cy="206685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055160-E140-747C-CA90-D1A9F03A0A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33" y="5740217"/>
            <a:ext cx="5048955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5136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79451-03ED-9B11-B698-6F5357BB1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CB049-BC3A-B358-4BC5-2821B7E28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04890"/>
          </a:xfrm>
        </p:spPr>
        <p:txBody>
          <a:bodyPr>
            <a:normAutofit fontScale="90000"/>
          </a:bodyPr>
          <a:lstStyle/>
          <a:p>
            <a:r>
              <a:rPr lang="en-US" dirty="0"/>
              <a:t>See the table </a:t>
            </a:r>
            <a:r>
              <a:rPr lang="en-US" dirty="0" err="1"/>
              <a:t>rowss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B4107F-40BB-BAE8-350E-64833FF3A1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6320" y="875766"/>
            <a:ext cx="8227155" cy="305195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1145FA-BBC4-65EA-10DD-3AF1780B77F0}"/>
              </a:ext>
            </a:extLst>
          </p:cNvPr>
          <p:cNvSpPr txBox="1"/>
          <p:nvPr/>
        </p:nvSpPr>
        <p:spPr>
          <a:xfrm>
            <a:off x="838199" y="5165766"/>
            <a:ext cx="85433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lecture used a Spark Streaming job </a:t>
            </a:r>
            <a:r>
              <a:rPr lang="en-US" dirty="0" err="1"/>
              <a:t>definitioin</a:t>
            </a:r>
            <a:r>
              <a:rPr lang="en-US" dirty="0"/>
              <a:t> to continuously run a program to read in new files and add to existing </a:t>
            </a:r>
            <a:r>
              <a:rPr lang="en-US" dirty="0" err="1"/>
              <a:t>table..append</a:t>
            </a:r>
            <a:r>
              <a:rPr lang="en-US" dirty="0"/>
              <a:t> . The job definition is </a:t>
            </a:r>
            <a:r>
              <a:rPr lang="en-US" dirty="0" err="1"/>
              <a:t>continupously</a:t>
            </a:r>
            <a:r>
              <a:rPr lang="en-US" dirty="0"/>
              <a:t> running.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845540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05D1D-4FC0-CED4-3356-349D4BEBF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B9717-8923-9F12-BF6D-CA000E906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9898"/>
          </a:xfrm>
        </p:spPr>
        <p:txBody>
          <a:bodyPr>
            <a:normAutofit fontScale="90000"/>
          </a:bodyPr>
          <a:lstStyle/>
          <a:p>
            <a:r>
              <a:rPr lang="en-US" dirty="0"/>
              <a:t>Py file must have Spark definition defines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C8A029-0FCA-69DD-922E-FE8D8589C4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04362" y="2196054"/>
            <a:ext cx="8783276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1503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7C40A-C668-860F-D589-4320A680D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A1D83-838C-D3CD-F296-07FD0482D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E1C4A6-547C-BE28-7AF7-412B04B40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54138" y="1540618"/>
            <a:ext cx="91911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599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C4AFE-B041-AABA-CB82-2E679AEFA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6382F-006A-C394-6A4E-86D1BD64F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8652"/>
          </a:xfrm>
        </p:spPr>
        <p:txBody>
          <a:bodyPr>
            <a:normAutofit/>
          </a:bodyPr>
          <a:lstStyle/>
          <a:p>
            <a:r>
              <a:rPr lang="en-US" sz="2400" dirty="0"/>
              <a:t>75. Choose between Pipeline and Notebook.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E31EA9-42ED-2CC7-767C-ACC519692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40383" y="1253331"/>
            <a:ext cx="83199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422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37B3E-9A1A-1031-65D9-B4554AC75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9E660-2DF2-E172-D2E4-E2EA191BA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347393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76.Parameters in Notebooks.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6DEE61-1825-16DB-333C-D963604B7A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8982" y="621139"/>
            <a:ext cx="4810163" cy="262973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AD9147-50A4-24A5-6198-28489A40C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82" y="3429000"/>
            <a:ext cx="4631377" cy="332204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AABD22-A261-C5B4-9EAB-7BCE237FF9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73696"/>
            <a:ext cx="4513046" cy="244007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1B5EBA-4DC5-F9F8-1802-84557C70B9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8969" y="2980027"/>
            <a:ext cx="6677957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995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C801A-7BE9-BC50-6179-9D891E11A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A0EE-BA39-97F1-8D67-F2E613692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5524"/>
          </a:xfrm>
        </p:spPr>
        <p:txBody>
          <a:bodyPr>
            <a:normAutofit fontScale="90000"/>
          </a:bodyPr>
          <a:lstStyle/>
          <a:p>
            <a:r>
              <a:rPr lang="en-US" dirty="0"/>
              <a:t>We want parameter to be set outside notebook ..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8CCD2A-09A0-E8B3-4416-19F283449A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3187" y="890650"/>
            <a:ext cx="10515600" cy="17397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EB52E7-145B-EBBC-4573-E046D21CC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92" y="3155964"/>
            <a:ext cx="10515599" cy="303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143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AD852-D25F-27C3-EECE-9894349FB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2CD56-5A04-2DF5-E461-FC2A29773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We now create a new pipeline in </a:t>
            </a:r>
            <a:r>
              <a:rPr lang="en-US" dirty="0" err="1"/>
              <a:t>wspace</a:t>
            </a:r>
            <a:r>
              <a:rPr lang="en-US" dirty="0"/>
              <a:t> 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2EFA90-A3D7-CC24-EFB7-9469F522E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3161" y="908946"/>
            <a:ext cx="3975087" cy="337804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B04A53-EFD3-3E9C-AFEC-E6E8F1ED9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04" y="4514900"/>
            <a:ext cx="11578441" cy="208712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C31223-4FB7-7830-6A3A-4C1F89867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1589" y="1029637"/>
            <a:ext cx="6919356" cy="171356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771D06-EBBF-2446-0732-2EF693258B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9720" y="2778826"/>
            <a:ext cx="5957454" cy="150816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45656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ED231-BEB0-0E1E-5753-1FA2374B7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52367-E685-0A81-A755-78B6E529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77. Dynamic Expressions in Notebooks.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2D47FA-0D10-4477-299D-1BE97C8383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0010" y="942482"/>
            <a:ext cx="10515600" cy="171759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374F53-2F06-3276-1F48-8627FDE42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93" y="2921517"/>
            <a:ext cx="4351317" cy="306977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D18C83-F4AD-72EA-188A-21EAB52A1F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1585" y="2921518"/>
            <a:ext cx="5677692" cy="91421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D92FC2-E7D2-59BF-37F3-9C19AF4F6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7848" y="4066123"/>
            <a:ext cx="5125165" cy="184939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474638-A04A-E2BB-5266-762CAE3258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76210"/>
            <a:ext cx="12192000" cy="77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5124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C5521-FCD8-50A9-F6BE-EB6CAFAFA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A26EF-6B7B-C38B-D545-49A8960C7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0522"/>
          </a:xfrm>
        </p:spPr>
        <p:txBody>
          <a:bodyPr>
            <a:normAutofit fontScale="90000"/>
          </a:bodyPr>
          <a:lstStyle/>
          <a:p>
            <a:r>
              <a:rPr lang="en-US" dirty="0"/>
              <a:t>Save and run the pipeline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B674FC-14CB-8E72-55CF-32C0844489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2142" y="1104576"/>
            <a:ext cx="5906324" cy="232442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76E408-FA0C-C491-4E3D-924B9E2FF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884" y="3904183"/>
            <a:ext cx="10288154" cy="207565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962705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84FE3-6EB9-DBDA-DFFA-715E78B99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3338E-916F-3B18-8B9B-63DDC02AC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There are other variables and menus in the expression builder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3B40F4-BA30-081A-7A4A-CD5F35FFF2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0726" y="1742498"/>
            <a:ext cx="6898219" cy="435133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512D4D-E350-0E5D-E677-9C8BAF89D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8945" y="1742498"/>
            <a:ext cx="4507321" cy="435133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647753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7CF3B-AC1F-52D4-3874-4C67ABE26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DC9D4-AD59-79F7-1C15-36D8A23DB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427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Varibles</a:t>
            </a:r>
            <a:r>
              <a:rPr lang="en-US" dirty="0"/>
              <a:t> and functions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6F98F6-B277-2AFD-9E12-0780DEC813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6932" y="1421862"/>
            <a:ext cx="6358247" cy="435133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B79C17-8801-33BD-C228-B0A5B30AD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254" y="600050"/>
            <a:ext cx="3885546" cy="56579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301503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FF399-C42A-7EEF-2362-F3A6AF151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50F3F-6361-F0B4-F34B-83C546D1E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744"/>
            <a:ext cx="10515600" cy="466148"/>
          </a:xfrm>
        </p:spPr>
        <p:txBody>
          <a:bodyPr>
            <a:normAutofit fontScale="90000"/>
          </a:bodyPr>
          <a:lstStyle/>
          <a:p>
            <a:r>
              <a:rPr lang="en-US" dirty="0"/>
              <a:t>79. Practice activity 10.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51C1E3-8489-CD7C-3D4B-D3A42C75F3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8835" y="581892"/>
            <a:ext cx="8135485" cy="210764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B555D3-1D90-8642-830A-302CCD0D2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79" y="2689535"/>
            <a:ext cx="10515601" cy="210764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0E90A1-3B5F-FC43-2F5E-B3029D2897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835" y="4990646"/>
            <a:ext cx="8630854" cy="175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8144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EFEE-0E52-5867-C217-7D9E3ECF2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0AEB-C50F-AE60-5727-F268CB63F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D72B23-4D22-D291-7568-8C8A501BE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4438" y="124655"/>
            <a:ext cx="10515600" cy="26422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27E2EE-518F-B4D0-A8DD-82763614C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19" y="3182586"/>
            <a:ext cx="9429008" cy="272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0571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AF1BD-606B-7231-5E8D-8476BE865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1F6BE-ABCD-7B98-F8FF-FA1A681E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8023"/>
          </a:xfrm>
        </p:spPr>
        <p:txBody>
          <a:bodyPr>
            <a:normAutofit fontScale="90000"/>
          </a:bodyPr>
          <a:lstStyle/>
          <a:p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5256E4-4D80-70A5-021B-218C6106F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2720" y="218627"/>
            <a:ext cx="3743847" cy="227519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A4BB26-618D-047A-CB7B-9F1E35FF4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20" y="2973368"/>
            <a:ext cx="4258269" cy="32103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F54FBA-3211-D19E-4CF9-8B2CE46561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1599" y="1"/>
            <a:ext cx="7490401" cy="210193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6AEFC4-5C0C-46DA-86E3-321D76BFE5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8873" y="2467057"/>
            <a:ext cx="5915851" cy="186716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6061F00-7759-DE77-9B28-27CB338F91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8882" y="4756067"/>
            <a:ext cx="6708933" cy="187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8823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84E19-7418-A592-D829-BAA3AAAFF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5E997-088D-7BC5-937A-391D0C641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0" y="3170691"/>
            <a:ext cx="3722914" cy="516617"/>
          </a:xfrm>
        </p:spPr>
        <p:txBody>
          <a:bodyPr>
            <a:noAutofit/>
          </a:bodyPr>
          <a:lstStyle/>
          <a:p>
            <a:r>
              <a:rPr lang="en-US" sz="2400" dirty="0"/>
              <a:t>S11 CREATING OBJECTS</a:t>
            </a: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26947134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5C7E3E8-0AC0-1044-93DD-5ED231B91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CE875-57C2-C7F6-BC0A-B37058F98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4732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80. Create and Manage Shortcuts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B13DE0-C9FC-3C23-BC31-14F406E86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1372" y="830717"/>
            <a:ext cx="5239481" cy="203863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52F2E0-E4D2-E974-4CF5-59057B4B7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321" y="489858"/>
            <a:ext cx="4385402" cy="244544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6CD32E-DC0D-D201-8A87-B2F312D15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372" y="3248258"/>
            <a:ext cx="2257740" cy="163852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7EBFBD-A5C8-C2BD-969C-CAB3AF7C21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112" y="3276159"/>
            <a:ext cx="3703181" cy="268967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72567D-EB99-227C-AD81-BE6A368C39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6781" y="3248258"/>
            <a:ext cx="3743847" cy="277216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58478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A63DE-C503-DD97-CE8B-7B40A4B07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9A96C-B7E1-CC1E-7F80-B7964812E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5446"/>
            <a:ext cx="10515600" cy="1028246"/>
          </a:xfrm>
        </p:spPr>
        <p:txBody>
          <a:bodyPr>
            <a:normAutofit/>
          </a:bodyPr>
          <a:lstStyle/>
          <a:p>
            <a:r>
              <a:rPr lang="en-US" sz="2400" dirty="0"/>
              <a:t>81 Workspace Settings …</a:t>
            </a:r>
            <a:endParaRPr lang="en-ZA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B1165-FAF0-E905-F95D-6782B425F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543" y="635454"/>
            <a:ext cx="10515600" cy="72888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One Lake Settings – On / off Cache , only for </a:t>
            </a:r>
            <a:r>
              <a:rPr lang="en-US" dirty="0" err="1"/>
              <a:t>Exyternal</a:t>
            </a:r>
            <a:r>
              <a:rPr lang="en-US" dirty="0"/>
              <a:t> Storage GCS (Google Cloud/ Shortcuts/S3 Shortcuts  )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A1F7F1-FCEE-5F80-2522-04916278E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775" y="1739900"/>
            <a:ext cx="4582164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13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B3C04-1CCD-D307-3BB9-3A9B30FF3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331A4-6D5C-63AC-4563-1CE0C280E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42874"/>
          </a:xfrm>
        </p:spPr>
        <p:txBody>
          <a:bodyPr>
            <a:normAutofit fontScale="90000"/>
          </a:bodyPr>
          <a:lstStyle/>
          <a:p>
            <a:r>
              <a:rPr lang="en-US" dirty="0"/>
              <a:t>82. Create Azure SQL Database as a Source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D7DE4A-C6D5-D9DC-CEA9-149622B6FF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4814" y="1131715"/>
            <a:ext cx="2915057" cy="86689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D2D823-077A-88A4-AE9D-6E7C45755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913" y="1131715"/>
            <a:ext cx="5144218" cy="227679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757420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35188-8FE3-6B55-224F-3DFD76CA8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E9882-FD14-FCFD-511E-D312F9626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Database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D673B2-ECBA-9EC0-A8DA-80B7922F1B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31548" y="1825625"/>
            <a:ext cx="792890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4555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530BF-27C6-B7AD-4717-24391D544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87787-A1E4-0E8E-1AD0-7384C70B5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44. </a:t>
            </a:r>
            <a:r>
              <a:rPr lang="en-US" sz="2400" dirty="0" err="1"/>
              <a:t>Imolement</a:t>
            </a:r>
            <a:r>
              <a:rPr lang="en-US" sz="2400" dirty="0"/>
              <a:t> File Partitioning  - for analytics workload , using a pipelined.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6CB41D-7E32-1081-97DF-F6A025E189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5571" y="1432483"/>
            <a:ext cx="9234714" cy="239929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139618-8D1D-5BD9-F0EA-D49B7B205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642" y="4331005"/>
            <a:ext cx="9234715" cy="170835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392412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F66A9-1D44-9AC1-9A8E-C0A702AC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ECA55-3A26-94A2-69A4-54D0E3142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6704"/>
          </a:xfrm>
        </p:spPr>
        <p:txBody>
          <a:bodyPr>
            <a:normAutofit/>
          </a:bodyPr>
          <a:lstStyle/>
          <a:p>
            <a:r>
              <a:rPr lang="en-US" sz="2400" dirty="0"/>
              <a:t>File </a:t>
            </a:r>
            <a:r>
              <a:rPr lang="en-US" sz="2400" dirty="0" err="1"/>
              <a:t>Partioning</a:t>
            </a:r>
            <a:r>
              <a:rPr lang="en-US" sz="2400" dirty="0"/>
              <a:t> .. </a:t>
            </a:r>
            <a:r>
              <a:rPr lang="en-US" sz="2400" dirty="0" err="1"/>
              <a:t>Continmued</a:t>
            </a:r>
            <a:r>
              <a:rPr lang="en-US" sz="2400" dirty="0"/>
              <a:t>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8766E8-6B8D-16DD-7FDC-5136E74A2A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4602" y="945521"/>
            <a:ext cx="2934109" cy="307700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D9CB25-273C-22EE-293A-AE5762282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343" y="945521"/>
            <a:ext cx="5963482" cy="217200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2376C2-F41B-A64A-8899-B7EC71647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0343" y="3428999"/>
            <a:ext cx="5225143" cy="31110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925202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DBE8B-8413-69DF-578C-F5106C50F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78DE8-C640-0DAC-6110-AF50FC545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389"/>
          </a:xfrm>
        </p:spPr>
        <p:txBody>
          <a:bodyPr>
            <a:normAutofit fontScale="90000"/>
          </a:bodyPr>
          <a:lstStyle/>
          <a:p>
            <a:r>
              <a:rPr lang="en-US" dirty="0"/>
              <a:t>Fill in all the source details , in the </a:t>
            </a:r>
            <a:r>
              <a:rPr lang="en-US" dirty="0" err="1"/>
              <a:t>CopyData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9C189E-8AED-E48A-5E0D-057CFC45F6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7158" y="780597"/>
            <a:ext cx="5166328" cy="350111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7716BD-CBB3-A415-1174-2314C07C0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780597"/>
            <a:ext cx="5080415" cy="297542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549108-AD3E-935B-44C7-293EAFB78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729" y="3946837"/>
            <a:ext cx="5649113" cy="206721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1CF03D-7ECD-513D-C043-3C177BFFA1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546" y="4473293"/>
            <a:ext cx="5630061" cy="201958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547744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1A229-3CCD-F7CA-839D-E501D46C6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503F8-03A1-FD3F-6D0B-1C9852408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Validate and run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665408-98C6-20A3-8E8B-81C379FED6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7802" y="1690688"/>
            <a:ext cx="3791479" cy="383911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749F7F-5631-A0CA-CAB9-5858770AB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663" y="182847"/>
            <a:ext cx="6344535" cy="301568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FD8ED0-CA7D-618F-8E38-B2167C1E9F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9662" y="3380807"/>
            <a:ext cx="6538851" cy="313990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182934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A24C8-DB1F-4131-D438-7B13AF8EA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F1218-12D6-2AC1-E300-334E32E41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84"/>
            <a:ext cx="10515600" cy="505732"/>
          </a:xfrm>
        </p:spPr>
        <p:txBody>
          <a:bodyPr>
            <a:normAutofit/>
          </a:bodyPr>
          <a:lstStyle/>
          <a:p>
            <a:r>
              <a:rPr lang="en-US" sz="2400" dirty="0"/>
              <a:t>Partitioning </a:t>
            </a:r>
            <a:r>
              <a:rPr lang="en-US" sz="2400" dirty="0" err="1"/>
              <a:t>Continued..Open</a:t>
            </a:r>
            <a:r>
              <a:rPr lang="en-US" sz="2400" dirty="0"/>
              <a:t> Up a Notebook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14511F-E97D-95D5-7920-E2141C1FE7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9514" y="624116"/>
            <a:ext cx="8093068" cy="156754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921491-A8D9-48FB-3AE5-BB2028419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3" y="2400156"/>
            <a:ext cx="8093068" cy="205768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5A37D6-47CA-420F-F1D7-5D03BF8BEB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23" y="4666342"/>
            <a:ext cx="10964805" cy="205768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91709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32157-F4B9-6F59-47E0-2F578FEC9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6B99-4818-131B-FA9E-355F89DBD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4418"/>
          </a:xfrm>
        </p:spPr>
        <p:txBody>
          <a:bodyPr>
            <a:normAutofit fontScale="90000"/>
          </a:bodyPr>
          <a:lstStyle/>
          <a:p>
            <a:r>
              <a:rPr lang="en-US" dirty="0"/>
              <a:t>Can go to the lowest level of aggregations at the state level …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C4B807-281D-FE88-C171-57F275441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1376" y="1248537"/>
            <a:ext cx="10478962" cy="370574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07262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0079A-8BD4-91B1-A18B-BDF8DC6C7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E6AD-BAE0-FAFC-8E9B-F762C9664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2818"/>
          </a:xfrm>
        </p:spPr>
        <p:txBody>
          <a:bodyPr>
            <a:normAutofit fontScale="90000"/>
          </a:bodyPr>
          <a:lstStyle/>
          <a:p>
            <a:r>
              <a:rPr lang="en-US" dirty="0"/>
              <a:t>Reminder the destination advanced: settings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C36636-8A03-4AF7-7B2D-1898F048C7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7638" y="1253331"/>
            <a:ext cx="4811696" cy="435133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2A7634-774A-7099-9C6A-15DEE2D6E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53331"/>
            <a:ext cx="5007429" cy="379064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647090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C44F1-05CA-CCDA-0E91-1940ABFBC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E979D-6F30-DDC9-DFC4-704B6BD02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44. Implementing Partitioning Using </a:t>
            </a:r>
            <a:r>
              <a:rPr lang="en-US" sz="2400" dirty="0" err="1"/>
              <a:t>Spark..in</a:t>
            </a:r>
            <a:r>
              <a:rPr lang="en-US" sz="2400" dirty="0"/>
              <a:t> a </a:t>
            </a:r>
            <a:r>
              <a:rPr lang="en-US" sz="2400" dirty="0" err="1"/>
              <a:t>lakehouse</a:t>
            </a:r>
            <a:r>
              <a:rPr lang="en-US" sz="2400" dirty="0"/>
              <a:t>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7902C4-24BA-5E76-D2FA-81544BF621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2086" y="1309070"/>
            <a:ext cx="10515600" cy="423986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4339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BBC43-1981-4B11-2BC6-F44A880DD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EBC1B-04AC-853E-5F46-E4E9BCC04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7961"/>
          </a:xfrm>
        </p:spPr>
        <p:txBody>
          <a:bodyPr>
            <a:normAutofit/>
          </a:bodyPr>
          <a:lstStyle/>
          <a:p>
            <a:r>
              <a:rPr lang="en-US" sz="2000" dirty="0"/>
              <a:t>Partition </a:t>
            </a:r>
            <a:r>
              <a:rPr lang="en-US" sz="2000" dirty="0" err="1"/>
              <a:t>oin</a:t>
            </a:r>
            <a:r>
              <a:rPr lang="en-US" sz="2000" dirty="0"/>
              <a:t> Lake house continues ..</a:t>
            </a:r>
            <a:endParaRPr lang="en-ZA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264359-050E-9C11-D07B-A45773B5D8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6922" y="1448254"/>
            <a:ext cx="2992097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C5E875-6506-810C-E2A2-B6FDBD7B0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458" y="834235"/>
            <a:ext cx="4203370" cy="56586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1C9366-651E-11FC-7634-5868826E6A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777077"/>
            <a:ext cx="3733800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8250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2C0AF-66E7-64A6-5CA2-C9E6D7154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BEFE-F9BA-ADFA-7205-44CE6F656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Press into color and see the next level , </a:t>
            </a:r>
            <a:r>
              <a:rPr lang="en-US" dirty="0" err="1"/>
              <a:t>Subcat</a:t>
            </a:r>
            <a:r>
              <a:rPr lang="en-US" dirty="0"/>
              <a:t> and  then into that and see the actual file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A4E4B9-5001-1520-0C6B-C3DAA27347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4021" y="1941059"/>
            <a:ext cx="3774586" cy="435133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F00BBB-FE1F-0CD5-0E47-7A0B81ACA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349" y="2051225"/>
            <a:ext cx="6868451" cy="217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6467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261DC-10FA-74A6-6A51-514646844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647C5-229E-64D9-2AB4-70BC799D5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85. </a:t>
            </a:r>
            <a:r>
              <a:rPr lang="en-US" sz="2400" dirty="0" err="1"/>
              <a:t>Implemenmt</a:t>
            </a:r>
            <a:r>
              <a:rPr lang="en-US" sz="2400" dirty="0"/>
              <a:t> Mirroring of External DBs </a:t>
            </a:r>
            <a:endParaRPr lang="en-ZA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21AB2-EDF0-8595-2334-289D6B109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Foillow</a:t>
            </a:r>
            <a:r>
              <a:rPr lang="en-US" dirty="0"/>
              <a:t> the video ,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990353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F4A38-2F10-4CEC-E7C1-924DD2AF4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49659-A862-002D-F6E8-624F2D17A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6375"/>
          </a:xfrm>
        </p:spPr>
        <p:txBody>
          <a:bodyPr>
            <a:normAutofit fontScale="90000"/>
          </a:bodyPr>
          <a:lstStyle/>
          <a:p>
            <a:r>
              <a:rPr lang="en-US" dirty="0"/>
              <a:t>87. Practice 12. Solution.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6C6449-7FC5-86BB-E13B-A48CDB8A24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5290" y="891676"/>
            <a:ext cx="10515600" cy="25373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464DB7-D730-728E-8DE3-6A45DFD43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21" y="3968974"/>
            <a:ext cx="10593278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3596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3836B-9F86-D93A-EFDA-959212877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1ABCE-0093-DC08-763A-57C736EFD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09245"/>
          </a:xfrm>
        </p:spPr>
        <p:txBody>
          <a:bodyPr>
            <a:normAutofit fontScale="90000"/>
          </a:bodyPr>
          <a:lstStyle/>
          <a:p>
            <a:r>
              <a:rPr lang="en-US" dirty="0"/>
              <a:t>Go to </a:t>
            </a:r>
            <a:r>
              <a:rPr lang="en-US" dirty="0" err="1"/>
              <a:t>PartionedTable</a:t>
            </a:r>
            <a:r>
              <a:rPr lang="en-US" dirty="0"/>
              <a:t> in Lakehouse to View Files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BC4B59-930C-800E-C73F-EB4DFD19A6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2775" y="1027748"/>
            <a:ext cx="8783470" cy="262985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959613-24A0-838D-2316-4B89A9B2F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55" y="3770567"/>
            <a:ext cx="5858507" cy="27531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39889E-D81D-966D-4431-ED0C582524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6365" y="3832195"/>
            <a:ext cx="5619750" cy="262985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3604486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0B95E-B540-4FCB-3829-3B3D1F2BC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5A88D-EC50-CA59-149A-8E90F9866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0695"/>
          </a:xfrm>
        </p:spPr>
        <p:txBody>
          <a:bodyPr>
            <a:normAutofit fontScale="90000"/>
          </a:bodyPr>
          <a:lstStyle/>
          <a:p>
            <a:r>
              <a:rPr lang="en-US" dirty="0"/>
              <a:t>Loading from the Relative path a partition of the table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B9CAD4-CE51-680E-9F87-3679758A37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60551" y="1268095"/>
            <a:ext cx="8002117" cy="193230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CAE409-30B7-F8F4-62F4-018CD732D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551" y="3622675"/>
            <a:ext cx="9391650" cy="262111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102227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04B58-E1E6-1CF6-6B82-FD541342E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470" y="3028950"/>
            <a:ext cx="10515600" cy="1325563"/>
          </a:xfrm>
        </p:spPr>
        <p:txBody>
          <a:bodyPr/>
          <a:lstStyle/>
          <a:p>
            <a:r>
              <a:rPr lang="en-US" dirty="0"/>
              <a:t>S12 Optimize Performance in Notebooks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80894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3163B-C19B-4C6A-0F43-40EDEAD7F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7855"/>
          </a:xfrm>
        </p:spPr>
        <p:txBody>
          <a:bodyPr>
            <a:normAutofit fontScale="90000"/>
          </a:bodyPr>
          <a:lstStyle/>
          <a:p>
            <a:r>
              <a:rPr lang="en-US" dirty="0"/>
              <a:t>88</a:t>
            </a:r>
            <a:r>
              <a:rPr lang="en-US" sz="2700" dirty="0"/>
              <a:t>. Identify and Resolve performance bottlenecks in Notebooks</a:t>
            </a:r>
            <a:endParaRPr lang="en-ZA" sz="27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08D538-887A-0A6F-3F3B-2838A9E551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2470" y="1156673"/>
            <a:ext cx="10515600" cy="202086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FAB08C-1A89-24ED-1077-1F0F31A7B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35" y="3882955"/>
            <a:ext cx="11241069" cy="272358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6236165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FF00E-5D06-E394-D47E-B4C3136D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High Concurrency session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5992C1-B458-711F-8F05-3BE0D796B4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7463" y="1079210"/>
            <a:ext cx="3210373" cy="214342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EDA83E-DFD9-75CE-8F31-0ACF7DD46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2341" y="954201"/>
            <a:ext cx="7973538" cy="291505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19CA8D-0C5E-2B1A-9707-CB35DB4AE5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9110" y="4142421"/>
            <a:ext cx="7320591" cy="257175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4007291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11A9-5835-C73F-25C7-2FA86BAC0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075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88. Performance improvements with V order. </a:t>
            </a:r>
            <a:endParaRPr lang="en-ZA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4846BC-D362-B8D9-8F2E-D5998EB2B3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2400" y="686435"/>
            <a:ext cx="5611008" cy="327914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6BADC6-5A0E-B641-C14B-9A3938A70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823774"/>
            <a:ext cx="5820587" cy="300446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5600283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2E876-1341-9D91-69D6-DE1DDA322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2125"/>
          </a:xfrm>
        </p:spPr>
        <p:txBody>
          <a:bodyPr>
            <a:normAutofit fontScale="90000"/>
          </a:bodyPr>
          <a:lstStyle/>
          <a:p>
            <a:r>
              <a:rPr lang="en-US" dirty="0"/>
              <a:t>Can set it per table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311AEF-CDFB-C610-D9D8-733A5A187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1510" y="1189410"/>
            <a:ext cx="6411220" cy="148610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4164903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2BF26-C7BC-407D-1A01-D0A04E835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32093-AA17-CB03-642C-B2E916921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We can optimize write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08D1A3-3456-4EF0-B047-0A8C2ACB49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188720"/>
            <a:ext cx="6287377" cy="147658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95D3BC-BB98-177A-49EB-52D4B5D5E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8" y="3316508"/>
            <a:ext cx="6477904" cy="139084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956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3710</Words>
  <Application>Microsoft Office PowerPoint</Application>
  <PresentationFormat>Widescreen</PresentationFormat>
  <Paragraphs>476</Paragraphs>
  <Slides>73</Slides>
  <Notes>64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7" baseType="lpstr">
      <vt:lpstr>Aptos</vt:lpstr>
      <vt:lpstr>Aptos Display</vt:lpstr>
      <vt:lpstr>Arial</vt:lpstr>
      <vt:lpstr>Office Theme</vt:lpstr>
      <vt:lpstr>PowerPoint Presentation</vt:lpstr>
      <vt:lpstr>60. Merging Data</vt:lpstr>
      <vt:lpstr>Now we load the 2 tables </vt:lpstr>
      <vt:lpstr>SQL Merge </vt:lpstr>
      <vt:lpstr>Merge By Using DataFlow Gen2.</vt:lpstr>
      <vt:lpstr>61. Identify and resolve duplicates </vt:lpstr>
      <vt:lpstr>In Spark , you use dropduplicates , ande can mention columns in a list , brackets </vt:lpstr>
      <vt:lpstr>Joining Data Using Inner Joins.</vt:lpstr>
      <vt:lpstr>We now join by country </vt:lpstr>
      <vt:lpstr>25. Other Joins</vt:lpstr>
      <vt:lpstr>In sql you also need to rename the cols and put in all the columns </vt:lpstr>
      <vt:lpstr>Using df gen 2 for joins </vt:lpstr>
      <vt:lpstr>26. Missing Data </vt:lpstr>
      <vt:lpstr>Full scope null replacement ..some with values others with zero. </vt:lpstr>
      <vt:lpstr>Dataflow Gen2</vt:lpstr>
      <vt:lpstr>66. Practoice Activity 8 – bridge table</vt:lpstr>
      <vt:lpstr>68. Practice activity Spark</vt:lpstr>
      <vt:lpstr>Result of a Join. </vt:lpstr>
      <vt:lpstr>Find duplicates</vt:lpstr>
      <vt:lpstr>PowerPoint Presentation</vt:lpstr>
      <vt:lpstr>SQL …Practiceactivity</vt:lpstr>
      <vt:lpstr>Change to full join</vt:lpstr>
      <vt:lpstr>Finding Missiong Data </vt:lpstr>
      <vt:lpstr>Finding Duplicates</vt:lpstr>
      <vt:lpstr>15. Schedule Notebooks; Run/schedule  In the RUN Menu</vt:lpstr>
      <vt:lpstr>Watch notebook..View All Runs </vt:lpstr>
      <vt:lpstr>View resources </vt:lpstr>
      <vt:lpstr>Item Snapshots – what it did during the run </vt:lpstr>
      <vt:lpstr>NB: Can Schedule from the wspace ..dont have to go into the Notebook</vt:lpstr>
      <vt:lpstr>31. Spark Structured Streaming.</vt:lpstr>
      <vt:lpstr>Spark structured streaming continued </vt:lpstr>
      <vt:lpstr>31. Testing the process</vt:lpstr>
      <vt:lpstr>74. Spark Job definition. </vt:lpstr>
      <vt:lpstr>Go back to wspace , new item , Spark Job def. </vt:lpstr>
      <vt:lpstr>See the table rowss</vt:lpstr>
      <vt:lpstr>Py file must have Spark definition defines </vt:lpstr>
      <vt:lpstr>PowerPoint Presentation</vt:lpstr>
      <vt:lpstr>75. Choose between Pipeline and Notebook. </vt:lpstr>
      <vt:lpstr>76.Parameters in Notebooks.</vt:lpstr>
      <vt:lpstr>We want parameter to be set outside notebook ..</vt:lpstr>
      <vt:lpstr>We now create a new pipeline in wspace  </vt:lpstr>
      <vt:lpstr>77. Dynamic Expressions in Notebooks.</vt:lpstr>
      <vt:lpstr>Save and run the pipeline </vt:lpstr>
      <vt:lpstr>There are other variables and menus in the expression builder </vt:lpstr>
      <vt:lpstr>Varibles and functions </vt:lpstr>
      <vt:lpstr>79. Practice activity 10.</vt:lpstr>
      <vt:lpstr>PowerPoint Presentation</vt:lpstr>
      <vt:lpstr>PowerPoint Presentation</vt:lpstr>
      <vt:lpstr>S11 CREATING OBJECTS</vt:lpstr>
      <vt:lpstr>80. Create and Manage Shortcuts </vt:lpstr>
      <vt:lpstr>81 Workspace Settings …</vt:lpstr>
      <vt:lpstr>82. Create Azure SQL Database as a Source</vt:lpstr>
      <vt:lpstr>SQL Database </vt:lpstr>
      <vt:lpstr>44. Imolement File Partitioning  - for analytics workload , using a pipelined.</vt:lpstr>
      <vt:lpstr>File Partioning .. Continmued </vt:lpstr>
      <vt:lpstr>Fill in all the source details , in the CopyData </vt:lpstr>
      <vt:lpstr>Validate and run </vt:lpstr>
      <vt:lpstr>Partitioning Continued..Open Up a Notebook </vt:lpstr>
      <vt:lpstr>Can go to the lowest level of aggregations at the state level … </vt:lpstr>
      <vt:lpstr>Reminder the destination advanced: settings </vt:lpstr>
      <vt:lpstr>44. Implementing Partitioning Using Spark..in a lakehouse </vt:lpstr>
      <vt:lpstr>Partition oin Lake house continues ..</vt:lpstr>
      <vt:lpstr>Press into color and see the next level , Subcat and  then into that and see the actual file </vt:lpstr>
      <vt:lpstr>85. Implemenmt Mirroring of External DBs </vt:lpstr>
      <vt:lpstr>87. Practice 12. Solution.</vt:lpstr>
      <vt:lpstr>Go to PartionedTable in Lakehouse to View Files </vt:lpstr>
      <vt:lpstr>Loading from the Relative path a partition of the table </vt:lpstr>
      <vt:lpstr>S12 Optimize Performance in Notebooks</vt:lpstr>
      <vt:lpstr>88. Identify and Resolve performance bottlenecks in Notebooks</vt:lpstr>
      <vt:lpstr>High Concurrency session </vt:lpstr>
      <vt:lpstr>88. Performance improvements with V order. </vt:lpstr>
      <vt:lpstr>Can set it per table </vt:lpstr>
      <vt:lpstr>We can optimize write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 Bortz</dc:creator>
  <cp:lastModifiedBy>Graham Bortz</cp:lastModifiedBy>
  <cp:revision>1</cp:revision>
  <dcterms:created xsi:type="dcterms:W3CDTF">2025-11-26T05:28:53Z</dcterms:created>
  <dcterms:modified xsi:type="dcterms:W3CDTF">2025-11-26T05:29:23Z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e93fc94-2a04-4870-acee-9c0cd4b7d590_Enabled">
    <vt:lpwstr>true</vt:lpwstr>
  </property>
  <property fmtid="{D5CDD505-2E9C-101B-9397-08002B2CF9AE}" pid="3" name="MSIP_Label_ce93fc94-2a04-4870-acee-9c0cd4b7d590_SetDate">
    <vt:lpwstr>2025-11-26T05:28:53Z</vt:lpwstr>
  </property>
  <property fmtid="{D5CDD505-2E9C-101B-9397-08002B2CF9AE}" pid="4" name="MSIP_Label_ce93fc94-2a04-4870-acee-9c0cd4b7d590_Method">
    <vt:lpwstr>Standard</vt:lpwstr>
  </property>
  <property fmtid="{D5CDD505-2E9C-101B-9397-08002B2CF9AE}" pid="5" name="MSIP_Label_ce93fc94-2a04-4870-acee-9c0cd4b7d590_Name">
    <vt:lpwstr>Internal</vt:lpwstr>
  </property>
  <property fmtid="{D5CDD505-2E9C-101B-9397-08002B2CF9AE}" pid="6" name="MSIP_Label_ce93fc94-2a04-4870-acee-9c0cd4b7d590_SiteId">
    <vt:lpwstr>cffa6640-7572-4f05-9c64-cd88068c19d4</vt:lpwstr>
  </property>
  <property fmtid="{D5CDD505-2E9C-101B-9397-08002B2CF9AE}" pid="7" name="MSIP_Label_ce93fc94-2a04-4870-acee-9c0cd4b7d590_ActionId">
    <vt:lpwstr>64ae4fa2-4ad4-4cdc-90df-b44ce5331504</vt:lpwstr>
  </property>
  <property fmtid="{D5CDD505-2E9C-101B-9397-08002B2CF9AE}" pid="8" name="MSIP_Label_ce93fc94-2a04-4870-acee-9c0cd4b7d590_ContentBits">
    <vt:lpwstr>0</vt:lpwstr>
  </property>
  <property fmtid="{D5CDD505-2E9C-101B-9397-08002B2CF9AE}" pid="9" name="MSIP_Label_ce93fc94-2a04-4870-acee-9c0cd4b7d590_Tag">
    <vt:lpwstr>10, 3, 0, 1</vt:lpwstr>
  </property>
</Properties>
</file>