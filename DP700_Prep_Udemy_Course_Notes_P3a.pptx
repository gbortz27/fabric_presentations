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452" r:id="rId2"/>
    <p:sldId id="453" r:id="rId3"/>
    <p:sldId id="454" r:id="rId4"/>
    <p:sldId id="455" r:id="rId5"/>
    <p:sldId id="456" r:id="rId6"/>
    <p:sldId id="457" r:id="rId7"/>
    <p:sldId id="459" r:id="rId8"/>
    <p:sldId id="472" r:id="rId9"/>
    <p:sldId id="460" r:id="rId10"/>
    <p:sldId id="458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5" r:id="rId35"/>
    <p:sldId id="502" r:id="rId36"/>
    <p:sldId id="503" r:id="rId37"/>
    <p:sldId id="504" r:id="rId38"/>
    <p:sldId id="506" r:id="rId39"/>
    <p:sldId id="507" r:id="rId40"/>
    <p:sldId id="508" r:id="rId41"/>
    <p:sldId id="509" r:id="rId42"/>
    <p:sldId id="510" r:id="rId43"/>
    <p:sldId id="511" r:id="rId44"/>
    <p:sldId id="512" r:id="rId45"/>
    <p:sldId id="513" r:id="rId46"/>
    <p:sldId id="514" r:id="rId47"/>
    <p:sldId id="515" r:id="rId48"/>
    <p:sldId id="516" r:id="rId49"/>
    <p:sldId id="517" r:id="rId50"/>
    <p:sldId id="518" r:id="rId51"/>
    <p:sldId id="519" r:id="rId52"/>
    <p:sldId id="520" r:id="rId53"/>
    <p:sldId id="521" r:id="rId54"/>
    <p:sldId id="52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55D0BE-DF2F-4DD5-B6C8-6BC87C14FD3A}">
          <p14:sldIdLst/>
        </p14:section>
        <p14:section name="File Deleted A Variable" id="{8A56858B-BC77-4215-951B-9534CA0065D9}">
          <p14:sldIdLst/>
        </p14:section>
        <p14:section name="New Pipeline Orchestration" id="{343B46BA-D2E5-4960-8140-13297E6BFBA5}">
          <p14:sldIdLst/>
        </p14:section>
        <p14:section name="DataFlowGen2" id="{600AD1FF-8316-40FA-92CF-38E8C06E82FB}">
          <p14:sldIdLst/>
        </p14:section>
        <p14:section name="Connection ADLS Gen2" id="{0AC9BA3D-80BC-4E79-AE7E-E0B69FDDAD01}">
          <p14:sldIdLst/>
        </p14:section>
        <p14:section name="Bactesting Pipeline" id="{CAFD1DDA-DA6C-411F-B8A0-DAA2275CF55A}">
          <p14:sldIdLst/>
        </p14:section>
        <p14:section name="Triggers" id="{8E2EBB1E-15FC-4E20-9C76-245F12CA0AED}">
          <p14:sldIdLst/>
        </p14:section>
        <p14:section name="S8. Spark Dev" id="{5FC7B8AA-4347-4E18-ACDA-9BC809E07A42}">
          <p14:sldIdLst>
            <p14:sldId id="452"/>
            <p14:sldId id="453"/>
            <p14:sldId id="454"/>
            <p14:sldId id="455"/>
            <p14:sldId id="456"/>
            <p14:sldId id="457"/>
            <p14:sldId id="459"/>
            <p14:sldId id="472"/>
            <p14:sldId id="460"/>
            <p14:sldId id="458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5"/>
            <p14:sldId id="502"/>
            <p14:sldId id="503"/>
            <p14:sldId id="504"/>
          </p14:sldIdLst>
        </p14:section>
        <p14:section name="Pipeline Orchestration" id="{5855B474-ADAD-40D4-A755-C45B5A6C3F14}">
          <p14:sldIdLst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</p14:sldIdLst>
        </p14:section>
        <p14:section name="Data Factory-  Fabric Ultimate Guide Course - Revision" id="{A65FF854-2C40-4BC5-BF79-20A06A7B4447}">
          <p14:sldIdLst/>
        </p14:section>
        <p14:section name="Data Factory-  Fabric Ultimate Guide Course - Revision" id="{9FF5407A-184D-4FC3-A3E1-C5F5F27D62BE}">
          <p14:sldIdLst/>
        </p14:section>
        <p14:section name="Data Factory-  Fabric Ultimate Guide Course - Revision" id="{8ED132F7-908D-4D21-B1C6-4FE3B8A83E06}">
          <p14:sldIdLst/>
        </p14:section>
        <p14:section name="Data Flow Gen 2" id="{9A0615DE-12F8-4F41-9A1E-E50088925C14}">
          <p14:sldIdLst/>
        </p14:section>
        <p14:section name="Important notes on data Factory" id="{987676E8-6D9A-4C4A-97E0-714F224F6EE8}">
          <p14:sldIdLst/>
        </p14:section>
        <p14:section name="Incremental_Refresh" id="{19D3C58D-00BA-412A-90FA-4E96A552A0F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2038" autoAdjust="0"/>
  </p:normalViewPr>
  <p:slideViewPr>
    <p:cSldViewPr snapToGrid="0">
      <p:cViewPr varScale="1">
        <p:scale>
          <a:sx n="71" d="100"/>
          <a:sy n="71" d="100"/>
        </p:scale>
        <p:origin x="3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10497-554C-4378-9C11-BE55D1208B54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6BF0D-08FC-4CF2-8F18-07FB086716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203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Optimize Write : Takes small partitions and makes them into bigger partitions </a:t>
            </a:r>
          </a:p>
          <a:p>
            <a:r>
              <a:rPr lang="en-US" dirty="0"/>
              <a:t>Optimize write combines files before writing to disk, optimize , is after writing to disk</a:t>
            </a:r>
          </a:p>
          <a:p>
            <a:r>
              <a:rPr lang="en-US" dirty="0"/>
              <a:t>You must use both.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2173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Vacuum..older</a:t>
            </a:r>
            <a:r>
              <a:rPr lang="en-US" dirty="0"/>
              <a:t> files that have been updated </a:t>
            </a:r>
            <a:r>
              <a:rPr lang="en-US" dirty="0" err="1"/>
              <a:t>ie</a:t>
            </a:r>
            <a:r>
              <a:rPr lang="en-US" dirty="0"/>
              <a:t> the old versions are still there , after the update command. For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aversioning</a:t>
            </a:r>
            <a:r>
              <a:rPr lang="en-US" dirty="0"/>
              <a:t> , but we want them to go after X number of days. Use Vacuum with a preset lifetime to remove those files.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107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immediate availability of data when it lands in source.</a:t>
            </a:r>
          </a:p>
          <a:p>
            <a:r>
              <a:rPr lang="en-US" dirty="0"/>
              <a:t>As files come in they are made available in destination.</a:t>
            </a:r>
          </a:p>
          <a:p>
            <a:r>
              <a:rPr lang="en-US" dirty="0"/>
              <a:t>We only want t process the first file once ..we don’t want to read both again.</a:t>
            </a:r>
          </a:p>
          <a:p>
            <a:r>
              <a:rPr lang="en-US" dirty="0" err="1"/>
              <a:t>Itempotency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We create streaming queries; </a:t>
            </a:r>
            <a:r>
              <a:rPr lang="en-US" dirty="0" err="1"/>
              <a:t>Spark,readStream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df</a:t>
            </a:r>
            <a:r>
              <a:rPr lang="en-US" dirty="0"/>
              <a:t> command above just defines the query ..we need to action it to run it.</a:t>
            </a:r>
          </a:p>
          <a:p>
            <a:r>
              <a:rPr lang="en-US" dirty="0"/>
              <a:t>He sees the table of 3 records and prepares more data ..her inserts more </a:t>
            </a:r>
            <a:r>
              <a:rPr lang="en-US" dirty="0" err="1"/>
              <a:t>recors</a:t>
            </a:r>
            <a:r>
              <a:rPr lang="en-US" dirty="0"/>
              <a:t> 4,5,6 to the table of 3 records </a:t>
            </a:r>
          </a:p>
          <a:p>
            <a:r>
              <a:rPr lang="en-US" dirty="0"/>
              <a:t>Note these are not managed </a:t>
            </a:r>
            <a:r>
              <a:rPr lang="en-US" dirty="0" err="1"/>
              <a:t>tables..see</a:t>
            </a:r>
            <a:r>
              <a:rPr lang="en-US" dirty="0"/>
              <a:t> path</a:t>
            </a:r>
          </a:p>
          <a:p>
            <a:r>
              <a:rPr lang="en-US" dirty="0"/>
              <a:t>How does it manage to put the second file after the first ..</a:t>
            </a:r>
            <a:r>
              <a:rPr lang="en-US" dirty="0" err="1"/>
              <a:t>checlpoint</a:t>
            </a:r>
            <a:r>
              <a:rPr lang="en-US" dirty="0"/>
              <a:t> location. </a:t>
            </a:r>
          </a:p>
          <a:p>
            <a:r>
              <a:rPr lang="en-US" dirty="0"/>
              <a:t>Saves the state of Table </a:t>
            </a:r>
            <a:r>
              <a:rPr lang="en-US" dirty="0" err="1"/>
              <a:t>ina</a:t>
            </a:r>
            <a:r>
              <a:rPr lang="en-US" dirty="0"/>
              <a:t>  checkpoint.</a:t>
            </a:r>
          </a:p>
          <a:p>
            <a:r>
              <a:rPr lang="en-US" dirty="0"/>
              <a:t>Only copies the latest file .</a:t>
            </a:r>
          </a:p>
          <a:p>
            <a:r>
              <a:rPr lang="en-US" dirty="0"/>
              <a:t>See code overleaf for streaming.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628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..see the </a:t>
            </a:r>
            <a:r>
              <a:rPr lang="en-US" dirty="0" err="1"/>
              <a:t>streaning</a:t>
            </a:r>
            <a:r>
              <a:rPr lang="en-US" dirty="0"/>
              <a:t> data folder in </a:t>
            </a:r>
            <a:r>
              <a:rPr lang="en-US" dirty="0" err="1"/>
              <a:t>lakehouse</a:t>
            </a:r>
            <a:r>
              <a:rPr lang="en-US" dirty="0"/>
              <a:t> above and the file , automatically.</a:t>
            </a:r>
          </a:p>
          <a:p>
            <a:r>
              <a:rPr lang="en-US" dirty="0" err="1"/>
              <a:t>sEe</a:t>
            </a:r>
            <a:r>
              <a:rPr lang="en-US" dirty="0"/>
              <a:t> the folders for checkpoint location, on bottom right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2058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initial select you se the initial 3 records , now insert the data , then perform </a:t>
            </a:r>
            <a:r>
              <a:rPr lang="en-US" dirty="0" err="1"/>
              <a:t>streaming..when</a:t>
            </a:r>
            <a:r>
              <a:rPr lang="en-US" dirty="0"/>
              <a:t> you select it only does the updates , not all the records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620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Environment. We have configs at w space level.</a:t>
            </a:r>
          </a:p>
          <a:p>
            <a:r>
              <a:rPr lang="en-US" dirty="0"/>
              <a:t>Are all the notebooks using the same env </a:t>
            </a:r>
            <a:r>
              <a:rPr lang="en-US" dirty="0" err="1"/>
              <a:t>ie</a:t>
            </a:r>
            <a:r>
              <a:rPr lang="en-US" dirty="0"/>
              <a:t> Compute and runtime??</a:t>
            </a:r>
          </a:p>
          <a:p>
            <a:r>
              <a:rPr lang="en-US" dirty="0"/>
              <a:t>Using the default env.</a:t>
            </a:r>
          </a:p>
          <a:p>
            <a:r>
              <a:rPr lang="en-US" dirty="0"/>
              <a:t>But lets say 1 user wants a custom pool…he has bigger notebooks/and specific runtime.</a:t>
            </a:r>
          </a:p>
          <a:p>
            <a:r>
              <a:rPr lang="en-US" dirty="0"/>
              <a:t>I cant change </a:t>
            </a:r>
            <a:r>
              <a:rPr lang="en-US" dirty="0" err="1"/>
              <a:t>thre</a:t>
            </a:r>
            <a:r>
              <a:rPr lang="en-US" dirty="0"/>
              <a:t> notebook default settings for my other 19 notebooks.</a:t>
            </a:r>
          </a:p>
          <a:p>
            <a:r>
              <a:rPr lang="en-US" dirty="0"/>
              <a:t>We create a virtual env. (Spark </a:t>
            </a:r>
            <a:r>
              <a:rPr lang="en-US" dirty="0" err="1"/>
              <a:t>Runtoimer</a:t>
            </a:r>
            <a:r>
              <a:rPr lang="en-US" dirty="0"/>
              <a:t> , Delta version and compute with Libraries./</a:t>
            </a:r>
          </a:p>
          <a:p>
            <a:r>
              <a:rPr lang="en-US" dirty="0"/>
              <a:t>Therefore we create an environment with all the compute ..</a:t>
            </a:r>
            <a:r>
              <a:rPr lang="en-US" dirty="0" err="1"/>
              <a:t>etc</a:t>
            </a:r>
            <a:r>
              <a:rPr lang="en-US" dirty="0"/>
              <a:t>   we don’t have to worry about the default settings , they wont be applied to notebooks using the special env.</a:t>
            </a:r>
          </a:p>
          <a:p>
            <a:r>
              <a:rPr lang="en-US" dirty="0"/>
              <a:t>Can create many env in same </a:t>
            </a:r>
            <a:r>
              <a:rPr lang="en-US" dirty="0" err="1"/>
              <a:t>wspace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4129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Se, you ca click on edit to change it e starter Pool , you can only change the Scaling bars , you can </a:t>
            </a:r>
            <a:r>
              <a:rPr lang="en-US" dirty="0" err="1"/>
              <a:t>oncrease</a:t>
            </a:r>
            <a:r>
              <a:rPr lang="en-US" dirty="0"/>
              <a:t> from 10 to 16 . </a:t>
            </a:r>
          </a:p>
          <a:p>
            <a:r>
              <a:rPr lang="en-US" dirty="0"/>
              <a:t>To create a custom pool go top </a:t>
            </a:r>
            <a:r>
              <a:rPr lang="en-US" dirty="0" err="1"/>
              <a:t>statrter</a:t>
            </a:r>
            <a:r>
              <a:rPr lang="en-US" dirty="0"/>
              <a:t> Pool drop down / New Pool/ rename it../ Change node size./</a:t>
            </a:r>
          </a:p>
          <a:p>
            <a:r>
              <a:rPr lang="en-US" dirty="0"/>
              <a:t>Can increase min number of machines / </a:t>
            </a:r>
            <a:r>
              <a:rPr lang="en-US" dirty="0" err="1"/>
              <a:t>Creat</a:t>
            </a:r>
            <a:r>
              <a:rPr lang="en-US" dirty="0"/>
              <a:t> and Save </a:t>
            </a:r>
          </a:p>
          <a:p>
            <a:r>
              <a:rPr lang="en-US" dirty="0"/>
              <a:t>It </a:t>
            </a:r>
            <a:r>
              <a:rPr lang="en-US" dirty="0" err="1"/>
              <a:t>wil</a:t>
            </a:r>
            <a:r>
              <a:rPr lang="en-US" dirty="0"/>
              <a:t> take 2 to 3 mins to turn this on as its not starter pool anymore.</a:t>
            </a:r>
          </a:p>
          <a:p>
            <a:r>
              <a:rPr lang="en-US" dirty="0"/>
              <a:t>This is just starter </a:t>
            </a:r>
            <a:r>
              <a:rPr lang="en-US" dirty="0" err="1"/>
              <a:t>pooll</a:t>
            </a:r>
            <a:r>
              <a:rPr lang="en-US" dirty="0"/>
              <a:t>/ custom </a:t>
            </a:r>
            <a:r>
              <a:rPr lang="en-US" dirty="0" err="1"/>
              <a:t>pool..not</a:t>
            </a:r>
            <a:r>
              <a:rPr lang="en-US" dirty="0"/>
              <a:t> env. </a:t>
            </a:r>
          </a:p>
          <a:p>
            <a:r>
              <a:rPr lang="en-US" dirty="0"/>
              <a:t>You should not create Custom Pools Here ..not good practice.</a:t>
            </a:r>
          </a:p>
          <a:p>
            <a:r>
              <a:rPr lang="en-US" dirty="0" err="1"/>
              <a:t>Alwasys</a:t>
            </a:r>
            <a:r>
              <a:rPr lang="en-US" dirty="0"/>
              <a:t> keep this as starter pools. </a:t>
            </a:r>
            <a:r>
              <a:rPr lang="en-US" dirty="0" err="1"/>
              <a:t>Youy</a:t>
            </a:r>
            <a:r>
              <a:rPr lang="en-US" dirty="0"/>
              <a:t> don’t know how big requirements are </a:t>
            </a:r>
          </a:p>
          <a:p>
            <a:r>
              <a:rPr lang="en-US" dirty="0"/>
              <a:t>Go back to env we created.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8566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go to environments , we are using latest one </a:t>
            </a:r>
          </a:p>
          <a:p>
            <a:r>
              <a:rPr lang="en-US" dirty="0"/>
              <a:t>Now we go back to the environment we created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8091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need to have the secrets.py file ..he has on his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Create a New Item in </a:t>
            </a:r>
            <a:r>
              <a:rPr lang="en-US" dirty="0" err="1"/>
              <a:t>Wspace</a:t>
            </a:r>
            <a:r>
              <a:rPr lang="en-US" dirty="0"/>
              <a:t> called Environment .. See result above </a:t>
            </a:r>
          </a:p>
          <a:p>
            <a:r>
              <a:rPr lang="en-US" dirty="0"/>
              <a:t>You have these libraries loaded by default.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0995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library if you want from public , </a:t>
            </a:r>
            <a:r>
              <a:rPr lang="en-US" dirty="0" err="1"/>
              <a:t>sabve</a:t>
            </a:r>
            <a:r>
              <a:rPr lang="en-US" dirty="0"/>
              <a:t> and publish, you an also add a custom library</a:t>
            </a:r>
          </a:p>
          <a:p>
            <a:r>
              <a:rPr lang="en-US" dirty="0"/>
              <a:t>Resources , can upload any python file or csv etc.</a:t>
            </a:r>
          </a:p>
          <a:p>
            <a:r>
              <a:rPr lang="en-US" dirty="0"/>
              <a:t>He uploaded secrets file into resources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1006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has an </a:t>
            </a:r>
            <a:r>
              <a:rPr lang="en-US" dirty="0" err="1"/>
              <a:t>ansh</a:t>
            </a:r>
            <a:r>
              <a:rPr lang="en-US" dirty="0"/>
              <a:t> pool from before and now he picks his requirements.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7675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asked for a small pool from the </a:t>
            </a:r>
            <a:r>
              <a:rPr lang="en-US" dirty="0" err="1"/>
              <a:t>Worksoacew</a:t>
            </a:r>
            <a:r>
              <a:rPr lang="en-US" dirty="0"/>
              <a:t> env settings , when we created the Custom Pool.. Cant change that.</a:t>
            </a:r>
          </a:p>
          <a:p>
            <a:r>
              <a:rPr lang="en-US" dirty="0"/>
              <a:t>We attach that pool we created as the </a:t>
            </a:r>
            <a:r>
              <a:rPr lang="en-US" dirty="0" err="1"/>
              <a:t>deafuklt</a:t>
            </a:r>
            <a:r>
              <a:rPr lang="en-US" dirty="0"/>
              <a:t> pool for this environment. </a:t>
            </a:r>
          </a:p>
          <a:p>
            <a:r>
              <a:rPr lang="en-US" dirty="0"/>
              <a:t>We also have something called acceleration. ..see native execution engine . C++ based executors.</a:t>
            </a:r>
          </a:p>
          <a:p>
            <a:r>
              <a:rPr lang="en-US" dirty="0"/>
              <a:t>Then Save and PUBLISH.</a:t>
            </a:r>
          </a:p>
          <a:p>
            <a:r>
              <a:rPr lang="en-US" dirty="0"/>
              <a:t>NOW ..overleaf.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5692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environment in new notebook</a:t>
            </a:r>
          </a:p>
          <a:p>
            <a:r>
              <a:rPr lang="en-US" dirty="0"/>
              <a:t>You now have 2 options to choose from ..</a:t>
            </a:r>
            <a:r>
              <a:rPr lang="en-US" dirty="0" err="1"/>
              <a:t>deafualt</a:t>
            </a:r>
            <a:r>
              <a:rPr lang="en-US" dirty="0"/>
              <a:t> and your own..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2660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instance you can go pick a new option ..1.2 Spark3.4 if you want to!.</a:t>
            </a:r>
          </a:p>
          <a:p>
            <a:r>
              <a:rPr lang="en-US" dirty="0"/>
              <a:t>And Save it.</a:t>
            </a:r>
          </a:p>
          <a:p>
            <a:r>
              <a:rPr lang="en-US" dirty="0"/>
              <a:t>Go back to </a:t>
            </a:r>
            <a:r>
              <a:rPr lang="en-US" dirty="0" err="1"/>
              <a:t>notebook..a</a:t>
            </a:r>
            <a:r>
              <a:rPr lang="en-US" dirty="0"/>
              <a:t> specific One and change it to new environment.</a:t>
            </a:r>
          </a:p>
          <a:p>
            <a:r>
              <a:rPr lang="en-US" dirty="0"/>
              <a:t>Now you go and initiate the notebook in a new standard session; WE MUST DO THIS TO INITIATE THE NEW ENV.</a:t>
            </a:r>
          </a:p>
          <a:p>
            <a:r>
              <a:rPr lang="en-US" dirty="0"/>
              <a:t>This will now take 3 to 4 minutes.</a:t>
            </a:r>
          </a:p>
          <a:p>
            <a:r>
              <a:rPr lang="en-US" dirty="0"/>
              <a:t>On the left you </a:t>
            </a:r>
            <a:r>
              <a:rPr lang="en-US" dirty="0" err="1"/>
              <a:t>wil</a:t>
            </a:r>
            <a:r>
              <a:rPr lang="en-US" dirty="0"/>
              <a:t> se built in and my env ..in the Resources tab , you </a:t>
            </a:r>
            <a:r>
              <a:rPr lang="en-US" dirty="0" err="1"/>
              <a:t>wil</a:t>
            </a:r>
            <a:r>
              <a:rPr lang="en-US" dirty="0"/>
              <a:t> be able to bring them </a:t>
            </a:r>
            <a:r>
              <a:rPr lang="en-US" dirty="0" err="1"/>
              <a:t>intoi</a:t>
            </a:r>
            <a:r>
              <a:rPr lang="en-US" dirty="0"/>
              <a:t> the notebook. Note his </a:t>
            </a:r>
            <a:r>
              <a:rPr lang="en-US" dirty="0" err="1"/>
              <a:t>py</a:t>
            </a:r>
            <a:r>
              <a:rPr lang="en-US" dirty="0"/>
              <a:t> file when he clicks on the drop down. </a:t>
            </a:r>
          </a:p>
          <a:p>
            <a:r>
              <a:rPr lang="en-US" dirty="0"/>
              <a:t>Instead of reloading resources all the time for the notebook.. Load the resources into that environment and bring up that environment,</a:t>
            </a:r>
          </a:p>
          <a:p>
            <a:r>
              <a:rPr lang="en-US" dirty="0"/>
              <a:t>If you want to use the secret , just drag it across.. See the prefix used ..”.env </a:t>
            </a:r>
            <a:r>
              <a:rPr lang="en-US" dirty="0" err="1"/>
              <a:t>infront</a:t>
            </a:r>
            <a:r>
              <a:rPr lang="en-US" dirty="0"/>
              <a:t> of the file name, when you </a:t>
            </a:r>
            <a:r>
              <a:rPr lang="en-US" dirty="0" err="1"/>
              <a:t>drage</a:t>
            </a:r>
            <a:r>
              <a:rPr lang="en-US" dirty="0"/>
              <a:t> it into a python cell.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3337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want to monitor notebook, go to notebook and view details ,</a:t>
            </a:r>
          </a:p>
          <a:p>
            <a:r>
              <a:rPr lang="en-US" dirty="0"/>
              <a:t>Click on recent runs, and you will see all the recent runs of the notebooks – high level overview.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7659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environments, the source </a:t>
            </a:r>
            <a:r>
              <a:rPr lang="en-US" dirty="0" err="1"/>
              <a:t>lakehouse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in the bottom left. You can open the notebook, you also have refresh, share , Lineage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8748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notebook in </a:t>
            </a:r>
            <a:r>
              <a:rPr lang="en-US" dirty="0" err="1"/>
              <a:t>wspace</a:t>
            </a:r>
            <a:r>
              <a:rPr lang="en-US" dirty="0"/>
              <a:t> and open it. Connect to </a:t>
            </a:r>
            <a:r>
              <a:rPr lang="en-US" dirty="0" err="1"/>
              <a:t>standadard</a:t>
            </a:r>
            <a:r>
              <a:rPr lang="en-US" dirty="0"/>
              <a:t> session. You have to stop if you are working in another session </a:t>
            </a:r>
          </a:p>
          <a:p>
            <a:r>
              <a:rPr lang="en-US" dirty="0"/>
              <a:t>So you run a particular cell. And you want to monitor it.. Click on the 3 dots on bottom right of cell. See image above / Spark Web UI.</a:t>
            </a:r>
          </a:p>
          <a:p>
            <a:r>
              <a:rPr lang="en-US" dirty="0"/>
              <a:t>OR ..click on the drop down next to spark Jobs .. The arrow.. See image above. You will see all the jobs submitted so far .</a:t>
            </a:r>
          </a:p>
          <a:p>
            <a:r>
              <a:rPr lang="en-US" dirty="0"/>
              <a:t>Click on the job and it will take u to Spark UI , as before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9248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drop down next to notebook/view details </a:t>
            </a:r>
          </a:p>
          <a:p>
            <a:r>
              <a:rPr lang="en-US" dirty="0"/>
              <a:t>Go to monitor Tab on LHS .. And you will see all the </a:t>
            </a:r>
            <a:r>
              <a:rPr lang="en-US" dirty="0" err="1"/>
              <a:t>rund</a:t>
            </a:r>
            <a:r>
              <a:rPr lang="en-US" dirty="0"/>
              <a:t> of that notebook.  You see everything </a:t>
            </a:r>
          </a:p>
          <a:p>
            <a:r>
              <a:rPr lang="en-US" dirty="0"/>
              <a:t>But you have the filter </a:t>
            </a:r>
            <a:r>
              <a:rPr lang="en-US" dirty="0" err="1"/>
              <a:t>tab,to</a:t>
            </a:r>
            <a:r>
              <a:rPr lang="en-US" dirty="0"/>
              <a:t> filter on what you want to see.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8015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NB is running click on View Details , result is on RHS ..see status submitted duration.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1985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have monitoring for that cell of that notebook</a:t>
            </a:r>
          </a:p>
          <a:p>
            <a:r>
              <a:rPr lang="en-US" dirty="0"/>
              <a:t>But best to go through monitor hub.</a:t>
            </a:r>
          </a:p>
          <a:p>
            <a:r>
              <a:rPr lang="en-US" dirty="0"/>
              <a:t>You can also just go to Spark UI in Monitor Hub. See above and then Overleaf.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3721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see the DAG of your query.</a:t>
            </a:r>
          </a:p>
          <a:p>
            <a:r>
              <a:rPr lang="en-US" dirty="0"/>
              <a:t>You can click on the job of the cell.  See arrow above SQL </a:t>
            </a:r>
            <a:r>
              <a:rPr lang="en-US" dirty="0" err="1"/>
              <a:t>dataframe</a:t>
            </a:r>
            <a:r>
              <a:rPr lang="en-US" dirty="0"/>
              <a:t> (on RHS)  ..click on it.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9424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Monitor Run Series , see the resulting graph.</a:t>
            </a:r>
          </a:p>
          <a:p>
            <a:r>
              <a:rPr lang="en-US" dirty="0"/>
              <a:t>Remember you can click on the spark UI , below the cell at the ellipses on bottom right to get to the same place!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2576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3 dots to the right of notebook, schedule notebook</a:t>
            </a:r>
          </a:p>
          <a:p>
            <a:r>
              <a:rPr lang="en-US" dirty="0"/>
              <a:t>Same as data pipelines, we can schedule it  </a:t>
            </a:r>
          </a:p>
          <a:p>
            <a:r>
              <a:rPr lang="en-US" dirty="0"/>
              <a:t>But he stated he only wanted pipeline </a:t>
            </a:r>
            <a:r>
              <a:rPr lang="en-US" dirty="0" err="1"/>
              <a:t>orchgestartions</a:t>
            </a:r>
            <a:r>
              <a:rPr lang="en-US" dirty="0"/>
              <a:t> not separate entities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2536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data pipeline , now he has a </a:t>
            </a:r>
            <a:r>
              <a:rPr lang="en-US" dirty="0" err="1"/>
              <a:t>datftransformation</a:t>
            </a:r>
            <a:r>
              <a:rPr lang="en-US" dirty="0"/>
              <a:t> flow , he wants to run the pipeline and notebook.</a:t>
            </a:r>
          </a:p>
          <a:p>
            <a:r>
              <a:rPr lang="en-US" dirty="0"/>
              <a:t>Better to do it like this ,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36576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Spark Job, click and name it .. See result above </a:t>
            </a:r>
          </a:p>
          <a:p>
            <a:r>
              <a:rPr lang="en-US" dirty="0"/>
              <a:t>Upload a local python file ..if job written there. Or ADLS GEN 2  or a notebook </a:t>
            </a:r>
          </a:p>
          <a:p>
            <a:r>
              <a:rPr lang="en-US" dirty="0"/>
              <a:t>Or you can </a:t>
            </a:r>
            <a:r>
              <a:rPr lang="en-US" dirty="0" err="1"/>
              <a:t>upoload</a:t>
            </a:r>
            <a:r>
              <a:rPr lang="en-US" dirty="0"/>
              <a:t> a local file ..</a:t>
            </a:r>
            <a:r>
              <a:rPr lang="en-US" dirty="0" err="1"/>
              <a:t>i</a:t>
            </a:r>
            <a:r>
              <a:rPr lang="en-US" dirty="0"/>
              <a:t> presume in to the </a:t>
            </a:r>
            <a:r>
              <a:rPr lang="en-US" dirty="0" err="1"/>
              <a:t>lakehouse</a:t>
            </a:r>
            <a:r>
              <a:rPr lang="en-US" dirty="0"/>
              <a:t> , which you must specify </a:t>
            </a:r>
          </a:p>
          <a:p>
            <a:r>
              <a:rPr lang="en-US" dirty="0"/>
              <a:t>Reference file is the import of a library or a file that you call from the main file. </a:t>
            </a:r>
          </a:p>
          <a:p>
            <a:r>
              <a:rPr lang="en-US" dirty="0"/>
              <a:t>Must provide a </a:t>
            </a:r>
            <a:r>
              <a:rPr lang="en-US" dirty="0" err="1"/>
              <a:t>lakehouse</a:t>
            </a:r>
            <a:r>
              <a:rPr lang="en-US" dirty="0"/>
              <a:t> if using a relative </a:t>
            </a:r>
            <a:r>
              <a:rPr lang="en-US" dirty="0" err="1"/>
              <a:t>url</a:t>
            </a:r>
            <a:r>
              <a:rPr lang="en-US" dirty="0"/>
              <a:t>. ..if you have a main path , just pick any </a:t>
            </a:r>
            <a:r>
              <a:rPr lang="en-US" dirty="0" err="1"/>
              <a:t>lakrehouse</a:t>
            </a:r>
            <a:r>
              <a:rPr lang="en-US" dirty="0"/>
              <a:t> </a:t>
            </a:r>
          </a:p>
          <a:p>
            <a:r>
              <a:rPr lang="en-US" dirty="0"/>
              <a:t>Now save and run it.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6695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3 dots and schedule.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0923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job in the settings , he prefers </a:t>
            </a:r>
            <a:r>
              <a:rPr lang="en-US" dirty="0" err="1"/>
              <a:t>nmotebooks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71339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wspace</a:t>
            </a:r>
            <a:r>
              <a:rPr lang="en-US" dirty="0"/>
              <a:t> and press import as shown above to import notebook.</a:t>
            </a:r>
          </a:p>
          <a:p>
            <a:r>
              <a:rPr lang="en-US" dirty="0"/>
              <a:t>Can use </a:t>
            </a:r>
            <a:r>
              <a:rPr lang="en-US" dirty="0" err="1"/>
              <a:t>Github</a:t>
            </a:r>
            <a:r>
              <a:rPr lang="en-US" dirty="0"/>
              <a:t> to do this.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93107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Controlling the Life Cycle of the application</a:t>
            </a:r>
          </a:p>
          <a:p>
            <a:pPr marL="228600" indent="-228600">
              <a:buAutoNum type="arabicParenR"/>
            </a:pPr>
            <a:r>
              <a:rPr lang="en-US" dirty="0"/>
              <a:t>For changing it continuously </a:t>
            </a:r>
          </a:p>
          <a:p>
            <a:pPr marL="228600" indent="-228600">
              <a:buAutoNum type="arabicParenR"/>
            </a:pPr>
            <a:r>
              <a:rPr lang="en-US" dirty="0"/>
              <a:t>How do we perform CICD in Fabric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58939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CI , more important than Deployment , Fabric takes care of deployment…/ </a:t>
            </a:r>
            <a:r>
              <a:rPr lang="en-US" dirty="0" err="1"/>
              <a:t>wew</a:t>
            </a:r>
            <a:r>
              <a:rPr lang="en-US" dirty="0"/>
              <a:t> have a DEV </a:t>
            </a:r>
            <a:r>
              <a:rPr lang="en-US" dirty="0" err="1"/>
              <a:t>wspace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We add to this w/space the </a:t>
            </a:r>
            <a:r>
              <a:rPr lang="en-US" dirty="0" err="1"/>
              <a:t>vesion</a:t>
            </a:r>
            <a:r>
              <a:rPr lang="en-US" dirty="0"/>
              <a:t> control. Azure </a:t>
            </a:r>
            <a:r>
              <a:rPr lang="en-US" dirty="0" err="1"/>
              <a:t>Devops</a:t>
            </a:r>
            <a:r>
              <a:rPr lang="en-US" dirty="0"/>
              <a:t> is the recommended one  / or GIT is open source</a:t>
            </a:r>
          </a:p>
          <a:p>
            <a:pPr marL="228600" indent="-228600">
              <a:buAutoNum type="arabicParenR"/>
            </a:pPr>
            <a:r>
              <a:rPr lang="en-US" dirty="0"/>
              <a:t>When we co0nnect to </a:t>
            </a:r>
            <a:r>
              <a:rPr lang="en-US" dirty="0" err="1"/>
              <a:t>Devops</a:t>
            </a:r>
            <a:r>
              <a:rPr lang="en-US" dirty="0"/>
              <a:t> ..we get a main branch, now associated with </a:t>
            </a:r>
            <a:r>
              <a:rPr lang="en-US" dirty="0" err="1"/>
              <a:t>wspace</a:t>
            </a:r>
            <a:r>
              <a:rPr lang="en-US" dirty="0"/>
              <a:t> ..This is the master branch/main branch /collaboration branch.</a:t>
            </a:r>
          </a:p>
          <a:p>
            <a:pPr marL="228600" indent="-228600">
              <a:buAutoNum type="arabicParenR"/>
            </a:pPr>
            <a:r>
              <a:rPr lang="en-US" dirty="0"/>
              <a:t>If I want to make changes I must open a feature branch </a:t>
            </a:r>
            <a:r>
              <a:rPr lang="en-US" dirty="0" err="1"/>
              <a:t>ie</a:t>
            </a:r>
            <a:r>
              <a:rPr lang="en-US" dirty="0"/>
              <a:t> feature 1, it’s a dev you want to do.</a:t>
            </a:r>
          </a:p>
          <a:p>
            <a:pPr marL="228600" indent="-228600">
              <a:buAutoNum type="arabicParenR"/>
            </a:pPr>
            <a:r>
              <a:rPr lang="en-US" dirty="0"/>
              <a:t>You will create a copy of this </a:t>
            </a:r>
            <a:r>
              <a:rPr lang="en-US" dirty="0" err="1"/>
              <a:t>wspace</a:t>
            </a:r>
            <a:r>
              <a:rPr lang="en-US" dirty="0"/>
              <a:t> , and in the feature branch you will work on your </a:t>
            </a:r>
            <a:r>
              <a:rPr lang="en-US" dirty="0" err="1"/>
              <a:t>wspace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You worked on notebook and committed it (saved changes)</a:t>
            </a:r>
          </a:p>
          <a:p>
            <a:pPr marL="228600" indent="-228600">
              <a:buAutoNum type="arabicParenR"/>
            </a:pPr>
            <a:r>
              <a:rPr lang="en-US" dirty="0"/>
              <a:t>You created a pipeline and committed that one.</a:t>
            </a:r>
          </a:p>
          <a:p>
            <a:pPr marL="228600" indent="-228600">
              <a:buAutoNum type="arabicParenR"/>
            </a:pPr>
            <a:r>
              <a:rPr lang="en-US" dirty="0"/>
              <a:t>After all the changes you want to merge branch into main branch.</a:t>
            </a:r>
          </a:p>
          <a:p>
            <a:pPr marL="228600" indent="-228600">
              <a:buAutoNum type="arabicParenR"/>
            </a:pPr>
            <a:r>
              <a:rPr lang="en-US" dirty="0"/>
              <a:t>So now you merge into your </a:t>
            </a:r>
            <a:r>
              <a:rPr lang="en-US" dirty="0" err="1"/>
              <a:t>Degv</a:t>
            </a:r>
            <a:r>
              <a:rPr lang="en-US" dirty="0"/>
              <a:t> w/space main branch.. Create a pull request , all these changes </a:t>
            </a:r>
            <a:r>
              <a:rPr lang="en-US" dirty="0" err="1"/>
              <a:t>arer</a:t>
            </a:r>
            <a:r>
              <a:rPr lang="en-US" dirty="0"/>
              <a:t> available in the main branch..\developer repo</a:t>
            </a:r>
          </a:p>
          <a:p>
            <a:pPr marL="228600" indent="-228600">
              <a:buAutoNum type="arabicParenR"/>
            </a:pPr>
            <a:r>
              <a:rPr lang="en-US" dirty="0"/>
              <a:t>Next Developer (2) , creates a new branch , for another feature (2)..copy of </a:t>
            </a:r>
            <a:r>
              <a:rPr lang="en-US" dirty="0" err="1"/>
              <a:t>wspace</a:t>
            </a:r>
            <a:r>
              <a:rPr lang="en-US" dirty="0"/>
              <a:t> , that will have feature 1 in it as well.</a:t>
            </a:r>
          </a:p>
          <a:p>
            <a:pPr marL="228600" indent="-228600">
              <a:buAutoNum type="arabicParenR"/>
            </a:pPr>
            <a:r>
              <a:rPr lang="en-US" dirty="0"/>
              <a:t>The dev2 wants to merge changes to main branch ..create a pull request , see above.</a:t>
            </a:r>
          </a:p>
          <a:p>
            <a:pPr marL="228600" indent="-228600">
              <a:buAutoNum type="arabicParenR"/>
            </a:pPr>
            <a:r>
              <a:rPr lang="en-US" dirty="0"/>
              <a:t>To make the changes visible you need to update button. Only then are changes made to the Live </a:t>
            </a:r>
            <a:r>
              <a:rPr lang="en-US" dirty="0" err="1"/>
              <a:t>Worksopace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Must have strong conceptual knowledge before building it.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24455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My Dev Ops Organizations </a:t>
            </a:r>
          </a:p>
          <a:p>
            <a:r>
              <a:rPr lang="en-US" dirty="0"/>
              <a:t>We are asked to create an account based on Microsoft account. We want the account which is the </a:t>
            </a:r>
            <a:r>
              <a:rPr lang="en-US" dirty="0" err="1"/>
              <a:t>accopunt</a:t>
            </a:r>
            <a:r>
              <a:rPr lang="en-US" dirty="0"/>
              <a:t> use </a:t>
            </a:r>
            <a:r>
              <a:rPr lang="en-US" dirty="0" err="1"/>
              <a:t>toi</a:t>
            </a:r>
            <a:r>
              <a:rPr lang="en-US" dirty="0"/>
              <a:t> create azure services.</a:t>
            </a:r>
          </a:p>
          <a:p>
            <a:r>
              <a:rPr lang="en-US" dirty="0"/>
              <a:t>Click on default directory..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76145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err="1"/>
              <a:t>thye</a:t>
            </a:r>
            <a:r>
              <a:rPr lang="en-US" dirty="0"/>
              <a:t> page to go to. This project has been creates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37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GIT and Basic at the bottom , then create project </a:t>
            </a:r>
          </a:p>
          <a:p>
            <a:r>
              <a:rPr lang="en-US" dirty="0"/>
              <a:t>Maybe you don’t see all the options on the left as shown here on the left.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38138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Boards for project managers </a:t>
            </a:r>
          </a:p>
          <a:p>
            <a:pPr marL="228600" indent="-228600">
              <a:buAutoNum type="arabicParenR"/>
            </a:pPr>
            <a:r>
              <a:rPr lang="en-US" dirty="0"/>
              <a:t>Repos are NB for is. </a:t>
            </a:r>
          </a:p>
          <a:p>
            <a:pPr marL="228600" indent="-228600">
              <a:buAutoNum type="arabicParenR"/>
            </a:pPr>
            <a:r>
              <a:rPr lang="en-US" dirty="0"/>
              <a:t>Pipelines , for Deployment for other Azure services. .. Not Fabric , we have a better option in Fabric.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67620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have a Repo already built </a:t>
            </a:r>
          </a:p>
          <a:p>
            <a:pPr marL="228600" indent="-228600">
              <a:buAutoNum type="arabicParenR"/>
            </a:pPr>
            <a:r>
              <a:rPr lang="en-US" dirty="0"/>
              <a:t>But we </a:t>
            </a:r>
            <a:r>
              <a:rPr lang="en-US" dirty="0" err="1"/>
              <a:t>createa</a:t>
            </a:r>
            <a:r>
              <a:rPr lang="en-US" dirty="0"/>
              <a:t> a new one , creates a repo that is empty </a:t>
            </a:r>
          </a:p>
          <a:p>
            <a:pPr marL="228600" indent="-228600">
              <a:buAutoNum type="arabicParenR"/>
            </a:pPr>
            <a:r>
              <a:rPr lang="en-US" dirty="0"/>
              <a:t>If you go to Branches ..on the left you will go to main Branch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4472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Answer: You should start with </a:t>
            </a:r>
            <a:r>
              <a:rPr lang="en-US" dirty="0" err="1"/>
              <a:t>afreash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 to keep track of version control.  We never enables git at beginning of </a:t>
            </a:r>
            <a:r>
              <a:rPr lang="en-US" dirty="0" err="1"/>
              <a:t>starterd</a:t>
            </a:r>
            <a:r>
              <a:rPr lang="en-US" dirty="0"/>
              <a:t> w/space. </a:t>
            </a:r>
          </a:p>
          <a:p>
            <a:pPr marL="228600" indent="-228600">
              <a:buAutoNum type="arabicParenR"/>
            </a:pPr>
            <a:r>
              <a:rPr lang="en-US" dirty="0"/>
              <a:t>You should always give same name to Repo and </a:t>
            </a:r>
            <a:r>
              <a:rPr lang="en-US" dirty="0" err="1"/>
              <a:t>wspace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We must go to w/space settings to enable GIT , press Git integration , see azure dev ops , click connect </a:t>
            </a:r>
          </a:p>
          <a:p>
            <a:pPr marL="228600" indent="-228600">
              <a:buAutoNum type="arabicParenR"/>
            </a:pPr>
            <a:r>
              <a:rPr lang="en-US" dirty="0"/>
              <a:t>We don’t see an organization!!!, go back to </a:t>
            </a:r>
            <a:r>
              <a:rPr lang="en-US" dirty="0" err="1"/>
              <a:t>settingsand</a:t>
            </a:r>
            <a:r>
              <a:rPr lang="en-US" dirty="0"/>
              <a:t> see who the user is!!!</a:t>
            </a:r>
          </a:p>
          <a:p>
            <a:pPr marL="228600" indent="-228600">
              <a:buAutoNum type="arabicParenR"/>
            </a:pPr>
            <a:r>
              <a:rPr lang="en-US" dirty="0"/>
              <a:t>The same user in Fabric </a:t>
            </a:r>
            <a:r>
              <a:rPr lang="en-US" dirty="0" err="1"/>
              <a:t>musr</a:t>
            </a:r>
            <a:r>
              <a:rPr lang="en-US" dirty="0"/>
              <a:t> be user of </a:t>
            </a:r>
            <a:r>
              <a:rPr lang="en-US" dirty="0" err="1"/>
              <a:t>Devg</a:t>
            </a:r>
            <a:r>
              <a:rPr lang="en-US" dirty="0"/>
              <a:t> Ops. </a:t>
            </a:r>
          </a:p>
          <a:p>
            <a:pPr marL="228600" indent="-228600">
              <a:buAutoNum type="arabicParenR"/>
            </a:pPr>
            <a:r>
              <a:rPr lang="en-US" dirty="0"/>
              <a:t>So now we must add user , to the project etc.  Se overleaf.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8433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manage the user to contributor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85326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under Org you can allocate the user </a:t>
            </a:r>
          </a:p>
          <a:p>
            <a:r>
              <a:rPr lang="en-US" dirty="0"/>
              <a:t>Put in details and create a </a:t>
            </a:r>
            <a:r>
              <a:rPr lang="en-US" dirty="0" err="1"/>
              <a:t>Folderr</a:t>
            </a:r>
            <a:r>
              <a:rPr lang="en-US" dirty="0"/>
              <a:t> , Connect and synch </a:t>
            </a:r>
          </a:p>
          <a:p>
            <a:r>
              <a:rPr lang="en-US" dirty="0"/>
              <a:t>We now see source control at the top of </a:t>
            </a:r>
            <a:r>
              <a:rPr lang="en-US" dirty="0" err="1"/>
              <a:t>wspace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40316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you are making a copy of the </a:t>
            </a:r>
            <a:r>
              <a:rPr lang="en-US" dirty="0" err="1"/>
              <a:t>wspace</a:t>
            </a:r>
            <a:r>
              <a:rPr lang="en-US" dirty="0"/>
              <a:t> when you branch out.</a:t>
            </a:r>
          </a:p>
          <a:p>
            <a:r>
              <a:rPr lang="en-US" dirty="0"/>
              <a:t>The screen where you branch </a:t>
            </a:r>
            <a:r>
              <a:rPr lang="en-US" dirty="0" err="1"/>
              <a:t>toi</a:t>
            </a:r>
            <a:r>
              <a:rPr lang="en-US" dirty="0"/>
              <a:t> new </a:t>
            </a:r>
            <a:r>
              <a:rPr lang="en-US" dirty="0" err="1"/>
              <a:t>workspoace</a:t>
            </a:r>
            <a:r>
              <a:rPr lang="en-US" dirty="0"/>
              <a:t> has a bug </a:t>
            </a:r>
          </a:p>
          <a:p>
            <a:r>
              <a:rPr lang="en-US" dirty="0"/>
              <a:t>Sometimes it does fail ..just refresh/cancel and it will work.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73789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would be an isolated </a:t>
            </a:r>
            <a:r>
              <a:rPr lang="en-US" dirty="0" err="1"/>
              <a:t>wspace</a:t>
            </a:r>
            <a:r>
              <a:rPr lang="en-US" dirty="0"/>
              <a:t> ,, He creates a notebook in thus </a:t>
            </a:r>
            <a:r>
              <a:rPr lang="en-US" dirty="0" err="1"/>
              <a:t>wspace</a:t>
            </a:r>
            <a:r>
              <a:rPr lang="en-US" dirty="0"/>
              <a:t> , so this is in feature 1 </a:t>
            </a:r>
            <a:r>
              <a:rPr lang="en-US" dirty="0" err="1"/>
              <a:t>wspace</a:t>
            </a:r>
            <a:r>
              <a:rPr lang="en-US" dirty="0"/>
              <a:t> , now go back to the Dev </a:t>
            </a:r>
            <a:r>
              <a:rPr lang="en-US" dirty="0" err="1"/>
              <a:t>wspave</a:t>
            </a:r>
            <a:r>
              <a:rPr lang="en-US" dirty="0"/>
              <a:t> … the </a:t>
            </a:r>
            <a:r>
              <a:rPr lang="en-US" dirty="0" err="1"/>
              <a:t>colaboarative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 </a:t>
            </a:r>
          </a:p>
          <a:p>
            <a:r>
              <a:rPr lang="en-US" dirty="0"/>
              <a:t>Its empty ..this is the main branch and we </a:t>
            </a:r>
            <a:r>
              <a:rPr lang="en-US" dirty="0" err="1"/>
              <a:t>haved</a:t>
            </a:r>
            <a:r>
              <a:rPr lang="en-US" dirty="0"/>
              <a:t> not done anything there yet,</a:t>
            </a:r>
          </a:p>
          <a:p>
            <a:r>
              <a:rPr lang="en-US" dirty="0"/>
              <a:t>Go back to feature 1 </a:t>
            </a:r>
            <a:r>
              <a:rPr lang="en-US" dirty="0" err="1"/>
              <a:t>wspace</a:t>
            </a:r>
            <a:r>
              <a:rPr lang="en-US" dirty="0"/>
              <a:t> to the asset</a:t>
            </a:r>
          </a:p>
          <a:p>
            <a:r>
              <a:rPr lang="en-US" dirty="0"/>
              <a:t>Go to Google ..to your </a:t>
            </a:r>
            <a:r>
              <a:rPr lang="en-US" dirty="0" err="1"/>
              <a:t>Devops</a:t>
            </a:r>
            <a:r>
              <a:rPr lang="en-US" dirty="0"/>
              <a:t> account and your project , go into your project and your repos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22045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Brabnches</a:t>
            </a:r>
            <a:r>
              <a:rPr lang="en-US" dirty="0"/>
              <a:t> , select all and you will see the feature branch.. Go to the Folder , You see nothing but the readme , Why , you have not committed it ..</a:t>
            </a:r>
          </a:p>
          <a:p>
            <a:r>
              <a:rPr lang="en-US" dirty="0"/>
              <a:t>There are no asserts in the feature branch yet,</a:t>
            </a:r>
          </a:p>
          <a:p>
            <a:r>
              <a:rPr lang="en-US" dirty="0"/>
              <a:t>Go back to Fabric , your feature </a:t>
            </a:r>
            <a:r>
              <a:rPr lang="en-US" dirty="0" err="1"/>
              <a:t>wspace</a:t>
            </a:r>
            <a:r>
              <a:rPr lang="en-US" dirty="0"/>
              <a:t> ..to the Source Control </a:t>
            </a:r>
            <a:r>
              <a:rPr lang="en-US" dirty="0" err="1"/>
              <a:t>Buttoin</a:t>
            </a:r>
            <a:r>
              <a:rPr lang="en-US" dirty="0"/>
              <a:t> … see next page.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410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A393-22E5-E56D-F0E9-D94F833BD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8C6EC-E3F5-65B9-A4DA-83E0AAC1C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B846-787A-E8B8-7354-834A690D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AD875-58E0-7DF1-A546-295854EF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2F3A-7C14-192E-4426-9F99D07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711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254A-CCF0-82A9-27E7-A6A15E39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8596-B133-B909-ABB5-8B4F12B0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EEB6-036A-3466-35AF-28D4D5AA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E371-7375-E679-43DD-4DF91EAC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5EEF-3616-94F8-5C2D-A32DCF6D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419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F1E6-2CE8-40C8-D5DF-551514E6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8A930-7F20-7312-0A49-592F0A85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56EB9-73CC-A919-39B2-55256F4E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F7909-6A5A-12E7-D89D-A92A1B8A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DF94-9543-FEC7-B6A9-07FBBE21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05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E779-C2B2-C566-300D-ECE3EA09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BD71B-2154-D84F-4D9A-3B9BC36DC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C507B-7A76-0F9D-1001-EE0088919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174D2-F916-3455-33DD-BB232974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C80B3-5F76-D8CD-936F-023C301A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15A97-CA39-4B61-0F6A-D78819BC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6518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1212-5CB2-A1FD-5CD5-8D0EEA43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898D-6305-F624-4603-68EC91FA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9130C-1B50-1480-2C41-2F69C915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D4B4A-3BC3-9162-8687-D0AFD01A1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721DB-4EF1-7150-EA76-6272E0350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EFFA1-6AE6-ACB2-EE4D-20811DF0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F65BE-4808-F080-FD97-502E16E6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473DB-FD17-E454-6940-1503481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019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9746-4E53-42A6-98E1-9E36E6ED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62FFD-95BA-7EFB-E8F9-B00BA16C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5B8EB-822C-00F4-3C8D-F946D0E7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EE49-B158-7234-09F2-C4A8999A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224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AEFCC-B238-1912-CAD1-C72445C7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17CAF-29E8-F4FE-5658-D253AFA2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1910A-E234-1075-838B-8072B53E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4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EDA-A202-73B6-337D-26FE1D2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53AE1-8E33-0EE2-7FBA-2EB3CF1E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823AD-90D2-5F18-2773-7AFFA3F9D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EE50E-CE7F-3097-85A1-773E3E12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CFB4C-E7E7-35D2-E1C1-C11BC8B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F730A-2153-9662-B8C0-65CBF4C9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887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7405-5FFE-1FAC-9716-A060A2E2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2323B-B385-AB85-1A63-0A687724C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882E7-567F-A07F-77D1-B5CE98DF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2003-5D4F-1A63-FD58-E174F61B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E243A-58DF-28B1-473F-27B935B2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21571-D1B8-DD55-499D-A5941B4E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483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90CF-E6AE-931D-2C6E-6DA0C01A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80078-8374-7579-537A-CD7AF533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B4DEB-660D-38E3-B862-D8EAF51C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9C75-412B-953C-3373-30430142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DAC3-BFB0-E816-A993-CF28B4FC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816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85373-E3FF-A212-5F86-1ED8F8040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98F71-CFC5-DEF0-1D6D-43A16A9BB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E90B-8F81-8D98-5DB8-9B568B0F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E7AF-F976-2D0B-A67D-5B3E06BB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58B4-9347-467F-BFDB-E9AD5D95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094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06306-B904-77F9-CFCF-F8866CEB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10C60-C208-3BFE-8974-BA9D4F9DE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49EDD-CDAE-1844-E5AF-5DDDEAE0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C5F53-0D52-4E81-9E21-C03619D02BBA}" type="datetimeFigureOut">
              <a:rPr lang="en-ZA" smtClean="0"/>
              <a:t>2025/11/26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893C9-644C-260F-615C-924E0397D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7418-D000-20E9-9893-1C0814D9F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983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6000-A635-1845-5261-73DA8C16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0F31E-7B09-D1A0-80B7-C518405D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Vacuum and optimize write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EF3ED-9C92-C772-91C6-B171D9A62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4491" y="1253331"/>
            <a:ext cx="8372026" cy="4351338"/>
          </a:xfrm>
        </p:spPr>
      </p:pic>
    </p:spTree>
    <p:extLst>
      <p:ext uri="{BB962C8B-B14F-4D97-AF65-F5344CB8AC3E}">
        <p14:creationId xmlns:p14="http://schemas.microsoft.com/office/powerpoint/2010/main" val="886210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0263-C3DE-0E13-A353-C3B72D61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D615-3E51-AD72-A6F4-594565AF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CA8D3B-ACB5-DAB0-701E-D2D477739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0219" y="1825625"/>
            <a:ext cx="9211561" cy="4351338"/>
          </a:xfrm>
        </p:spPr>
      </p:pic>
    </p:spTree>
    <p:extLst>
      <p:ext uri="{BB962C8B-B14F-4D97-AF65-F5344CB8AC3E}">
        <p14:creationId xmlns:p14="http://schemas.microsoft.com/office/powerpoint/2010/main" val="345885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1BED-9DB0-DA96-215E-91F9539E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63252-F730-BBC6-8A3A-4A9AF824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1344"/>
          </a:xfrm>
        </p:spPr>
        <p:txBody>
          <a:bodyPr>
            <a:normAutofit fontScale="90000"/>
          </a:bodyPr>
          <a:lstStyle/>
          <a:p>
            <a:r>
              <a:rPr lang="en-US" dirty="0"/>
              <a:t>80. Streaming.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1071B-C5CA-CBE3-1CBD-B05ADC62D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74644"/>
            <a:ext cx="5772956" cy="11529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6E0A0-21AA-2B52-10B3-23D1C65C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076261"/>
            <a:ext cx="6287377" cy="1653866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C8074-673E-1141-8B01-3B611F150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9" y="3730127"/>
            <a:ext cx="6287377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9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96E9-7897-FF08-F029-300E64B7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BCDE-B537-87A2-E46B-5C7F0487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B5E984-CC8B-569D-314C-DA4BC123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0202" y="446799"/>
            <a:ext cx="8136963" cy="19187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D1C1C-39C1-8D6C-95AC-DFC077D30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02" y="2452437"/>
            <a:ext cx="6785241" cy="3958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614D73-1C33-31FD-94C9-24CE5F81E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008" y="1690688"/>
            <a:ext cx="4028789" cy="44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6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EC0D-81E2-F2F2-14E7-0D2D9461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7C2B-3560-8F87-26E7-A90BAC56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Now you want the results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5C738D-2AFA-5A16-5DA5-BF5BCD68D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190313"/>
            <a:ext cx="3467584" cy="22386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310B53-8AFD-38FB-5966-55AE8871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5" y="3704913"/>
            <a:ext cx="3381847" cy="1533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4304F9-9970-564D-090C-B8F525C9A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466" y="639762"/>
            <a:ext cx="4505954" cy="1571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42588-24B0-CC7D-DB83-31EC8749D7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728" y="2662130"/>
            <a:ext cx="5315692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5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03A7-EFC0-5E11-CA75-9BEAC0FF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6AD6-7E6F-470B-67B0-C7E2161C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>
            <a:normAutofit fontScale="90000"/>
          </a:bodyPr>
          <a:lstStyle/>
          <a:p>
            <a:r>
              <a:rPr lang="en-US" dirty="0"/>
              <a:t>81. Isolated Environment.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7CF02-2A1E-C41C-AC88-9367D8D80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3777" y="1396417"/>
            <a:ext cx="8611548" cy="4351338"/>
          </a:xfrm>
        </p:spPr>
      </p:pic>
    </p:spTree>
    <p:extLst>
      <p:ext uri="{BB962C8B-B14F-4D97-AF65-F5344CB8AC3E}">
        <p14:creationId xmlns:p14="http://schemas.microsoft.com/office/powerpoint/2010/main" val="293169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2C245-CE60-AE2B-E558-65A24443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E57A-FAF1-75DB-AE48-3BCA7D9A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614"/>
          </a:xfrm>
        </p:spPr>
        <p:txBody>
          <a:bodyPr>
            <a:normAutofit fontScale="90000"/>
          </a:bodyPr>
          <a:lstStyle/>
          <a:p>
            <a:r>
              <a:rPr lang="en-US" dirty="0"/>
              <a:t>Lets go back </a:t>
            </a:r>
            <a:r>
              <a:rPr lang="en-US" dirty="0" err="1"/>
              <a:t>tp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 Settings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B8D72F-4462-DBF5-BD65-AF1E4CC5A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82" y="1253330"/>
            <a:ext cx="10515600" cy="5091485"/>
          </a:xfrm>
        </p:spPr>
      </p:pic>
    </p:spTree>
    <p:extLst>
      <p:ext uri="{BB962C8B-B14F-4D97-AF65-F5344CB8AC3E}">
        <p14:creationId xmlns:p14="http://schemas.microsoft.com/office/powerpoint/2010/main" val="340684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D312-ED6B-2246-5524-4A999D5C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Data Science Data Eng / Spark 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E99AB-7EEE-0DA5-9BD9-4E342C87C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3109" y="785526"/>
            <a:ext cx="8402065" cy="28907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47EAEE-D04B-1F93-34B4-6BE6B1CFC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0845"/>
            <a:ext cx="8846974" cy="2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2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4FF3B-3A7B-C562-3D59-D9D2356B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0C0A-9C75-4753-C578-737308EC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291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Environments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D32AF18-7839-974E-A803-6E8FDDACB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071" y="1216536"/>
            <a:ext cx="6030167" cy="3591426"/>
          </a:xfrm>
        </p:spPr>
      </p:pic>
    </p:spTree>
    <p:extLst>
      <p:ext uri="{BB962C8B-B14F-4D97-AF65-F5344CB8AC3E}">
        <p14:creationId xmlns:p14="http://schemas.microsoft.com/office/powerpoint/2010/main" val="103675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D6D9-3DBC-8AE4-7212-2ECC4A85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FDD5-A0DF-FE0A-FA4C-994950F1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65"/>
          </a:xfrm>
        </p:spPr>
        <p:txBody>
          <a:bodyPr>
            <a:normAutofit fontScale="90000"/>
          </a:bodyPr>
          <a:lstStyle/>
          <a:p>
            <a:r>
              <a:rPr lang="en-US" dirty="0"/>
              <a:t>82. To Create </a:t>
            </a:r>
            <a:r>
              <a:rPr lang="en-US" dirty="0" err="1"/>
              <a:t>envs</a:t>
            </a:r>
            <a:r>
              <a:rPr lang="en-US" dirty="0"/>
              <a:t>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FDA40-304D-C195-BC69-EF2E56610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927" y="1253331"/>
            <a:ext cx="9668069" cy="5408726"/>
          </a:xfrm>
        </p:spPr>
      </p:pic>
    </p:spTree>
    <p:extLst>
      <p:ext uri="{BB962C8B-B14F-4D97-AF65-F5344CB8AC3E}">
        <p14:creationId xmlns:p14="http://schemas.microsoft.com/office/powerpoint/2010/main" val="256604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187E-B2E8-660A-C8AA-43E7A600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F096-90F8-32E9-E900-D02F228C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531"/>
          </a:xfrm>
        </p:spPr>
        <p:txBody>
          <a:bodyPr>
            <a:normAutofit fontScale="90000"/>
          </a:bodyPr>
          <a:lstStyle/>
          <a:p>
            <a:r>
              <a:rPr lang="en-US" dirty="0"/>
              <a:t>Add own libraries (</a:t>
            </a:r>
            <a:r>
              <a:rPr lang="en-US" dirty="0" err="1"/>
              <a:t>PyPyetc</a:t>
            </a:r>
            <a:r>
              <a:rPr lang="en-US" dirty="0"/>
              <a:t>) from Public Libraries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567D7-39EA-E753-1286-297331CB0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524656"/>
            <a:ext cx="10088383" cy="17688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44A21C-3DDC-9565-8ADD-AAB873E9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36" y="2453026"/>
            <a:ext cx="8802328" cy="16290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75B464-DF4E-4800-EB82-023057BD8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10" y="4369635"/>
            <a:ext cx="3477110" cy="229349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E0070-2BE2-1A80-8F33-7B0A352AF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286" y="4564506"/>
            <a:ext cx="615400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1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2587-E19C-DF93-3BBE-ED04ABF2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007D-D1BF-0A44-1809-7905B792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4541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 Compute for this environment.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C4BD3-4323-C1A9-3139-C9E1F9163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064" y="891106"/>
            <a:ext cx="5287113" cy="35628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CC308-077F-066F-9B07-2410FF9BD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903" y="509666"/>
            <a:ext cx="5287111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4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5BC8-B70F-AB08-FB44-DF4C5256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E9D0-7139-0BE1-D583-3697D941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We are making small </a:t>
            </a:r>
            <a:r>
              <a:rPr lang="en-US" dirty="0" err="1"/>
              <a:t>tweeks</a:t>
            </a:r>
            <a:r>
              <a:rPr lang="en-US" dirty="0"/>
              <a:t> on top of the previous pool we created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79A2E5-4522-A57F-1B69-36BD14C03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908" y="1558753"/>
            <a:ext cx="4623885" cy="4212460"/>
          </a:xfr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31762-1FFF-5829-A75F-8B9ACA6F5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557" y="1395128"/>
            <a:ext cx="6325850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0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553E-9A07-9A95-7CB2-DC64941C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4EA4-5AA1-2AFF-0D2E-D1476D22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new notebook to use the </a:t>
            </a:r>
            <a:r>
              <a:rPr lang="en-US" dirty="0" err="1"/>
              <a:t>environmemt</a:t>
            </a:r>
            <a:r>
              <a:rPr lang="en-US" dirty="0"/>
              <a:t>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DAE66B-F3E6-5A1F-3536-CF8A4BBDA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05140" y="1253331"/>
            <a:ext cx="7982507" cy="4351338"/>
          </a:xfrm>
        </p:spPr>
      </p:pic>
    </p:spTree>
    <p:extLst>
      <p:ext uri="{BB962C8B-B14F-4D97-AF65-F5344CB8AC3E}">
        <p14:creationId xmlns:p14="http://schemas.microsoft.com/office/powerpoint/2010/main" val="2189468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6C2F-4FA1-D8C2-D5F3-EDA985F1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6CC5-5A33-E0AC-9CB1-67E847A2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9354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go back to env and change it!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E653A-6976-6839-569D-FF0FB8631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1032130"/>
            <a:ext cx="2305372" cy="138131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019D9-D7C7-56FF-5D7C-7CE791A5B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810" y="794480"/>
            <a:ext cx="4361623" cy="223017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E99B6-F15F-9262-66CF-0D730753E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32" y="3499958"/>
            <a:ext cx="3334215" cy="29436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9A267-73F3-40C4-104D-B29F36845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205" y="3454012"/>
            <a:ext cx="2896004" cy="1028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6F4045-CAF5-BE96-170B-25D7671C9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810" y="4716759"/>
            <a:ext cx="6839905" cy="17052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5078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EA99-3ADB-748D-D293-DBDE561C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9EC8-AEEA-519D-2795-C6095652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65" y="167902"/>
            <a:ext cx="10515600" cy="585134"/>
          </a:xfrm>
        </p:spPr>
        <p:txBody>
          <a:bodyPr>
            <a:normAutofit/>
          </a:bodyPr>
          <a:lstStyle/>
          <a:p>
            <a:r>
              <a:rPr lang="en-US" sz="2400" dirty="0"/>
              <a:t>823. Monitoring and Scheduling Spark Notebooks.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909897-F37B-FC0F-1F85-B5858F8EA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753036"/>
            <a:ext cx="5867400" cy="3381847"/>
          </a:xfr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81906-E334-F119-9941-7D9DF6C25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589928"/>
            <a:ext cx="10812384" cy="19713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616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3779-78EC-EF3A-3300-3B13AB8F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1465-4858-BA30-BFFB-05ABA17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691"/>
            <a:ext cx="10515600" cy="459628"/>
          </a:xfrm>
        </p:spPr>
        <p:txBody>
          <a:bodyPr>
            <a:normAutofit/>
          </a:bodyPr>
          <a:lstStyle/>
          <a:p>
            <a:r>
              <a:rPr lang="en-US" sz="2000" dirty="0"/>
              <a:t>Now click on View Details…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764CD-BB73-AD71-5F50-72728CFB5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9928" y="824754"/>
            <a:ext cx="9572943" cy="29224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43829-E548-B1E6-4B27-29D25F7DF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71" y="4392705"/>
            <a:ext cx="5020376" cy="20685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E7835B-020E-7237-88E9-88569554C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692" y="4702981"/>
            <a:ext cx="567163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F0AC-656D-0A5B-CFBD-229B9355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B2F7-197E-B412-0195-F71F0A63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D440F-60DB-36E1-2BFC-A69C43219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5"/>
            <a:ext cx="3877216" cy="41725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8FF94-DAED-6D54-7957-1024EBA20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81" y="620013"/>
            <a:ext cx="6125430" cy="14575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0EC0B9-CA09-BACD-6D02-4A55F6D3B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181" y="2332429"/>
            <a:ext cx="2600688" cy="1819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73ADB-0D1D-91BA-E652-5571CD5EF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7834" y="2313376"/>
            <a:ext cx="3934374" cy="18385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41E659-CBE4-F33E-BD6C-12A400352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64" y="4673345"/>
            <a:ext cx="11241741" cy="181953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5180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3541-960D-7ED9-D1AB-4D8FEBE4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56D8-6AC9-E829-CFC9-E05D8919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8616"/>
          </a:xfrm>
        </p:spPr>
        <p:txBody>
          <a:bodyPr>
            <a:normAutofit fontScale="90000"/>
          </a:bodyPr>
          <a:lstStyle/>
          <a:p>
            <a:r>
              <a:rPr lang="en-US" dirty="0"/>
              <a:t>Again go to w/space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F73B30-C1DF-74C3-0DD8-48E7D93B4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671" y="975261"/>
            <a:ext cx="4704131" cy="24537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EC9E5-82D1-7EC7-3D22-1D90484C9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386" y="975261"/>
            <a:ext cx="6745943" cy="2087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20959-E3F2-0447-6C03-D5F31BE2A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71" y="3794904"/>
            <a:ext cx="10515600" cy="245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1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EC6C-18D9-CE33-5FE0-D5B67274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B5CD-E547-A07D-C7E0-6A225CF1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0280E3-9EBD-B2F9-7820-C7E513D65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1743" y="365125"/>
            <a:ext cx="254926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E52EF-F57F-EAAD-212E-98A303A97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011" y="477184"/>
            <a:ext cx="6516009" cy="3219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701CB6-809B-0772-5275-D84964AFD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853" y="2313752"/>
            <a:ext cx="3386978" cy="454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56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470C-544B-C827-938D-FCE6D500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A6E5-64AC-EBB5-42B0-6730BB37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5134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also click on OPEN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91D5E5-80A5-CD5D-62AB-07F09AC45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2259" y="1082227"/>
            <a:ext cx="5244800" cy="14637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88820-9557-FF83-CA38-AD7007BBF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12" y="3191435"/>
            <a:ext cx="10237694" cy="330143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9CCC197-094A-713A-480C-196175EA8228}"/>
              </a:ext>
            </a:extLst>
          </p:cNvPr>
          <p:cNvSpPr/>
          <p:nvPr/>
        </p:nvSpPr>
        <p:spPr>
          <a:xfrm>
            <a:off x="3783106" y="2850776"/>
            <a:ext cx="18288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3657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EECB4-22F2-9C11-DBF9-F22283BA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CCFC-9D3D-AEA7-9BD9-F01A1E31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628"/>
          </a:xfrm>
        </p:spPr>
        <p:txBody>
          <a:bodyPr>
            <a:normAutofit/>
          </a:bodyPr>
          <a:lstStyle/>
          <a:p>
            <a:r>
              <a:rPr lang="en-US" sz="2000" dirty="0"/>
              <a:t>Land up in Spark UI.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E6790-AB4B-61BD-9156-9FD918D18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24753"/>
            <a:ext cx="10515600" cy="5127811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85EED9-1E52-1E26-CD68-5257510984D4}"/>
              </a:ext>
            </a:extLst>
          </p:cNvPr>
          <p:cNvCxnSpPr/>
          <p:nvPr/>
        </p:nvCxnSpPr>
        <p:spPr>
          <a:xfrm flipV="1">
            <a:off x="8032376" y="1237129"/>
            <a:ext cx="770965" cy="770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162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1D55-5304-B87F-1884-DAA70CCA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AEA3-807F-1394-52E0-20D671E2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on one of these jobs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413376-97F6-CF56-6A99-E40F98484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0222"/>
            <a:ext cx="10515600" cy="4082143"/>
          </a:xfrm>
        </p:spPr>
      </p:pic>
    </p:spTree>
    <p:extLst>
      <p:ext uri="{BB962C8B-B14F-4D97-AF65-F5344CB8AC3E}">
        <p14:creationId xmlns:p14="http://schemas.microsoft.com/office/powerpoint/2010/main" val="3277901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8075-8C7D-B650-189D-EDC5821D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CD04-7EBE-3A51-6EE2-B01CB0380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/>
              <a:t>This is the DAG for the Job.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620489-9844-2967-01AD-6C98A02D1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662" y="1556684"/>
            <a:ext cx="3402465" cy="4351338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17A9A-0FBC-87EB-E143-C85FEF70B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061" y="161365"/>
            <a:ext cx="4649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74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4D5F-3118-66F6-979B-58653F05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2648-3CC8-B334-2590-F9FDA2E6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 fontScale="90000"/>
          </a:bodyPr>
          <a:lstStyle/>
          <a:p>
            <a:r>
              <a:rPr lang="en-US" dirty="0"/>
              <a:t>In Monitor I open the Notebook..</a:t>
            </a:r>
            <a:r>
              <a:rPr lang="en-US" dirty="0" err="1"/>
              <a:t>Aufdit</a:t>
            </a:r>
            <a:r>
              <a:rPr lang="en-US" dirty="0"/>
              <a:t> </a:t>
            </a:r>
            <a:r>
              <a:rPr lang="en-US" dirty="0" err="1"/>
              <a:t>Backtesting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52AA9-E8F8-5C8A-F1FC-1E3023263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9830" y="1612956"/>
            <a:ext cx="4039164" cy="1190791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3BEB8-4A29-109F-F2CD-61CF8BAAD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9634" y="3429000"/>
            <a:ext cx="4755776" cy="2720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029661-BAC2-5298-0052-B5D275821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472" y="1188195"/>
            <a:ext cx="6730528" cy="530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80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DB61-6AA2-73A8-A542-9244158D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CC3F-5102-4171-B747-43C67C15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Now to Schedule Notebook.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090E0-15C6-5603-E9D1-BBDFA9862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53331"/>
            <a:ext cx="547847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A9D8B0-7EB2-4079-F7A9-4986F727D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398494"/>
            <a:ext cx="5531874" cy="4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41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00FE-CD41-FD5D-B887-BB52758A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22FC-092B-4463-D031-964156E3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dirty="0"/>
              <a:t>Integrate notebooks with pipelines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427391-C2D3-E8D5-7CCF-8F0A38C93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9440" y="1825625"/>
            <a:ext cx="8073120" cy="4351338"/>
          </a:xfrm>
        </p:spPr>
      </p:pic>
    </p:spTree>
    <p:extLst>
      <p:ext uri="{BB962C8B-B14F-4D97-AF65-F5344CB8AC3E}">
        <p14:creationId xmlns:p14="http://schemas.microsoft.com/office/powerpoint/2010/main" val="746847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21F9-2C78-CBF4-0B31-95AF58E1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BCBB-8689-F973-416E-B8188316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6899"/>
          </a:xfrm>
        </p:spPr>
        <p:txBody>
          <a:bodyPr>
            <a:normAutofit fontScale="90000"/>
          </a:bodyPr>
          <a:lstStyle/>
          <a:p>
            <a:r>
              <a:rPr lang="en-US" dirty="0"/>
              <a:t>84. Spark Job Definition.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8A47D-2D92-190D-CA81-E4D30AFDB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0916" y="800239"/>
            <a:ext cx="4893105" cy="2756321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006453-E88F-4E86-03DD-A9964C2C8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16" y="3962980"/>
            <a:ext cx="3010320" cy="27563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B7B813-2B98-080C-7D9A-9006D4EFF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36" y="4321568"/>
            <a:ext cx="3448531" cy="15908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40B1FA-7F09-330E-CFF7-A6D7C707C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820" y="4415697"/>
            <a:ext cx="2629267" cy="16575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1752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6E7D-BD68-B10E-9166-19D9374C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3656-1251-D016-30CE-F3C219E84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</a:t>
            </a:r>
            <a:r>
              <a:rPr lang="en-US" dirty="0" err="1"/>
              <a:t>Workspave</a:t>
            </a:r>
            <a:r>
              <a:rPr lang="en-US" dirty="0"/>
              <a:t> and schedule the </a:t>
            </a:r>
            <a:r>
              <a:rPr lang="en-US" dirty="0" err="1"/>
              <a:t>job.definition</a:t>
            </a:r>
            <a:r>
              <a:rPr lang="en-US" dirty="0"/>
              <a:t>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EA6D29-A2FA-2530-3706-AB638AE8B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0061" y="1771836"/>
            <a:ext cx="7145712" cy="4351338"/>
          </a:xfrm>
        </p:spPr>
      </p:pic>
    </p:spTree>
    <p:extLst>
      <p:ext uri="{BB962C8B-B14F-4D97-AF65-F5344CB8AC3E}">
        <p14:creationId xmlns:p14="http://schemas.microsoft.com/office/powerpoint/2010/main" val="2313461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4D1A-F702-349C-33B0-74A2F88E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870E-62F3-40F5-1EA9-6FFC8F7D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146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implement the spark job definition in a pipeline as a component.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B6759-AC27-6FED-E9B4-AB853257B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9914" y="1673087"/>
            <a:ext cx="5649113" cy="2648320"/>
          </a:xfrm>
        </p:spPr>
      </p:pic>
    </p:spTree>
    <p:extLst>
      <p:ext uri="{BB962C8B-B14F-4D97-AF65-F5344CB8AC3E}">
        <p14:creationId xmlns:p14="http://schemas.microsoft.com/office/powerpoint/2010/main" val="2231491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E20F-0815-D746-4979-DA8F2F66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68E4-CFF9-4F22-A9B2-4EDC669F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 from PC (notebook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E4839-3F94-94CB-9F2E-EBE787531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419" y="1292161"/>
            <a:ext cx="3391373" cy="1581371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4716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C56F-869F-4CF7-9831-82EBEE59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4DF5-C333-5644-654A-5261D142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S10: Fabric Data Governance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DD4DB8-408B-EA76-A40B-F469CA39B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045029"/>
            <a:ext cx="5704114" cy="5447845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FB54F5-5358-8C64-8861-896D3CA9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6820"/>
            <a:ext cx="5463809" cy="52642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3374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B06E-744A-4FBC-3606-4675B719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2410-80C1-EA91-4B3F-E61BA428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53688-4513-674E-411C-74840D02C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132" y="606425"/>
            <a:ext cx="5349126" cy="5886450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3C34C-4B51-C4AD-02BC-3724493B2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44" y="821305"/>
            <a:ext cx="5878285" cy="56715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468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4672-A549-1ECE-AB4F-77EFCEF3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1F02-4016-535A-5C00-675D61C4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5C735-70C7-0CC6-07B9-BAF96C2D2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68" y="559559"/>
            <a:ext cx="5076968" cy="5933316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EF616-869C-6C51-08BB-0DAB1F868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61" y="559558"/>
            <a:ext cx="5732563" cy="59333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9328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42BE-67FE-64A5-77BF-76D26283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5C47-0E14-8175-3DA3-BC5E10B4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D21E69-203E-88F8-D80C-040EFDF53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74" y="365125"/>
            <a:ext cx="5634680" cy="6127750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CEB37-A85C-F52A-6FFC-BD58560F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126"/>
            <a:ext cx="5634680" cy="61277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242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C8D0-4667-3863-478B-607DC3C1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27998"/>
          </a:xfrm>
        </p:spPr>
        <p:txBody>
          <a:bodyPr>
            <a:normAutofit fontScale="90000"/>
          </a:bodyPr>
          <a:lstStyle/>
          <a:p>
            <a:r>
              <a:rPr lang="en-US" dirty="0"/>
              <a:t>Endorsements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6F7C6-4541-2023-581A-B35A2A6D4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78" y="790832"/>
            <a:ext cx="5371070" cy="5449330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9150F-E469-064F-9CD8-E79E42C83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9538"/>
            <a:ext cx="5371070" cy="53406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229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E8A0-A4B2-2C0C-F993-34F821B7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2778"/>
          </a:xfrm>
        </p:spPr>
        <p:txBody>
          <a:bodyPr>
            <a:normAutofit fontScale="90000"/>
          </a:bodyPr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0A3B2F-FBF9-8CD8-7065-56E5F92C8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52" y="1253330"/>
            <a:ext cx="5658847" cy="5122755"/>
          </a:xfrm>
          <a:ln>
            <a:solidFill>
              <a:schemeClr val="tx1"/>
            </a:solidFill>
            <a:prstDash val="solid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7BC5DF-BBA9-0F0B-C8A1-867C53355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3329"/>
            <a:ext cx="5123935" cy="512275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9514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AE61-1081-DF3D-ADC4-9A7AF337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F981-FBE3-89F0-642A-41341FF4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131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Orchestration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156793-920F-3F40-7630-42450A1D9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364" y="1053289"/>
            <a:ext cx="10282778" cy="1295467"/>
          </a:xfrm>
        </p:spPr>
      </p:pic>
    </p:spTree>
    <p:extLst>
      <p:ext uri="{BB962C8B-B14F-4D97-AF65-F5344CB8AC3E}">
        <p14:creationId xmlns:p14="http://schemas.microsoft.com/office/powerpoint/2010/main" val="474620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FC19-8F60-3D6C-F195-FCEEA8DC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2AC9-A953-B3C6-8C10-BB5EC730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CI, Continuous Integration in Fabric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324924-7EEA-80D7-0B88-19F762E5D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26181" y="1444483"/>
            <a:ext cx="9508080" cy="4585255"/>
          </a:xfrm>
        </p:spPr>
      </p:pic>
    </p:spTree>
    <p:extLst>
      <p:ext uri="{BB962C8B-B14F-4D97-AF65-F5344CB8AC3E}">
        <p14:creationId xmlns:p14="http://schemas.microsoft.com/office/powerpoint/2010/main" val="14690074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3737-393A-9524-E1F7-D80A4C15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601C-B183-4D00-9A69-42665F5E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Azure Dev Ops Account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43A49-0C63-5A9C-3555-D8CF83151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768" y="1097130"/>
            <a:ext cx="4391527" cy="3753043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3A3B8-CC05-126E-C734-C2FA56628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54" y="1173313"/>
            <a:ext cx="6773978" cy="25782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3D9F4-CEB0-4862-C7ED-BA84C4C4E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308" y="4090669"/>
            <a:ext cx="5191355" cy="24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14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BFC6-4214-CC93-E4FC-0FEA27EF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A30A-36DF-25D0-2474-A2B13504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project.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C170D-19F4-FFCE-BF3F-6429A3A6A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8407"/>
            <a:ext cx="9460832" cy="4109256"/>
          </a:xfrm>
        </p:spPr>
      </p:pic>
    </p:spTree>
    <p:extLst>
      <p:ext uri="{BB962C8B-B14F-4D97-AF65-F5344CB8AC3E}">
        <p14:creationId xmlns:p14="http://schemas.microsoft.com/office/powerpoint/2010/main" val="1471399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5C7B-D29A-BF0F-BC78-66060857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0D5B2-88FC-2363-D844-E29AB757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JSE Clear is a Project and within this project </a:t>
            </a:r>
            <a:r>
              <a:rPr lang="en-US" dirty="0" err="1"/>
              <a:t>therte</a:t>
            </a:r>
            <a:r>
              <a:rPr lang="en-US" dirty="0"/>
              <a:t> ius JSE Clear Risk Wiki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16843-AE2F-BC44-729D-FAE1BAD01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3443" y="2018131"/>
            <a:ext cx="8831210" cy="4351338"/>
          </a:xfr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9273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234B-62BC-7B1E-9E53-4C81395F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8FD8-1333-097A-66B8-88A26014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US" dirty="0"/>
              <a:t>Here he creates a project , we don’t have to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D43256-62B0-FB31-D5C2-C4358A754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5242" y="1283368"/>
            <a:ext cx="4918764" cy="35879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26E864-3417-479C-B22A-46F04CB6F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86" y="5394155"/>
            <a:ext cx="5244677" cy="1463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585E8-BC1E-DC66-4D33-9380B0704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229" y="1397673"/>
            <a:ext cx="5244676" cy="455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751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0A01-C844-8FF8-FA0B-A53DFADE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6254-95E7-B853-0344-B4D82612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settings and switch them on !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5D385-6F8C-AFD3-EF8B-7253834B8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2579" y="1177856"/>
            <a:ext cx="5915526" cy="2673487"/>
          </a:xfrm>
        </p:spPr>
      </p:pic>
    </p:spTree>
    <p:extLst>
      <p:ext uri="{BB962C8B-B14F-4D97-AF65-F5344CB8AC3E}">
        <p14:creationId xmlns:p14="http://schemas.microsoft.com/office/powerpoint/2010/main" val="4044488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5122-3EEA-6638-D8DE-F67292EA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6B0E-0BC9-0D0B-3235-0709CFFE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0538"/>
          </a:xfrm>
        </p:spPr>
        <p:txBody>
          <a:bodyPr/>
          <a:lstStyle/>
          <a:p>
            <a:r>
              <a:rPr lang="en-US" dirty="0"/>
              <a:t>Now we go to Repos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2900D6-A98C-3E00-31BD-AECBFDD92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2038" y="1564676"/>
            <a:ext cx="2571882" cy="2178162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FF8159-5CAE-CA79-B3DF-1307EBC8E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004" y="1395664"/>
            <a:ext cx="6153466" cy="270523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7481F0-1410-4267-C9A5-642AE0B56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915" y="4314712"/>
            <a:ext cx="5721644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62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778C0-ED1C-47A0-C69B-11D64A51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D668-D25E-B2A6-9394-6BBA0757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US" dirty="0"/>
              <a:t>Attach main branch to dev </a:t>
            </a:r>
            <a:r>
              <a:rPr lang="en-US" dirty="0" err="1"/>
              <a:t>wspace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A5CE91-BA05-41A7-714A-E28D02F05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968" y="1792916"/>
            <a:ext cx="5493032" cy="3149762"/>
          </a:xfrm>
        </p:spPr>
      </p:pic>
    </p:spTree>
    <p:extLst>
      <p:ext uri="{BB962C8B-B14F-4D97-AF65-F5344CB8AC3E}">
        <p14:creationId xmlns:p14="http://schemas.microsoft.com/office/powerpoint/2010/main" val="30456992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9623-B0CE-9B70-912C-C2ADF1EC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A5AF-9E04-8F47-1DCA-4EA066A1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4737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Now we go to Fabric </a:t>
            </a:r>
            <a:r>
              <a:rPr lang="en-US" sz="2000" dirty="0" err="1"/>
              <a:t>Wspace</a:t>
            </a:r>
            <a:r>
              <a:rPr lang="en-US" sz="2000" dirty="0"/>
              <a:t>, why </a:t>
            </a:r>
            <a:r>
              <a:rPr lang="en-US" sz="2000" dirty="0" err="1"/>
              <a:t>createa</a:t>
            </a:r>
            <a:r>
              <a:rPr lang="en-US" sz="2000" dirty="0"/>
              <a:t> </a:t>
            </a:r>
            <a:r>
              <a:rPr lang="en-US" sz="2000" dirty="0" err="1"/>
              <a:t>newpace</a:t>
            </a:r>
            <a:r>
              <a:rPr lang="en-US" sz="2000" dirty="0"/>
              <a:t> ?, </a:t>
            </a:r>
            <a:endParaRPr lang="en-ZA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43289-4D51-EE2B-F30D-BF3CB7BC5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3386" y="1903244"/>
            <a:ext cx="2156789" cy="2768742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9A5F5-39C9-D81B-F257-8482FD5A6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630" y="798781"/>
            <a:ext cx="6750397" cy="27919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71F45-929F-CCAA-82CC-40AC55C41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630" y="3527554"/>
            <a:ext cx="3283119" cy="2288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4298B-A8B5-9A67-E84A-A83442A18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4740" y="3809611"/>
            <a:ext cx="4783874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97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DD36-2D5F-3D1D-45FC-CB657312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B767-A184-ABB3-BFA1-71DC12B1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3880"/>
          </a:xfrm>
        </p:spPr>
        <p:txBody>
          <a:bodyPr>
            <a:normAutofit fontScale="90000"/>
          </a:bodyPr>
          <a:lstStyle/>
          <a:p>
            <a:r>
              <a:rPr lang="en-US" dirty="0"/>
              <a:t>Must add the user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40A2A-004E-00B0-ACFE-336C47635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5061" y="1563373"/>
            <a:ext cx="2463927" cy="2444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955F50-FD52-6234-FCA4-E2E7C24CA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92" y="1460399"/>
            <a:ext cx="6407479" cy="1968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5872D7-88CE-5868-9D6B-122660D08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5203" y="3930393"/>
            <a:ext cx="5158797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071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05AE-5BE7-C0E5-5256-09800C40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4BCB-C00A-B1C0-1333-B54B795B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5821"/>
          </a:xfrm>
        </p:spPr>
        <p:txBody>
          <a:bodyPr>
            <a:normAutofit fontScale="90000"/>
          </a:bodyPr>
          <a:lstStyle/>
          <a:p>
            <a:r>
              <a:rPr lang="en-US" dirty="0"/>
              <a:t>Now back to Fabric ..Git Integration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36CBC2-F693-0917-9FF3-70E0D7F9A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8727" y="1585675"/>
            <a:ext cx="3626036" cy="2444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A9E06-6793-CB6E-D8FB-32186AB7B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533" y="1038835"/>
            <a:ext cx="3219615" cy="3352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CFA549-42D8-3C70-2B5E-881B92EDE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15420"/>
            <a:ext cx="5797848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42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9EBE-C055-83BD-E8B2-7E0152B7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29E0-3773-6462-5C5E-E6DD867D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and want to make changes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5674AE-CA91-36E7-4806-847C7F3CA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404" y="2331158"/>
            <a:ext cx="5677192" cy="3340272"/>
          </a:xfrm>
        </p:spPr>
      </p:pic>
    </p:spTree>
    <p:extLst>
      <p:ext uri="{BB962C8B-B14F-4D97-AF65-F5344CB8AC3E}">
        <p14:creationId xmlns:p14="http://schemas.microsoft.com/office/powerpoint/2010/main" val="2606190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CD71-90F3-F26F-CF45-9CE72F46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C4BA-1A2D-CEA0-46F6-A18EC5DA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make changes to main branch !!!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D379-D728-7379-4994-CFE480B9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5334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DE95-9F46-DC8A-CA77-101C71A7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6DF6-BEE4-5326-32D8-20961C37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065"/>
          </a:xfrm>
        </p:spPr>
        <p:txBody>
          <a:bodyPr>
            <a:normAutofit fontScale="90000"/>
          </a:bodyPr>
          <a:lstStyle/>
          <a:p>
            <a:r>
              <a:rPr lang="en-US" dirty="0"/>
              <a:t>137. Feature Branch and Bug!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820D8D-C92B-9EB0-D0DC-3871C437E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191" y="1641020"/>
            <a:ext cx="2025754" cy="1047804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48CBCB-91C3-0CF2-74AF-C49922BD8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751" y="1432112"/>
            <a:ext cx="2963433" cy="15133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595CA9-3582-13BF-4C68-C5D62C8BE7D6}"/>
              </a:ext>
            </a:extLst>
          </p:cNvPr>
          <p:cNvSpPr txBox="1"/>
          <p:nvPr/>
        </p:nvSpPr>
        <p:spPr>
          <a:xfrm>
            <a:off x="2345751" y="825190"/>
            <a:ext cx="538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on small Icon on the </a:t>
            </a:r>
            <a:r>
              <a:rPr lang="en-US" dirty="0" err="1"/>
              <a:t>right..like</a:t>
            </a:r>
            <a:r>
              <a:rPr lang="en-US" dirty="0"/>
              <a:t> the share image  </a:t>
            </a:r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89E4DF-BAC5-8DEB-FCE5-8D5EB65A5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990" y="1444849"/>
            <a:ext cx="2559182" cy="26734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D556D3-622B-F6EE-5F82-DC6DC0AC6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197" y="1482625"/>
            <a:ext cx="3860612" cy="3892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96E74E-4AFF-78E0-4837-41EA1DA8105F}"/>
              </a:ext>
            </a:extLst>
          </p:cNvPr>
          <p:cNvSpPr txBox="1"/>
          <p:nvPr/>
        </p:nvSpPr>
        <p:spPr>
          <a:xfrm>
            <a:off x="8261433" y="548191"/>
            <a:ext cx="3469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Bug here as button is greyed out!</a:t>
            </a:r>
          </a:p>
          <a:p>
            <a:r>
              <a:rPr lang="en-US" dirty="0"/>
              <a:t>But click cancel and the branch is created. </a:t>
            </a:r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57F201-4B9F-C28A-3B0B-2A13D2F99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2317" y="5591462"/>
            <a:ext cx="2635385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38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9847-8B0F-1501-1535-B17B5620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FECD-DCF6-1362-CF5B-8EBE0008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729"/>
          </a:xfrm>
        </p:spPr>
        <p:txBody>
          <a:bodyPr>
            <a:normAutofit fontScale="90000"/>
          </a:bodyPr>
          <a:lstStyle/>
          <a:p>
            <a:r>
              <a:rPr lang="en-US" dirty="0"/>
              <a:t>137. Continued.. Now in Feature </a:t>
            </a:r>
            <a:r>
              <a:rPr lang="en-US" dirty="0" err="1"/>
              <a:t>Wspace</a:t>
            </a:r>
            <a:r>
              <a:rPr lang="en-US" dirty="0"/>
              <a:t> Branch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1A705-E783-C353-7003-44B1C209A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614" y="1215854"/>
            <a:ext cx="2902099" cy="13780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B5C853-F490-80BD-9F4A-E75CB91C7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916" y="1101548"/>
            <a:ext cx="4483330" cy="149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C5DFAE-0198-38E1-95A4-0822E0B67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449" y="1210278"/>
            <a:ext cx="3073558" cy="1181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D1CB59-B856-E221-FE6B-5AB2C5F08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17" y="3429000"/>
            <a:ext cx="4697800" cy="3234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B8295-1D9F-F030-D8FB-1294099CC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641" y="3429000"/>
            <a:ext cx="4616687" cy="335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513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26ED-D71B-5319-BB14-2A21B5CA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7FF8-5CD6-CA83-F828-7D9E73C5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137. Feature </a:t>
            </a:r>
            <a:r>
              <a:rPr lang="en-US" dirty="0" err="1"/>
              <a:t>Brabches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F689C-3893-B456-9693-05927D9C7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64795"/>
            <a:ext cx="10515600" cy="1388474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3AE6E8-19CD-2520-8803-FCE9AC96F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63" y="2655112"/>
            <a:ext cx="9871491" cy="1560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D312F-EA43-23FC-220A-09FC35929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90" y="4619756"/>
            <a:ext cx="9722350" cy="187311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443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16688</TotalTime>
  <Words>2516</Words>
  <Application>Microsoft Office PowerPoint</Application>
  <PresentationFormat>Widescreen</PresentationFormat>
  <Paragraphs>231</Paragraphs>
  <Slides>54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Aptos Display</vt:lpstr>
      <vt:lpstr>Arial</vt:lpstr>
      <vt:lpstr>Office Theme</vt:lpstr>
      <vt:lpstr>Vacuum and optimize write </vt:lpstr>
      <vt:lpstr>PowerPoint Presentation</vt:lpstr>
      <vt:lpstr>80. Streaming.</vt:lpstr>
      <vt:lpstr>PowerPoint Presentation</vt:lpstr>
      <vt:lpstr>Now you want the results </vt:lpstr>
      <vt:lpstr>81. Isolated Environment.</vt:lpstr>
      <vt:lpstr>Lets go back tp Wspace Settings </vt:lpstr>
      <vt:lpstr>Click on Data Science Data Eng / Spark settings</vt:lpstr>
      <vt:lpstr>Go to Environments </vt:lpstr>
      <vt:lpstr>82. To Create envs.</vt:lpstr>
      <vt:lpstr>Add own libraries (PyPyetc) from Public Libraries</vt:lpstr>
      <vt:lpstr>Config Compute for this environment. </vt:lpstr>
      <vt:lpstr>We are making small tweeks on top of the previous pool we created </vt:lpstr>
      <vt:lpstr>Create new notebook to use the environmemt.</vt:lpstr>
      <vt:lpstr>You can go back to env and change it!</vt:lpstr>
      <vt:lpstr>823. Monitoring and Scheduling Spark Notebooks.</vt:lpstr>
      <vt:lpstr>Now click on View Details…</vt:lpstr>
      <vt:lpstr>PowerPoint Presentation</vt:lpstr>
      <vt:lpstr>Again go to w/space </vt:lpstr>
      <vt:lpstr>PowerPoint Presentation</vt:lpstr>
      <vt:lpstr>You can also click on OPEN</vt:lpstr>
      <vt:lpstr>Land up in Spark UI.</vt:lpstr>
      <vt:lpstr>Click on one of these jobs </vt:lpstr>
      <vt:lpstr>This is the DAG for the Job. </vt:lpstr>
      <vt:lpstr>In Monitor I open the Notebook..Aufdit Backtesting</vt:lpstr>
      <vt:lpstr>Now to Schedule Notebook.</vt:lpstr>
      <vt:lpstr>Integrate notebooks with pipelines </vt:lpstr>
      <vt:lpstr>84. Spark Job Definition.</vt:lpstr>
      <vt:lpstr>Go to Workspave and schedule the job.definition.</vt:lpstr>
      <vt:lpstr>You can implement the spark job definition in a pipeline as a component.</vt:lpstr>
      <vt:lpstr>Import from PC (notebook</vt:lpstr>
      <vt:lpstr>S10: Fabric Data Governance </vt:lpstr>
      <vt:lpstr>PowerPoint Presentation</vt:lpstr>
      <vt:lpstr>PowerPoint Presentation</vt:lpstr>
      <vt:lpstr>PowerPoint Presentation</vt:lpstr>
      <vt:lpstr>Endorsements</vt:lpstr>
      <vt:lpstr>PowerPoint Presentation</vt:lpstr>
      <vt:lpstr>Pipeline Orchestration</vt:lpstr>
      <vt:lpstr>CI, Continuous Integration in Fabric</vt:lpstr>
      <vt:lpstr>Create Azure Dev Ops Account </vt:lpstr>
      <vt:lpstr>Create new project.</vt:lpstr>
      <vt:lpstr>JSE Clear is a Project and within this project therte ius JSE Clear Risk Wiki </vt:lpstr>
      <vt:lpstr>Here he creates a project , we don’t have to </vt:lpstr>
      <vt:lpstr>Go to settings and switch them on !</vt:lpstr>
      <vt:lpstr>Now we go to Repos </vt:lpstr>
      <vt:lpstr>Attach main branch to dev wspace </vt:lpstr>
      <vt:lpstr>Now we go to Fabric Wspace, why createa newpace ?, </vt:lpstr>
      <vt:lpstr>Must add the user </vt:lpstr>
      <vt:lpstr>Now back to Fabric ..Git Integration </vt:lpstr>
      <vt:lpstr>Connected and want to make changes</vt:lpstr>
      <vt:lpstr>Don’t make changes to main branch !!!</vt:lpstr>
      <vt:lpstr>137. Feature Branch and Bug!</vt:lpstr>
      <vt:lpstr>137. Continued.. Now in Feature Wspace Branch</vt:lpstr>
      <vt:lpstr>137. Feature Brabches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216</cp:revision>
  <dcterms:created xsi:type="dcterms:W3CDTF">2025-08-02T06:53:26Z</dcterms:created>
  <dcterms:modified xsi:type="dcterms:W3CDTF">2025-11-26T05:48:22Z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d8a90e-c522-4829-9625-db8c70f8b095_Enabled">
    <vt:lpwstr>true</vt:lpwstr>
  </property>
  <property fmtid="{D5CDD505-2E9C-101B-9397-08002B2CF9AE}" pid="3" name="MSIP_Label_66d8a90e-c522-4829-9625-db8c70f8b095_SetDate">
    <vt:lpwstr>2025-11-26T05:45:08Z</vt:lpwstr>
  </property>
  <property fmtid="{D5CDD505-2E9C-101B-9397-08002B2CF9AE}" pid="4" name="MSIP_Label_66d8a90e-c522-4829-9625-db8c70f8b095_Method">
    <vt:lpwstr>Privileged</vt:lpwstr>
  </property>
  <property fmtid="{D5CDD505-2E9C-101B-9397-08002B2CF9AE}" pid="5" name="MSIP_Label_66d8a90e-c522-4829-9625-db8c70f8b095_Name">
    <vt:lpwstr>Public</vt:lpwstr>
  </property>
  <property fmtid="{D5CDD505-2E9C-101B-9397-08002B2CF9AE}" pid="6" name="MSIP_Label_66d8a90e-c522-4829-9625-db8c70f8b095_SiteId">
    <vt:lpwstr>cffa6640-7572-4f05-9c64-cd88068c19d4</vt:lpwstr>
  </property>
  <property fmtid="{D5CDD505-2E9C-101B-9397-08002B2CF9AE}" pid="7" name="MSIP_Label_66d8a90e-c522-4829-9625-db8c70f8b095_ActionId">
    <vt:lpwstr>7389f2fb-7370-4c14-9478-2a0bac7d8165</vt:lpwstr>
  </property>
  <property fmtid="{D5CDD505-2E9C-101B-9397-08002B2CF9AE}" pid="8" name="MSIP_Label_66d8a90e-c522-4829-9625-db8c70f8b095_ContentBits">
    <vt:lpwstr>0</vt:lpwstr>
  </property>
  <property fmtid="{D5CDD505-2E9C-101B-9397-08002B2CF9AE}" pid="9" name="MSIP_Label_66d8a90e-c522-4829-9625-db8c70f8b095_Tag">
    <vt:lpwstr>10, 0, 1, 1</vt:lpwstr>
  </property>
</Properties>
</file>