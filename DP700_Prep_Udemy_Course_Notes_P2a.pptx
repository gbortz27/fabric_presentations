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97" r:id="rId2"/>
    <p:sldId id="396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34" r:id="rId34"/>
    <p:sldId id="435" r:id="rId35"/>
    <p:sldId id="436" r:id="rId36"/>
    <p:sldId id="437" r:id="rId37"/>
    <p:sldId id="438" r:id="rId38"/>
    <p:sldId id="439" r:id="rId39"/>
    <p:sldId id="440" r:id="rId40"/>
    <p:sldId id="428" r:id="rId41"/>
    <p:sldId id="429" r:id="rId42"/>
    <p:sldId id="430" r:id="rId43"/>
    <p:sldId id="431" r:id="rId44"/>
    <p:sldId id="432" r:id="rId45"/>
    <p:sldId id="433" r:id="rId46"/>
    <p:sldId id="441" r:id="rId47"/>
    <p:sldId id="442" r:id="rId48"/>
    <p:sldId id="443" r:id="rId49"/>
    <p:sldId id="444" r:id="rId50"/>
    <p:sldId id="445" r:id="rId51"/>
    <p:sldId id="446" r:id="rId52"/>
    <p:sldId id="44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55D0BE-DF2F-4DD5-B6C8-6BC87C14FD3A}">
          <p14:sldIdLst/>
        </p14:section>
        <p14:section name="File Deleted A Variable" id="{8A56858B-BC77-4215-951B-9534CA0065D9}">
          <p14:sldIdLst/>
        </p14:section>
        <p14:section name="New Pipeline Orchestration" id="{343B46BA-D2E5-4960-8140-13297E6BFBA5}">
          <p14:sldIdLst/>
        </p14:section>
        <p14:section name="DataFlowGen2" id="{600AD1FF-8316-40FA-92CF-38E8C06E82FB}">
          <p14:sldIdLst/>
        </p14:section>
        <p14:section name="Connection ADLS Gen2" id="{0AC9BA3D-80BC-4E79-AE7E-E0B69FDDAD01}">
          <p14:sldIdLst/>
        </p14:section>
        <p14:section name="Bactesting Pipeline" id="{CAFD1DDA-DA6C-411F-B8A0-DAA2275CF55A}">
          <p14:sldIdLst/>
        </p14:section>
        <p14:section name="Triggers" id="{8E2EBB1E-15FC-4E20-9C76-245F12CA0AED}">
          <p14:sldIdLst/>
        </p14:section>
        <p14:section name="S8. Spark Dev" id="{5FC7B8AA-4347-4E18-ACDA-9BC809E07A42}">
          <p14:sldIdLst>
            <p14:sldId id="397"/>
            <p14:sldId id="396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34"/>
            <p14:sldId id="435"/>
            <p14:sldId id="436"/>
            <p14:sldId id="437"/>
            <p14:sldId id="438"/>
            <p14:sldId id="439"/>
            <p14:sldId id="440"/>
            <p14:sldId id="428"/>
            <p14:sldId id="429"/>
            <p14:sldId id="430"/>
            <p14:sldId id="431"/>
            <p14:sldId id="432"/>
            <p14:sldId id="433"/>
            <p14:sldId id="441"/>
            <p14:sldId id="442"/>
            <p14:sldId id="443"/>
            <p14:sldId id="444"/>
            <p14:sldId id="445"/>
            <p14:sldId id="446"/>
            <p14:sldId id="447"/>
          </p14:sldIdLst>
        </p14:section>
        <p14:section name="Pipeline Orchestration" id="{5855B474-ADAD-40D4-A755-C45B5A6C3F14}">
          <p14:sldIdLst/>
        </p14:section>
        <p14:section name="Data Factory-  Fabric Ultimate Guide Course - Revision" id="{A65FF854-2C40-4BC5-BF79-20A06A7B4447}">
          <p14:sldIdLst/>
        </p14:section>
        <p14:section name="Data Factory-  Fabric Ultimate Guide Course - Revision" id="{9FF5407A-184D-4FC3-A3E1-C5F5F27D62BE}">
          <p14:sldIdLst/>
        </p14:section>
        <p14:section name="Data Factory-  Fabric Ultimate Guide Course - Revision" id="{8ED132F7-908D-4D21-B1C6-4FE3B8A83E06}">
          <p14:sldIdLst/>
        </p14:section>
        <p14:section name="Data Flow Gen 2" id="{9A0615DE-12F8-4F41-9A1E-E50088925C14}">
          <p14:sldIdLst/>
        </p14:section>
        <p14:section name="Important notes on data Factory" id="{987676E8-6D9A-4C4A-97E0-714F224F6EE8}">
          <p14:sldIdLst/>
        </p14:section>
        <p14:section name="Incremental_Refresh" id="{19D3C58D-00BA-412A-90FA-4E96A552A0F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2038" autoAdjust="0"/>
  </p:normalViewPr>
  <p:slideViewPr>
    <p:cSldViewPr snapToGrid="0">
      <p:cViewPr varScale="1">
        <p:scale>
          <a:sx n="61" d="100"/>
          <a:sy n="61" d="100"/>
        </p:scale>
        <p:origin x="8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10497-554C-4378-9C11-BE55D1208B54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6BF0D-08FC-4CF2-8F18-07FB086716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203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cluster of 3 machines, define the size </a:t>
            </a:r>
            <a:r>
              <a:rPr lang="en-US" dirty="0" err="1"/>
              <a:t>ie</a:t>
            </a:r>
            <a:r>
              <a:rPr lang="en-US" dirty="0"/>
              <a:t> 8 cores 84GB of Ram (Medium)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544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pools takes time to initiate </a:t>
            </a:r>
          </a:p>
          <a:p>
            <a:r>
              <a:rPr lang="en-US" dirty="0"/>
              <a:t>Starter Pools ..default capacity , advantage (1-10 machines , medium , always up and running always???), 5 to 10 seconds !!!</a:t>
            </a:r>
          </a:p>
          <a:p>
            <a:r>
              <a:rPr lang="en-US" dirty="0"/>
              <a:t>Why is custom turned on ?? I just </a:t>
            </a:r>
            <a:r>
              <a:rPr lang="en-US" dirty="0" err="1"/>
              <a:t>sawit</a:t>
            </a:r>
            <a:r>
              <a:rPr lang="en-US" dirty="0"/>
              <a:t> was on ?.. Didn’t increase speed when changed environment.</a:t>
            </a:r>
          </a:p>
          <a:p>
            <a:r>
              <a:rPr lang="en-US" dirty="0"/>
              <a:t>Says if private end points are used , starter pools =2 to 3 minutes.</a:t>
            </a:r>
          </a:p>
          <a:p>
            <a:r>
              <a:rPr lang="en-US" dirty="0"/>
              <a:t>So the machine is not up and running.  In Dev you want </a:t>
            </a:r>
            <a:r>
              <a:rPr lang="en-US" dirty="0" err="1"/>
              <a:t>quicjk</a:t>
            </a:r>
            <a:r>
              <a:rPr lang="en-US" dirty="0"/>
              <a:t> config.</a:t>
            </a:r>
          </a:p>
          <a:p>
            <a:r>
              <a:rPr lang="en-US" dirty="0"/>
              <a:t>In production you create a custom cluster ..you can specify the size. You cant change starter pool settings </a:t>
            </a:r>
          </a:p>
          <a:p>
            <a:r>
              <a:rPr lang="en-US" dirty="0"/>
              <a:t>ONLY 1 machine runs continuously…cant change that or size. 8 core ..64 </a:t>
            </a:r>
            <a:r>
              <a:rPr lang="en-US" dirty="0" err="1"/>
              <a:t>Gbyte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636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Workloads / </a:t>
            </a:r>
            <a:r>
              <a:rPr lang="en-US" dirty="0" err="1"/>
              <a:t>dataengineering</a:t>
            </a:r>
            <a:r>
              <a:rPr lang="en-US" dirty="0"/>
              <a:t> route </a:t>
            </a:r>
          </a:p>
          <a:p>
            <a:r>
              <a:rPr lang="en-US" dirty="0"/>
              <a:t>See item types on the left.</a:t>
            </a:r>
          </a:p>
          <a:p>
            <a:r>
              <a:rPr lang="en-US" dirty="0"/>
              <a:t>He first creates a </a:t>
            </a:r>
            <a:r>
              <a:rPr lang="en-US" dirty="0" err="1"/>
              <a:t>lakehouse</a:t>
            </a:r>
            <a:r>
              <a:rPr lang="en-US" dirty="0"/>
              <a:t>, then notebook.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006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is running starter pools I am not</a:t>
            </a:r>
          </a:p>
          <a:p>
            <a:r>
              <a:rPr lang="en-US" dirty="0"/>
              <a:t>Yu can </a:t>
            </a:r>
            <a:r>
              <a:rPr lang="en-US" dirty="0" err="1"/>
              <a:t>viewe</a:t>
            </a:r>
            <a:r>
              <a:rPr lang="en-US" dirty="0"/>
              <a:t> session info from the standard </a:t>
            </a:r>
            <a:r>
              <a:rPr lang="en-US" dirty="0" err="1"/>
              <a:t>seession</a:t>
            </a:r>
            <a:r>
              <a:rPr lang="en-US" dirty="0"/>
              <a:t> drop down. 19 minutes expiry.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45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</a:t>
            </a:r>
            <a:r>
              <a:rPr lang="en-US" dirty="0" err="1"/>
              <a:t>pyspark</a:t>
            </a:r>
            <a:r>
              <a:rPr lang="en-US" dirty="0"/>
              <a:t> selected ..at the top , hence cells are expecting spark.  But </a:t>
            </a:r>
            <a:r>
              <a:rPr lang="en-US" dirty="0" err="1"/>
              <a:t>hve</a:t>
            </a:r>
            <a:r>
              <a:rPr lang="en-US" dirty="0"/>
              <a:t> other , T </a:t>
            </a:r>
            <a:r>
              <a:rPr lang="en-US" dirty="0" err="1"/>
              <a:t>sql</a:t>
            </a:r>
            <a:r>
              <a:rPr lang="en-US" dirty="0"/>
              <a:t> as well.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3854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in: Fabric created the spark Session …spark=</a:t>
            </a:r>
            <a:r>
              <a:rPr lang="en-US" dirty="0" err="1"/>
              <a:t>SparkSession</a:t>
            </a:r>
            <a:r>
              <a:rPr lang="en-US" dirty="0"/>
              <a:t>()</a:t>
            </a:r>
          </a:p>
          <a:p>
            <a:r>
              <a:rPr lang="en-US" dirty="0"/>
              <a:t>Gets Error if use </a:t>
            </a:r>
            <a:r>
              <a:rPr lang="en-US" dirty="0" err="1"/>
              <a:t>reloative</a:t>
            </a:r>
            <a:r>
              <a:rPr lang="en-US" dirty="0"/>
              <a:t> path …Why? Note the pin was on silver </a:t>
            </a:r>
            <a:r>
              <a:rPr lang="en-US" dirty="0" err="1"/>
              <a:t>lakehouse</a:t>
            </a:r>
            <a:r>
              <a:rPr lang="en-US" dirty="0"/>
              <a:t> so that </a:t>
            </a:r>
            <a:r>
              <a:rPr lang="en-US" dirty="0" err="1"/>
              <a:t>lakehouse</a:t>
            </a:r>
            <a:r>
              <a:rPr lang="en-US" dirty="0"/>
              <a:t> is the default… you need to use another </a:t>
            </a:r>
            <a:r>
              <a:rPr lang="en-US" dirty="0" err="1"/>
              <a:t>lakehouse</a:t>
            </a:r>
            <a:r>
              <a:rPr lang="en-US" dirty="0"/>
              <a:t> as we have </a:t>
            </a:r>
            <a:r>
              <a:rPr lang="en-US" dirty="0" err="1"/>
              <a:t>multile</a:t>
            </a:r>
            <a:r>
              <a:rPr lang="en-US" dirty="0"/>
              <a:t> </a:t>
            </a:r>
            <a:r>
              <a:rPr lang="en-US" dirty="0" err="1"/>
              <a:t>lakehouse</a:t>
            </a:r>
            <a:r>
              <a:rPr lang="en-US" dirty="0"/>
              <a:t> here ??..ONLY USE RELATIVE IF YOUR LAKEHOUSE IS SILVER, as that was pinned. </a:t>
            </a:r>
          </a:p>
          <a:p>
            <a:r>
              <a:rPr lang="en-US" dirty="0"/>
              <a:t>Therefore use </a:t>
            </a:r>
            <a:r>
              <a:rPr lang="en-US" dirty="0" err="1"/>
              <a:t>abfs</a:t>
            </a:r>
            <a:r>
              <a:rPr lang="en-US" dirty="0"/>
              <a:t> path ,,,when you have multiple warehouses.. </a:t>
            </a:r>
            <a:r>
              <a:rPr lang="en-US" dirty="0" err="1"/>
              <a:t>Thererfore</a:t>
            </a:r>
            <a:r>
              <a:rPr lang="en-US" dirty="0"/>
              <a:t> always use full </a:t>
            </a:r>
            <a:r>
              <a:rPr lang="en-US" dirty="0" err="1"/>
              <a:t>url</a:t>
            </a:r>
            <a:r>
              <a:rPr lang="en-US" dirty="0"/>
              <a:t>. </a:t>
            </a:r>
          </a:p>
          <a:p>
            <a:r>
              <a:rPr lang="en-US" dirty="0" err="1"/>
              <a:t>Abfs</a:t>
            </a:r>
            <a:r>
              <a:rPr lang="en-US" dirty="0"/>
              <a:t>..Azure Blob Storage….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8539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Fabric we just have one lake so its </a:t>
            </a:r>
            <a:r>
              <a:rPr lang="en-US" dirty="0" err="1"/>
              <a:t>lakehouse</a:t>
            </a:r>
            <a:r>
              <a:rPr lang="en-US" dirty="0"/>
              <a:t> @ </a:t>
            </a:r>
            <a:r>
              <a:rPr lang="en-US" dirty="0" err="1"/>
              <a:t>onelake</a:t>
            </a:r>
            <a:r>
              <a:rPr lang="en-US" dirty="0"/>
              <a:t> , see above </a:t>
            </a:r>
          </a:p>
          <a:p>
            <a:r>
              <a:rPr lang="en-US" dirty="0"/>
              <a:t>Must import </a:t>
            </a:r>
            <a:r>
              <a:rPr lang="en-US" dirty="0" err="1"/>
              <a:t>libraruies</a:t>
            </a:r>
            <a:r>
              <a:rPr lang="en-US" dirty="0"/>
              <a:t> </a:t>
            </a:r>
          </a:p>
          <a:p>
            <a:r>
              <a:rPr lang="en-US" dirty="0"/>
              <a:t>With column renamed … do it with old then new column </a:t>
            </a:r>
          </a:p>
          <a:p>
            <a:r>
              <a:rPr lang="en-US" dirty="0"/>
              <a:t>Print the Schema.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585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Output with </a:t>
            </a:r>
            <a:r>
              <a:rPr lang="en-US" dirty="0" err="1"/>
              <a:t>PrintSchema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931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</a:t>
            </a:r>
            <a:r>
              <a:rPr lang="en-US" dirty="0" err="1"/>
              <a:t>Entere</a:t>
            </a:r>
            <a:r>
              <a:rPr lang="en-US" dirty="0"/>
              <a:t> ..New Cell.. Look at the data type </a:t>
            </a:r>
            <a:r>
              <a:rPr lang="en-US" dirty="0" err="1"/>
              <a:t>carefully..numbers</a:t>
            </a:r>
            <a:r>
              <a:rPr lang="en-US" dirty="0"/>
              <a:t> cannot be strings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937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in date column. He tried without moving space , checked the schema.</a:t>
            </a:r>
          </a:p>
          <a:p>
            <a:r>
              <a:rPr lang="en-US" dirty="0"/>
              <a:t>The date string must be in the right format, for the conversion to take place .. So here it was already in the standard format. Ie </a:t>
            </a:r>
            <a:r>
              <a:rPr lang="en-US" dirty="0" err="1"/>
              <a:t>yyyy</a:t>
            </a:r>
            <a:r>
              <a:rPr lang="en-US" dirty="0"/>
              <a:t>-MM-</a:t>
            </a:r>
            <a:r>
              <a:rPr lang="en-US" dirty="0" err="1"/>
              <a:t>ddsee</a:t>
            </a:r>
            <a:r>
              <a:rPr lang="en-US" dirty="0"/>
              <a:t> above , </a:t>
            </a:r>
          </a:p>
          <a:p>
            <a:r>
              <a:rPr lang="en-US" dirty="0"/>
              <a:t>Do the </a:t>
            </a:r>
            <a:r>
              <a:rPr lang="en-US" dirty="0" err="1"/>
              <a:t>concatting</a:t>
            </a:r>
            <a:r>
              <a:rPr lang="en-US" dirty="0"/>
              <a:t> to convert that string column.</a:t>
            </a:r>
          </a:p>
          <a:p>
            <a:r>
              <a:rPr lang="en-US" dirty="0"/>
              <a:t>Be </a:t>
            </a:r>
            <a:r>
              <a:rPr lang="en-US" dirty="0" err="1"/>
              <a:t>carefull</a:t>
            </a:r>
            <a:r>
              <a:rPr lang="en-US" dirty="0"/>
              <a:t> of nulls polluting your columns.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4658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don’t have </a:t>
            </a:r>
            <a:r>
              <a:rPr lang="en-US" dirty="0" err="1"/>
              <a:t>inferschema</a:t>
            </a:r>
            <a:r>
              <a:rPr lang="en-US" dirty="0"/>
              <a:t> set true… all is strings…, note the option .. Note the \ for the second line </a:t>
            </a:r>
          </a:p>
          <a:p>
            <a:r>
              <a:rPr lang="en-US" dirty="0"/>
              <a:t>IT DID NOT WORK!!!   Why? </a:t>
            </a:r>
          </a:p>
          <a:p>
            <a:r>
              <a:rPr lang="en-US" dirty="0"/>
              <a:t>INFER SCHEMA ..on top of CSV works !!!</a:t>
            </a:r>
          </a:p>
          <a:p>
            <a:r>
              <a:rPr lang="en-US" dirty="0"/>
              <a:t>INFER SCHEMA on top of Parquet …DOES not work…, parquet has their own schema!!! At footer. </a:t>
            </a:r>
          </a:p>
          <a:p>
            <a:r>
              <a:rPr lang="en-US" dirty="0"/>
              <a:t>So you must apply transformations.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3868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Uppercase: String Functions </a:t>
            </a:r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products has many nulls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3690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Gettinmg</a:t>
            </a:r>
            <a:r>
              <a:rPr lang="en-US" dirty="0"/>
              <a:t> rid of nulls using dictionary </a:t>
            </a:r>
          </a:p>
          <a:p>
            <a:r>
              <a:rPr lang="en-US" dirty="0"/>
              <a:t>Multiple with column replacements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248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put the </a:t>
            </a:r>
            <a:r>
              <a:rPr lang="en-US" dirty="0" err="1"/>
              <a:t>df</a:t>
            </a:r>
            <a:r>
              <a:rPr lang="en-US" dirty="0"/>
              <a:t> </a:t>
            </a:r>
            <a:r>
              <a:rPr lang="en-US" dirty="0" err="1"/>
              <a:t>infrom</a:t>
            </a:r>
            <a:r>
              <a:rPr lang="en-US" dirty="0"/>
              <a:t> of equals we may just want to see the result.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4468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hase</a:t>
            </a:r>
            <a:r>
              <a:rPr lang="en-US" dirty="0"/>
              <a:t> options , any, threshold , etc. and what columns you want the dropping of </a:t>
            </a:r>
            <a:r>
              <a:rPr lang="en-US" dirty="0" err="1"/>
              <a:t>na’s</a:t>
            </a:r>
            <a:r>
              <a:rPr lang="en-US" dirty="0"/>
              <a:t> , </a:t>
            </a:r>
            <a:r>
              <a:rPr lang="en-US" dirty="0" err="1"/>
              <a:t>csan</a:t>
            </a:r>
            <a:r>
              <a:rPr lang="en-US" dirty="0"/>
              <a:t> be a lists etc. </a:t>
            </a:r>
          </a:p>
          <a:p>
            <a:r>
              <a:rPr lang="en-US" dirty="0"/>
              <a:t>So the above </a:t>
            </a:r>
            <a:r>
              <a:rPr lang="en-US" dirty="0" err="1"/>
              <a:t>wil</a:t>
            </a:r>
            <a:r>
              <a:rPr lang="en-US" dirty="0"/>
              <a:t> only remove nulls from either of the columns listed.  Oe </a:t>
            </a:r>
            <a:r>
              <a:rPr lang="en-US" dirty="0" err="1"/>
              <a:t>wew</a:t>
            </a:r>
            <a:r>
              <a:rPr lang="en-US" dirty="0"/>
              <a:t> can make it to remove only </a:t>
            </a:r>
            <a:r>
              <a:rPr lang="en-US" dirty="0" err="1"/>
              <a:t>oif</a:t>
            </a:r>
            <a:r>
              <a:rPr lang="en-US" dirty="0"/>
              <a:t> nulls in both columns, above shows either of cols where null is drop that row. </a:t>
            </a:r>
          </a:p>
          <a:p>
            <a:r>
              <a:rPr lang="en-US" dirty="0"/>
              <a:t>Once removing rows we can cast as </a:t>
            </a:r>
            <a:r>
              <a:rPr lang="en-US" dirty="0" err="1"/>
              <a:t>Timesrtamp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963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</a:t>
            </a:r>
            <a:r>
              <a:rPr lang="en-US" dirty="0" err="1"/>
              <a:t>dataframe</a:t>
            </a:r>
            <a:r>
              <a:rPr lang="en-US" dirty="0"/>
              <a:t> to View..</a:t>
            </a:r>
            <a:r>
              <a:rPr lang="en-US" dirty="0" err="1"/>
              <a:t>createOrReplaceTempView</a:t>
            </a:r>
            <a:endParaRPr lang="en-US" dirty="0"/>
          </a:p>
          <a:p>
            <a:r>
              <a:rPr lang="en-US" dirty="0"/>
              <a:t>Can also use the </a:t>
            </a:r>
            <a:r>
              <a:rPr lang="en-US" dirty="0" err="1"/>
              <a:t>spark.sql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</a:t>
            </a:r>
          </a:p>
          <a:p>
            <a:r>
              <a:rPr lang="en-US" dirty="0"/>
              <a:t>Especially useful for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anal;ytic</a:t>
            </a:r>
            <a:r>
              <a:rPr lang="en-US" dirty="0"/>
              <a:t> functions.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4893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how do we make this int a </a:t>
            </a:r>
            <a:r>
              <a:rPr lang="en-US" dirty="0" err="1"/>
              <a:t>dataframe</a:t>
            </a:r>
            <a:r>
              <a:rPr lang="en-US" dirty="0"/>
              <a:t> . We use </a:t>
            </a:r>
            <a:r>
              <a:rPr lang="en-US" dirty="0" err="1"/>
              <a:t>Spark.sql</a:t>
            </a:r>
            <a:r>
              <a:rPr lang="en-US" dirty="0"/>
              <a:t> on the above ..se overleaf.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7193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 3 double quotes inside the SQL ..must have “””   “””</a:t>
            </a:r>
          </a:p>
          <a:p>
            <a:r>
              <a:rPr lang="en-US" dirty="0"/>
              <a:t>Note the View is not saved anywhere.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8797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plus new chart once you have a table view of the </a:t>
            </a:r>
            <a:r>
              <a:rPr lang="en-US" dirty="0" err="1"/>
              <a:t>dataframe</a:t>
            </a:r>
            <a:r>
              <a:rPr lang="en-US" dirty="0"/>
              <a:t>, gives an auto viz of the chart , click on Start editing on bottom </a:t>
            </a:r>
            <a:r>
              <a:rPr lang="en-US" dirty="0" err="1"/>
              <a:t>righy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6376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writer in Spark. </a:t>
            </a:r>
          </a:p>
          <a:p>
            <a:r>
              <a:rPr lang="en-US" dirty="0"/>
              <a:t>In our use case we create Managed Tables (Spark).</a:t>
            </a:r>
          </a:p>
          <a:p>
            <a:r>
              <a:rPr lang="en-US" dirty="0"/>
              <a:t>We have a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  <a:p>
            <a:r>
              <a:rPr lang="en-US" dirty="0"/>
              <a:t>All the scenarios , format is delta format : </a:t>
            </a:r>
          </a:p>
          <a:p>
            <a:r>
              <a:rPr lang="en-US" dirty="0"/>
              <a:t>Error format ..if it sees file it will throw </a:t>
            </a:r>
            <a:r>
              <a:rPr lang="en-US" dirty="0" err="1"/>
              <a:t>erreor</a:t>
            </a:r>
            <a:r>
              <a:rPr lang="en-US" dirty="0"/>
              <a:t> ..ignore </a:t>
            </a:r>
            <a:r>
              <a:rPr lang="en-US" dirty="0" err="1"/>
              <a:t>wil</a:t>
            </a:r>
            <a:r>
              <a:rPr lang="en-US" dirty="0"/>
              <a:t> ignore </a:t>
            </a:r>
            <a:r>
              <a:rPr lang="en-US" dirty="0" err="1"/>
              <a:t>te</a:t>
            </a:r>
            <a:r>
              <a:rPr lang="en-US" dirty="0"/>
              <a:t> file already there </a:t>
            </a:r>
          </a:p>
          <a:p>
            <a:r>
              <a:rPr lang="en-US" dirty="0"/>
              <a:t>Append is most disciplined .. Just adds the new file.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1706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files are managed by us.. Is an external area.</a:t>
            </a:r>
          </a:p>
          <a:p>
            <a:r>
              <a:rPr lang="en-US" dirty="0"/>
              <a:t>Must pick relative or non relative / full path. </a:t>
            </a:r>
          </a:p>
          <a:p>
            <a:r>
              <a:rPr lang="en-US" dirty="0"/>
              <a:t>If it’s a default </a:t>
            </a:r>
            <a:r>
              <a:rPr lang="en-US" dirty="0" err="1"/>
              <a:t>lakehouse</a:t>
            </a:r>
            <a:r>
              <a:rPr lang="en-US" dirty="0"/>
              <a:t> it can be a relative path. </a:t>
            </a:r>
          </a:p>
          <a:p>
            <a:r>
              <a:rPr lang="en-US" dirty="0"/>
              <a:t>See the name raw source is now a folder name with files in it – we are creating an external location . Managed by us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4127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Mustt</a:t>
            </a:r>
            <a:r>
              <a:rPr lang="en-US" dirty="0"/>
              <a:t> use </a:t>
            </a:r>
            <a:r>
              <a:rPr lang="en-US" dirty="0" err="1"/>
              <a:t>lakehouse</a:t>
            </a:r>
            <a:r>
              <a:rPr lang="en-US" dirty="0"/>
              <a:t> . Table name – why , well if its default ..u </a:t>
            </a:r>
            <a:r>
              <a:rPr lang="en-US" dirty="0" err="1"/>
              <a:t>donr</a:t>
            </a:r>
            <a:r>
              <a:rPr lang="en-US" dirty="0"/>
              <a:t> need to put </a:t>
            </a:r>
            <a:r>
              <a:rPr lang="en-US" dirty="0" err="1"/>
              <a:t>Lhouse</a:t>
            </a:r>
            <a:r>
              <a:rPr lang="en-US" dirty="0"/>
              <a:t> </a:t>
            </a:r>
            <a:r>
              <a:rPr lang="en-US" dirty="0" err="1"/>
              <a:t>inj</a:t>
            </a:r>
            <a:r>
              <a:rPr lang="en-US" dirty="0"/>
              <a:t> front of table name it will write it there.</a:t>
            </a:r>
          </a:p>
          <a:p>
            <a:r>
              <a:rPr lang="en-US" dirty="0"/>
              <a:t>Note it will go to default </a:t>
            </a:r>
            <a:r>
              <a:rPr lang="en-US" dirty="0" err="1"/>
              <a:t>lakehouse</a:t>
            </a:r>
            <a:r>
              <a:rPr lang="en-US" dirty="0"/>
              <a:t> </a:t>
            </a:r>
          </a:p>
          <a:p>
            <a:r>
              <a:rPr lang="en-US" dirty="0"/>
              <a:t>So now if we want it to go to </a:t>
            </a:r>
            <a:r>
              <a:rPr lang="en-US" dirty="0" err="1"/>
              <a:t>Sbronze</a:t>
            </a:r>
            <a:r>
              <a:rPr lang="en-US" dirty="0"/>
              <a:t> ..</a:t>
            </a:r>
            <a:r>
              <a:rPr lang="en-US" dirty="0" err="1"/>
              <a:t>whatr</a:t>
            </a:r>
            <a:r>
              <a:rPr lang="en-US" dirty="0"/>
              <a:t> then?</a:t>
            </a:r>
          </a:p>
          <a:p>
            <a:r>
              <a:rPr lang="en-US" dirty="0"/>
              <a:t>See above ..we control the </a:t>
            </a:r>
            <a:r>
              <a:rPr lang="en-US" dirty="0" err="1"/>
              <a:t>lakehouse</a:t>
            </a:r>
            <a:r>
              <a:rPr lang="en-US" dirty="0"/>
              <a:t> to where we write. See success in other </a:t>
            </a:r>
            <a:r>
              <a:rPr lang="en-US" dirty="0" err="1"/>
              <a:t>lakehousew</a:t>
            </a:r>
            <a:r>
              <a:rPr lang="en-US" dirty="0"/>
              <a:t>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9635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Cant create a short cut to csv table .</a:t>
            </a:r>
          </a:p>
          <a:p>
            <a:r>
              <a:rPr lang="en-US" dirty="0"/>
              <a:t>CSV TABLE IS NOT A DELTA TABLE !!!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479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save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meatadata</a:t>
            </a:r>
            <a:r>
              <a:rPr lang="en-US" dirty="0"/>
              <a:t> in tables and I can specify where I write my files . Can give relative path </a:t>
            </a:r>
          </a:p>
          <a:p>
            <a:r>
              <a:rPr lang="en-US" dirty="0"/>
              <a:t>Table in same section but data in my specified area. Ie my data in file area. </a:t>
            </a:r>
          </a:p>
          <a:p>
            <a:r>
              <a:rPr lang="en-US" dirty="0"/>
              <a:t>Validate by going to lake house to see files </a:t>
            </a:r>
          </a:p>
          <a:p>
            <a:r>
              <a:rPr lang="en-US" dirty="0"/>
              <a:t>For </a:t>
            </a:r>
            <a:r>
              <a:rPr lang="en-US" dirty="0" err="1"/>
              <a:t>manged</a:t>
            </a:r>
            <a:r>
              <a:rPr lang="en-US" dirty="0"/>
              <a:t> table I can see files in the tables area, but not for unmanaged , they are in the files </a:t>
            </a:r>
            <a:r>
              <a:rPr lang="en-US" dirty="0" err="1"/>
              <a:t>area.S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3267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use full path , abs path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6178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bootup time difference </a:t>
            </a:r>
          </a:p>
          <a:p>
            <a:r>
              <a:rPr lang="en-US" dirty="0"/>
              <a:t>Fs is like your OS module in programming ..most important.</a:t>
            </a:r>
          </a:p>
          <a:p>
            <a:r>
              <a:rPr lang="en-US" dirty="0"/>
              <a:t>Second most important is notebook itself.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3520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22971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On;ly</a:t>
            </a:r>
            <a:r>
              <a:rPr lang="en-US" dirty="0"/>
              <a:t> one and 1 by 1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1343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4547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09067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left is the Run Notebook,</a:t>
            </a:r>
          </a:p>
          <a:p>
            <a:r>
              <a:rPr lang="en-US" dirty="0"/>
              <a:t>On the right is the calling Notebook , wit the result of the run </a:t>
            </a:r>
            <a:r>
              <a:rPr lang="en-US" dirty="0" err="1"/>
              <a:t>call..with</a:t>
            </a:r>
            <a:r>
              <a:rPr lang="en-US" dirty="0"/>
              <a:t> no parameter..</a:t>
            </a:r>
          </a:p>
          <a:p>
            <a:r>
              <a:rPr lang="en-US" dirty="0"/>
              <a:t>So it resulted in Bye </a:t>
            </a:r>
            <a:r>
              <a:rPr lang="en-US" dirty="0" err="1"/>
              <a:t>Bye</a:t>
            </a:r>
            <a:r>
              <a:rPr lang="en-US" dirty="0"/>
              <a:t> Graham </a:t>
            </a:r>
          </a:p>
          <a:p>
            <a:r>
              <a:rPr lang="en-US" dirty="0"/>
              <a:t>Then we called it with a parameter , with 100 timeout parameters , parameter was Peter </a:t>
            </a:r>
          </a:p>
          <a:p>
            <a:r>
              <a:rPr lang="en-US" dirty="0"/>
              <a:t>See result overleaf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MUST PUT THE setting 100 in the second position  !!!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44107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use of the parameter ..you </a:t>
            </a:r>
            <a:r>
              <a:rPr lang="en-US" dirty="0" err="1"/>
              <a:t>canm</a:t>
            </a:r>
            <a:r>
              <a:rPr lang="en-US" dirty="0"/>
              <a:t> save the output in a </a:t>
            </a:r>
            <a:r>
              <a:rPr lang="en-US" dirty="0" err="1"/>
              <a:t>variale</a:t>
            </a:r>
            <a:r>
              <a:rPr lang="en-US" dirty="0"/>
              <a:t>. And use it in the calling notebook </a:t>
            </a:r>
          </a:p>
          <a:p>
            <a:r>
              <a:rPr lang="en-US" dirty="0" err="1"/>
              <a:t>Serach</a:t>
            </a:r>
            <a:r>
              <a:rPr lang="en-US" dirty="0"/>
              <a:t> for Notebook utils in google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1546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SQL so change to </a:t>
            </a:r>
            <a:r>
              <a:rPr lang="en-US" dirty="0" err="1"/>
              <a:t>sql</a:t>
            </a:r>
            <a:r>
              <a:rPr lang="en-US" dirty="0"/>
              <a:t> programming cell in Notebook.</a:t>
            </a:r>
          </a:p>
          <a:p>
            <a:r>
              <a:rPr lang="en-US" dirty="0"/>
              <a:t>Is a managed Table else provide location</a:t>
            </a:r>
          </a:p>
          <a:p>
            <a:r>
              <a:rPr lang="en-US" dirty="0"/>
              <a:t>See Delta Table above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78043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update </a:t>
            </a:r>
            <a:r>
              <a:rPr lang="en-US" dirty="0" err="1"/>
              <a:t>thye</a:t>
            </a:r>
            <a:r>
              <a:rPr lang="en-US" dirty="0"/>
              <a:t> table , </a:t>
            </a:r>
            <a:r>
              <a:rPr lang="en-US" dirty="0" err="1"/>
              <a:t>wew</a:t>
            </a:r>
            <a:r>
              <a:rPr lang="en-US" dirty="0"/>
              <a:t> use an update command </a:t>
            </a:r>
          </a:p>
          <a:p>
            <a:r>
              <a:rPr lang="en-US" dirty="0"/>
              <a:t>He now deletes a record as well , but make an error and deletes all the records in  the table </a:t>
            </a:r>
          </a:p>
          <a:p>
            <a:r>
              <a:rPr lang="en-US" dirty="0"/>
              <a:t>We ne4ed them back , but which version. Look at describe history command </a:t>
            </a:r>
          </a:p>
          <a:p>
            <a:r>
              <a:rPr lang="en-US" dirty="0"/>
              <a:t>See version col; every operation in a different version.</a:t>
            </a:r>
          </a:p>
          <a:p>
            <a:r>
              <a:rPr lang="en-US" dirty="0"/>
              <a:t>In actual fact we want to ignore the 3</a:t>
            </a:r>
            <a:r>
              <a:rPr lang="en-US" baseline="30000" dirty="0"/>
              <a:t>rd</a:t>
            </a:r>
            <a:r>
              <a:rPr lang="en-US" dirty="0"/>
              <a:t> version and go back to V2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963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A393-22E5-E56D-F0E9-D94F833BD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8C6EC-E3F5-65B9-A4DA-83E0AAC1C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B846-787A-E8B8-7354-834A690D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AD875-58E0-7DF1-A546-295854EF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2F3A-7C14-192E-4426-9F99D07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711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254A-CCF0-82A9-27E7-A6A15E39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8596-B133-B909-ABB5-8B4F12B0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EEB6-036A-3466-35AF-28D4D5AA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E371-7375-E679-43DD-4DF91EAC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5EEF-3616-94F8-5C2D-A32DCF6D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419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F1E6-2CE8-40C8-D5DF-551514E6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8A930-7F20-7312-0A49-592F0A85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56EB9-73CC-A919-39B2-55256F4E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F7909-6A5A-12E7-D89D-A92A1B8A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DF94-9543-FEC7-B6A9-07FBBE21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05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E779-C2B2-C566-300D-ECE3EA09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BD71B-2154-D84F-4D9A-3B9BC36DC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C507B-7A76-0F9D-1001-EE0088919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174D2-F916-3455-33DD-BB232974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C80B3-5F76-D8CD-936F-023C301A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15A97-CA39-4B61-0F6A-D78819BC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6518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1212-5CB2-A1FD-5CD5-8D0EEA43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898D-6305-F624-4603-68EC91FA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9130C-1B50-1480-2C41-2F69C915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D4B4A-3BC3-9162-8687-D0AFD01A1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721DB-4EF1-7150-EA76-6272E0350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EFFA1-6AE6-ACB2-EE4D-20811DF0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F65BE-4808-F080-FD97-502E16E6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473DB-FD17-E454-6940-1503481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019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9746-4E53-42A6-98E1-9E36E6ED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62FFD-95BA-7EFB-E8F9-B00BA16C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5B8EB-822C-00F4-3C8D-F946D0E7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EE49-B158-7234-09F2-C4A8999A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224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AEFCC-B238-1912-CAD1-C72445C7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17CAF-29E8-F4FE-5658-D253AFA2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1910A-E234-1075-838B-8072B53E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4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EDA-A202-73B6-337D-26FE1D2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53AE1-8E33-0EE2-7FBA-2EB3CF1E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823AD-90D2-5F18-2773-7AFFA3F9D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EE50E-CE7F-3097-85A1-773E3E12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CFB4C-E7E7-35D2-E1C1-C11BC8B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F730A-2153-9662-B8C0-65CBF4C9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887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7405-5FFE-1FAC-9716-A060A2E2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2323B-B385-AB85-1A63-0A687724C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882E7-567F-A07F-77D1-B5CE98DF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2003-5D4F-1A63-FD58-E174F61B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E243A-58DF-28B1-473F-27B935B2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21571-D1B8-DD55-499D-A5941B4E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483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90CF-E6AE-931D-2C6E-6DA0C01A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80078-8374-7579-537A-CD7AF533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B4DEB-660D-38E3-B862-D8EAF51C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9C75-412B-953C-3373-30430142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DAC3-BFB0-E816-A993-CF28B4FC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816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85373-E3FF-A212-5F86-1ED8F8040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98F71-CFC5-DEF0-1D6D-43A16A9BB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E90B-8F81-8D98-5DB8-9B568B0F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E7AF-F976-2D0B-A67D-5B3E06BB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58B4-9347-467F-BFDB-E9AD5D95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094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06306-B904-77F9-CFCF-F8866CEB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10C60-C208-3BFE-8974-BA9D4F9DE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49EDD-CDAE-1844-E5AF-5DDDEAE0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893C9-644C-260F-615C-924E0397D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7418-D000-20E9-9893-1C0814D9F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983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6F2A-CC4D-6738-F93F-FA3384BA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3555"/>
          </a:xfrm>
        </p:spPr>
        <p:txBody>
          <a:bodyPr>
            <a:normAutofit fontScale="90000"/>
          </a:bodyPr>
          <a:lstStyle/>
          <a:p>
            <a:r>
              <a:rPr lang="en-US" dirty="0"/>
              <a:t>62. Understand Spark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B22E3-AFC6-1874-8B7E-20ED77D5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r>
              <a:rPr lang="en-US" dirty="0"/>
              <a:t>Distributed machines.</a:t>
            </a:r>
          </a:p>
          <a:p>
            <a:r>
              <a:rPr lang="en-US" dirty="0"/>
              <a:t>Clusters /Pools</a:t>
            </a:r>
          </a:p>
          <a:p>
            <a:r>
              <a:rPr lang="en-US" dirty="0"/>
              <a:t>One machine is a node.  With multiple cores.</a:t>
            </a:r>
          </a:p>
          <a:p>
            <a:r>
              <a:rPr lang="en-US" dirty="0"/>
              <a:t>Hadoop – </a:t>
            </a:r>
            <a:r>
              <a:rPr lang="en-US" dirty="0" err="1"/>
              <a:t>drawback..intermediate</a:t>
            </a:r>
            <a:r>
              <a:rPr lang="en-US" dirty="0"/>
              <a:t> results to disk. </a:t>
            </a:r>
          </a:p>
          <a:p>
            <a:r>
              <a:rPr lang="en-US" dirty="0"/>
              <a:t>Spark , write to memory  and optimization </a:t>
            </a:r>
            <a:r>
              <a:rPr lang="en-US" dirty="0" err="1"/>
              <a:t>techniqus</a:t>
            </a:r>
            <a:endParaRPr lang="en-US" dirty="0"/>
          </a:p>
          <a:p>
            <a:r>
              <a:rPr lang="en-US" dirty="0" err="1"/>
              <a:t>Pyspark</a:t>
            </a:r>
            <a:r>
              <a:rPr lang="en-US" dirty="0"/>
              <a:t>, python API wrapper on Spark(Java/Scala)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5495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B9A6-B73A-BF7D-B385-06BF6356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dirty="0"/>
              <a:t>62. Node Sizes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1231E9-E639-FE12-B62E-442374B13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1080" y="1106290"/>
            <a:ext cx="8229600" cy="2627510"/>
          </a:xfrm>
        </p:spPr>
      </p:pic>
    </p:spTree>
    <p:extLst>
      <p:ext uri="{BB962C8B-B14F-4D97-AF65-F5344CB8AC3E}">
        <p14:creationId xmlns:p14="http://schemas.microsoft.com/office/powerpoint/2010/main" val="92460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7F3B-FFE5-1235-F450-E4E1749F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1155"/>
          </a:xfrm>
        </p:spPr>
        <p:txBody>
          <a:bodyPr>
            <a:normAutofit fontScale="90000"/>
          </a:bodyPr>
          <a:lstStyle/>
          <a:p>
            <a:r>
              <a:rPr lang="en-US" dirty="0"/>
              <a:t>63. Pools (Starter / Custom)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019BA-7680-0829-946E-C98CDDFE8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32898"/>
            <a:ext cx="4419827" cy="12574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DBD2BF-6A53-1C64-9F29-F7AC1C24A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3764280"/>
            <a:ext cx="4745492" cy="251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BF8FA7-E01B-A2A2-5AB1-E44F22CA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10" y="190334"/>
            <a:ext cx="3581584" cy="32386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2B5568-298C-9969-C02E-ADD7FB6DC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68" y="2393897"/>
            <a:ext cx="3695890" cy="1035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9E0D79-93C8-501B-D7A0-AECA58107A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67" y="3921530"/>
            <a:ext cx="4419827" cy="23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6B49-5269-9474-3705-CF072A09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BDE0-3AB2-B7B5-AAE2-3F92D565B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396"/>
          </a:xfrm>
        </p:spPr>
        <p:txBody>
          <a:bodyPr/>
          <a:lstStyle/>
          <a:p>
            <a:r>
              <a:rPr lang="en-US" dirty="0"/>
              <a:t>65. Fabric Notebook Overview.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F172-6980-FB1E-4E69-BFA90F716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522"/>
            <a:ext cx="10515600" cy="509244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Go to workloads/ data engineering … go through the experience </a:t>
            </a:r>
          </a:p>
          <a:p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65003-A1D7-DB36-A5B9-11CC5EF1D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8998"/>
            <a:ext cx="10310654" cy="43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1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96F9-6F1F-452F-7309-DB3DCEB7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F5D9-90BC-AE55-2CDE-5BEC8DA8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settings you can schedule a notebook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41721-5A34-0017-F625-450DB9CF5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968" y="2025577"/>
            <a:ext cx="9667651" cy="4098775"/>
          </a:xfrm>
        </p:spPr>
      </p:pic>
    </p:spTree>
    <p:extLst>
      <p:ext uri="{BB962C8B-B14F-4D97-AF65-F5344CB8AC3E}">
        <p14:creationId xmlns:p14="http://schemas.microsoft.com/office/powerpoint/2010/main" val="52570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7AA8-3F55-D63E-FAFF-5F1DB375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6EE5-FE95-B17A-8DEA-7F23135D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41874" cy="1325563"/>
          </a:xfrm>
        </p:spPr>
        <p:txBody>
          <a:bodyPr/>
          <a:lstStyle/>
          <a:p>
            <a:r>
              <a:rPr lang="en-US" dirty="0"/>
              <a:t>Runs in 11 seconds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EE5E4F-E1F6-47BF-CE75-549F6DB95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59198" y="520666"/>
            <a:ext cx="5794602" cy="1325562"/>
          </a:xfr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FDEFAF-5BCB-C9DB-B893-EECD6D9E2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7" y="2528421"/>
            <a:ext cx="9156405" cy="38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06D8-6ED7-AB5B-75F7-08F76087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AF29-FB7C-8E37-9B5F-CA902702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info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8971F8-1481-767F-C64E-7FAC8223C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9241" y="1920399"/>
            <a:ext cx="5412527" cy="3017202"/>
          </a:xfrm>
        </p:spPr>
      </p:pic>
    </p:spTree>
    <p:extLst>
      <p:ext uri="{BB962C8B-B14F-4D97-AF65-F5344CB8AC3E}">
        <p14:creationId xmlns:p14="http://schemas.microsoft.com/office/powerpoint/2010/main" val="155033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A124-FBAD-6624-9547-79CC096F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949D-6779-929A-B1C6-7308ECBD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,,magic commands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FB53C-5604-FFCE-57CF-F1F79B539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628" y="1690688"/>
            <a:ext cx="4943371" cy="2051972"/>
          </a:xfrm>
        </p:spPr>
      </p:pic>
    </p:spTree>
    <p:extLst>
      <p:ext uri="{BB962C8B-B14F-4D97-AF65-F5344CB8AC3E}">
        <p14:creationId xmlns:p14="http://schemas.microsoft.com/office/powerpoint/2010/main" val="96750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1A2D-7542-A514-4510-AEDE9314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418B-AE64-1102-D74A-63F6DAC9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tips In </a:t>
            </a:r>
            <a:r>
              <a:rPr lang="en-US" dirty="0" err="1"/>
              <a:t>nOtebooks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298D-71D9-1B36-5035-69DCF2BC6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853"/>
            <a:ext cx="10515600" cy="505002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Note the undo in Edit …best to keep edit menu on . </a:t>
            </a:r>
          </a:p>
          <a:p>
            <a:r>
              <a:rPr lang="en-US" dirty="0">
                <a:solidFill>
                  <a:srgbClr val="FF0000"/>
                </a:solidFill>
              </a:rPr>
              <a:t>Browse code </a:t>
            </a:r>
            <a:r>
              <a:rPr lang="en-US" dirty="0" err="1">
                <a:solidFill>
                  <a:srgbClr val="FF0000"/>
                </a:solidFill>
              </a:rPr>
              <a:t>snippents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Look at data wrangler again .!!</a:t>
            </a:r>
          </a:p>
          <a:p>
            <a:r>
              <a:rPr lang="en-US" dirty="0">
                <a:solidFill>
                  <a:srgbClr val="FF0000"/>
                </a:solidFill>
              </a:rPr>
              <a:t>Note line numbers </a:t>
            </a:r>
          </a:p>
          <a:p>
            <a:r>
              <a:rPr lang="en-US" dirty="0" err="1">
                <a:solidFill>
                  <a:srgbClr val="FF0000"/>
                </a:solidFill>
              </a:rPr>
              <a:t>Whats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new..check</a:t>
            </a:r>
            <a:r>
              <a:rPr lang="en-US" dirty="0">
                <a:solidFill>
                  <a:srgbClr val="FF0000"/>
                </a:solidFill>
              </a:rPr>
              <a:t> it out. </a:t>
            </a:r>
          </a:p>
          <a:p>
            <a:r>
              <a:rPr lang="en-US" dirty="0">
                <a:solidFill>
                  <a:srgbClr val="FF0000"/>
                </a:solidFill>
              </a:rPr>
              <a:t>Resources Bar … 3 dots upload a file , and then refer to file in </a:t>
            </a:r>
            <a:r>
              <a:rPr lang="en-US" dirty="0" err="1">
                <a:solidFill>
                  <a:srgbClr val="FF0000"/>
                </a:solidFill>
              </a:rPr>
              <a:t>notebook..not</a:t>
            </a:r>
            <a:r>
              <a:rPr lang="en-US" dirty="0">
                <a:solidFill>
                  <a:srgbClr val="FF0000"/>
                </a:solidFill>
              </a:rPr>
              <a:t> even in </a:t>
            </a:r>
            <a:r>
              <a:rPr lang="en-US" dirty="0" err="1">
                <a:solidFill>
                  <a:srgbClr val="FF0000"/>
                </a:solidFill>
              </a:rPr>
              <a:t>lakehouse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Inputs attach </a:t>
            </a:r>
            <a:r>
              <a:rPr lang="en-US" dirty="0" err="1">
                <a:solidFill>
                  <a:srgbClr val="FF0000"/>
                </a:solidFill>
              </a:rPr>
              <a:t>lakehuse</a:t>
            </a:r>
            <a:r>
              <a:rPr lang="en-US" dirty="0">
                <a:solidFill>
                  <a:srgbClr val="FF0000"/>
                </a:solidFill>
              </a:rPr>
              <a:t> , see the pinned icon!</a:t>
            </a:r>
          </a:p>
          <a:p>
            <a:r>
              <a:rPr lang="en-US" dirty="0">
                <a:solidFill>
                  <a:srgbClr val="FF0000"/>
                </a:solidFill>
              </a:rPr>
              <a:t>Can </a:t>
            </a:r>
            <a:r>
              <a:rPr lang="en-US" dirty="0" err="1">
                <a:solidFill>
                  <a:srgbClr val="FF0000"/>
                </a:solidFill>
              </a:rPr>
              <a:t>attac</a:t>
            </a:r>
            <a:r>
              <a:rPr lang="en-US" dirty="0">
                <a:solidFill>
                  <a:srgbClr val="FF0000"/>
                </a:solidFill>
              </a:rPr>
              <a:t> multiple sources , and destination ..different </a:t>
            </a:r>
            <a:r>
              <a:rPr lang="en-US" dirty="0" err="1">
                <a:solidFill>
                  <a:srgbClr val="FF0000"/>
                </a:solidFill>
              </a:rPr>
              <a:t>lakehouses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Always pin destination </a:t>
            </a:r>
            <a:r>
              <a:rPr lang="en-US" dirty="0" err="1">
                <a:solidFill>
                  <a:srgbClr val="FF0000"/>
                </a:solidFill>
              </a:rPr>
              <a:t>lakehouse</a:t>
            </a:r>
            <a:r>
              <a:rPr lang="en-US">
                <a:solidFill>
                  <a:srgbClr val="FF0000"/>
                </a:solidFill>
              </a:rPr>
              <a:t>!!!</a:t>
            </a:r>
            <a:endParaRPr lang="en-US" dirty="0">
              <a:solidFill>
                <a:srgbClr val="FF0000"/>
              </a:solidFill>
            </a:endParaRPr>
          </a:p>
          <a:p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09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C076-4A46-404C-DCA5-3BAE3CA5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D45A-B2C6-6CDD-E340-244F1053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4682"/>
          </a:xfrm>
        </p:spPr>
        <p:txBody>
          <a:bodyPr>
            <a:normAutofit fontScale="90000"/>
          </a:bodyPr>
          <a:lstStyle/>
          <a:p>
            <a:r>
              <a:rPr lang="en-US" dirty="0"/>
              <a:t>66. </a:t>
            </a:r>
            <a:r>
              <a:rPr lang="en-US" dirty="0" err="1"/>
              <a:t>PySpark</a:t>
            </a:r>
            <a:r>
              <a:rPr lang="en-US" dirty="0"/>
              <a:t> Fundamentals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B97B4-7E5E-F337-520B-B2C56B7F3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540" y="1115605"/>
            <a:ext cx="2273417" cy="1987652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5A5BC-D7F1-C02F-0C08-71E66E353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19808"/>
            <a:ext cx="8539844" cy="1824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DD54C-0ACE-866D-43A1-BEBAE3B5D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40" y="3260803"/>
            <a:ext cx="2063856" cy="1219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E45649-0DE3-B7B5-CD0D-D53B42656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428910"/>
            <a:ext cx="8007762" cy="16637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B8BCE1-211C-FE07-0A93-CDCEC50EA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4253575"/>
            <a:ext cx="8991600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2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9691-53A0-BA86-C745-05A598CE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2A98-A720-0F63-A6AA-32186D87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534"/>
            <a:ext cx="10515600" cy="36008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 Libraries and initial coding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428E3-8F03-8A89-6DC6-4A680356E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1631" y="869622"/>
            <a:ext cx="3721291" cy="8001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8C9E0D-0076-D949-EF60-94796DD05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45" y="1840665"/>
            <a:ext cx="7912507" cy="8763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396DC5-E975-4976-99D2-31FB7FBAB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887912"/>
            <a:ext cx="7931558" cy="15113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AB817D-4F9D-3C63-9D0E-F4A5A4F006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66" y="4735300"/>
            <a:ext cx="8733489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81A0-8C09-39EB-7747-15A002DE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FF2E-16CF-07CC-4B4F-C14E66E1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8841"/>
          </a:xfrm>
        </p:spPr>
        <p:txBody>
          <a:bodyPr>
            <a:normAutofit fontScale="90000"/>
          </a:bodyPr>
          <a:lstStyle/>
          <a:p>
            <a:r>
              <a:rPr lang="en-US" dirty="0"/>
              <a:t>67. Type Casting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CCE6FB-5C4D-0364-7527-7E4404703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822029"/>
            <a:ext cx="7925207" cy="1390721"/>
          </a:xfr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FE3726-B972-7E10-FAA9-9A79AD6D6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28" y="804042"/>
            <a:ext cx="6398172" cy="2006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29802A-2E9A-054A-3B57-06D18686A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9" y="4371866"/>
            <a:ext cx="4750044" cy="21210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318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CFF8-7993-0AEF-71AB-ED1EF4B1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0B20-AADF-F885-E55B-02AE1142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Transform Date Columns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1D315-9012-301F-38B2-160E070A9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12798"/>
            <a:ext cx="8350679" cy="1111307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24938-BAE0-2B15-9F09-C6FBAC263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52" y="2127183"/>
            <a:ext cx="7893456" cy="13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3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A44B-1EFC-8B53-4C1F-74326535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F372-3861-8D8E-5350-C907C0A0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3964"/>
          </a:xfrm>
        </p:spPr>
        <p:txBody>
          <a:bodyPr>
            <a:normAutofit fontScale="90000"/>
          </a:bodyPr>
          <a:lstStyle/>
          <a:p>
            <a:r>
              <a:rPr lang="en-US" dirty="0"/>
              <a:t>Note the extra problems with the date Format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B1ECBE-3BA3-EFF3-613E-73F92FF13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799442"/>
            <a:ext cx="9440917" cy="1143059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B12C9-796F-E957-1935-522447994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93" y="2470404"/>
            <a:ext cx="5004586" cy="325247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D03CF-D997-5C41-A1C5-E0910EF4D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772" y="2470404"/>
            <a:ext cx="4635062" cy="31263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3073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E8E7-BA5C-D055-DC37-34FBA0DA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0E8B-49E7-E6C5-7375-3FB38BCA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041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convert other columns. One cell.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157A7-DFF5-5987-D01C-E23CD9062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5260"/>
            <a:ext cx="8287176" cy="971600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BAC11B-1312-FE5E-AD1F-13FCAB06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78" y="3058230"/>
            <a:ext cx="4292821" cy="23496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2072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18EE-5CED-34F4-E26E-FA67E56D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838A-D479-DA46-D1B2-107989E7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69. Replacing Values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F96F-3CE9-A2E0-AC0B-FC63348A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8206"/>
            <a:ext cx="10515600" cy="31591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Infer schema , simply guesses what the schema is.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BE04C-084B-CB77-05D6-389DC40FA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53" y="1204117"/>
            <a:ext cx="8179220" cy="18479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00435-6999-713F-8113-083840CD5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53" y="3365959"/>
            <a:ext cx="7315576" cy="14732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01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FA5A-EDC9-6E46-117A-86532E7D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CB7E-6D3C-8729-DB5F-193EC42C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447"/>
          </a:xfrm>
        </p:spPr>
        <p:txBody>
          <a:bodyPr>
            <a:normAutofit/>
          </a:bodyPr>
          <a:lstStyle/>
          <a:p>
            <a:r>
              <a:rPr lang="en-US" sz="2400" dirty="0"/>
              <a:t>69. Replace Values. Contd.. Using Regex.. Note multiple transformations</a:t>
            </a:r>
            <a:endParaRPr lang="en-ZA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023785D-EFEC-BF7E-9D0E-F4C410B6E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076" y="811924"/>
            <a:ext cx="10515600" cy="1667206"/>
          </a:xfrm>
        </p:spPr>
      </p:pic>
    </p:spTree>
    <p:extLst>
      <p:ext uri="{BB962C8B-B14F-4D97-AF65-F5344CB8AC3E}">
        <p14:creationId xmlns:p14="http://schemas.microsoft.com/office/powerpoint/2010/main" val="1990059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E651-A63E-4085-C0D8-F3401ECA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163F-982B-CFCA-02E7-EBA2719E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70.PySpark Intermediate Level. 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E3B6D3-C8FD-E5AB-AD27-0670D3DE0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16010"/>
            <a:ext cx="10515600" cy="2158267"/>
          </a:xfr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7994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0FF02-525A-3154-FCFD-3FA7309C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D02D-E531-DFA6-8282-A8384911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86" y="283779"/>
            <a:ext cx="10250214" cy="709449"/>
          </a:xfrm>
        </p:spPr>
        <p:txBody>
          <a:bodyPr>
            <a:normAutofit/>
          </a:bodyPr>
          <a:lstStyle/>
          <a:p>
            <a:r>
              <a:rPr lang="en-US" sz="2400" dirty="0"/>
              <a:t>Null Handling and strings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B7AF81-405C-E63E-7AF3-828E1525C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6821" y="993228"/>
            <a:ext cx="10515600" cy="1371601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D5A857-215E-71D8-C2D4-1BF3C4377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5" y="2595939"/>
            <a:ext cx="11288112" cy="18972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2657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8A5A-13B8-8EBE-DDF8-A3A5686C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29CB-ADE0-9569-AD84-E5E53F8F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000" dirty="0"/>
              <a:t>Filter products , creating new columns (if) </a:t>
            </a:r>
            <a:r>
              <a:rPr lang="en-US" sz="2000" b="1" dirty="0"/>
              <a:t>,( when otherwise  )</a:t>
            </a:r>
            <a:endParaRPr lang="en-ZA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A7D73-6F4B-EEF6-44E4-AEC138FED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17" y="854809"/>
            <a:ext cx="7859222" cy="124794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21E81-66E1-1913-BCCD-7EA8C7E8B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17" y="2390630"/>
            <a:ext cx="8112728" cy="11431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EA1DA-2C00-061F-2341-257138DF5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19599"/>
            <a:ext cx="12192000" cy="20475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094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8788-B5D8-329E-F617-226D90F3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4410-0261-09BF-965B-0FC82D89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2433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71. Transform time sensitive cols with Timestamp functions 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43B9-2486-868A-3871-2DFA3F70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7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If you have the following, nulls in col you cant transform to date :  you need to drop them , those rows.;…  use .</a:t>
            </a:r>
            <a:r>
              <a:rPr lang="en-US" sz="2400" dirty="0" err="1"/>
              <a:t>dropna</a:t>
            </a:r>
            <a:r>
              <a:rPr lang="en-US" sz="2400" dirty="0"/>
              <a:t>()</a:t>
            </a:r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713A5-8B00-4F46-984F-EA689AB3D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79000"/>
            <a:ext cx="3248478" cy="8668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6F579-1CB9-89BE-D575-8DB4164DC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5" y="2776446"/>
            <a:ext cx="9831172" cy="10860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D6574E-3440-EC1B-F252-A4AD64997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91" y="4341642"/>
            <a:ext cx="10031225" cy="14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17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3C6B-4BC6-9FFA-27DF-312F81F16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A286-C410-53FF-EF8E-4832E58F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72. </a:t>
            </a:r>
            <a:r>
              <a:rPr lang="en-US" sz="2400" dirty="0" err="1"/>
              <a:t>SparkSQL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B3DA4-0087-3E22-2F32-ADA17FA3B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8594" y="917520"/>
            <a:ext cx="10383034" cy="942811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720EA2-1FDB-2BD5-AB14-7E68751A5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96814"/>
            <a:ext cx="9787759" cy="18862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7597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E691-DFEE-8F3F-46B4-0C5D3DBA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404F-6260-8625-D7BF-F47E02FD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461"/>
          </a:xfrm>
        </p:spPr>
        <p:txBody>
          <a:bodyPr>
            <a:normAutofit/>
          </a:bodyPr>
          <a:lstStyle/>
          <a:p>
            <a:r>
              <a:rPr lang="en-US" sz="2400" dirty="0"/>
              <a:t>Window function in </a:t>
            </a:r>
            <a:r>
              <a:rPr lang="en-US" sz="2400" dirty="0" err="1"/>
              <a:t>sql</a:t>
            </a:r>
            <a:r>
              <a:rPr lang="en-US" sz="2400" dirty="0"/>
              <a:t>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468CD6-27AB-BD69-38A4-1FC6BB839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6110" y="1103587"/>
            <a:ext cx="8125959" cy="26801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E36EA-FBB3-A17C-9161-60C9AF823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83725"/>
            <a:ext cx="8981089" cy="24253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297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6A58-ED48-E14A-466F-D67AA1ED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1B59-6B25-C9D8-1118-90D9938CD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Spark.sql</a:t>
            </a:r>
            <a:r>
              <a:rPr lang="en-US" dirty="0"/>
              <a:t> example on getting </a:t>
            </a:r>
            <a:r>
              <a:rPr lang="en-US" dirty="0" err="1"/>
              <a:t>dataframe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BAA63-2025-94D8-3720-904275BC6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8828" y="916307"/>
            <a:ext cx="10754971" cy="2267266"/>
          </a:xfrm>
        </p:spPr>
      </p:pic>
    </p:spTree>
    <p:extLst>
      <p:ext uri="{BB962C8B-B14F-4D97-AF65-F5344CB8AC3E}">
        <p14:creationId xmlns:p14="http://schemas.microsoft.com/office/powerpoint/2010/main" val="1781152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15F8-AE90-FC79-EC67-423DF55D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7289-1505-7AC1-DEFD-33BA918A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213"/>
          </a:xfrm>
        </p:spPr>
        <p:txBody>
          <a:bodyPr>
            <a:normAutofit fontScale="90000"/>
          </a:bodyPr>
          <a:lstStyle/>
          <a:p>
            <a:r>
              <a:rPr lang="en-US" dirty="0"/>
              <a:t>Viz in Spark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C08BF0-0E2B-89E7-73C9-955B3D189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593" y="1370943"/>
            <a:ext cx="655582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6A9DA-E818-BF02-F9E5-0E2904246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574" y="85258"/>
            <a:ext cx="5458587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5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19E0-47DA-DDA7-E103-C0BF616B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07FA-D266-DD99-DD59-29178996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6572"/>
          </a:xfrm>
        </p:spPr>
        <p:txBody>
          <a:bodyPr>
            <a:normAutofit fontScale="90000"/>
          </a:bodyPr>
          <a:lstStyle/>
          <a:p>
            <a:r>
              <a:rPr lang="en-US" dirty="0"/>
              <a:t>Then Configure the chart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900092-729D-C9C3-3FE4-869012DF9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3504"/>
            <a:ext cx="10515600" cy="4255579"/>
          </a:xfrm>
        </p:spPr>
      </p:pic>
    </p:spTree>
    <p:extLst>
      <p:ext uri="{BB962C8B-B14F-4D97-AF65-F5344CB8AC3E}">
        <p14:creationId xmlns:p14="http://schemas.microsoft.com/office/powerpoint/2010/main" val="4040291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CA4D-55A1-6E72-4266-D0B6606E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6532-B13A-4CDB-8178-52FE25A0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447"/>
          </a:xfrm>
        </p:spPr>
        <p:txBody>
          <a:bodyPr>
            <a:normAutofit/>
          </a:bodyPr>
          <a:lstStyle/>
          <a:p>
            <a:r>
              <a:rPr lang="en-US" sz="2400" dirty="0"/>
              <a:t>Another example chart: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CF8E3-6AE1-7B74-D73B-F716414AF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786" y="1557611"/>
            <a:ext cx="9314428" cy="4351338"/>
          </a:xfrm>
        </p:spPr>
      </p:pic>
    </p:spTree>
    <p:extLst>
      <p:ext uri="{BB962C8B-B14F-4D97-AF65-F5344CB8AC3E}">
        <p14:creationId xmlns:p14="http://schemas.microsoft.com/office/powerpoint/2010/main" val="3646150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12BF-08C9-542E-A4D3-324FFD8E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37BD-07C9-3DFB-C8C4-131EF53F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B38F4C-0D35-0C80-5AD3-3F2A44C35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175" y="914400"/>
            <a:ext cx="10333650" cy="5262563"/>
          </a:xfrm>
        </p:spPr>
      </p:pic>
    </p:spTree>
    <p:extLst>
      <p:ext uri="{BB962C8B-B14F-4D97-AF65-F5344CB8AC3E}">
        <p14:creationId xmlns:p14="http://schemas.microsoft.com/office/powerpoint/2010/main" val="3634450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1FEA-6C2F-F8F7-CEAC-E3FD93F2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ED76-0CBC-811A-859F-87C796B0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191704"/>
            <a:ext cx="10515600" cy="486213"/>
          </a:xfrm>
        </p:spPr>
        <p:txBody>
          <a:bodyPr>
            <a:normAutofit/>
          </a:bodyPr>
          <a:lstStyle/>
          <a:p>
            <a:r>
              <a:rPr lang="en-US" sz="2400" dirty="0"/>
              <a:t>74. External Vs Managed Tables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AB983B-E1C2-D462-3749-18DB82F87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6065" y="898634"/>
            <a:ext cx="4143953" cy="2128345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1A379-DC82-3CB4-2D52-8E33EFB6C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297" y="880707"/>
            <a:ext cx="7306816" cy="21283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35AF46-587B-7320-C2F8-F4D1FEE92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64" y="3429000"/>
            <a:ext cx="4143953" cy="1790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2BA611-643D-7888-FDA1-D6A77837D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506" y="3723629"/>
            <a:ext cx="6883430" cy="21283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9402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510D-789E-9DAC-20D9-FFB25089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4836-8E8D-A4FB-3B6F-DAC5E8CA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 err="1"/>
              <a:t>Manged</a:t>
            </a:r>
            <a:r>
              <a:rPr lang="en-US" sz="2400" dirty="0"/>
              <a:t> Tables Continued ; We first write to files not tables. In a folder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E84D48-0574-1C13-CECF-84B89F88F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9445" y="1037349"/>
            <a:ext cx="7594931" cy="4351338"/>
          </a:xfrm>
        </p:spPr>
      </p:pic>
    </p:spTree>
    <p:extLst>
      <p:ext uri="{BB962C8B-B14F-4D97-AF65-F5344CB8AC3E}">
        <p14:creationId xmlns:p14="http://schemas.microsoft.com/office/powerpoint/2010/main" val="1714990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8714-A17D-FF5A-8318-1C1C04225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A1DE-D10B-3188-5101-E2F67843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0806"/>
          </a:xfrm>
        </p:spPr>
        <p:txBody>
          <a:bodyPr>
            <a:normAutofit/>
          </a:bodyPr>
          <a:lstStyle/>
          <a:p>
            <a:r>
              <a:rPr lang="en-US" sz="2000" dirty="0"/>
              <a:t>Now we write top tables (Managed Tables.) – no path required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9E2036-D6AD-6BE5-68C2-72B95C0A4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45932"/>
            <a:ext cx="6125430" cy="2685958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028C9D-16BA-BF33-C688-5FCA8209D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94" y="3777870"/>
            <a:ext cx="6525536" cy="271500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1441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072E2-650B-915E-D30D-9BB64097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6240-6C32-2015-FF4B-188A0537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7744"/>
          </a:xfrm>
        </p:spPr>
        <p:txBody>
          <a:bodyPr>
            <a:normAutofit/>
          </a:bodyPr>
          <a:lstStyle/>
          <a:p>
            <a:r>
              <a:rPr lang="en-US" sz="2400" dirty="0"/>
              <a:t>Can we create a csv table .. Yes we can see below: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D8714-1567-7595-7FA9-6043D16FE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296" y="882870"/>
            <a:ext cx="10515600" cy="2558608"/>
          </a:xfr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8032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CBCD-096F-3970-F3FB-9610E381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0A98-0CDD-92C9-055E-67EA8A248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041"/>
          </a:xfrm>
        </p:spPr>
        <p:txBody>
          <a:bodyPr>
            <a:normAutofit/>
          </a:bodyPr>
          <a:lstStyle/>
          <a:p>
            <a:r>
              <a:rPr lang="en-US" sz="2000" dirty="0"/>
              <a:t>Now can we create a external table : Note the  .option(“path”)  - now external table .. We specify it .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21059-370D-5126-0250-0B475D27E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8340" y="930166"/>
            <a:ext cx="6420087" cy="2767747"/>
          </a:xfr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8B01E-7EDE-B8D1-3C35-70587EE95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1" y="3963870"/>
            <a:ext cx="9238593" cy="214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23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2CE0-81DE-5707-EBAE-FA6E4B61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3942-208A-89C6-6340-5F3CF8F2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1978"/>
          </a:xfrm>
        </p:spPr>
        <p:txBody>
          <a:bodyPr>
            <a:normAutofit/>
          </a:bodyPr>
          <a:lstStyle/>
          <a:p>
            <a:r>
              <a:rPr lang="en-US" sz="2000" dirty="0"/>
              <a:t>See where files are and properties for external table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19E40-178A-3FD1-761E-303091C9A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5726"/>
            <a:ext cx="10515600" cy="4111135"/>
          </a:xfrm>
        </p:spPr>
      </p:pic>
    </p:spTree>
    <p:extLst>
      <p:ext uri="{BB962C8B-B14F-4D97-AF65-F5344CB8AC3E}">
        <p14:creationId xmlns:p14="http://schemas.microsoft.com/office/powerpoint/2010/main" val="1844464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202C8-84F6-7096-544E-4F59ADEC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D895-8F96-B9E1-A6CB-B774B69B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</a:t>
            </a:r>
            <a:r>
              <a:rPr lang="en-US" dirty="0" err="1"/>
              <a:t>yu</a:t>
            </a:r>
            <a:r>
              <a:rPr lang="en-US" dirty="0"/>
              <a:t> store files ion a different lake house to the tables (Yes)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5EB780-698D-4B9B-6447-A2E8729CC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3480" y="1825625"/>
            <a:ext cx="9125040" cy="4351338"/>
          </a:xfrm>
        </p:spPr>
      </p:pic>
    </p:spTree>
    <p:extLst>
      <p:ext uri="{BB962C8B-B14F-4D97-AF65-F5344CB8AC3E}">
        <p14:creationId xmlns:p14="http://schemas.microsoft.com/office/powerpoint/2010/main" val="1625102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58EF-3485-E526-6B8C-293537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31C7-275D-44AC-C66E-8BBAEE2F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4E275-1762-F809-39D4-E936C5F92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90506"/>
            <a:ext cx="9740462" cy="5268859"/>
          </a:xfr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7069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D05-9FE8-43CC-69B5-C2517E94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56FE-9CAC-2AAD-520A-7F840869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9FB6A-FC13-15FC-660E-288B8FF46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63643" y="832397"/>
            <a:ext cx="6859038" cy="5660478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0CBEC8-4074-1E1A-F7F4-E0CBF72D1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594" y="1190553"/>
            <a:ext cx="4663849" cy="49441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407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0860-DBBF-1817-E078-3A9F6357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9E50-3910-DE14-DE4A-07E63FF5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75. </a:t>
            </a:r>
            <a:r>
              <a:rPr lang="en-US" dirty="0" err="1"/>
              <a:t>Notebook_Utils</a:t>
            </a:r>
            <a:r>
              <a:rPr lang="en-US" dirty="0"/>
              <a:t>(</a:t>
            </a:r>
            <a:r>
              <a:rPr lang="en-US" dirty="0" err="1"/>
              <a:t>MSSParkUtils</a:t>
            </a:r>
            <a:r>
              <a:rPr lang="en-US" dirty="0"/>
              <a:t>)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C0D9D-28DD-76FA-8843-75FE665B4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68780"/>
            <a:ext cx="3077004" cy="1381318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85D51-110D-A116-6184-485F1F9B3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538" y="1202096"/>
            <a:ext cx="5001323" cy="144800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B539A-395D-D774-0FEC-8BB594F5C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56" y="3036163"/>
            <a:ext cx="9019195" cy="26197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73124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4DBE-3FCC-8636-11E2-C4B3E0EE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199A-E94D-D232-217B-C18D6E8D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/>
          </a:bodyPr>
          <a:lstStyle/>
          <a:p>
            <a:r>
              <a:rPr lang="en-US" sz="2400" dirty="0"/>
              <a:t>Utils continued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62BFC-290D-4A30-751B-B533EDD50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028" y="1026920"/>
            <a:ext cx="10358502" cy="5274489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3674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B74B-CADC-CD3A-49A3-15D9A603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3389-0947-2AA3-0301-21ECAF3A8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1223"/>
          </a:xfrm>
        </p:spPr>
        <p:txBody>
          <a:bodyPr>
            <a:normAutofit fontScale="90000"/>
          </a:bodyPr>
          <a:lstStyle/>
          <a:p>
            <a:r>
              <a:rPr lang="en-US" dirty="0"/>
              <a:t>Subfolders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E919DE-694B-EB87-1644-EF35306A8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39" y="1078997"/>
            <a:ext cx="9863769" cy="4387525"/>
          </a:xfrm>
        </p:spPr>
      </p:pic>
    </p:spTree>
    <p:extLst>
      <p:ext uri="{BB962C8B-B14F-4D97-AF65-F5344CB8AC3E}">
        <p14:creationId xmlns:p14="http://schemas.microsoft.com/office/powerpoint/2010/main" val="3914936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C6081-01B5-3AB6-D282-2112F351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1073-9DB7-3C7D-2EC9-C399F6FD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Individual and 01 by 1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398C8-C205-2C56-9E38-F9BD6F142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4617" y="1125094"/>
            <a:ext cx="9668083" cy="1457528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1F3A6-6F82-36E7-AB7F-FDD0DFDAB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16" y="3056029"/>
            <a:ext cx="9134683" cy="25244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7862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A207-3ADD-EE8C-77F8-CC8E0E23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EEB3-3E74-3F8C-AC42-4F5B0AB2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and fast copy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5F325C-4F1C-CEEB-B75A-1D0233787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53" y="1690688"/>
            <a:ext cx="8918312" cy="3497538"/>
          </a:xfrm>
        </p:spPr>
      </p:pic>
    </p:spTree>
    <p:extLst>
      <p:ext uri="{BB962C8B-B14F-4D97-AF65-F5344CB8AC3E}">
        <p14:creationId xmlns:p14="http://schemas.microsoft.com/office/powerpoint/2010/main" val="1823441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3D15-D92D-2911-BDBF-7DEA2055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654D-CDC7-9041-EF8C-FAD0EBC9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509"/>
          </a:xfrm>
        </p:spPr>
        <p:txBody>
          <a:bodyPr>
            <a:normAutofit fontScale="90000"/>
          </a:bodyPr>
          <a:lstStyle/>
          <a:p>
            <a:r>
              <a:rPr lang="en-US" dirty="0"/>
              <a:t>MOVE FILE : Make sure file not there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5275E-01CB-A932-E9A7-D8ACC501A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0090" y="1271823"/>
            <a:ext cx="6125430" cy="1743318"/>
          </a:xfrm>
          <a:ln>
            <a:solidFill>
              <a:schemeClr val="accent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023C3C5-8BBB-46F0-D5D8-0E0100EC41CE}"/>
              </a:ext>
            </a:extLst>
          </p:cNvPr>
          <p:cNvSpPr txBox="1">
            <a:spLocks/>
          </p:cNvSpPr>
          <p:nvPr/>
        </p:nvSpPr>
        <p:spPr>
          <a:xfrm>
            <a:off x="1136073" y="3842860"/>
            <a:ext cx="10515600" cy="5335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Remove FILE : Make sure file not there </a:t>
            </a:r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8F5D72-CD0B-D4FE-3B8B-8A62965A4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937" y="4558997"/>
            <a:ext cx="7201391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62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1DA1-719F-E543-4794-3B52B955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73BB-B6FE-5A6F-E09E-C44A4696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US" dirty="0"/>
              <a:t>Making a new folder / file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EA9D22-52A3-C02D-042D-3873FBFC4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76102"/>
            <a:ext cx="3753374" cy="1952898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1B34B-2FB2-B9A8-4418-E355EB542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847" y="1580011"/>
            <a:ext cx="4391638" cy="15527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73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D38D-E926-3361-0984-847D2101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D729-8441-3861-9A76-8FA1B3E7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look at notebook category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16669-1B7E-9BE3-5BCF-0C0D72874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7971"/>
            <a:ext cx="9725891" cy="4351338"/>
          </a:xfr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2795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ED21-056C-84BE-8FA7-31E420F6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AB5F-BB32-5C1D-5166-30F1EFC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3184"/>
          </a:xfrm>
        </p:spPr>
        <p:txBody>
          <a:bodyPr>
            <a:normAutofit fontScale="90000"/>
          </a:bodyPr>
          <a:lstStyle/>
          <a:p>
            <a:r>
              <a:rPr lang="en-US" dirty="0"/>
              <a:t>Help on a Dag method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96A21-3725-325A-E4BD-1F994B330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782" y="1233662"/>
            <a:ext cx="9738782" cy="4460555"/>
          </a:xfrm>
        </p:spPr>
      </p:pic>
    </p:spTree>
    <p:extLst>
      <p:ext uri="{BB962C8B-B14F-4D97-AF65-F5344CB8AC3E}">
        <p14:creationId xmlns:p14="http://schemas.microsoft.com/office/powerpoint/2010/main" val="23375387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F61E-5F74-563B-DC7E-85AE1E52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7A24-084E-6561-3204-7771B6B5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639"/>
          </a:xfrm>
        </p:spPr>
        <p:txBody>
          <a:bodyPr>
            <a:normAutofit fontScale="90000"/>
          </a:bodyPr>
          <a:lstStyle/>
          <a:p>
            <a:r>
              <a:rPr lang="en-US" dirty="0"/>
              <a:t>Running Other Notebooks and exit values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36F641-81DE-4701-95B6-716D0B189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2950" y="706582"/>
            <a:ext cx="3524742" cy="1467055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411C30-6E8F-C31F-543B-F128193A3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846" y="916161"/>
            <a:ext cx="5353797" cy="1047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D76D75-AFE3-446F-DDE0-8106BE441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50" y="2627027"/>
            <a:ext cx="4991797" cy="35243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B49254-6883-824F-CF3E-931F48A47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456" y="2627026"/>
            <a:ext cx="5620344" cy="35243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03419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C53E-22AF-6A9E-03F0-8C5BC23B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F45A-DEDC-8C54-59F1-FA774CF2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Calling parameter with the timeout (100, Peter)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574B78-1E73-12FE-4DBB-632E15E05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45822"/>
            <a:ext cx="6144482" cy="1919396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8DBC71-FDF4-7111-DFAE-167EA83B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4" y="2866486"/>
            <a:ext cx="9221487" cy="36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941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016F-0F8C-0D85-F09B-462DA0D6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2A3-1028-752D-4ECD-3E313A2D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 fontScale="90000"/>
          </a:bodyPr>
          <a:lstStyle/>
          <a:p>
            <a:r>
              <a:rPr lang="en-US" dirty="0"/>
              <a:t>76. Delta Tables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ADACD-A346-E213-0E9D-75395092C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9190262" cy="4351338"/>
          </a:xfrm>
        </p:spPr>
      </p:pic>
    </p:spTree>
    <p:extLst>
      <p:ext uri="{BB962C8B-B14F-4D97-AF65-F5344CB8AC3E}">
        <p14:creationId xmlns:p14="http://schemas.microsoft.com/office/powerpoint/2010/main" val="395828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38EF6-EC07-EF31-FC9A-F0DC4074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CD9D-934A-8B22-F15A-EA7F8555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837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77. Time Travel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1B6203-71E1-EEEB-96AE-4BA670D3B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476" y="767461"/>
            <a:ext cx="6658904" cy="2871851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3EC99D-581B-5A89-8A10-61C9785FF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03269"/>
            <a:ext cx="4210638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088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459D8-8517-1E6E-D13C-E0A88CF6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B33A-4FF4-D8A5-49EC-6BE135FB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6938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perform DML Operation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EFF2B7-86B4-DB13-C689-F9AF55A18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6824" y="819535"/>
            <a:ext cx="4839375" cy="2229161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56BAD-FE4B-0A6A-856A-EA7FCEDB2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512064"/>
            <a:ext cx="4239217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6E406-A18E-C66C-2B9F-B6A2B520B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24" y="3429000"/>
            <a:ext cx="7925906" cy="29169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2862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0683-094D-D865-D55E-C7E898DE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D644-72B6-8A00-D2D6-82334B977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/>
          </a:bodyPr>
          <a:lstStyle/>
          <a:p>
            <a:r>
              <a:rPr lang="en-US" sz="2400" dirty="0"/>
              <a:t>Go back to previous version or any version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230F9D-63C0-B25D-F431-3394A50ED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68" y="1009650"/>
            <a:ext cx="4582164" cy="1886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80CED-4D3E-C1FB-E5CB-E915C7130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31" y="3285767"/>
            <a:ext cx="4210638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3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16687</TotalTime>
  <Words>1733</Words>
  <Application>Microsoft Office PowerPoint</Application>
  <PresentationFormat>Widescreen</PresentationFormat>
  <Paragraphs>191</Paragraphs>
  <Slides>52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62. Understand Spark</vt:lpstr>
      <vt:lpstr>62. Node Sizes</vt:lpstr>
      <vt:lpstr>63. Pools (Starter / Custom)</vt:lpstr>
      <vt:lpstr>65. Fabric Notebook Overview.</vt:lpstr>
      <vt:lpstr>In settings you can schedule a notebook</vt:lpstr>
      <vt:lpstr>Runs in 11 seconds </vt:lpstr>
      <vt:lpstr>Session info</vt:lpstr>
      <vt:lpstr>SQL ,,magic commands </vt:lpstr>
      <vt:lpstr>Useful tips In nOtebooks</vt:lpstr>
      <vt:lpstr>66. PySpark Fundamentals</vt:lpstr>
      <vt:lpstr>Import Libraries and initial coding </vt:lpstr>
      <vt:lpstr>67. Type Casting</vt:lpstr>
      <vt:lpstr>Transform Date Columns </vt:lpstr>
      <vt:lpstr>Note the extra problems with the date Format</vt:lpstr>
      <vt:lpstr>Now we convert other columns. One cell. </vt:lpstr>
      <vt:lpstr>69. Replacing Values</vt:lpstr>
      <vt:lpstr>69. Replace Values. Contd.. Using Regex.. Note multiple transformations</vt:lpstr>
      <vt:lpstr>70.PySpark Intermediate Level.  </vt:lpstr>
      <vt:lpstr>Null Handling and strings </vt:lpstr>
      <vt:lpstr>Filter products , creating new columns (if) ,( when otherwise  )</vt:lpstr>
      <vt:lpstr>71. Transform time sensitive cols with Timestamp functions </vt:lpstr>
      <vt:lpstr>72. SparkSQL</vt:lpstr>
      <vt:lpstr>Window function in sql.</vt:lpstr>
      <vt:lpstr>Spark.sql example on getting dataframe </vt:lpstr>
      <vt:lpstr>Viz in Spark</vt:lpstr>
      <vt:lpstr>Then Configure the chart </vt:lpstr>
      <vt:lpstr>Another example chart: </vt:lpstr>
      <vt:lpstr>PowerPoint Presentation</vt:lpstr>
      <vt:lpstr>74. External Vs Managed Tables </vt:lpstr>
      <vt:lpstr>Manged Tables Continued ; We first write to files not tables. In a folder </vt:lpstr>
      <vt:lpstr>Now we write top tables (Managed Tables.) – no path required </vt:lpstr>
      <vt:lpstr>Can we create a csv table .. Yes we can see below:</vt:lpstr>
      <vt:lpstr>Now can we create a external table : Note the  .option(“path”)  - now external table .. We specify it . </vt:lpstr>
      <vt:lpstr>See where files are and properties for external table </vt:lpstr>
      <vt:lpstr>Can yu store files ion a different lake house to the tables (Yes) </vt:lpstr>
      <vt:lpstr>PowerPoint Presentation</vt:lpstr>
      <vt:lpstr>PowerPoint Presentation</vt:lpstr>
      <vt:lpstr>75. Notebook_Utils(MSSParkUtils)</vt:lpstr>
      <vt:lpstr>Utils continued</vt:lpstr>
      <vt:lpstr>Subfolders</vt:lpstr>
      <vt:lpstr>Individual and 01 by 1 </vt:lpstr>
      <vt:lpstr>Copy and fast copy</vt:lpstr>
      <vt:lpstr>MOVE FILE : Make sure file not there </vt:lpstr>
      <vt:lpstr>Making a new folder / file </vt:lpstr>
      <vt:lpstr>Now we look at notebook category </vt:lpstr>
      <vt:lpstr>Help on a Dag method </vt:lpstr>
      <vt:lpstr>Running Other Notebooks and exit values </vt:lpstr>
      <vt:lpstr>Calling parameter with the timeout (100, Peter) </vt:lpstr>
      <vt:lpstr>76. Delta Tables </vt:lpstr>
      <vt:lpstr>77. Time Travel</vt:lpstr>
      <vt:lpstr>Now we perform DML Operation</vt:lpstr>
      <vt:lpstr>Go back to previous version or any version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214</cp:revision>
  <dcterms:created xsi:type="dcterms:W3CDTF">2025-08-02T06:53:26Z</dcterms:created>
  <dcterms:modified xsi:type="dcterms:W3CDTF">2025-09-09T19:54:20Z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2025-08-02T06:53:26Z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0b3fac4b-5b11-431c-8ed2-03b2261b8c8d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