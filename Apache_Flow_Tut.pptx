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309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C92A406-F4CD-4FB3-ADD9-5CF57391E83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S4_Coding_First Pipeline" id="{D3227421-32C5-4D65-9455-3C3DFF6161F3}">
          <p14:sldIdLst>
            <p14:sldId id="309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10"/>
          </p14:sldIdLst>
        </p14:section>
        <p14:section name="Dag in action" id="{BB33B884-A101-4796-BEDC-0662B5FA3B8C}">
          <p14:sldIdLst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</p14:sldIdLst>
        </p14:section>
        <p14:section name="Airflow_In_Fabric_Example" id="{6FF09021-9A6C-4608-BD2B-8D0ACD5864D7}">
          <p14:sldIdLst>
            <p14:sldId id="333"/>
            <p14:sldId id="334"/>
            <p14:sldId id="335"/>
            <p14:sldId id="33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4224" autoAdjust="0"/>
  </p:normalViewPr>
  <p:slideViewPr>
    <p:cSldViewPr snapToGrid="0" showGuides="1">
      <p:cViewPr>
        <p:scale>
          <a:sx n="56" d="100"/>
          <a:sy n="56" d="100"/>
        </p:scale>
        <p:origin x="568" y="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B721A5-44E1-46E3-AE0F-E8344ECD8955}" type="datetimeFigureOut">
              <a:rPr lang="en-ZA" smtClean="0"/>
              <a:t>2025/11/02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D821F3-04AF-4189-BBDA-EA7389B89FA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11262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Metadata , also info about users and variables </a:t>
            </a:r>
          </a:p>
          <a:p>
            <a:pPr marL="228600" indent="-228600">
              <a:buAutoNum type="arabicParenR"/>
            </a:pPr>
            <a:r>
              <a:rPr lang="en-US" dirty="0"/>
              <a:t>Crucial components</a:t>
            </a:r>
          </a:p>
          <a:p>
            <a:pPr marL="228600" indent="-228600">
              <a:buAutoNum type="arabicParenR"/>
            </a:pPr>
            <a:r>
              <a:rPr lang="en-US" dirty="0"/>
              <a:t>Executor , how tasks will run , not execute tasks , and which system to execute the task. Like </a:t>
            </a:r>
            <a:r>
              <a:rPr lang="en-US" dirty="0" err="1"/>
              <a:t>Kubetrnettes</a:t>
            </a:r>
            <a:r>
              <a:rPr lang="en-US" dirty="0"/>
              <a:t> executor.. Different executors / different systems.</a:t>
            </a:r>
          </a:p>
          <a:p>
            <a:pPr marL="228600" indent="-228600">
              <a:buAutoNum type="arabicParenR"/>
            </a:pPr>
            <a:r>
              <a:rPr lang="en-US" dirty="0"/>
              <a:t>Ie how to run tasks to optimize performance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821F3-04AF-4189-BBDA-EA7389B89FAC}" type="slidenum">
              <a:rPr lang="en-ZA" smtClean="0"/>
              <a:t>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864705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workers execute the tasks. </a:t>
            </a:r>
          </a:p>
          <a:p>
            <a:r>
              <a:rPr lang="en-US" dirty="0"/>
              <a:t>In Summary you need the API server to run tasks and access the UI , </a:t>
            </a:r>
            <a:r>
              <a:rPr lang="en-US" dirty="0" err="1"/>
              <a:t>Scvhedulaer</a:t>
            </a:r>
            <a:r>
              <a:rPr lang="en-US" dirty="0"/>
              <a:t> to schedule tasks , meat data server to store info, you need workers where tasks run. </a:t>
            </a:r>
            <a:r>
              <a:rPr lang="en-US" dirty="0" err="1"/>
              <a:t>Ececutor</a:t>
            </a:r>
            <a:r>
              <a:rPr lang="en-US" dirty="0"/>
              <a:t> and queue are internal , you don’t see them , when </a:t>
            </a:r>
            <a:r>
              <a:rPr lang="en-US"/>
              <a:t>run airflow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821F3-04AF-4189-BBDA-EA7389B89FAC}" type="slidenum">
              <a:rPr lang="en-ZA" smtClean="0"/>
              <a:t>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315112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No Cycles .. In the tasks.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821F3-04AF-4189-BBDA-EA7389B89FAC}" type="slidenum">
              <a:rPr lang="en-ZA" smtClean="0"/>
              <a:t>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661824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Opeartor</a:t>
            </a:r>
            <a:r>
              <a:rPr lang="en-US" dirty="0"/>
              <a:t> Providers , see examples of Providers on the right.</a:t>
            </a:r>
          </a:p>
          <a:p>
            <a:r>
              <a:rPr lang="en-US" dirty="0" err="1"/>
              <a:t>Airbyte</a:t>
            </a:r>
            <a:r>
              <a:rPr lang="en-US" dirty="0"/>
              <a:t> is one such provider as shown, say </a:t>
            </a:r>
            <a:r>
              <a:rPr lang="en-US" dirty="0" err="1"/>
              <a:t>Airbyte</a:t>
            </a:r>
            <a:r>
              <a:rPr lang="en-US" dirty="0"/>
              <a:t> may have its own operators.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821F3-04AF-4189-BBDA-EA7389B89FAC}" type="slidenum">
              <a:rPr lang="en-ZA" smtClean="0"/>
              <a:t>10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78663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dag</a:t>
            </a:r>
            <a:r>
              <a:rPr lang="en-US" dirty="0"/>
              <a:t> is a workflow!! Operator is a task. The execution of an operator is an instance.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821F3-04AF-4189-BBDA-EA7389B89FAC}" type="slidenum">
              <a:rPr lang="en-ZA" smtClean="0"/>
              <a:t>12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508454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Airflow meant to orchestrate , not perform jobs. </a:t>
            </a:r>
          </a:p>
          <a:p>
            <a:pPr marL="228600" indent="-228600">
              <a:buAutoNum type="arabicParenR"/>
            </a:pPr>
            <a:r>
              <a:rPr lang="en-US" dirty="0"/>
              <a:t>Airflow operates Batch , not streaming.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821F3-04AF-4189-BBDA-EA7389B89FAC}" type="slidenum">
              <a:rPr lang="en-ZA" smtClean="0"/>
              <a:t>13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731769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Api server for access to Ui and provides end points for tasks.</a:t>
            </a:r>
          </a:p>
          <a:p>
            <a:pPr marL="228600" indent="-228600">
              <a:buAutoNum type="arabicParenR"/>
            </a:pPr>
            <a:r>
              <a:rPr lang="en-US" dirty="0"/>
              <a:t>Scheduler checks for tasks to be triggered, Executor is part of scheduler ..which system tasks to be run on </a:t>
            </a:r>
          </a:p>
          <a:p>
            <a:pPr marL="228600" indent="-228600">
              <a:buAutoNum type="arabicParenR"/>
            </a:pPr>
            <a:r>
              <a:rPr lang="en-US" dirty="0"/>
              <a:t>Metadata to store all the </a:t>
            </a:r>
            <a:r>
              <a:rPr lang="en-US" dirty="0" err="1"/>
              <a:t>info..task</a:t>
            </a:r>
            <a:r>
              <a:rPr lang="en-US" dirty="0"/>
              <a:t> instances, </a:t>
            </a:r>
            <a:r>
              <a:rPr lang="en-US" dirty="0" err="1"/>
              <a:t>dag</a:t>
            </a:r>
            <a:r>
              <a:rPr lang="en-US" dirty="0"/>
              <a:t> runs , users </a:t>
            </a:r>
          </a:p>
          <a:p>
            <a:pPr marL="228600" indent="-228600">
              <a:buAutoNum type="arabicParenR"/>
            </a:pPr>
            <a:r>
              <a:rPr lang="en-US" dirty="0"/>
              <a:t>Multiple workers , </a:t>
            </a:r>
            <a:r>
              <a:rPr lang="en-US" dirty="0" err="1"/>
              <a:t>subprocessors</a:t>
            </a:r>
            <a:r>
              <a:rPr lang="en-US" dirty="0"/>
              <a:t> of schedulers to run tasks , </a:t>
            </a:r>
          </a:p>
          <a:p>
            <a:pPr marL="228600" indent="-228600">
              <a:buAutoNum type="arabicParenR"/>
            </a:pPr>
            <a:r>
              <a:rPr lang="en-US" dirty="0" err="1"/>
              <a:t>Triggere</a:t>
            </a:r>
            <a:r>
              <a:rPr lang="en-US" dirty="0"/>
              <a:t> to run externally activated tasks.. Special tasks. </a:t>
            </a:r>
          </a:p>
          <a:p>
            <a:pPr marL="228600" indent="-228600">
              <a:buAutoNum type="arabicParenR"/>
            </a:pPr>
            <a:r>
              <a:rPr lang="en-US" dirty="0"/>
              <a:t>Dag file processor , parses and </a:t>
            </a:r>
            <a:r>
              <a:rPr lang="en-US" dirty="0" err="1"/>
              <a:t>setilaizes</a:t>
            </a:r>
            <a:r>
              <a:rPr lang="en-US" dirty="0"/>
              <a:t> the </a:t>
            </a:r>
            <a:r>
              <a:rPr lang="en-US" dirty="0" err="1"/>
              <a:t>dag</a:t>
            </a:r>
            <a:r>
              <a:rPr lang="en-US" dirty="0"/>
              <a:t> files </a:t>
            </a:r>
          </a:p>
          <a:p>
            <a:pPr marL="228600" indent="-228600">
              <a:buAutoNum type="arabicParenR"/>
            </a:pPr>
            <a:r>
              <a:rPr lang="en-US" dirty="0"/>
              <a:t>Which component to which component communicates?</a:t>
            </a:r>
          </a:p>
          <a:p>
            <a:pPr marL="228600" indent="-228600">
              <a:buAutoNum type="arabicParenR"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821F3-04AF-4189-BBDA-EA7389B89FAC}" type="slidenum">
              <a:rPr lang="en-ZA" smtClean="0"/>
              <a:t>14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289300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Many API servers , working through load balancer to Ui ..</a:t>
            </a:r>
          </a:p>
          <a:p>
            <a:r>
              <a:rPr lang="en-US" dirty="0"/>
              <a:t>Metadata base run on dedicated machine.</a:t>
            </a:r>
          </a:p>
          <a:p>
            <a:r>
              <a:rPr lang="en-US" dirty="0"/>
              <a:t>More than 1 scheduler on a single dedicated machine, </a:t>
            </a:r>
            <a:r>
              <a:rPr lang="en-US" dirty="0" err="1"/>
              <a:t>fror</a:t>
            </a:r>
            <a:r>
              <a:rPr lang="en-US" dirty="0"/>
              <a:t> redundancy </a:t>
            </a:r>
            <a:r>
              <a:rPr lang="en-US" dirty="0" err="1"/>
              <a:t>puprposes</a:t>
            </a:r>
            <a:r>
              <a:rPr lang="en-US" dirty="0"/>
              <a:t>.., executors are part of schedulers </a:t>
            </a:r>
          </a:p>
          <a:p>
            <a:r>
              <a:rPr lang="en-US" dirty="0"/>
              <a:t>Many Dag file processors on same machine as metadata databases ..</a:t>
            </a:r>
            <a:r>
              <a:rPr lang="en-US" dirty="0" err="1"/>
              <a:t>seriliazes</a:t>
            </a:r>
            <a:r>
              <a:rPr lang="en-US" dirty="0"/>
              <a:t> </a:t>
            </a:r>
            <a:r>
              <a:rPr lang="en-US" dirty="0" err="1"/>
              <a:t>dag</a:t>
            </a:r>
            <a:r>
              <a:rPr lang="en-US" dirty="0"/>
              <a:t> files in meta database.</a:t>
            </a:r>
          </a:p>
          <a:p>
            <a:r>
              <a:rPr lang="en-US" dirty="0"/>
              <a:t>Then have q, externa Q</a:t>
            </a:r>
          </a:p>
          <a:p>
            <a:r>
              <a:rPr lang="en-US" dirty="0"/>
              <a:t>Then you have workers that schedule the tasks , 1 worker per node , run from the q , from the executor</a:t>
            </a:r>
          </a:p>
          <a:p>
            <a:r>
              <a:rPr lang="en-US" dirty="0"/>
              <a:t>Wo9rkers communicate with API </a:t>
            </a:r>
            <a:r>
              <a:rPr lang="en-US" dirty="0" err="1"/>
              <a:t>schedulrer</a:t>
            </a:r>
            <a:r>
              <a:rPr lang="en-US" dirty="0"/>
              <a:t> to update task info in the database.</a:t>
            </a:r>
          </a:p>
          <a:p>
            <a:r>
              <a:rPr lang="en-US" dirty="0"/>
              <a:t>Workers don’t comms with DB directly</a:t>
            </a:r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821F3-04AF-4189-BBDA-EA7389B89FAC}" type="slidenum">
              <a:rPr lang="en-ZA" smtClean="0"/>
              <a:t>16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119633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We have the 5 components and Add the </a:t>
            </a:r>
            <a:r>
              <a:rPr lang="en-US" dirty="0" err="1"/>
              <a:t>pythyon</a:t>
            </a:r>
            <a:r>
              <a:rPr lang="en-US" dirty="0"/>
              <a:t> file to DAGS Folder , remember here they use docket and </a:t>
            </a:r>
            <a:r>
              <a:rPr lang="en-US" dirty="0" err="1"/>
              <a:t>VSCode</a:t>
            </a:r>
            <a:r>
              <a:rPr lang="en-US" dirty="0"/>
              <a:t>.</a:t>
            </a:r>
          </a:p>
          <a:p>
            <a:pPr marL="228600" indent="-228600">
              <a:buAutoNum type="arabicParenR"/>
            </a:pPr>
            <a:r>
              <a:rPr lang="en-US" dirty="0"/>
              <a:t>The </a:t>
            </a:r>
            <a:r>
              <a:rPr lang="en-US" dirty="0" err="1"/>
              <a:t>Dags</a:t>
            </a:r>
            <a:r>
              <a:rPr lang="en-US" dirty="0"/>
              <a:t> file processor parses </a:t>
            </a:r>
            <a:r>
              <a:rPr lang="en-US" dirty="0" err="1"/>
              <a:t>Dags</a:t>
            </a:r>
            <a:r>
              <a:rPr lang="en-US" dirty="0"/>
              <a:t> folder every 5 min. and if finds one serializes it in the Meta Database </a:t>
            </a:r>
          </a:p>
          <a:p>
            <a:pPr marL="228600" indent="-228600">
              <a:buAutoNum type="arabicParenR"/>
            </a:pPr>
            <a:r>
              <a:rPr lang="en-US" dirty="0"/>
              <a:t>The Api server then shows DAG on UI , and checks on Scheduler if tasks to run.., if task ready to run then Dag scheduler </a:t>
            </a:r>
            <a:r>
              <a:rPr lang="en-US" dirty="0" err="1"/>
              <a:t>schedukler</a:t>
            </a:r>
            <a:r>
              <a:rPr lang="en-US" dirty="0"/>
              <a:t> a Dag Run. The Dag object Runs , Scheduler creates task instance (TI), TI is sent to Executor by Scheduler , then its in </a:t>
            </a:r>
            <a:r>
              <a:rPr lang="en-US" dirty="0" err="1"/>
              <a:t>Queud</a:t>
            </a:r>
            <a:r>
              <a:rPr lang="en-US" dirty="0"/>
              <a:t> state, here its internal.</a:t>
            </a:r>
          </a:p>
          <a:p>
            <a:pPr marL="228600" indent="-228600">
              <a:buAutoNum type="arabicParenR"/>
            </a:pPr>
            <a:r>
              <a:rPr lang="en-US" dirty="0"/>
              <a:t>Now the Worker , the process that runs task , picks up TI , lands in Run State , completes and Worker comms with API Server to tell of completed state of TI , API server lets Database know , then scheduler knows it’s a success , Dag run is now completed , </a:t>
            </a:r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r>
              <a:rPr lang="en-US" dirty="0"/>
              <a:t>This is single instance..</a:t>
            </a:r>
            <a:r>
              <a:rPr lang="en-US" dirty="0" err="1"/>
              <a:t>Scheduker</a:t>
            </a:r>
            <a:r>
              <a:rPr lang="en-US" dirty="0"/>
              <a:t> to worker all in same processor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821F3-04AF-4189-BBDA-EA7389B89FAC}" type="slidenum">
              <a:rPr lang="en-ZA" smtClean="0"/>
              <a:t>18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827739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his home page which is accessed via the </a:t>
            </a:r>
            <a:r>
              <a:rPr lang="en-US" dirty="0" err="1"/>
              <a:t>ip</a:t>
            </a:r>
            <a:r>
              <a:rPr lang="en-US" dirty="0"/>
              <a:t> 80.80 address above </a:t>
            </a:r>
          </a:p>
          <a:p>
            <a:r>
              <a:rPr lang="en-US" dirty="0"/>
              <a:t>We must look for this view in my </a:t>
            </a:r>
            <a:r>
              <a:rPr lang="en-US" dirty="0" err="1"/>
              <a:t>dag</a:t>
            </a:r>
            <a:r>
              <a:rPr lang="en-US" dirty="0"/>
              <a:t> 1 file </a:t>
            </a:r>
          </a:p>
          <a:p>
            <a:r>
              <a:rPr lang="en-US" dirty="0"/>
              <a:t>This is the Home page.  Gives the health of your </a:t>
            </a:r>
            <a:r>
              <a:rPr lang="en-US" dirty="0" err="1"/>
              <a:t>dags</a:t>
            </a:r>
            <a:r>
              <a:rPr lang="en-US" dirty="0"/>
              <a:t> , if you cant schedule tasks the scheduler may be down </a:t>
            </a:r>
          </a:p>
          <a:p>
            <a:r>
              <a:rPr lang="en-US" dirty="0"/>
              <a:t>You can access any of the </a:t>
            </a:r>
            <a:r>
              <a:rPr lang="en-US" dirty="0" err="1"/>
              <a:t>dags</a:t>
            </a:r>
            <a:r>
              <a:rPr lang="en-US" dirty="0"/>
              <a:t> by clicking on the failed running and active </a:t>
            </a:r>
            <a:r>
              <a:rPr lang="en-US" dirty="0" err="1"/>
              <a:t>dags</a:t>
            </a:r>
            <a:r>
              <a:rPr lang="en-US" dirty="0"/>
              <a:t>. </a:t>
            </a:r>
            <a:r>
              <a:rPr lang="en-US" dirty="0" err="1"/>
              <a:t>Active;not</a:t>
            </a:r>
            <a:r>
              <a:rPr lang="en-US" dirty="0"/>
              <a:t> running yet </a:t>
            </a:r>
          </a:p>
          <a:p>
            <a:r>
              <a:rPr lang="en-US" dirty="0"/>
              <a:t>It also shows the tasks , failed success ..</a:t>
            </a:r>
          </a:p>
          <a:p>
            <a:r>
              <a:rPr lang="en-US" dirty="0"/>
              <a:t>You can also see materialized assets as well, on the right side.,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821F3-04AF-4189-BBDA-EA7389B89FAC}" type="slidenum">
              <a:rPr lang="en-ZA" smtClean="0"/>
              <a:t>21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06320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See all </a:t>
            </a:r>
            <a:r>
              <a:rPr lang="en-US" dirty="0" err="1"/>
              <a:t>Dags</a:t>
            </a:r>
            <a:r>
              <a:rPr lang="en-US" dirty="0"/>
              <a:t> </a:t>
            </a:r>
          </a:p>
          <a:p>
            <a:pPr marL="228600" indent="-228600">
              <a:buAutoNum type="arabicParenR"/>
            </a:pPr>
            <a:r>
              <a:rPr lang="en-US" dirty="0" err="1"/>
              <a:t>Yiou</a:t>
            </a:r>
            <a:r>
              <a:rPr lang="en-US" dirty="0"/>
              <a:t> see buttons for the states of latest runs. So you can filter for the latest run that failed , or latest successful run. C </a:t>
            </a:r>
          </a:p>
          <a:p>
            <a:pPr marL="228600" indent="-228600">
              <a:buAutoNum type="arabicParenR"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821F3-04AF-4189-BBDA-EA7389B89FAC}" type="slidenum">
              <a:rPr lang="en-ZA" smtClean="0"/>
              <a:t>22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438469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the </a:t>
            </a:r>
            <a:r>
              <a:rPr lang="en-US" dirty="0" err="1"/>
              <a:t>botton</a:t>
            </a:r>
            <a:r>
              <a:rPr lang="en-US" dirty="0"/>
              <a:t> on the right of the </a:t>
            </a:r>
            <a:r>
              <a:rPr lang="en-US" dirty="0" err="1"/>
              <a:t>dag</a:t>
            </a:r>
            <a:r>
              <a:rPr lang="en-US" dirty="0"/>
              <a:t> , before the play icon </a:t>
            </a:r>
          </a:p>
          <a:p>
            <a:r>
              <a:rPr lang="en-US" dirty="0"/>
              <a:t>You </a:t>
            </a:r>
            <a:r>
              <a:rPr lang="en-US" dirty="0" err="1"/>
              <a:t>camn</a:t>
            </a:r>
            <a:r>
              <a:rPr lang="en-US" dirty="0"/>
              <a:t> </a:t>
            </a:r>
            <a:r>
              <a:rPr lang="en-US" dirty="0" err="1"/>
              <a:t>alsp</a:t>
            </a:r>
            <a:r>
              <a:rPr lang="en-US" dirty="0"/>
              <a:t> filter by tags , if you tagged you </a:t>
            </a:r>
            <a:r>
              <a:rPr lang="en-US" dirty="0" err="1"/>
              <a:t>dag</a:t>
            </a:r>
            <a:r>
              <a:rPr lang="en-US" dirty="0"/>
              <a:t>. </a:t>
            </a:r>
          </a:p>
          <a:p>
            <a:r>
              <a:rPr lang="en-US" dirty="0"/>
              <a:t>Don’t forget to remove the tag filter </a:t>
            </a:r>
          </a:p>
          <a:p>
            <a:r>
              <a:rPr lang="en-US" dirty="0"/>
              <a:t>Yiu can display by tile or list. See </a:t>
            </a:r>
            <a:r>
              <a:rPr lang="en-US" dirty="0" err="1"/>
              <a:t>rhs</a:t>
            </a:r>
            <a:r>
              <a:rPr lang="en-US" dirty="0"/>
              <a:t> bottom </a:t>
            </a:r>
          </a:p>
          <a:p>
            <a:r>
              <a:rPr lang="en-US" dirty="0"/>
              <a:t>Can also sort DAGS , see </a:t>
            </a:r>
            <a:r>
              <a:rPr lang="en-US" dirty="0" err="1"/>
              <a:t>rhs</a:t>
            </a:r>
            <a:r>
              <a:rPr lang="en-US" dirty="0"/>
              <a:t> bottom.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821F3-04AF-4189-BBDA-EA7389B89FAC}" type="slidenum">
              <a:rPr lang="en-ZA" smtClean="0"/>
              <a:t>23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144551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u see is display name or unique ID , below is schedule if scheduled , and other info </a:t>
            </a:r>
          </a:p>
          <a:p>
            <a:r>
              <a:rPr lang="en-US" dirty="0"/>
              <a:t>Bars on </a:t>
            </a:r>
            <a:r>
              <a:rPr lang="en-US" dirty="0" err="1"/>
              <a:t>rioght</a:t>
            </a:r>
            <a:r>
              <a:rPr lang="en-US" dirty="0"/>
              <a:t> ..</a:t>
            </a:r>
            <a:r>
              <a:rPr lang="en-US" dirty="0" err="1"/>
              <a:t>hovere</a:t>
            </a:r>
            <a:r>
              <a:rPr lang="en-US" dirty="0"/>
              <a:t> over to get </a:t>
            </a:r>
            <a:r>
              <a:rPr lang="en-US" dirty="0" err="1"/>
              <a:t>stae</a:t>
            </a:r>
            <a:r>
              <a:rPr lang="en-US" dirty="0"/>
              <a:t> info and run times , duration, click on the one you want to access.</a:t>
            </a:r>
          </a:p>
          <a:p>
            <a:r>
              <a:rPr lang="en-US" dirty="0"/>
              <a:t>You can pause the schedule , just toggle the button. You can manually trigger it, with options. You can </a:t>
            </a:r>
            <a:r>
              <a:rPr lang="en-US" dirty="0" err="1"/>
              <a:t>parmetyerize</a:t>
            </a:r>
            <a:r>
              <a:rPr lang="en-US" dirty="0"/>
              <a:t> the </a:t>
            </a:r>
            <a:r>
              <a:rPr lang="en-US" dirty="0" err="1"/>
              <a:t>dag</a:t>
            </a:r>
            <a:r>
              <a:rPr lang="en-US" dirty="0"/>
              <a:t> , Json and make </a:t>
            </a:r>
            <a:r>
              <a:rPr lang="en-US" dirty="0" err="1"/>
              <a:t>dag</a:t>
            </a:r>
            <a:r>
              <a:rPr lang="en-US" dirty="0"/>
              <a:t> run notes. On the trigger menu.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821F3-04AF-4189-BBDA-EA7389B89FAC}" type="slidenum">
              <a:rPr lang="en-ZA" smtClean="0"/>
              <a:t>24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988948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Filter By state and Run Type , you can see the </a:t>
            </a:r>
            <a:r>
              <a:rPr lang="en-US" dirty="0" err="1"/>
              <a:t>dag</a:t>
            </a:r>
            <a:r>
              <a:rPr lang="en-US" dirty="0"/>
              <a:t> IDS. </a:t>
            </a:r>
            <a:r>
              <a:rPr lang="en-US" dirty="0" err="1"/>
              <a:t>Yjthere</a:t>
            </a:r>
            <a:r>
              <a:rPr lang="en-US" dirty="0"/>
              <a:t> /</a:t>
            </a:r>
          </a:p>
          <a:p>
            <a:r>
              <a:rPr lang="en-US" dirty="0"/>
              <a:t>It also shows you the version , so if you altered your </a:t>
            </a:r>
            <a:r>
              <a:rPr lang="en-US" dirty="0" err="1"/>
              <a:t>dag</a:t>
            </a:r>
            <a:r>
              <a:rPr lang="en-US" dirty="0"/>
              <a:t> ..it would show different version</a:t>
            </a:r>
          </a:p>
          <a:p>
            <a:r>
              <a:rPr lang="en-US" dirty="0"/>
              <a:t>You can clear a </a:t>
            </a:r>
            <a:r>
              <a:rPr lang="en-US" dirty="0" err="1"/>
              <a:t>dag</a:t>
            </a:r>
            <a:r>
              <a:rPr lang="en-US" dirty="0"/>
              <a:t> run ..</a:t>
            </a:r>
            <a:r>
              <a:rPr lang="en-US" dirty="0" err="1"/>
              <a:t>swee</a:t>
            </a:r>
            <a:r>
              <a:rPr lang="en-US" dirty="0"/>
              <a:t> end icon.,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821F3-04AF-4189-BBDA-EA7389B89FAC}" type="slidenum">
              <a:rPr lang="en-ZA" smtClean="0"/>
              <a:t>25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695613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 see many details , the Id , and also the operator of the </a:t>
            </a:r>
            <a:r>
              <a:rPr lang="en-US" dirty="0" err="1"/>
              <a:t>dag</a:t>
            </a:r>
            <a:r>
              <a:rPr lang="en-US" dirty="0"/>
              <a:t>.</a:t>
            </a:r>
          </a:p>
          <a:p>
            <a:r>
              <a:rPr lang="en-US" dirty="0"/>
              <a:t>You can Search task by name and filter by state.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821F3-04AF-4189-BBDA-EA7389B89FAC}" type="slidenum">
              <a:rPr lang="en-ZA" smtClean="0"/>
              <a:t>26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078344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Asset , is a dataset , we are on an </a:t>
            </a:r>
            <a:r>
              <a:rPr lang="en-US" dirty="0" err="1"/>
              <a:t>oldere</a:t>
            </a:r>
            <a:r>
              <a:rPr lang="en-US" dirty="0"/>
              <a:t> version </a:t>
            </a:r>
          </a:p>
          <a:p>
            <a:r>
              <a:rPr lang="en-US" dirty="0" err="1"/>
              <a:t>Yiou</a:t>
            </a:r>
            <a:r>
              <a:rPr lang="en-US" dirty="0"/>
              <a:t> can custom group your assets </a:t>
            </a:r>
          </a:p>
          <a:p>
            <a:r>
              <a:rPr lang="en-US" dirty="0"/>
              <a:t>Yiu can see dependencies , </a:t>
            </a:r>
            <a:r>
              <a:rPr lang="en-US" dirty="0" err="1"/>
              <a:t>ie</a:t>
            </a:r>
            <a:r>
              <a:rPr lang="en-US" dirty="0"/>
              <a:t> </a:t>
            </a:r>
            <a:r>
              <a:rPr lang="en-US" dirty="0" err="1"/>
              <a:t>thye</a:t>
            </a:r>
            <a:r>
              <a:rPr lang="en-US" dirty="0"/>
              <a:t> consuming </a:t>
            </a:r>
            <a:r>
              <a:rPr lang="en-US" dirty="0" err="1"/>
              <a:t>dag</a:t>
            </a:r>
            <a:r>
              <a:rPr lang="en-US" dirty="0"/>
              <a:t> hears was user </a:t>
            </a:r>
            <a:r>
              <a:rPr lang="en-US" dirty="0" err="1"/>
              <a:t>user</a:t>
            </a:r>
            <a:r>
              <a:rPr lang="en-US" dirty="0"/>
              <a:t> location , user location consumes user , se on hover </a:t>
            </a:r>
          </a:p>
          <a:p>
            <a:r>
              <a:rPr lang="en-US" dirty="0"/>
              <a:t>You have the arrow icon to , to trigger event or create </a:t>
            </a:r>
            <a:r>
              <a:rPr lang="en-US" dirty="0" err="1"/>
              <a:t>tyhge</a:t>
            </a:r>
            <a:r>
              <a:rPr lang="en-US" dirty="0"/>
              <a:t> </a:t>
            </a:r>
            <a:r>
              <a:rPr lang="en-US" dirty="0" err="1"/>
              <a:t>assedet</a:t>
            </a:r>
            <a:r>
              <a:rPr lang="en-US" dirty="0"/>
              <a:t> </a:t>
            </a:r>
          </a:p>
          <a:p>
            <a:r>
              <a:rPr lang="en-US" dirty="0"/>
              <a:t>When you materialize an asset you trigger </a:t>
            </a:r>
            <a:r>
              <a:rPr lang="en-US" dirty="0" err="1"/>
              <a:t>dag</a:t>
            </a:r>
            <a:r>
              <a:rPr lang="en-US" dirty="0"/>
              <a:t> event behind the asset. Youi will run a </a:t>
            </a:r>
            <a:r>
              <a:rPr lang="en-US" dirty="0" err="1"/>
              <a:t>dag</a:t>
            </a:r>
            <a:r>
              <a:rPr lang="en-US" dirty="0"/>
              <a:t> with 1 task to </a:t>
            </a:r>
            <a:r>
              <a:rPr lang="en-US" dirty="0" err="1"/>
              <a:t>materiaze</a:t>
            </a:r>
            <a:r>
              <a:rPr lang="en-US" dirty="0"/>
              <a:t> the asset. </a:t>
            </a:r>
          </a:p>
          <a:p>
            <a:r>
              <a:rPr lang="en-US" dirty="0"/>
              <a:t>Manual , you want to simulate the event to </a:t>
            </a:r>
            <a:r>
              <a:rPr lang="en-US" dirty="0" err="1"/>
              <a:t>materializsre</a:t>
            </a:r>
            <a:r>
              <a:rPr lang="en-US" dirty="0"/>
              <a:t> the asset.</a:t>
            </a:r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821F3-04AF-4189-BBDA-EA7389B89FAC}" type="slidenum">
              <a:rPr lang="en-ZA" smtClean="0"/>
              <a:t>27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739918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you see the user </a:t>
            </a:r>
            <a:r>
              <a:rPr lang="en-US" dirty="0" err="1"/>
              <a:t>dag</a:t>
            </a:r>
            <a:r>
              <a:rPr lang="en-US" dirty="0"/>
              <a:t> that materialized the user asset, and the location </a:t>
            </a:r>
            <a:r>
              <a:rPr lang="en-US" dirty="0" err="1"/>
              <a:t>dag</a:t>
            </a:r>
            <a:r>
              <a:rPr lang="en-US" dirty="0"/>
              <a:t> that materializes the location asset .</a:t>
            </a:r>
          </a:p>
          <a:p>
            <a:r>
              <a:rPr lang="en-US" dirty="0"/>
              <a:t>Note here the location asset </a:t>
            </a:r>
            <a:r>
              <a:rPr lang="en-US" dirty="0" err="1"/>
              <a:t>dependemds</a:t>
            </a:r>
            <a:r>
              <a:rPr lang="en-US" dirty="0"/>
              <a:t> on the user asset. As the user asset materializes it triggers the user </a:t>
            </a:r>
            <a:r>
              <a:rPr lang="en-US" dirty="0" err="1"/>
              <a:t>loactiobn</a:t>
            </a:r>
            <a:r>
              <a:rPr lang="en-US" dirty="0"/>
              <a:t> </a:t>
            </a:r>
            <a:r>
              <a:rPr lang="en-US" dirty="0" err="1"/>
              <a:t>dag</a:t>
            </a:r>
            <a:r>
              <a:rPr lang="en-US" dirty="0"/>
              <a:t> </a:t>
            </a:r>
          </a:p>
          <a:p>
            <a:r>
              <a:rPr lang="en-US" dirty="0"/>
              <a:t>On the right had side you can see asset events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821F3-04AF-4189-BBDA-EA7389B89FAC}" type="slidenum">
              <a:rPr lang="en-ZA" smtClean="0"/>
              <a:t>28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269307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Browse X coms , </a:t>
            </a:r>
            <a:r>
              <a:rPr lang="en-US" dirty="0" err="1"/>
              <a:t>Xcoms</a:t>
            </a:r>
            <a:r>
              <a:rPr lang="en-US" dirty="0"/>
              <a:t> are little boxes with values , this box </a:t>
            </a:r>
            <a:r>
              <a:rPr lang="en-US" dirty="0" err="1"/>
              <a:t>creatred</a:t>
            </a:r>
            <a:r>
              <a:rPr lang="en-US" dirty="0"/>
              <a:t> by a task. </a:t>
            </a:r>
          </a:p>
          <a:p>
            <a:pPr marL="228600" indent="-228600">
              <a:buAutoNum type="arabicParenR"/>
            </a:pPr>
            <a:r>
              <a:rPr lang="en-US" dirty="0"/>
              <a:t>Share values in </a:t>
            </a:r>
            <a:r>
              <a:rPr lang="en-US" dirty="0" err="1"/>
              <a:t>taskd</a:t>
            </a:r>
            <a:r>
              <a:rPr lang="en-US" dirty="0"/>
              <a:t> by creating </a:t>
            </a:r>
            <a:r>
              <a:rPr lang="en-US" dirty="0" err="1"/>
              <a:t>Xcoms</a:t>
            </a:r>
            <a:r>
              <a:rPr lang="en-US" dirty="0"/>
              <a:t>. One task can pull </a:t>
            </a:r>
            <a:r>
              <a:rPr lang="en-US" dirty="0" err="1"/>
              <a:t>xcom</a:t>
            </a:r>
            <a:r>
              <a:rPr lang="en-US" dirty="0"/>
              <a:t> from another </a:t>
            </a:r>
          </a:p>
          <a:p>
            <a:pPr marL="228600" indent="-228600">
              <a:buAutoNum type="arabicParenR"/>
            </a:pPr>
            <a:r>
              <a:rPr lang="en-US" dirty="0"/>
              <a:t>On the right you see value of the </a:t>
            </a:r>
            <a:r>
              <a:rPr lang="en-US" dirty="0" err="1"/>
              <a:t>Xcpom</a:t>
            </a:r>
            <a:r>
              <a:rPr lang="en-US" dirty="0"/>
              <a:t>. From the Dag. </a:t>
            </a:r>
          </a:p>
          <a:p>
            <a:pPr marL="228600" indent="-228600">
              <a:buAutoNum type="arabicParenR"/>
            </a:pPr>
            <a:r>
              <a:rPr lang="en-US" dirty="0"/>
              <a:t>If you go to admin you have the variables , you want to share </a:t>
            </a:r>
            <a:r>
              <a:rPr lang="en-US" dirty="0" err="1"/>
              <a:t>variablessaccross</a:t>
            </a:r>
            <a:r>
              <a:rPr lang="en-US" dirty="0"/>
              <a:t> multiple </a:t>
            </a:r>
            <a:r>
              <a:rPr lang="en-US" dirty="0" err="1"/>
              <a:t>dags</a:t>
            </a:r>
            <a:r>
              <a:rPr lang="en-US" dirty="0"/>
              <a:t> </a:t>
            </a:r>
          </a:p>
          <a:p>
            <a:pPr marL="228600" indent="-228600">
              <a:buAutoNum type="arabicParenR"/>
            </a:pPr>
            <a:r>
              <a:rPr lang="en-US" dirty="0"/>
              <a:t>You want to share an </a:t>
            </a:r>
            <a:r>
              <a:rPr lang="en-US" dirty="0" err="1"/>
              <a:t>api</a:t>
            </a:r>
            <a:r>
              <a:rPr lang="en-US" dirty="0"/>
              <a:t> end point across tasks. , create a variable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821F3-04AF-4189-BBDA-EA7389B89FAC}" type="slidenum">
              <a:rPr lang="en-ZA" smtClean="0"/>
              <a:t>29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34612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want o interact with a service you need to </a:t>
            </a:r>
            <a:r>
              <a:rPr lang="en-US" dirty="0" err="1"/>
              <a:t>injstall</a:t>
            </a:r>
            <a:r>
              <a:rPr lang="en-US" dirty="0"/>
              <a:t> the package to interact </a:t>
            </a:r>
          </a:p>
          <a:p>
            <a:r>
              <a:rPr lang="en-US" dirty="0"/>
              <a:t>It’s a python package to extend functionality. </a:t>
            </a:r>
          </a:p>
          <a:p>
            <a:r>
              <a:rPr lang="en-US" dirty="0"/>
              <a:t>You need to create a connection to </a:t>
            </a:r>
            <a:r>
              <a:rPr lang="en-US" dirty="0" err="1"/>
              <a:t>thayt</a:t>
            </a:r>
            <a:r>
              <a:rPr lang="en-US" dirty="0"/>
              <a:t> service .. Admin / Connections / Add Connection </a:t>
            </a:r>
          </a:p>
          <a:p>
            <a:r>
              <a:rPr lang="en-US" dirty="0"/>
              <a:t>You need to fill in the connection type., if it </a:t>
            </a:r>
            <a:r>
              <a:rPr lang="en-US" dirty="0" err="1"/>
              <a:t>doies</a:t>
            </a:r>
            <a:r>
              <a:rPr lang="en-US" dirty="0"/>
              <a:t> not appear , then </a:t>
            </a:r>
            <a:r>
              <a:rPr lang="en-US" dirty="0" err="1"/>
              <a:t>youy</a:t>
            </a:r>
            <a:r>
              <a:rPr lang="en-US" dirty="0"/>
              <a:t> have not installed it </a:t>
            </a:r>
          </a:p>
          <a:p>
            <a:r>
              <a:rPr lang="en-US" dirty="0"/>
              <a:t>There </a:t>
            </a:r>
            <a:r>
              <a:rPr lang="en-US" dirty="0" err="1"/>
              <a:t>rae</a:t>
            </a:r>
            <a:r>
              <a:rPr lang="en-US" dirty="0"/>
              <a:t> some </a:t>
            </a:r>
            <a:r>
              <a:rPr lang="en-US" dirty="0" err="1"/>
              <a:t>usewr</a:t>
            </a:r>
            <a:r>
              <a:rPr lang="en-US" dirty="0"/>
              <a:t> settings .. Click user icon at the base.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821F3-04AF-4189-BBDA-EA7389B89FAC}" type="slidenum">
              <a:rPr lang="en-ZA" smtClean="0"/>
              <a:t>30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07181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Post </a:t>
            </a:r>
            <a:r>
              <a:rPr lang="en-US" dirty="0" err="1"/>
              <a:t>gress</a:t>
            </a:r>
            <a:r>
              <a:rPr lang="en-US" dirty="0"/>
              <a:t> </a:t>
            </a:r>
            <a:r>
              <a:rPr lang="en-US" dirty="0" err="1"/>
              <a:t>db</a:t>
            </a:r>
            <a:r>
              <a:rPr lang="en-US" dirty="0"/>
              <a:t> interaction ..is the API available.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821F3-04AF-4189-BBDA-EA7389B89FAC}" type="slidenum">
              <a:rPr lang="en-ZA" smtClean="0"/>
              <a:t>32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789184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We go to </a:t>
            </a:r>
            <a:r>
              <a:rPr lang="en-US" dirty="0" err="1"/>
              <a:t>Dags</a:t>
            </a:r>
            <a:r>
              <a:rPr lang="en-US" dirty="0"/>
              <a:t> folder in </a:t>
            </a:r>
            <a:r>
              <a:rPr lang="en-US" dirty="0" err="1"/>
              <a:t>Vscode</a:t>
            </a:r>
            <a:r>
              <a:rPr lang="en-US" dirty="0"/>
              <a:t>, and define a Dag ..see it in </a:t>
            </a:r>
            <a:r>
              <a:rPr lang="en-US" dirty="0" err="1"/>
              <a:t>vscode</a:t>
            </a:r>
            <a:r>
              <a:rPr lang="en-US" dirty="0"/>
              <a:t>..</a:t>
            </a:r>
          </a:p>
          <a:p>
            <a:pPr marL="228600" indent="-228600">
              <a:buAutoNum type="arabicParenR"/>
            </a:pPr>
            <a:r>
              <a:rPr lang="en-US" dirty="0"/>
              <a:t>Dag filer is a python file …user_processing.py in </a:t>
            </a:r>
            <a:r>
              <a:rPr lang="en-US" dirty="0" err="1"/>
              <a:t>dags</a:t>
            </a:r>
            <a:r>
              <a:rPr lang="en-US" dirty="0"/>
              <a:t> folder. </a:t>
            </a:r>
          </a:p>
          <a:p>
            <a:pPr marL="228600" indent="-228600">
              <a:buAutoNum type="arabicParenR"/>
            </a:pPr>
            <a:r>
              <a:rPr lang="en-US" dirty="0"/>
              <a:t>First: Import </a:t>
            </a:r>
            <a:r>
              <a:rPr lang="en-US" dirty="0" err="1"/>
              <a:t>dag</a:t>
            </a:r>
            <a:r>
              <a:rPr lang="en-US" dirty="0"/>
              <a:t> decorator , use correct interpreter.</a:t>
            </a:r>
          </a:p>
          <a:p>
            <a:pPr marL="228600" indent="-228600">
              <a:buAutoNum type="arabicParenR"/>
            </a:pPr>
            <a:r>
              <a:rPr lang="en-US" dirty="0"/>
              <a:t>Define the Dag @ </a:t>
            </a:r>
            <a:r>
              <a:rPr lang="en-US" dirty="0" err="1"/>
              <a:t>dag</a:t>
            </a:r>
            <a:r>
              <a:rPr lang="en-US" dirty="0"/>
              <a:t>..then def </a:t>
            </a:r>
            <a:r>
              <a:rPr lang="en-US" dirty="0" err="1"/>
              <a:t>user_processing</a:t>
            </a:r>
            <a:r>
              <a:rPr lang="en-US" dirty="0"/>
              <a:t>():  the </a:t>
            </a:r>
            <a:r>
              <a:rPr lang="en-US" dirty="0" err="1"/>
              <a:t>dag</a:t>
            </a:r>
            <a:r>
              <a:rPr lang="en-US" dirty="0"/>
              <a:t> ; it’s the unique id of the </a:t>
            </a:r>
            <a:r>
              <a:rPr lang="en-US" dirty="0" err="1"/>
              <a:t>dag</a:t>
            </a:r>
            <a:r>
              <a:rPr lang="en-US" dirty="0"/>
              <a:t>.</a:t>
            </a:r>
          </a:p>
          <a:p>
            <a:pPr marL="228600" indent="-228600">
              <a:buAutoNum type="arabicParenR"/>
            </a:pPr>
            <a:r>
              <a:rPr lang="en-US" dirty="0"/>
              <a:t>See above ..the definition ,</a:t>
            </a:r>
          </a:p>
          <a:p>
            <a:pPr marL="228600" indent="-228600">
              <a:buAutoNum type="arabicParenR"/>
            </a:pPr>
            <a:r>
              <a:rPr lang="en-US" dirty="0"/>
              <a:t>You </a:t>
            </a:r>
            <a:r>
              <a:rPr lang="en-US" dirty="0" err="1"/>
              <a:t>musr</a:t>
            </a:r>
            <a:r>
              <a:rPr lang="en-US" dirty="0"/>
              <a:t> call the </a:t>
            </a:r>
            <a:r>
              <a:rPr lang="en-US" dirty="0" err="1"/>
              <a:t>dag</a:t>
            </a:r>
            <a:r>
              <a:rPr lang="en-US" dirty="0"/>
              <a:t>. See the call to user processing , if not you will not see </a:t>
            </a:r>
            <a:r>
              <a:rPr lang="en-US" dirty="0" err="1"/>
              <a:t>dag</a:t>
            </a:r>
            <a:r>
              <a:rPr lang="en-US" dirty="0"/>
              <a:t> in </a:t>
            </a:r>
            <a:r>
              <a:rPr lang="en-US" dirty="0" err="1"/>
              <a:t>ui</a:t>
            </a:r>
            <a:r>
              <a:rPr lang="en-US" dirty="0"/>
              <a:t>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821F3-04AF-4189-BBDA-EA7389B89FAC}" type="slidenum">
              <a:rPr lang="en-ZA" smtClean="0"/>
              <a:t>33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851677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We are going to create our first task ..create table .. Need a connection , </a:t>
            </a:r>
          </a:p>
          <a:p>
            <a:pPr marL="228600" indent="-228600">
              <a:buAutoNum type="arabicParenR"/>
            </a:pPr>
            <a:r>
              <a:rPr lang="en-US" dirty="0"/>
              <a:t>We use an operators .. , see example above </a:t>
            </a:r>
          </a:p>
          <a:p>
            <a:pPr marL="228600" indent="-228600">
              <a:buAutoNum type="arabicParenR"/>
            </a:pPr>
            <a:r>
              <a:rPr lang="en-US" dirty="0" err="1"/>
              <a:t>Prerviously</a:t>
            </a:r>
            <a:r>
              <a:rPr lang="en-US" dirty="0"/>
              <a:t> we used </a:t>
            </a:r>
            <a:r>
              <a:rPr lang="en-US" dirty="0" err="1"/>
              <a:t>postgress</a:t>
            </a:r>
            <a:r>
              <a:rPr lang="en-US" dirty="0"/>
              <a:t> operator.. Now we use a </a:t>
            </a:r>
            <a:r>
              <a:rPr lang="en-US" dirty="0" err="1"/>
              <a:t>sql</a:t>
            </a:r>
            <a:r>
              <a:rPr lang="en-US" dirty="0"/>
              <a:t> execute operator ; no operator s[</a:t>
            </a:r>
            <a:r>
              <a:rPr lang="en-US" dirty="0" err="1"/>
              <a:t>pecific</a:t>
            </a:r>
            <a:r>
              <a:rPr lang="en-US" dirty="0"/>
              <a:t> to db.</a:t>
            </a:r>
          </a:p>
          <a:p>
            <a:pPr marL="228600" indent="-228600">
              <a:buAutoNum type="arabicParenR"/>
            </a:pPr>
            <a:r>
              <a:rPr lang="en-US" dirty="0"/>
              <a:t>So we need to import the operator.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821F3-04AF-4189-BBDA-EA7389B89FAC}" type="slidenum">
              <a:rPr lang="en-ZA" smtClean="0"/>
              <a:t>34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523074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Not the parameters in the operator , task Id , </a:t>
            </a:r>
            <a:r>
              <a:rPr lang="en-US" dirty="0" err="1"/>
              <a:t>sql</a:t>
            </a:r>
            <a:r>
              <a:rPr lang="en-US" dirty="0"/>
              <a:t> query , connection id etc. </a:t>
            </a:r>
          </a:p>
          <a:p>
            <a:pPr marL="228600" indent="-228600">
              <a:buAutoNum type="arabicParenR"/>
            </a:pPr>
            <a:r>
              <a:rPr lang="en-US" dirty="0"/>
              <a:t>We need the airflow connection…!!!, this is just the connection I as a parameter. See next video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821F3-04AF-4189-BBDA-EA7389B89FAC}" type="slidenum">
              <a:rPr lang="en-ZA" smtClean="0"/>
              <a:t>35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513331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Access airflow </a:t>
            </a:r>
            <a:r>
              <a:rPr lang="en-US" dirty="0" err="1"/>
              <a:t>ui</a:t>
            </a:r>
            <a:r>
              <a:rPr lang="en-US" dirty="0"/>
              <a:t> / admin / connections / add connections </a:t>
            </a:r>
          </a:p>
          <a:p>
            <a:pPr marL="228600" indent="-228600">
              <a:buAutoNum type="arabicParenR"/>
            </a:pPr>
            <a:r>
              <a:rPr lang="en-US" dirty="0"/>
              <a:t>Save and see result. So we set up our connection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821F3-04AF-4189-BBDA-EA7389B89FAC}" type="slidenum">
              <a:rPr lang="en-ZA" smtClean="0"/>
              <a:t>36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719996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If you cany find connection type </a:t>
            </a:r>
          </a:p>
          <a:p>
            <a:pPr marL="228600" indent="-228600">
              <a:buAutoNum type="arabicParenR"/>
            </a:pPr>
            <a:r>
              <a:rPr lang="en-US" dirty="0"/>
              <a:t>You have not installed the library </a:t>
            </a:r>
            <a:r>
              <a:rPr lang="en-US" dirty="0" err="1"/>
              <a:t>tto</a:t>
            </a:r>
            <a:r>
              <a:rPr lang="en-US" dirty="0"/>
              <a:t> connect,</a:t>
            </a:r>
          </a:p>
          <a:p>
            <a:pPr marL="228600" indent="-228600">
              <a:buAutoNum type="arabicParenR"/>
            </a:pPr>
            <a:r>
              <a:rPr lang="en-US" dirty="0"/>
              <a:t>We have many providers , go to the registry </a:t>
            </a:r>
          </a:p>
          <a:p>
            <a:pPr marL="228600" indent="-228600">
              <a:buAutoNum type="arabicParenR"/>
            </a:pPr>
            <a:r>
              <a:rPr lang="en-US" dirty="0"/>
              <a:t>Example </a:t>
            </a:r>
            <a:r>
              <a:rPr lang="en-US" dirty="0" err="1"/>
              <a:t>flink</a:t>
            </a:r>
            <a:r>
              <a:rPr lang="en-US" dirty="0"/>
              <a:t> , see their operator , lick on use provider to install.. On the top righty. </a:t>
            </a:r>
          </a:p>
          <a:p>
            <a:pPr marL="228600" indent="-228600">
              <a:buAutoNum type="arabicParenR"/>
            </a:pPr>
            <a:r>
              <a:rPr lang="en-US" dirty="0"/>
              <a:t>Note there are 2 additional operators his </a:t>
            </a:r>
            <a:r>
              <a:rPr lang="en-US" dirty="0" err="1"/>
              <a:t>providerprovides</a:t>
            </a:r>
            <a:r>
              <a:rPr lang="en-US" dirty="0"/>
              <a:t> ..Must install the providers.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821F3-04AF-4189-BBDA-EA7389B89FAC}" type="slidenum">
              <a:rPr lang="en-ZA" smtClean="0"/>
              <a:t>37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9258426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Does the create table task work. ?</a:t>
            </a:r>
          </a:p>
          <a:p>
            <a:pPr marL="228600" indent="-228600">
              <a:buAutoNum type="arabicParenR"/>
            </a:pPr>
            <a:r>
              <a:rPr lang="en-US" dirty="0"/>
              <a:t>We need the CLI , go to docker , see airflow connection./</a:t>
            </a:r>
            <a:r>
              <a:rPr lang="en-US" dirty="0" err="1"/>
              <a:t>dag</a:t>
            </a:r>
            <a:r>
              <a:rPr lang="en-US" dirty="0"/>
              <a:t>, expand it and see </a:t>
            </a:r>
            <a:r>
              <a:rPr lang="en-US" dirty="0" err="1"/>
              <a:t>scheduler..amongst</a:t>
            </a:r>
            <a:r>
              <a:rPr lang="en-US" dirty="0"/>
              <a:t> all others.</a:t>
            </a:r>
          </a:p>
          <a:p>
            <a:pPr marL="228600" indent="-228600">
              <a:buAutoNum type="arabicParenR"/>
            </a:pPr>
            <a:r>
              <a:rPr lang="en-US" dirty="0"/>
              <a:t>Click on it , and go to exec , type /bin/bash, type airflow , and see result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821F3-04AF-4189-BBDA-EA7389B89FAC}" type="slidenum">
              <a:rPr lang="en-ZA" smtClean="0"/>
              <a:t>38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6701597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successful result at the bottom.</a:t>
            </a:r>
          </a:p>
          <a:p>
            <a:r>
              <a:rPr lang="en-US" dirty="0"/>
              <a:t>It does not populate the </a:t>
            </a:r>
            <a:r>
              <a:rPr lang="en-US" dirty="0" err="1"/>
              <a:t>database..so</a:t>
            </a:r>
            <a:r>
              <a:rPr lang="en-US" dirty="0"/>
              <a:t> </a:t>
            </a:r>
            <a:r>
              <a:rPr lang="en-US" dirty="0" err="1"/>
              <a:t>metdata</a:t>
            </a:r>
            <a:r>
              <a:rPr lang="en-US" dirty="0"/>
              <a:t> database is clean.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821F3-04AF-4189-BBDA-EA7389B89FAC}" type="slidenum">
              <a:rPr lang="en-ZA" smtClean="0"/>
              <a:t>39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143699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Test if API we are </a:t>
            </a:r>
            <a:r>
              <a:rPr lang="en-US" dirty="0" err="1"/>
              <a:t>tring</a:t>
            </a:r>
            <a:r>
              <a:rPr lang="en-US" dirty="0"/>
              <a:t> to reach is available or not</a:t>
            </a:r>
          </a:p>
          <a:p>
            <a:pPr marL="228600" indent="-228600">
              <a:buAutoNum type="arabicParenR"/>
            </a:pPr>
            <a:r>
              <a:rPr lang="en-US" dirty="0"/>
              <a:t>We generate a fake user , we want to get data from a </a:t>
            </a:r>
            <a:r>
              <a:rPr lang="en-US" dirty="0" err="1"/>
              <a:t>url</a:t>
            </a:r>
            <a:r>
              <a:rPr lang="en-US" dirty="0"/>
              <a:t>…</a:t>
            </a:r>
          </a:p>
          <a:p>
            <a:pPr marL="228600" indent="-228600">
              <a:buAutoNum type="arabicParenR"/>
            </a:pPr>
            <a:r>
              <a:rPr lang="en-US" dirty="0"/>
              <a:t>We use a sensor to see if </a:t>
            </a:r>
            <a:r>
              <a:rPr lang="en-US" dirty="0" err="1"/>
              <a:t>api</a:t>
            </a:r>
            <a:r>
              <a:rPr lang="en-US" dirty="0"/>
              <a:t> is working. </a:t>
            </a:r>
          </a:p>
          <a:p>
            <a:pPr marL="228600" indent="-228600">
              <a:buAutoNum type="arabicParenR"/>
            </a:pPr>
            <a:r>
              <a:rPr lang="en-US" dirty="0"/>
              <a:t>Sensor  product, checks at regular intervals of time if condition is true or not.</a:t>
            </a:r>
          </a:p>
          <a:p>
            <a:pPr marL="228600" indent="-228600">
              <a:buAutoNum type="arabicParenR"/>
            </a:pPr>
            <a:r>
              <a:rPr lang="en-US" dirty="0"/>
              <a:t>Se the statement above of </a:t>
            </a:r>
            <a:r>
              <a:rPr lang="en-US" dirty="0" err="1"/>
              <a:t>PokreReturnValue</a:t>
            </a:r>
            <a:r>
              <a:rPr lang="en-US" dirty="0"/>
              <a:t>,,,the </a:t>
            </a:r>
            <a:r>
              <a:rPr lang="en-US" dirty="0" err="1"/>
              <a:t>sensir</a:t>
            </a:r>
            <a:r>
              <a:rPr lang="en-US" dirty="0"/>
              <a:t> </a:t>
            </a:r>
          </a:p>
          <a:p>
            <a:pPr marL="228600" indent="-228600">
              <a:buAutoNum type="arabicParenR"/>
            </a:pPr>
            <a:r>
              <a:rPr lang="en-US" dirty="0"/>
              <a:t>We create the new task , is API available or not ..</a:t>
            </a:r>
          </a:p>
          <a:p>
            <a:pPr marL="228600" indent="-228600">
              <a:buAutoNum type="arabicParenR"/>
            </a:pPr>
            <a:r>
              <a:rPr lang="en-US" dirty="0"/>
              <a:t>Note the @task function, the python decorator ….</a:t>
            </a:r>
            <a:r>
              <a:rPr lang="en-US" dirty="0" err="1"/>
              <a:t>ther</a:t>
            </a:r>
            <a:r>
              <a:rPr lang="en-US" dirty="0"/>
              <a:t> python function we decorate is a sensor,</a:t>
            </a:r>
          </a:p>
          <a:p>
            <a:pPr marL="228600" indent="-228600">
              <a:buAutoNum type="arabicParenR"/>
            </a:pPr>
            <a:r>
              <a:rPr lang="en-US" dirty="0"/>
              <a:t>We create the task def </a:t>
            </a:r>
            <a:r>
              <a:rPr lang="en-US" dirty="0" err="1"/>
              <a:t>is_api_available</a:t>
            </a:r>
            <a:r>
              <a:rPr lang="en-US" dirty="0"/>
              <a:t> .., we send a request to the link , and print response </a:t>
            </a:r>
          </a:p>
          <a:p>
            <a:pPr marL="228600" indent="-228600">
              <a:buAutoNum type="arabicParenR"/>
            </a:pPr>
            <a:r>
              <a:rPr lang="en-US" dirty="0" err="1"/>
              <a:t>Instatiate</a:t>
            </a:r>
            <a:r>
              <a:rPr lang="en-US" dirty="0"/>
              <a:t> the result , based on </a:t>
            </a:r>
            <a:r>
              <a:rPr lang="en-US" dirty="0" err="1"/>
              <a:t>ther</a:t>
            </a:r>
            <a:r>
              <a:rPr lang="en-US" dirty="0"/>
              <a:t> status code of the response </a:t>
            </a:r>
          </a:p>
          <a:p>
            <a:pPr marL="228600" indent="-228600">
              <a:buAutoNum type="arabicParenR"/>
            </a:pPr>
            <a:r>
              <a:rPr lang="en-US" dirty="0"/>
              <a:t>We must return the poke return value, </a:t>
            </a:r>
            <a:r>
              <a:rPr lang="en-US" dirty="0" err="1"/>
              <a:t>ie</a:t>
            </a:r>
            <a:r>
              <a:rPr lang="en-US" dirty="0"/>
              <a:t> the sensor value , the condition variable </a:t>
            </a:r>
          </a:p>
          <a:p>
            <a:pPr marL="228600" indent="-228600">
              <a:buAutoNum type="arabicParenR"/>
            </a:pPr>
            <a:r>
              <a:rPr lang="en-US" dirty="0"/>
              <a:t>Note how the Poke return value is returned in the def function line -&gt;</a:t>
            </a:r>
            <a:r>
              <a:rPr lang="en-US" dirty="0" err="1"/>
              <a:t>PokeReutrnValue</a:t>
            </a:r>
            <a:endParaRPr lang="en-US" dirty="0"/>
          </a:p>
          <a:p>
            <a:pPr marL="228600" indent="-228600">
              <a:buAutoNum type="arabicParenR"/>
            </a:pPr>
            <a:r>
              <a:rPr lang="en-US" dirty="0"/>
              <a:t> We also return the user in the same task ..so we don’t have to create another task…</a:t>
            </a:r>
            <a:r>
              <a:rPr lang="en-US" dirty="0" err="1"/>
              <a:t>fake_user</a:t>
            </a:r>
            <a:endParaRPr lang="en-US" dirty="0"/>
          </a:p>
          <a:p>
            <a:pPr marL="228600" indent="-228600">
              <a:buAutoNum type="arabicParenR"/>
            </a:pPr>
            <a:r>
              <a:rPr lang="en-US" dirty="0"/>
              <a:t>Pass fake user to </a:t>
            </a:r>
            <a:r>
              <a:rPr lang="en-US" dirty="0" err="1"/>
              <a:t>Xcom</a:t>
            </a:r>
            <a:r>
              <a:rPr lang="en-US" dirty="0"/>
              <a:t> value in the return statement.</a:t>
            </a:r>
          </a:p>
          <a:p>
            <a:pPr marL="228600" indent="-228600">
              <a:buAutoNum type="arabicParenR"/>
            </a:pPr>
            <a:r>
              <a:rPr lang="en-US" dirty="0"/>
              <a:t>Note also to import requests in the task.</a:t>
            </a:r>
          </a:p>
          <a:p>
            <a:pPr marL="228600" indent="-228600">
              <a:buAutoNum type="arabicParenR"/>
            </a:pPr>
            <a:r>
              <a:rPr lang="en-US" dirty="0"/>
              <a:t>2 parameters we use with sensors , strong suggestion : poke interval (interval for checking), timeout ..if still false for sensor to fail.</a:t>
            </a:r>
          </a:p>
          <a:p>
            <a:pPr marL="228600" indent="-228600">
              <a:buAutoNum type="arabicParenR"/>
            </a:pPr>
            <a:r>
              <a:rPr lang="en-US" dirty="0"/>
              <a:t>Must call the task..</a:t>
            </a:r>
            <a:r>
              <a:rPr lang="en-US" dirty="0" err="1"/>
              <a:t>wew</a:t>
            </a:r>
            <a:r>
              <a:rPr lang="en-US" dirty="0"/>
              <a:t> only defined it up to now ..else wont appear in the </a:t>
            </a:r>
            <a:r>
              <a:rPr lang="en-US" dirty="0" err="1"/>
              <a:t>ui</a:t>
            </a:r>
            <a:r>
              <a:rPr lang="en-US" dirty="0"/>
              <a:t> </a:t>
            </a:r>
            <a:r>
              <a:rPr lang="en-US" dirty="0" err="1"/>
              <a:t>ie</a:t>
            </a:r>
            <a:r>
              <a:rPr lang="en-US" dirty="0"/>
              <a:t> </a:t>
            </a:r>
            <a:r>
              <a:rPr lang="en-US" dirty="0" err="1"/>
              <a:t>is_api_available</a:t>
            </a:r>
            <a:r>
              <a:rPr lang="en-US" dirty="0"/>
              <a:t>.</a:t>
            </a:r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821F3-04AF-4189-BBDA-EA7389B89FAC}" type="slidenum">
              <a:rPr lang="en-ZA" smtClean="0"/>
              <a:t>40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3680960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Give the instruction , top line ….ending </a:t>
            </a:r>
            <a:r>
              <a:rPr lang="en-US" dirty="0" err="1"/>
              <a:t>is_api_available</a:t>
            </a:r>
            <a:r>
              <a:rPr lang="en-US" dirty="0"/>
              <a:t> ..to test task , see result.</a:t>
            </a:r>
          </a:p>
          <a:p>
            <a:pPr marL="228600" indent="-228600">
              <a:buAutoNum type="arabicParenR"/>
            </a:pPr>
            <a:r>
              <a:rPr lang="en-US" dirty="0"/>
              <a:t>Last line ..success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821F3-04AF-4189-BBDA-EA7389B89FAC}" type="slidenum">
              <a:rPr lang="en-ZA" smtClean="0"/>
              <a:t>41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1145620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Search http sensor in registry., see the file </a:t>
            </a:r>
            <a:r>
              <a:rPr lang="en-US" dirty="0" err="1"/>
              <a:t>sensor..to</a:t>
            </a:r>
            <a:r>
              <a:rPr lang="en-US" dirty="0"/>
              <a:t> check if file exists at location in system or skey sensor , file exists in bucket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821F3-04AF-4189-BBDA-EA7389B89FAC}" type="slidenum">
              <a:rPr lang="en-ZA" smtClean="0"/>
              <a:t>43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726628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Note from last time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821F3-04AF-4189-BBDA-EA7389B89FAC}" type="slidenum">
              <a:rPr lang="en-ZA" smtClean="0"/>
              <a:t>44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3170792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To execute </a:t>
            </a:r>
            <a:r>
              <a:rPr lang="en-US" dirty="0" err="1"/>
              <a:t>Pythin</a:t>
            </a:r>
            <a:r>
              <a:rPr lang="en-US" dirty="0"/>
              <a:t> code in airflow ..use the Python Operator..- import it </a:t>
            </a:r>
          </a:p>
          <a:p>
            <a:pPr marL="228600" indent="-228600">
              <a:buAutoNum type="arabicParenR"/>
            </a:pPr>
            <a:r>
              <a:rPr lang="en-US" dirty="0"/>
              <a:t>Now we add the task in the </a:t>
            </a:r>
            <a:r>
              <a:rPr lang="en-US" dirty="0" err="1"/>
              <a:t>dag</a:t>
            </a:r>
            <a:r>
              <a:rPr lang="en-US" dirty="0"/>
              <a:t> (python task) </a:t>
            </a:r>
          </a:p>
          <a:p>
            <a:pPr marL="228600" indent="-228600">
              <a:buAutoNum type="arabicParenR"/>
            </a:pPr>
            <a:r>
              <a:rPr lang="en-US" dirty="0"/>
              <a:t>Called extract user , must have a task id , now we need the python callable function , _ extract user .. From the </a:t>
            </a:r>
            <a:r>
              <a:rPr lang="en-US" dirty="0" err="1"/>
              <a:t>json</a:t>
            </a:r>
            <a:r>
              <a:rPr lang="en-US" dirty="0"/>
              <a:t> file </a:t>
            </a:r>
          </a:p>
          <a:p>
            <a:pPr marL="228600" indent="-228600">
              <a:buAutoNum type="arabicParenR"/>
            </a:pPr>
            <a:r>
              <a:rPr lang="en-US" dirty="0"/>
              <a:t>We define the extract user function. Ti= task instance , reserved word ..</a:t>
            </a:r>
            <a:r>
              <a:rPr lang="en-US" dirty="0" err="1"/>
              <a:t>thyen</a:t>
            </a:r>
            <a:r>
              <a:rPr lang="en-US" dirty="0"/>
              <a:t> get the methods of </a:t>
            </a:r>
            <a:r>
              <a:rPr lang="en-US" dirty="0" err="1"/>
              <a:t>ti</a:t>
            </a:r>
            <a:r>
              <a:rPr lang="en-US" dirty="0"/>
              <a:t>. </a:t>
            </a:r>
            <a:r>
              <a:rPr lang="en-US" dirty="0" err="1"/>
              <a:t>Xcom_pull</a:t>
            </a:r>
            <a:r>
              <a:rPr lang="en-US" dirty="0"/>
              <a:t>… and print the fake user </a:t>
            </a:r>
          </a:p>
          <a:p>
            <a:pPr marL="228600" indent="-228600">
              <a:buAutoNum type="arabicParenR"/>
            </a:pPr>
            <a:r>
              <a:rPr lang="en-US" dirty="0"/>
              <a:t>In the task </a:t>
            </a:r>
            <a:r>
              <a:rPr lang="en-US" dirty="0" err="1"/>
              <a:t>is_api</a:t>
            </a:r>
            <a:r>
              <a:rPr lang="en-US" dirty="0"/>
              <a:t> available we return the </a:t>
            </a:r>
            <a:r>
              <a:rPr lang="en-US" dirty="0" err="1"/>
              <a:t>fake_user</a:t>
            </a:r>
            <a:r>
              <a:rPr lang="en-US" dirty="0"/>
              <a:t> (</a:t>
            </a:r>
            <a:r>
              <a:rPr lang="en-US" dirty="0" err="1"/>
              <a:t>xcom</a:t>
            </a:r>
            <a:r>
              <a:rPr lang="en-US" dirty="0"/>
              <a:t>..is the box containing the variable ), </a:t>
            </a:r>
            <a:r>
              <a:rPr lang="en-US" dirty="0" err="1"/>
              <a:t>xcom</a:t>
            </a:r>
            <a:r>
              <a:rPr lang="en-US" dirty="0"/>
              <a:t> is in airflow db.</a:t>
            </a:r>
          </a:p>
          <a:p>
            <a:pPr marL="228600" indent="-228600">
              <a:buAutoNum type="arabicParenR"/>
            </a:pPr>
            <a:r>
              <a:rPr lang="en-US" dirty="0"/>
              <a:t>Now we want his details from the db. </a:t>
            </a:r>
          </a:p>
          <a:p>
            <a:pPr marL="228600" indent="-228600">
              <a:buAutoNum type="arabicParenR"/>
            </a:pPr>
            <a:r>
              <a:rPr lang="en-US" dirty="0"/>
              <a:t>He then chooses what we want , the details from the </a:t>
            </a:r>
            <a:r>
              <a:rPr lang="en-US" dirty="0" err="1"/>
              <a:t>github</a:t>
            </a:r>
            <a:r>
              <a:rPr lang="en-US" dirty="0"/>
              <a:t> site.</a:t>
            </a:r>
          </a:p>
          <a:p>
            <a:pPr marL="228600" indent="-228600">
              <a:buAutoNum type="arabicParenR"/>
            </a:pPr>
            <a:r>
              <a:rPr lang="en-US" dirty="0"/>
              <a:t>Note how he addresses the variables </a:t>
            </a:r>
          </a:p>
          <a:p>
            <a:pPr marL="228600" indent="-228600">
              <a:buAutoNum type="arabicParenR"/>
            </a:pPr>
            <a:r>
              <a:rPr lang="en-US" dirty="0"/>
              <a:t>Now to verify if task works., cant run airflow task test.. We don’t create the </a:t>
            </a:r>
            <a:r>
              <a:rPr lang="en-US" dirty="0" err="1"/>
              <a:t>xcom</a:t>
            </a:r>
            <a:r>
              <a:rPr lang="en-US" dirty="0"/>
              <a:t>. </a:t>
            </a:r>
          </a:p>
          <a:p>
            <a:pPr marL="228600" indent="-228600">
              <a:buAutoNum type="arabicParenR"/>
            </a:pPr>
            <a:r>
              <a:rPr lang="en-US" dirty="0"/>
              <a:t>So we use the </a:t>
            </a:r>
            <a:r>
              <a:rPr lang="en-US" dirty="0" err="1"/>
              <a:t>api</a:t>
            </a:r>
            <a:r>
              <a:rPr lang="en-US" dirty="0"/>
              <a:t> directly to get the info </a:t>
            </a:r>
            <a:r>
              <a:rPr lang="en-US" dirty="0" err="1"/>
              <a:t>ie</a:t>
            </a:r>
            <a:r>
              <a:rPr lang="en-US" dirty="0"/>
              <a:t> </a:t>
            </a:r>
            <a:r>
              <a:rPr lang="en-US" dirty="0" err="1"/>
              <a:t>requests.get</a:t>
            </a:r>
            <a:r>
              <a:rPr lang="en-US" dirty="0"/>
              <a:t> again.</a:t>
            </a:r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821F3-04AF-4189-BBDA-EA7389B89FAC}" type="slidenum">
              <a:rPr lang="en-ZA" smtClean="0"/>
              <a:t>45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9571843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docker CLI terminal we run the test task command. Success</a:t>
            </a:r>
          </a:p>
          <a:p>
            <a:r>
              <a:rPr lang="en-US" dirty="0"/>
              <a:t>The task returned the correct value .</a:t>
            </a:r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821F3-04AF-4189-BBDA-EA7389B89FAC}" type="slidenum">
              <a:rPr lang="en-ZA" smtClean="0"/>
              <a:t>46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6474971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So we going to use the task decorator , as this is the </a:t>
            </a:r>
            <a:r>
              <a:rPr lang="en-US" dirty="0" err="1"/>
              <a:t>puython</a:t>
            </a:r>
            <a:r>
              <a:rPr lang="en-US" dirty="0"/>
              <a:t> operator. </a:t>
            </a:r>
          </a:p>
          <a:p>
            <a:pPr marL="228600" indent="-228600">
              <a:buAutoNum type="arabicParenR"/>
            </a:pPr>
            <a:r>
              <a:rPr lang="en-US" dirty="0"/>
              <a:t>We take out the python operator , but define the task decorator </a:t>
            </a:r>
          </a:p>
          <a:p>
            <a:pPr marL="228600" indent="-228600">
              <a:buAutoNum type="arabicParenR"/>
            </a:pPr>
            <a:r>
              <a:rPr lang="en-US" dirty="0"/>
              <a:t>Much simpler code , but you must call the task decorator , else wont see it in </a:t>
            </a:r>
            <a:r>
              <a:rPr lang="en-US" dirty="0" err="1"/>
              <a:t>ui</a:t>
            </a:r>
            <a:r>
              <a:rPr lang="en-US" dirty="0"/>
              <a:t>.,</a:t>
            </a:r>
          </a:p>
          <a:p>
            <a:pPr marL="228600" indent="-228600">
              <a:buAutoNum type="arabicParenR"/>
            </a:pPr>
            <a:r>
              <a:rPr lang="en-US" dirty="0"/>
              <a:t>Always use task decorator , when you have python code to run. </a:t>
            </a:r>
          </a:p>
          <a:p>
            <a:pPr marL="228600" indent="-228600">
              <a:buAutoNum type="arabicParenR"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821F3-04AF-4189-BBDA-EA7389B89FAC}" type="slidenum">
              <a:rPr lang="en-ZA" smtClean="0"/>
              <a:t>47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6998880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We want to write user info </a:t>
            </a:r>
            <a:r>
              <a:rPr lang="en-US" dirty="0" err="1"/>
              <a:t>tio</a:t>
            </a:r>
            <a:r>
              <a:rPr lang="en-US" dirty="0"/>
              <a:t> csv file </a:t>
            </a:r>
          </a:p>
          <a:p>
            <a:r>
              <a:rPr lang="en-US" dirty="0"/>
              <a:t>2) We don’t need the Python Operator , we define a task </a:t>
            </a:r>
          </a:p>
          <a:p>
            <a:r>
              <a:rPr lang="en-US" dirty="0"/>
              <a:t>3) We use the </a:t>
            </a:r>
            <a:r>
              <a:rPr lang="en-US" dirty="0" err="1"/>
              <a:t>csbv</a:t>
            </a:r>
            <a:r>
              <a:rPr lang="en-US" dirty="0"/>
              <a:t> library , and open the file , and write to it. By extracting user info in the previous task. </a:t>
            </a:r>
          </a:p>
          <a:p>
            <a:r>
              <a:rPr lang="en-US" dirty="0"/>
              <a:t>The call process user.</a:t>
            </a:r>
          </a:p>
          <a:p>
            <a:r>
              <a:rPr lang="en-US" dirty="0"/>
              <a:t> We want to test the task ..but need the extract user info , but don’t want to call that as well. </a:t>
            </a:r>
          </a:p>
          <a:p>
            <a:r>
              <a:rPr lang="en-US" dirty="0"/>
              <a:t>We copy the dictionary , that we had , just for testing we replace the task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821F3-04AF-4189-BBDA-EA7389B89FAC}" type="slidenum">
              <a:rPr lang="en-ZA" smtClean="0"/>
              <a:t>48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3302299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the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821F3-04AF-4189-BBDA-EA7389B89FAC}" type="slidenum">
              <a:rPr lang="en-ZA" smtClean="0"/>
              <a:t>49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1631700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to files tab in docker and open </a:t>
            </a:r>
            <a:r>
              <a:rPr lang="en-US" dirty="0" err="1"/>
              <a:t>tmp</a:t>
            </a:r>
            <a:r>
              <a:rPr lang="en-US" dirty="0"/>
              <a:t> and fined the csv file </a:t>
            </a:r>
          </a:p>
          <a:p>
            <a:r>
              <a:rPr lang="en-US" dirty="0"/>
              <a:t>Open the file and see the result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821F3-04AF-4189-BBDA-EA7389B89FAC}" type="slidenum">
              <a:rPr lang="en-ZA" smtClean="0"/>
              <a:t>50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3116372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A Hook interacts with a service , see amazon </a:t>
            </a:r>
            <a:r>
              <a:rPr lang="en-US" dirty="0" err="1"/>
              <a:t>rerdshift</a:t>
            </a:r>
            <a:r>
              <a:rPr lang="en-US" dirty="0"/>
              <a:t> on left </a:t>
            </a:r>
          </a:p>
          <a:p>
            <a:pPr marL="228600" indent="-228600">
              <a:buAutoNum type="arabicParenR"/>
            </a:pPr>
            <a:r>
              <a:rPr lang="en-US" dirty="0"/>
              <a:t>We import the </a:t>
            </a:r>
            <a:r>
              <a:rPr lang="en-US" dirty="0" err="1"/>
              <a:t>postgress</a:t>
            </a:r>
            <a:r>
              <a:rPr lang="en-US" dirty="0"/>
              <a:t> hook .. See  the statement import ..providers </a:t>
            </a:r>
            <a:r>
              <a:rPr lang="en-US" dirty="0" err="1"/>
              <a:t>postgress</a:t>
            </a:r>
            <a:r>
              <a:rPr lang="en-US" dirty="0"/>
              <a:t> hook ..</a:t>
            </a:r>
          </a:p>
          <a:p>
            <a:pPr marL="228600" indent="-228600">
              <a:buAutoNum type="arabicParenR"/>
            </a:pPr>
            <a:r>
              <a:rPr lang="en-US" dirty="0"/>
              <a:t>We get a warning that we have not installed the </a:t>
            </a:r>
            <a:r>
              <a:rPr lang="en-US" dirty="0" err="1"/>
              <a:t>postgress</a:t>
            </a:r>
            <a:r>
              <a:rPr lang="en-US" dirty="0"/>
              <a:t> providers ..which we do in terminal </a:t>
            </a:r>
          </a:p>
          <a:p>
            <a:pPr marL="228600" indent="-228600">
              <a:buAutoNum type="arabicParenR"/>
            </a:pPr>
            <a:r>
              <a:rPr lang="en-US" dirty="0"/>
              <a:t>We installed the hook , now create task </a:t>
            </a:r>
          </a:p>
          <a:p>
            <a:pPr marL="228600" indent="-228600">
              <a:buAutoNum type="arabicParenR"/>
            </a:pPr>
            <a:r>
              <a:rPr lang="en-US" dirty="0"/>
              <a:t>Copy from csv and load to table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821F3-04AF-4189-BBDA-EA7389B89FAC}" type="slidenum">
              <a:rPr lang="en-ZA" smtClean="0"/>
              <a:t>51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4129178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Tesyt</a:t>
            </a:r>
            <a:r>
              <a:rPr lang="en-US" dirty="0"/>
              <a:t> store user and processing again </a:t>
            </a:r>
          </a:p>
          <a:p>
            <a:r>
              <a:rPr lang="en-US" dirty="0"/>
              <a:t>We </a:t>
            </a:r>
            <a:r>
              <a:rPr lang="en-US" dirty="0" err="1"/>
              <a:t>haved</a:t>
            </a:r>
            <a:r>
              <a:rPr lang="en-US" dirty="0"/>
              <a:t> implemented last task of project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821F3-04AF-4189-BBDA-EA7389B89FAC}" type="slidenum">
              <a:rPr lang="en-ZA" smtClean="0"/>
              <a:t>52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3491830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We go to </a:t>
            </a:r>
            <a:r>
              <a:rPr lang="en-US" dirty="0" err="1"/>
              <a:t>ui</a:t>
            </a:r>
            <a:r>
              <a:rPr lang="en-US" dirty="0"/>
              <a:t> and the user processing </a:t>
            </a:r>
            <a:r>
              <a:rPr lang="en-US" dirty="0" err="1"/>
              <a:t>dag</a:t>
            </a:r>
            <a:r>
              <a:rPr lang="en-US" dirty="0"/>
              <a:t>. See in </a:t>
            </a:r>
            <a:r>
              <a:rPr lang="en-US" dirty="0" err="1"/>
              <a:t>dag</a:t>
            </a:r>
            <a:r>
              <a:rPr lang="en-US" dirty="0"/>
              <a:t> view the following tasks.</a:t>
            </a:r>
          </a:p>
          <a:p>
            <a:pPr marL="228600" indent="-228600">
              <a:buAutoNum type="arabicParenR"/>
            </a:pPr>
            <a:r>
              <a:rPr lang="en-US" dirty="0"/>
              <a:t>The tasks store user and create </a:t>
            </a:r>
            <a:r>
              <a:rPr lang="en-US" dirty="0" err="1"/>
              <a:t>tabloe</a:t>
            </a:r>
            <a:r>
              <a:rPr lang="en-US" dirty="0"/>
              <a:t> are floating around. We need a way of a </a:t>
            </a:r>
            <a:r>
              <a:rPr lang="en-US" dirty="0" err="1"/>
              <a:t>discilined</a:t>
            </a:r>
            <a:r>
              <a:rPr lang="en-US" dirty="0"/>
              <a:t> , dependency </a:t>
            </a:r>
            <a:r>
              <a:rPr lang="en-US" dirty="0" err="1"/>
              <a:t>ie</a:t>
            </a:r>
            <a:r>
              <a:rPr lang="en-US" dirty="0"/>
              <a:t> first row , second row and third row ..</a:t>
            </a:r>
          </a:p>
          <a:p>
            <a:pPr marL="228600" indent="-228600">
              <a:buAutoNum type="arabicParenR"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821F3-04AF-4189-BBDA-EA7389B89FAC}" type="slidenum">
              <a:rPr lang="en-ZA" smtClean="0"/>
              <a:t>53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1508889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see in the code there are some inherent dependencies , see above , but these are implicit </a:t>
            </a:r>
            <a:r>
              <a:rPr lang="en-US" dirty="0" err="1"/>
              <a:t>ie</a:t>
            </a:r>
            <a:r>
              <a:rPr lang="en-US" dirty="0"/>
              <a:t>. Fake user , input to </a:t>
            </a:r>
            <a:r>
              <a:rPr lang="en-US" dirty="0" err="1"/>
              <a:t>user_info</a:t>
            </a:r>
            <a:r>
              <a:rPr lang="en-US" dirty="0"/>
              <a:t>, then process user. </a:t>
            </a:r>
          </a:p>
          <a:p>
            <a:r>
              <a:rPr lang="en-US" dirty="0"/>
              <a:t>Use a </a:t>
            </a:r>
            <a:r>
              <a:rPr lang="en-US" dirty="0" err="1"/>
              <a:t>dounble</a:t>
            </a:r>
            <a:r>
              <a:rPr lang="en-US" dirty="0"/>
              <a:t> arrow to reflect order </a:t>
            </a:r>
            <a:r>
              <a:rPr lang="en-US" dirty="0" err="1"/>
              <a:t>ie</a:t>
            </a:r>
            <a:r>
              <a:rPr lang="en-US" dirty="0"/>
              <a:t> see above a&gt;&gt;[</a:t>
            </a:r>
            <a:r>
              <a:rPr lang="en-US" dirty="0" err="1"/>
              <a:t>b,c,d</a:t>
            </a:r>
            <a:r>
              <a:rPr lang="en-US" dirty="0"/>
              <a:t>]</a:t>
            </a:r>
          </a:p>
          <a:p>
            <a:r>
              <a:rPr lang="en-US" dirty="0" err="1"/>
              <a:t>Csan</a:t>
            </a:r>
            <a:r>
              <a:rPr lang="en-US" dirty="0"/>
              <a:t> do multiple </a:t>
            </a:r>
            <a:r>
              <a:rPr lang="en-US" dirty="0" err="1"/>
              <a:t>lnes</a:t>
            </a:r>
            <a:r>
              <a:rPr lang="en-US" dirty="0"/>
              <a:t> </a:t>
            </a:r>
          </a:p>
          <a:p>
            <a:r>
              <a:rPr lang="en-US" dirty="0"/>
              <a:t>So how we do it in our case , see create table  to store user ..replace a whole lot of </a:t>
            </a:r>
            <a:r>
              <a:rPr lang="en-US" dirty="0" err="1"/>
              <a:t>separtar</a:t>
            </a:r>
            <a:r>
              <a:rPr lang="en-US" dirty="0"/>
              <a:t> lines , in create table.</a:t>
            </a:r>
          </a:p>
          <a:p>
            <a:r>
              <a:rPr lang="en-US" dirty="0"/>
              <a:t>First one not correct , second one is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821F3-04AF-4189-BBDA-EA7389B89FAC}" type="slidenum">
              <a:rPr lang="en-ZA" smtClean="0"/>
              <a:t>54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9763576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to </a:t>
            </a:r>
            <a:r>
              <a:rPr lang="en-US" dirty="0" err="1"/>
              <a:t>th</a:t>
            </a:r>
            <a:r>
              <a:rPr lang="en-US" dirty="0"/>
              <a:t> UI , and to </a:t>
            </a:r>
            <a:r>
              <a:rPr lang="en-US" dirty="0" err="1"/>
              <a:t>Dags</a:t>
            </a:r>
            <a:r>
              <a:rPr lang="en-US" dirty="0"/>
              <a:t>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821F3-04AF-4189-BBDA-EA7389B89FAC}" type="slidenum">
              <a:rPr lang="en-ZA" smtClean="0"/>
              <a:t>56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8336758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to </a:t>
            </a:r>
            <a:r>
              <a:rPr lang="en-US" dirty="0" err="1"/>
              <a:t>Dags</a:t>
            </a:r>
            <a:r>
              <a:rPr lang="en-US" dirty="0"/>
              <a:t> Ui , </a:t>
            </a:r>
            <a:r>
              <a:rPr lang="en-US" dirty="0" err="1"/>
              <a:t>Dasgs</a:t>
            </a:r>
            <a:r>
              <a:rPr lang="en-US" dirty="0"/>
              <a:t> page and trigger it manually</a:t>
            </a:r>
          </a:p>
          <a:p>
            <a:r>
              <a:rPr lang="en-US" dirty="0"/>
              <a:t>Go to Options on RHS and select Dag run to see tasks , success..</a:t>
            </a:r>
            <a:r>
              <a:rPr lang="en-US" dirty="0" err="1"/>
              <a:t>dag</a:t>
            </a:r>
            <a:r>
              <a:rPr lang="en-US" dirty="0"/>
              <a:t> ran successfully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821F3-04AF-4189-BBDA-EA7389B89FAC}" type="slidenum">
              <a:rPr lang="en-ZA" smtClean="0"/>
              <a:t>57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3312938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We were looking in terms of tasks ,</a:t>
            </a:r>
          </a:p>
          <a:p>
            <a:pPr marL="228600" indent="-228600">
              <a:buAutoNum type="arabicParenR"/>
            </a:pPr>
            <a:r>
              <a:rPr lang="en-US" dirty="0"/>
              <a:t>Now we look at assets created, what do you care </a:t>
            </a:r>
            <a:r>
              <a:rPr lang="en-US" dirty="0" err="1"/>
              <a:t>about..the</a:t>
            </a:r>
            <a:r>
              <a:rPr lang="en-US" dirty="0"/>
              <a:t> tasks or the outputs </a:t>
            </a:r>
          </a:p>
          <a:p>
            <a:pPr marL="228600" indent="-228600">
              <a:buAutoNum type="arabicParenR"/>
            </a:pPr>
            <a:r>
              <a:rPr lang="en-US" dirty="0"/>
              <a:t>Now we care about the assets and the dependencies on the </a:t>
            </a:r>
            <a:r>
              <a:rPr lang="en-US" dirty="0" err="1"/>
              <a:t>api</a:t>
            </a:r>
            <a:r>
              <a:rPr lang="en-US" dirty="0"/>
              <a:t> , is it available , use it to get the assets via the tasks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821F3-04AF-4189-BBDA-EA7389B89FAC}" type="slidenum">
              <a:rPr lang="en-ZA" smtClean="0"/>
              <a:t>58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958529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Our version is 2.X , so we still have data sets , these are the definition of datasets </a:t>
            </a:r>
          </a:p>
          <a:p>
            <a:pPr marL="228600" indent="-228600">
              <a:buAutoNum type="arabicParenR"/>
            </a:pPr>
            <a:r>
              <a:rPr lang="en-US" dirty="0"/>
              <a:t>Why use assets…see image above , see above , you want to trigger the second pipeline after the first</a:t>
            </a:r>
          </a:p>
          <a:p>
            <a:pPr marL="228600" indent="-228600">
              <a:buAutoNum type="arabicParenR"/>
            </a:pPr>
            <a:r>
              <a:rPr lang="en-US" dirty="0"/>
              <a:t>Especially pertinent when you want to trigger a workflow on output of a task. (First reason)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821F3-04AF-4189-BBDA-EA7389B89FAC}" type="slidenum">
              <a:rPr lang="en-ZA" smtClean="0"/>
              <a:t>59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8952339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We have 2 data </a:t>
            </a:r>
            <a:r>
              <a:rPr lang="en-US" dirty="0" err="1"/>
              <a:t>piplines</a:t>
            </a:r>
            <a:r>
              <a:rPr lang="en-US" dirty="0"/>
              <a:t> , </a:t>
            </a:r>
            <a:r>
              <a:rPr lang="en-US" dirty="0" err="1"/>
              <a:t>ie</a:t>
            </a:r>
            <a:r>
              <a:rPr lang="en-US" dirty="0"/>
              <a:t> each of 1 task , in a python </a:t>
            </a:r>
            <a:r>
              <a:rPr lang="en-US" dirty="0" err="1"/>
              <a:t>dag</a:t>
            </a:r>
            <a:r>
              <a:rPr lang="en-US" dirty="0"/>
              <a:t> file , each has 1 task </a:t>
            </a:r>
          </a:p>
          <a:p>
            <a:pPr marL="228600" indent="-228600">
              <a:buAutoNum type="arabicParenR"/>
            </a:pPr>
            <a:r>
              <a:rPr lang="en-US" dirty="0"/>
              <a:t>We have a daily report and a monthly report in the same </a:t>
            </a:r>
            <a:r>
              <a:rPr lang="en-US" dirty="0" err="1"/>
              <a:t>dag</a:t>
            </a:r>
            <a:r>
              <a:rPr lang="en-US" dirty="0"/>
              <a:t> file ?? , Then we run the 2 </a:t>
            </a:r>
            <a:r>
              <a:rPr lang="en-US" dirty="0" err="1"/>
              <a:t>dags</a:t>
            </a:r>
            <a:r>
              <a:rPr lang="en-US" dirty="0"/>
              <a:t> , one is inherent after the other , </a:t>
            </a:r>
          </a:p>
          <a:p>
            <a:pPr marL="228600" indent="-228600">
              <a:buAutoNum type="arabicParenR"/>
            </a:pPr>
            <a:r>
              <a:rPr lang="en-US" dirty="0"/>
              <a:t>NB: I see they are not parameterized.</a:t>
            </a:r>
          </a:p>
          <a:p>
            <a:pPr marL="228600" indent="-228600">
              <a:buAutoNum type="arabicParenR"/>
            </a:pPr>
            <a:r>
              <a:rPr lang="en-US" dirty="0" err="1"/>
              <a:t>Ecah</a:t>
            </a:r>
            <a:r>
              <a:rPr lang="en-US" dirty="0"/>
              <a:t> task produces 1 data set , this is what we do here .in Apache 2.X</a:t>
            </a:r>
          </a:p>
          <a:p>
            <a:pPr marL="228600" indent="-228600">
              <a:buAutoNum type="arabicParenR"/>
            </a:pPr>
            <a:r>
              <a:rPr lang="en-US" dirty="0"/>
              <a:t>We now have assets in 3.x ..not available in Fabric. Instead of 29 lines , we wrote 6. </a:t>
            </a:r>
          </a:p>
          <a:p>
            <a:pPr marL="228600" indent="-228600">
              <a:buAutoNum type="arabicParenR"/>
            </a:pPr>
            <a:r>
              <a:rPr lang="en-US" dirty="0"/>
              <a:t>Therefore we focus on the assets ,</a:t>
            </a:r>
          </a:p>
          <a:p>
            <a:pPr marL="228600" indent="-228600">
              <a:buAutoNum type="arabicParenR"/>
            </a:pPr>
            <a:r>
              <a:rPr lang="en-US" dirty="0"/>
              <a:t>Assets is better for data lineage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821F3-04AF-4189-BBDA-EA7389B89FAC}" type="slidenum">
              <a:rPr lang="en-ZA" smtClean="0"/>
              <a:t>60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7940660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Much better view of dependencies using assets , as shown above. Look at the code to create an asset.</a:t>
            </a:r>
          </a:p>
          <a:p>
            <a:r>
              <a:rPr lang="en-US" dirty="0"/>
              <a:t>So we see the formats of the decorator @asset, </a:t>
            </a:r>
            <a:r>
              <a:rPr lang="en-US" dirty="0" err="1"/>
              <a:t>parametersd</a:t>
            </a:r>
            <a:r>
              <a:rPr lang="en-US" dirty="0"/>
              <a:t> ,and then define the </a:t>
            </a:r>
            <a:r>
              <a:rPr lang="en-US" dirty="0" err="1"/>
              <a:t>my_asset</a:t>
            </a:r>
            <a:r>
              <a:rPr lang="en-US" dirty="0"/>
              <a:t>()</a:t>
            </a:r>
          </a:p>
          <a:p>
            <a:r>
              <a:rPr lang="en-US" dirty="0"/>
              <a:t>Notice each parameter is explained and you must have each one. You can </a:t>
            </a:r>
            <a:r>
              <a:rPr lang="en-US" dirty="0" err="1"/>
              <a:t>groupo</a:t>
            </a:r>
            <a:r>
              <a:rPr lang="en-US" dirty="0"/>
              <a:t> the asset as well.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821F3-04AF-4189-BBDA-EA7389B89FAC}" type="slidenum">
              <a:rPr lang="en-ZA" smtClean="0"/>
              <a:t>61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0588020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We use the Fake user Api ,see all the names </a:t>
            </a:r>
          </a:p>
          <a:p>
            <a:pPr marL="228600" indent="-228600">
              <a:buAutoNum type="arabicParenR"/>
            </a:pPr>
            <a:r>
              <a:rPr lang="en-US" dirty="0"/>
              <a:t>Import asset decorator , we don’t define the name parameter  it’s the one used in the definition of the </a:t>
            </a:r>
            <a:r>
              <a:rPr lang="en-US" dirty="0" err="1"/>
              <a:t>asser</a:t>
            </a:r>
            <a:r>
              <a:rPr lang="en-US" dirty="0"/>
              <a:t>/</a:t>
            </a:r>
          </a:p>
          <a:p>
            <a:pPr marL="228600" indent="-228600">
              <a:buAutoNum type="arabicParenR"/>
            </a:pPr>
            <a:r>
              <a:rPr lang="en-US" dirty="0"/>
              <a:t>\Note the parameter definitions notes:</a:t>
            </a:r>
          </a:p>
          <a:p>
            <a:pPr marL="685800" lvl="1" indent="-228600">
              <a:buAutoNum type="arabicParenR"/>
            </a:pPr>
            <a:r>
              <a:rPr lang="en-US" dirty="0"/>
              <a:t>Always put the </a:t>
            </a:r>
            <a:r>
              <a:rPr lang="en-US" dirty="0" err="1"/>
              <a:t>uri</a:t>
            </a:r>
            <a:r>
              <a:rPr lang="en-US" dirty="0"/>
              <a:t>..event if just the </a:t>
            </a:r>
            <a:r>
              <a:rPr lang="en-US" dirty="0" err="1"/>
              <a:t>api</a:t>
            </a:r>
            <a:r>
              <a:rPr lang="en-US" dirty="0"/>
              <a:t>.,</a:t>
            </a:r>
          </a:p>
          <a:p>
            <a:pPr marL="685800" lvl="1" indent="-228600">
              <a:buAutoNum type="arabicParenR"/>
            </a:pPr>
            <a:r>
              <a:rPr lang="en-US" dirty="0"/>
              <a:t>Note the use of self for the request method.</a:t>
            </a:r>
          </a:p>
          <a:p>
            <a:pPr marL="685800" lvl="1" indent="-228600">
              <a:buAutoNum type="arabicParenR"/>
            </a:pPr>
            <a:r>
              <a:rPr lang="en-US" dirty="0"/>
              <a:t>Then retorn the </a:t>
            </a:r>
            <a:r>
              <a:rPr lang="en-US" dirty="0" err="1"/>
              <a:t>puthon</a:t>
            </a:r>
            <a:r>
              <a:rPr lang="en-US" dirty="0"/>
              <a:t> dictionary , </a:t>
            </a:r>
            <a:r>
              <a:rPr lang="en-US" dirty="0" err="1"/>
              <a:t>json</a:t>
            </a:r>
            <a:r>
              <a:rPr lang="en-US" dirty="0"/>
              <a:t> of the data in the </a:t>
            </a:r>
            <a:r>
              <a:rPr lang="en-US" dirty="0" err="1"/>
              <a:t>uri</a:t>
            </a:r>
            <a:r>
              <a:rPr lang="en-US" dirty="0"/>
              <a:t>.</a:t>
            </a:r>
          </a:p>
          <a:p>
            <a:pPr marL="685800" lvl="1" indent="-228600">
              <a:buAutoNum type="arabicParenR"/>
            </a:pPr>
            <a:r>
              <a:rPr lang="en-US" dirty="0"/>
              <a:t>Bote the </a:t>
            </a:r>
            <a:r>
              <a:rPr lang="en-US" dirty="0" err="1"/>
              <a:t>spercification</a:t>
            </a:r>
            <a:r>
              <a:rPr lang="en-US" dirty="0"/>
              <a:t> of the </a:t>
            </a:r>
            <a:r>
              <a:rPr lang="en-US" dirty="0" err="1"/>
              <a:t>outrput</a:t>
            </a:r>
            <a:r>
              <a:rPr lang="en-US" dirty="0"/>
              <a:t> form </a:t>
            </a:r>
            <a:r>
              <a:rPr lang="en-US" dirty="0" err="1"/>
              <a:t>dict</a:t>
            </a:r>
            <a:r>
              <a:rPr lang="en-US" dirty="0"/>
              <a:t>[str). So it knows format of the output. </a:t>
            </a:r>
          </a:p>
          <a:p>
            <a:pPr marL="685800" lvl="1" indent="-228600">
              <a:buAutoNum type="arabicParenR"/>
            </a:pPr>
            <a:r>
              <a:rPr lang="en-US" dirty="0"/>
              <a:t>Don’t need to call the </a:t>
            </a:r>
            <a:r>
              <a:rPr lang="en-US" dirty="0" err="1"/>
              <a:t>aseet</a:t>
            </a:r>
            <a:r>
              <a:rPr lang="en-US" dirty="0"/>
              <a:t>. , like we did before with </a:t>
            </a:r>
            <a:r>
              <a:rPr lang="en-US" dirty="0" err="1"/>
              <a:t>dags</a:t>
            </a:r>
            <a:r>
              <a:rPr lang="en-US" dirty="0"/>
              <a:t> </a:t>
            </a:r>
          </a:p>
          <a:p>
            <a:pPr marL="685800" lvl="1" indent="-228600">
              <a:buAutoNum type="arabicParenR"/>
            </a:pPr>
            <a:endParaRPr lang="en-US" dirty="0"/>
          </a:p>
          <a:p>
            <a:pPr marL="228600" lvl="0" indent="-228600">
              <a:buAutoNum type="arabicParenR"/>
            </a:pPr>
            <a:r>
              <a:rPr lang="en-US" dirty="0"/>
              <a:t>Save the file and run airflow in the terminal. Docker CLI </a:t>
            </a:r>
          </a:p>
          <a:p>
            <a:pPr marL="228600" lvl="0" indent="-228600">
              <a:buAutoNum type="arabicParenR"/>
            </a:pPr>
            <a:r>
              <a:rPr lang="en-US" dirty="0"/>
              <a:t> Run airflow assets list and you should see your asset.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821F3-04AF-4189-BBDA-EA7389B89FAC}" type="slidenum">
              <a:rPr lang="en-ZA" smtClean="0"/>
              <a:t>62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9631621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Go to Exec in Docker , get the docker / airflow cli. – airflow assets materialize ..name user enter!</a:t>
            </a:r>
          </a:p>
          <a:p>
            <a:pPr marL="228600" indent="-228600">
              <a:buAutoNum type="arabicParenR"/>
            </a:pPr>
            <a:r>
              <a:rPr lang="en-US" dirty="0"/>
              <a:t>See the state , its in the queued </a:t>
            </a:r>
            <a:r>
              <a:rPr lang="en-US" dirty="0" err="1"/>
              <a:t>state..not</a:t>
            </a:r>
            <a:r>
              <a:rPr lang="en-US" dirty="0"/>
              <a:t> completely materialized .</a:t>
            </a:r>
          </a:p>
          <a:p>
            <a:pPr marL="228600" indent="-228600">
              <a:buAutoNum type="arabicParenR"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821F3-04AF-4189-BBDA-EA7389B89FAC}" type="slidenum">
              <a:rPr lang="en-ZA" smtClean="0"/>
              <a:t>63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516769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see toggle is in </a:t>
            </a:r>
            <a:r>
              <a:rPr lang="en-US" dirty="0" err="1"/>
              <a:t>queud</a:t>
            </a:r>
            <a:r>
              <a:rPr lang="en-US" dirty="0"/>
              <a:t> state </a:t>
            </a:r>
          </a:p>
          <a:p>
            <a:r>
              <a:rPr lang="en-US" dirty="0"/>
              <a:t>Confusion ..we created an asset , not a </a:t>
            </a:r>
            <a:r>
              <a:rPr lang="en-US" dirty="0" err="1"/>
              <a:t>dag</a:t>
            </a:r>
            <a:r>
              <a:rPr lang="en-US" dirty="0"/>
              <a:t>…so why we have a </a:t>
            </a:r>
            <a:r>
              <a:rPr lang="en-US" dirty="0" err="1"/>
              <a:t>dag</a:t>
            </a:r>
            <a:r>
              <a:rPr lang="en-US" dirty="0"/>
              <a:t>. </a:t>
            </a:r>
          </a:p>
          <a:p>
            <a:r>
              <a:rPr lang="en-US" dirty="0"/>
              <a:t>Behind the scene an asset is a </a:t>
            </a:r>
            <a:r>
              <a:rPr lang="en-US" dirty="0" err="1"/>
              <a:t>dag</a:t>
            </a:r>
            <a:r>
              <a:rPr lang="en-US" dirty="0"/>
              <a:t> , with a single task.</a:t>
            </a:r>
          </a:p>
          <a:p>
            <a:r>
              <a:rPr lang="en-US" dirty="0"/>
              <a:t>If you click on the user </a:t>
            </a:r>
            <a:r>
              <a:rPr lang="en-US" dirty="0" err="1"/>
              <a:t>dag</a:t>
            </a:r>
            <a:r>
              <a:rPr lang="en-US" dirty="0"/>
              <a:t> , you see _Asset main operator 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821F3-04AF-4189-BBDA-EA7389B89FAC}" type="slidenum">
              <a:rPr lang="en-ZA" smtClean="0"/>
              <a:t>64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5656154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asset </a:t>
            </a:r>
            <a:r>
              <a:rPr lang="en-US" dirty="0" err="1"/>
              <a:t>getrs</a:t>
            </a:r>
            <a:r>
              <a:rPr lang="en-US" dirty="0"/>
              <a:t> materialized , see the event ..click on the task , see info </a:t>
            </a:r>
            <a:r>
              <a:rPr lang="en-US" dirty="0" err="1"/>
              <a:t>rekeasefd</a:t>
            </a:r>
            <a:r>
              <a:rPr lang="en-US" dirty="0"/>
              <a:t> , seer the dictionary in the logs.</a:t>
            </a:r>
          </a:p>
          <a:p>
            <a:r>
              <a:rPr lang="en-US" dirty="0"/>
              <a:t>Take a look at the assets </a:t>
            </a:r>
            <a:r>
              <a:rPr lang="en-US" dirty="0" err="1"/>
              <a:t>tab,on</a:t>
            </a:r>
            <a:r>
              <a:rPr lang="en-US" dirty="0"/>
              <a:t> the right , and </a:t>
            </a:r>
            <a:r>
              <a:rPr lang="en-US" dirty="0" err="1"/>
              <a:t>yoiuy</a:t>
            </a:r>
            <a:r>
              <a:rPr lang="en-US" dirty="0"/>
              <a:t> will see your asset.</a:t>
            </a:r>
          </a:p>
          <a:p>
            <a:r>
              <a:rPr lang="en-US" dirty="0"/>
              <a:t>And if you want to materialize it , you can do soi in the UI , </a:t>
            </a:r>
            <a:r>
              <a:rPr lang="en-US" dirty="0" err="1"/>
              <a:t>ie</a:t>
            </a:r>
            <a:r>
              <a:rPr lang="en-US" dirty="0"/>
              <a:t> play button the </a:t>
            </a:r>
            <a:r>
              <a:rPr lang="en-US" dirty="0" err="1"/>
              <a:t>the</a:t>
            </a:r>
            <a:r>
              <a:rPr lang="en-US" dirty="0"/>
              <a:t> </a:t>
            </a:r>
            <a:r>
              <a:rPr lang="en-US" dirty="0" err="1"/>
              <a:t>righjt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821F3-04AF-4189-BBDA-EA7389B89FAC}" type="slidenum">
              <a:rPr lang="en-ZA" smtClean="0"/>
              <a:t>65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7040754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asset , or create the event to trigger downstream </a:t>
            </a:r>
            <a:r>
              <a:rPr lang="en-US" dirty="0" err="1"/>
              <a:t>dags</a:t>
            </a:r>
            <a:r>
              <a:rPr lang="en-US" dirty="0"/>
              <a:t>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821F3-04AF-4189-BBDA-EA7389B89FAC}" type="slidenum">
              <a:rPr lang="en-ZA" smtClean="0"/>
              <a:t>66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5754607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We create a second asset, in the same file ,</a:t>
            </a:r>
          </a:p>
          <a:p>
            <a:pPr marL="228600" indent="-228600">
              <a:buAutoNum type="arabicParenR"/>
            </a:pPr>
            <a:r>
              <a:rPr lang="en-US" dirty="0"/>
              <a:t>Note the scheduler of the second asset , to run after the first asset, see schedule = user</a:t>
            </a:r>
          </a:p>
          <a:p>
            <a:pPr marL="228600" indent="-228600">
              <a:buAutoNum type="arabicParenR"/>
            </a:pPr>
            <a:r>
              <a:rPr lang="en-US" dirty="0"/>
              <a:t>Pass the user asset as a parameter of the user location,</a:t>
            </a:r>
          </a:p>
          <a:p>
            <a:pPr marL="228600" indent="-228600">
              <a:buAutoNum type="arabicParenR"/>
            </a:pPr>
            <a:r>
              <a:rPr lang="en-US" dirty="0"/>
              <a:t>Note in the first asset we returned a vale which we access via an </a:t>
            </a:r>
            <a:r>
              <a:rPr lang="en-US" dirty="0" err="1"/>
              <a:t>Xcom</a:t>
            </a:r>
            <a:r>
              <a:rPr lang="en-US" dirty="0"/>
              <a:t> into the second asset. </a:t>
            </a:r>
            <a:r>
              <a:rPr lang="en-US" dirty="0" err="1"/>
              <a:t>Acces</a:t>
            </a:r>
            <a:r>
              <a:rPr lang="en-US" dirty="0"/>
              <a:t> the context of the </a:t>
            </a:r>
            <a:r>
              <a:rPr lang="en-US" dirty="0" err="1"/>
              <a:t>asset..see</a:t>
            </a:r>
            <a:r>
              <a:rPr lang="en-US" dirty="0"/>
              <a:t> parameters in the def user location ; note all the imports that are done from airflow.</a:t>
            </a:r>
          </a:p>
          <a:p>
            <a:pPr marL="228600" indent="-228600">
              <a:buAutoNum type="arabicParenR"/>
            </a:pPr>
            <a:r>
              <a:rPr lang="en-US" dirty="0"/>
              <a:t>See config of </a:t>
            </a:r>
            <a:r>
              <a:rPr lang="en-US" dirty="0" err="1"/>
              <a:t>xcom_pull</a:t>
            </a:r>
            <a:r>
              <a:rPr lang="en-US" dirty="0"/>
              <a:t>, all the </a:t>
            </a:r>
            <a:r>
              <a:rPr lang="en-US" dirty="0" err="1"/>
              <a:t>poatrameters</a:t>
            </a:r>
            <a:r>
              <a:rPr lang="en-US" dirty="0"/>
              <a:t>..</a:t>
            </a:r>
          </a:p>
          <a:p>
            <a:pPr marL="228600" indent="-228600">
              <a:buAutoNum type="arabicParenR"/>
            </a:pPr>
            <a:r>
              <a:rPr lang="en-US" dirty="0"/>
              <a:t>Note how we access the results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821F3-04AF-4189-BBDA-EA7389B89FAC}" type="slidenum">
              <a:rPr lang="en-ZA" smtClean="0"/>
              <a:t>67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8422682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In the UI you can see 2 assets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821F3-04AF-4189-BBDA-EA7389B89FAC}" type="slidenum">
              <a:rPr lang="en-ZA" smtClean="0"/>
              <a:t>68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55901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4CC12-E7C4-BA9A-6A30-46ACDC0BF5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6885B6-18D0-DC7A-13BE-A0F82F4180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C3813-8F5C-0EAB-3E9C-EB96A75B8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8E42-76F3-44F2-B65B-2968A536284F}" type="datetimeFigureOut">
              <a:rPr lang="en-ZA" smtClean="0"/>
              <a:t>2025/11/02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AE22C-0B2F-57D3-DD9A-774AF9D15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BEE6D-5B99-19F7-05F5-4BD2B7446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9CF46-4201-4DEA-84E3-5C651FE4C60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26621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62DC9-857C-D4E6-DBC6-235AAA70A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B9A32-A774-8599-E7B6-FFA5E18500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7B347-3233-E3F4-F28A-4AB225506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8E42-76F3-44F2-B65B-2968A536284F}" type="datetimeFigureOut">
              <a:rPr lang="en-ZA" smtClean="0"/>
              <a:t>2025/11/02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ABB87-6A17-BD8B-4933-21F9DA5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45616-9E5F-A012-A25B-D3CB50B4F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9CF46-4201-4DEA-84E3-5C651FE4C60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13375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CBF5D-9ADA-4EC8-089C-4BB1C3E4B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7DA01B-3119-9389-41C0-05175D6057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DC916-B53F-1C9F-83B0-BE0F715C9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8E42-76F3-44F2-B65B-2968A536284F}" type="datetimeFigureOut">
              <a:rPr lang="en-ZA" smtClean="0"/>
              <a:t>2025/11/02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D0B30-5E6B-3425-0D19-03FD48EB1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0921C-ADF4-6829-D49B-C2A384A4C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9CF46-4201-4DEA-84E3-5C651FE4C60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43897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7230E-B0A1-19B3-F6A1-878457E01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C78E7-9C67-1846-3487-C9EB31AB0D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80F0B-45FE-DB97-2634-1B1248AE18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E124CE-78F3-542D-F7BC-1BF3F6703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8E42-76F3-44F2-B65B-2968A536284F}" type="datetimeFigureOut">
              <a:rPr lang="en-ZA" smtClean="0"/>
              <a:t>2025/11/02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DB5F29-B08D-AB8C-6C85-87AC05D26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BC51F6-43A1-47FC-A716-F443C556A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9CF46-4201-4DEA-84E3-5C651FE4C60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26149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408A4-1396-3EC1-DEE0-FF0EFE339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46C9C7-9B1E-B879-EDB2-90AF539AAF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B59273-893C-FA42-7DFB-9C212E63D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E1CA22-ACFD-E8A7-1E76-B8921C5A94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BF5FD8-64B2-1926-B4B3-7E01FBD2E1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75877D-5CCE-FB07-FB33-24747D21E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8E42-76F3-44F2-B65B-2968A536284F}" type="datetimeFigureOut">
              <a:rPr lang="en-ZA" smtClean="0"/>
              <a:t>2025/11/02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885BA8-5462-0617-F686-FCA455BBE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18DDF7-204C-514B-FD3D-B81EA76C6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9CF46-4201-4DEA-84E3-5C651FE4C60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12004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62DBC-7AD7-FFCC-DAF3-BB53E10EE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8246C-A124-7778-A040-BCA1AD150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8E42-76F3-44F2-B65B-2968A536284F}" type="datetimeFigureOut">
              <a:rPr lang="en-ZA" smtClean="0"/>
              <a:t>2025/11/02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DABCAE-86E0-E3E2-9929-782DE0217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60E1E0-1CED-692B-40F4-605A53E6D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9CF46-4201-4DEA-84E3-5C651FE4C60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5219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5BB089-C895-7C58-6423-D641D90C0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8E42-76F3-44F2-B65B-2968A536284F}" type="datetimeFigureOut">
              <a:rPr lang="en-ZA" smtClean="0"/>
              <a:t>2025/11/02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6E70DB-E00F-C859-7EBC-468C95B88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640FA-E818-9ACD-EC77-D6145D527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9CF46-4201-4DEA-84E3-5C651FE4C60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70570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65D18-F200-EC52-01D2-0821EB9C8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DE42F-9E19-9769-DD8B-9D7D3657C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646340-26C3-AC47-5C10-BD6C3125E8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87FC1C-2680-B57D-3983-F9BB1C0C0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8E42-76F3-44F2-B65B-2968A536284F}" type="datetimeFigureOut">
              <a:rPr lang="en-ZA" smtClean="0"/>
              <a:t>2025/11/02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D35D52-281D-DF48-D3F6-6BD824B94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59B6E3-31D2-9CB2-B323-78A88DF47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9CF46-4201-4DEA-84E3-5C651FE4C60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10982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281BE-9375-67D6-46AB-1C5AAB9C0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9D9C65-E6EB-5AB1-F32A-5909A628CE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509046-347F-5627-C06D-DC82F0157F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DCD7F2-772A-F4A7-194D-87E4FAA60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8E42-76F3-44F2-B65B-2968A536284F}" type="datetimeFigureOut">
              <a:rPr lang="en-ZA" smtClean="0"/>
              <a:t>2025/11/02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1B562-E400-98E6-1049-9ED38A7B3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BEEBF7-0CA4-00F9-5EDF-D62DDE7CC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9CF46-4201-4DEA-84E3-5C651FE4C60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6389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84B44-5F6A-3467-212C-B817AD76C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496037-94F2-F2D7-D7DF-20C0C0941A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8A9FBB-5592-1ACC-FCAE-DC45AE32B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8E42-76F3-44F2-B65B-2968A536284F}" type="datetimeFigureOut">
              <a:rPr lang="en-ZA" smtClean="0"/>
              <a:t>2025/11/02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ED8A66-AFB2-FBA6-6E42-E2D587D28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158B7A-F575-1C5D-984D-F69DC6E0A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9CF46-4201-4DEA-84E3-5C651FE4C60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21005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E30D79-3F91-594D-862F-C535C81D5C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BDC193-97E1-1669-BFD1-9B3AFEA7EA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2692D1-6D4B-2BEE-07D7-CD34E63E7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58E42-76F3-44F2-B65B-2968A536284F}" type="datetimeFigureOut">
              <a:rPr lang="en-ZA" smtClean="0"/>
              <a:t>2025/11/02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A9B27E-F4F9-3567-7777-1E406D162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DF79E-2FB5-C2C1-F3BC-9A15A506D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9CF46-4201-4DEA-84E3-5C651FE4C60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72102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3FD1FE-CF24-7081-B26F-8397E36A4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B41D2-5848-1FCB-168D-EA9D1CB07E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66523E-D53A-5D21-7C79-F41DD68F9A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558E42-76F3-44F2-B65B-2968A536284F}" type="datetimeFigureOut">
              <a:rPr lang="en-ZA" smtClean="0"/>
              <a:t>2025/11/02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7967E8-3375-1FE1-A3DA-5E066D06C5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024CD-35D8-8ABE-93EC-18F633EBF0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99CF46-4201-4DEA-84E3-5C651FE4C60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68533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7" Type="http://schemas.openxmlformats.org/officeDocument/2006/relationships/image" Target="../media/image10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7" Type="http://schemas.openxmlformats.org/officeDocument/2006/relationships/image" Target="../media/image11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1.png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7.png"/><Relationship Id="rId4" Type="http://schemas.openxmlformats.org/officeDocument/2006/relationships/image" Target="../media/image11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9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5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8.png"/><Relationship Id="rId4" Type="http://schemas.openxmlformats.org/officeDocument/2006/relationships/image" Target="../media/image127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0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3.png"/><Relationship Id="rId4" Type="http://schemas.openxmlformats.org/officeDocument/2006/relationships/image" Target="../media/image132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7.png"/><Relationship Id="rId5" Type="http://schemas.openxmlformats.org/officeDocument/2006/relationships/image" Target="../media/image136.png"/><Relationship Id="rId4" Type="http://schemas.openxmlformats.org/officeDocument/2006/relationships/image" Target="../media/image135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37F31-5D2E-D065-AA0B-A1E5095497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Apache Airflow .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9B7DE7-8677-D9A9-4641-10B6137C75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5324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B9526-0C11-D783-D682-C2B3290F1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27504"/>
          </a:xfrm>
        </p:spPr>
        <p:txBody>
          <a:bodyPr>
            <a:normAutofit fontScale="90000"/>
          </a:bodyPr>
          <a:lstStyle/>
          <a:p>
            <a:r>
              <a:rPr lang="en-US" dirty="0"/>
              <a:t>Why Airflow: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FED7B5-EBD1-A75C-4A8E-E0827A77F7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892630"/>
            <a:ext cx="8954750" cy="21434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1B0FCC-DE27-4DDD-3A83-0B607EA2CE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753" y="3221788"/>
            <a:ext cx="8373644" cy="228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986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C3A73-77B8-8B84-3250-F2083C16A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233588"/>
          </a:xfrm>
        </p:spPr>
        <p:txBody>
          <a:bodyPr>
            <a:normAutofit fontScale="90000"/>
          </a:bodyPr>
          <a:lstStyle/>
          <a:p>
            <a:r>
              <a:rPr lang="en-US" dirty="0"/>
              <a:t>Visibility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411926-89A0-A1E0-83C5-8D92D0160E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0543" y="195944"/>
            <a:ext cx="8926171" cy="20005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C8B171-F800-2ABD-546C-8FA2205C9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827" y="2428736"/>
            <a:ext cx="8754697" cy="20005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881FA42-4C51-BA08-11F4-A8589990C3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0986" y="4647892"/>
            <a:ext cx="6554115" cy="221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769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2A2AD-D757-6741-004F-49C0BE82C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US" dirty="0"/>
              <a:t>What is Airflow </a:t>
            </a:r>
            <a:endParaRPr lang="en-ZA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9F4E338-B0F4-C987-54C3-38B2FEFDBE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876017"/>
            <a:ext cx="9593606" cy="233264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64BE202-64AA-B04B-9CE7-40EDF91C4E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152" y="3839379"/>
            <a:ext cx="8832046" cy="140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006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3DB9C-4CDD-37E5-D8E9-3769FA10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8CAFF4D-F631-95AD-7B56-436D7C61E2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1765" y="2236424"/>
            <a:ext cx="10515600" cy="14411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ED39A38-1A1D-2748-D905-033E111EE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765" y="197788"/>
            <a:ext cx="10324085" cy="20386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AC8BE7E-9730-079E-4F03-374A503F2B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366" y="3940674"/>
            <a:ext cx="5444287" cy="25568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6A2D506-3539-2068-2014-6AA10D0754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3807" y="3863556"/>
            <a:ext cx="5848483" cy="2552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966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AC3AD-292F-6CCA-E1BE-E9A52C01E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E55260F-D8C1-EF46-F17D-66948985A3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921" y="2188803"/>
            <a:ext cx="10920199" cy="15018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C392B8-838D-846B-A51C-4419F95E88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523" y="365125"/>
            <a:ext cx="10515600" cy="1671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566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68D04-1E65-7ED7-B6B7-5E0FBF608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ABE62-D564-06AB-37D8-6364AAEFE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18769"/>
          </a:xfrm>
        </p:spPr>
        <p:txBody>
          <a:bodyPr>
            <a:normAutofit fontScale="90000"/>
          </a:bodyPr>
          <a:lstStyle/>
          <a:p>
            <a:r>
              <a:rPr lang="en-US" dirty="0"/>
              <a:t>8. Core Components of Airflow: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E4A03F-B2D7-EA43-7E30-F7567ACA12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3437" y="1103955"/>
            <a:ext cx="5942563" cy="21591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2B6959-D1C2-0174-DA16-B66DFC8840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1706" y="1103954"/>
            <a:ext cx="5611258" cy="21591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52C597A-4192-6E7D-80E7-9DB4AC8D11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437" y="3690188"/>
            <a:ext cx="5740587" cy="25894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1CF7D9F-5965-525A-F814-0DBAE16E24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3690188"/>
            <a:ext cx="5740586" cy="2802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17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E7F45-8EAB-43B0-8659-D74299E7F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CC33E-AB4C-F94D-8096-519AC50C0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697BE52-1D6D-7054-47A8-11B4B3B7A0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3380" y="345844"/>
            <a:ext cx="5151834" cy="27829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32EA22-E5AB-769F-F799-88DE18738A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9001" y="431225"/>
            <a:ext cx="6160912" cy="27829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FEA8447-19B6-D2D8-17C7-3913CF02AF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380" y="3596405"/>
            <a:ext cx="5151834" cy="25843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D8C53CA-76F6-D3E6-EDAF-01BDFF3559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9001" y="3582632"/>
            <a:ext cx="5929558" cy="2598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236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A8724-D1FA-B306-8E58-CAC2C2C86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FC276-CF18-2224-38E9-C98599891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284870"/>
          </a:xfrm>
        </p:spPr>
        <p:txBody>
          <a:bodyPr>
            <a:normAutofit fontScale="90000"/>
          </a:bodyPr>
          <a:lstStyle/>
          <a:p>
            <a:r>
              <a:rPr lang="en-US" dirty="0"/>
              <a:t>9. Core Concepts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FF1776-F593-6F96-3534-6C2C879457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199" y="926858"/>
            <a:ext cx="10178667" cy="20194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07E7D2-8F1E-18A5-AF48-1F454168EC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0501" y="3068888"/>
            <a:ext cx="8361291" cy="221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686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52B23-572E-DCAD-2E07-B3BFF6879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46005-7403-B325-FE59-677A8E4AB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566"/>
          </a:xfrm>
        </p:spPr>
        <p:txBody>
          <a:bodyPr>
            <a:normAutofit fontScale="90000"/>
          </a:bodyPr>
          <a:lstStyle/>
          <a:p>
            <a:r>
              <a:rPr lang="en-US" dirty="0"/>
              <a:t>Operator.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03B817-CD4F-872A-2B0D-E3BC3A4766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85002" y="842987"/>
            <a:ext cx="4788146" cy="22734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4619F0-CA22-231A-08E7-AA0A29C4BD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4192" y="842986"/>
            <a:ext cx="6242806" cy="22734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424DEBE-9C92-244E-A8AA-7DE099F804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718" y="3507699"/>
            <a:ext cx="5124713" cy="28385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B6AA1C0-7C69-ED70-3182-25000BF3BE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2475" y="3116403"/>
            <a:ext cx="6074523" cy="18301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E7E6B06-CEA1-9B95-2509-E2A7577F4C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00758" y="4946573"/>
            <a:ext cx="5039840" cy="1694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1597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E6FAE-E023-2DF4-9742-501A2F582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6500A-C60A-51FE-8431-4D4C5E66C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915C09-A37C-85A6-2783-FA4D8A9137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1926" y="98726"/>
            <a:ext cx="10691874" cy="27814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976ED4-E3C9-EFF8-60D7-77CE05B6E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124" y="3257975"/>
            <a:ext cx="10233752" cy="278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59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7CCA0-F9DC-4400-7E1C-2868F343A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B7AE1-2455-0E5F-3A72-7122B45BB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8369" y="321059"/>
            <a:ext cx="10515600" cy="516224"/>
          </a:xfrm>
        </p:spPr>
        <p:txBody>
          <a:bodyPr>
            <a:normAutofit/>
          </a:bodyPr>
          <a:lstStyle/>
          <a:p>
            <a:r>
              <a:rPr lang="en-US" sz="2400" dirty="0"/>
              <a:t>4 operators and how they fit together to define the workflow </a:t>
            </a:r>
            <a:endParaRPr lang="en-ZA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C31F04-5F2A-C50E-57C6-A9EED37527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20685" y="1009951"/>
            <a:ext cx="10384317" cy="4849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3351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A6649-C6DF-B3E1-2299-180F93D07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005C8-EF8A-5048-D079-BD70CAD02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US" dirty="0"/>
              <a:t>10. Airflow is not!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EF70B2-4439-1380-30E4-8D174900F4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011442"/>
            <a:ext cx="8867660" cy="19851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D0C4FB-F353-2B7B-0F45-863D9FDBD9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058" y="3515644"/>
            <a:ext cx="4711942" cy="143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3740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FB05F-8B88-25A1-C43B-7AF5B7088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9F155-FE42-94E6-0791-41B6AB0B4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55805"/>
            <a:ext cx="10515600" cy="218769"/>
          </a:xfrm>
        </p:spPr>
        <p:txBody>
          <a:bodyPr>
            <a:normAutofit fontScale="90000"/>
          </a:bodyPr>
          <a:lstStyle/>
          <a:p>
            <a:r>
              <a:rPr lang="en-US" dirty="0"/>
              <a:t>11. Different Architectures (Single / </a:t>
            </a:r>
            <a:r>
              <a:rPr lang="en-US" dirty="0" err="1"/>
              <a:t>Multinode</a:t>
            </a:r>
            <a:r>
              <a:rPr lang="en-US" dirty="0"/>
              <a:t>).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044C9B-AE69-65C4-2F72-26272F4A8E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44355" y="584671"/>
            <a:ext cx="10515599" cy="15415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652105-9C82-7343-CA26-7ED6CA286B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355" y="2594509"/>
            <a:ext cx="10063192" cy="3678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7407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7FA48-A0FC-810A-AA0F-4877464CE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AE341-EF3F-8C87-2488-73705ECFF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538961A-9689-5ED3-18F0-A997C31BD4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54883"/>
            <a:ext cx="10515600" cy="36619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8592EE-C227-7181-9CC4-2EF56A8939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062" y="312667"/>
            <a:ext cx="10515600" cy="1378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5461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6D7CE-2E7C-5134-2614-9863C8ADC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F249B-ABEC-551C-C27E-026C91633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1195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Multinode</a:t>
            </a:r>
            <a:r>
              <a:rPr lang="en-US" dirty="0"/>
              <a:t> architecture.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CD565D-15F2-D262-D6A4-7430C9CB58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96734" y="1036320"/>
            <a:ext cx="9705505" cy="492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9978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487AA-5931-0B9D-1577-965837EEA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0C008-54A8-9C3C-B32E-E3A810C64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283B01-E9E7-4478-B4EA-BC55748815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6440" y="1690688"/>
            <a:ext cx="6919105" cy="3266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3621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83DBF-07C8-A0AC-E622-8719D29DC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E54A2-5B60-A6BF-5305-F35364982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12. How Does it Work?</a:t>
            </a:r>
            <a:endParaRPr lang="en-ZA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5726212-3FEB-AB7D-01C0-4BF7C2BC3F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01664" y="1911272"/>
            <a:ext cx="8857776" cy="4047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5810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325B5-B587-8803-1C28-C9A879CAD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C852C-AE92-AE40-8D72-04E5AE866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13 Install Docker ..</a:t>
            </a:r>
            <a:r>
              <a:rPr lang="en-US" dirty="0" err="1"/>
              <a:t>Dont</a:t>
            </a:r>
            <a:r>
              <a:rPr lang="en-US" dirty="0"/>
              <a:t> Need this Fabric Has it – will investigate if </a:t>
            </a:r>
            <a:r>
              <a:rPr lang="en-US" dirty="0" err="1"/>
              <a:t>bnedede</a:t>
            </a:r>
            <a:r>
              <a:rPr lang="en-US" dirty="0"/>
              <a:t> 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B73C4-3581-A71A-3369-E0FFCD8C4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360881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08348-01E2-F5F7-C3DD-3A9608AED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8DA64-C54C-3E77-5867-78C63BC0A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429000"/>
            <a:ext cx="10515600" cy="1325563"/>
          </a:xfrm>
        </p:spPr>
        <p:txBody>
          <a:bodyPr/>
          <a:lstStyle/>
          <a:p>
            <a:r>
              <a:rPr lang="en-US" dirty="0"/>
              <a:t>Section 3- Important UI Views 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9050730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51CD5-A068-0543-468D-397B5F729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06428-1A0E-7BB1-5CBC-F8579C75C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57835"/>
          </a:xfrm>
        </p:spPr>
        <p:txBody>
          <a:bodyPr>
            <a:normAutofit fontScale="90000"/>
          </a:bodyPr>
          <a:lstStyle/>
          <a:p>
            <a:r>
              <a:rPr lang="en-US" dirty="0"/>
              <a:t>14. Home View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CDA0565-19F5-D651-4B5D-6B83405479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03783" y="1146252"/>
            <a:ext cx="9648977" cy="5147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9951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8AEE8-B27E-5554-2847-ECFAB0A2D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7A82F-6C9E-1EAB-F728-4115D06FB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0634"/>
          </a:xfrm>
        </p:spPr>
        <p:txBody>
          <a:bodyPr>
            <a:normAutofit fontScale="90000"/>
          </a:bodyPr>
          <a:lstStyle/>
          <a:p>
            <a:r>
              <a:rPr lang="en-US" dirty="0"/>
              <a:t>The </a:t>
            </a:r>
            <a:r>
              <a:rPr lang="en-US" dirty="0" err="1"/>
              <a:t>Dags</a:t>
            </a:r>
            <a:r>
              <a:rPr lang="en-US" dirty="0"/>
              <a:t> view.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BABED-1F20-0729-BBF1-919031A51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880" y="933842"/>
            <a:ext cx="10515600" cy="4351338"/>
          </a:xfrm>
        </p:spPr>
        <p:txBody>
          <a:bodyPr/>
          <a:lstStyle/>
          <a:p>
            <a:r>
              <a:rPr lang="en-US" dirty="0"/>
              <a:t>Click on left for </a:t>
            </a:r>
            <a:r>
              <a:rPr lang="en-US" dirty="0" err="1"/>
              <a:t>dags</a:t>
            </a:r>
            <a:r>
              <a:rPr lang="en-US" dirty="0"/>
              <a:t> view and the </a:t>
            </a:r>
            <a:r>
              <a:rPr lang="en-US" dirty="0" err="1"/>
              <a:t>dags</a:t>
            </a:r>
            <a:r>
              <a:rPr lang="en-US" dirty="0"/>
              <a:t> tab. </a:t>
            </a:r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F23FB8-E711-4FDA-745A-F18F0E60F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520" y="1479064"/>
            <a:ext cx="10013415" cy="4128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0694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C588D-862E-B57F-40CE-51E000026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552C4-F5E4-62DA-1437-4FA5E295C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61140"/>
          </a:xfrm>
        </p:spPr>
        <p:txBody>
          <a:bodyPr>
            <a:normAutofit fontScale="90000"/>
          </a:bodyPr>
          <a:lstStyle/>
          <a:p>
            <a:r>
              <a:rPr lang="en-US" dirty="0"/>
              <a:t>You can filter for enabled / or disabled </a:t>
            </a:r>
            <a:r>
              <a:rPr lang="en-US" dirty="0" err="1"/>
              <a:t>Dags</a:t>
            </a:r>
            <a:r>
              <a:rPr lang="en-US" dirty="0"/>
              <a:t>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50153A-58F2-BC88-CA35-0CEE938C3A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63105" y="1098429"/>
            <a:ext cx="9646137" cy="2757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65166B-E35C-1EAA-CF84-8A7844112A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92" y="4026664"/>
            <a:ext cx="6025308" cy="18100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94B032-FA80-9DD2-86D9-60C0417736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1567" y="4128067"/>
            <a:ext cx="1111307" cy="19304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A790110-3B8C-F9D5-93F3-3ED68B87F8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4995" y="4026664"/>
            <a:ext cx="2972721" cy="2153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6247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DA941-F0D4-687D-716D-E155076AD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A531D-3379-E9C7-3E5D-E8BB1AA0E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41651"/>
          </a:xfrm>
        </p:spPr>
        <p:txBody>
          <a:bodyPr>
            <a:normAutofit fontScale="90000"/>
          </a:bodyPr>
          <a:lstStyle/>
          <a:p>
            <a:r>
              <a:rPr lang="en-US" dirty="0"/>
              <a:t>Dag View.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9CA2BB-0C5C-863A-F3B5-492C69D812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95587" y="678503"/>
            <a:ext cx="8218756" cy="33212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236193-5186-937C-6C1C-473DA62CAC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9834" y="1109518"/>
            <a:ext cx="2237371" cy="26768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49EBCA-D65A-0766-3084-36E75B4BF7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022" y="3999723"/>
            <a:ext cx="4521432" cy="249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3812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E9FCF-BA9C-A123-AF13-D20C582D2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E34B3-FD29-9C25-7DC3-9852C7F17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4191"/>
          </a:xfrm>
        </p:spPr>
        <p:txBody>
          <a:bodyPr>
            <a:normAutofit fontScale="90000"/>
          </a:bodyPr>
          <a:lstStyle/>
          <a:p>
            <a:r>
              <a:rPr lang="en-US" dirty="0"/>
              <a:t>Dag runs View , the next menu items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80EEAB-0F63-A002-F700-61C7C8EC3D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38006" y="1238658"/>
            <a:ext cx="10113608" cy="2804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4218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C596F-8A4B-2E23-5BD4-477629A16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90A27-35F2-5E1F-7106-DE97F91B6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50123"/>
          </a:xfrm>
        </p:spPr>
        <p:txBody>
          <a:bodyPr>
            <a:normAutofit fontScale="90000"/>
          </a:bodyPr>
          <a:lstStyle/>
          <a:p>
            <a:r>
              <a:rPr lang="en-US" dirty="0"/>
              <a:t>IN </a:t>
            </a:r>
            <a:r>
              <a:rPr lang="en-US" dirty="0" err="1"/>
              <a:t>dag</a:t>
            </a:r>
            <a:r>
              <a:rPr lang="en-US" dirty="0"/>
              <a:t> view you can see </a:t>
            </a:r>
            <a:r>
              <a:rPr lang="en-US" dirty="0" err="1"/>
              <a:t>ttaszk</a:t>
            </a:r>
            <a:r>
              <a:rPr lang="en-US" dirty="0"/>
              <a:t> instances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96D89E-FE57-5BBA-6554-7EB4B0C17B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93817" y="1137679"/>
            <a:ext cx="10259983" cy="4337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5362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DCCC7-E3C2-3E23-B093-E2772F013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E3B30-211D-4B76-27C3-F89250650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3342"/>
          </a:xfrm>
        </p:spPr>
        <p:txBody>
          <a:bodyPr>
            <a:normAutofit fontScale="90000"/>
          </a:bodyPr>
          <a:lstStyle/>
          <a:p>
            <a:r>
              <a:rPr lang="en-US" dirty="0"/>
              <a:t>The asset view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5F71B2-E394-28BE-091B-9F310167C3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79323" y="958468"/>
            <a:ext cx="7702552" cy="22694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500FE6-5B13-0DF1-A86F-58169D583B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7907" y="1057618"/>
            <a:ext cx="3014770" cy="24677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1AE9F3-E0BC-23C5-4315-A188CB897B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3843317"/>
            <a:ext cx="4858000" cy="2273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1914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F5426-1AF1-6033-B138-6E0ED684D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2E4BB-892C-E973-BCCB-5646CB8AC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292"/>
          </a:xfrm>
        </p:spPr>
        <p:txBody>
          <a:bodyPr>
            <a:normAutofit fontScale="90000"/>
          </a:bodyPr>
          <a:lstStyle/>
          <a:p>
            <a:r>
              <a:rPr lang="en-US" dirty="0"/>
              <a:t>If you click on the user asset , you get this view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8EC3B8E-CBA3-9774-A89C-E73DE9EE53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12698" y="1171388"/>
            <a:ext cx="6404199" cy="45152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94AF2C-BA51-1B32-6B74-4D0FDAB32E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2426" y="1171388"/>
            <a:ext cx="3935795" cy="3907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3384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FDE9D-9680-7B0F-5874-815F9FFA6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FE1AD-DFAA-B425-33BD-D9BEE7638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3342"/>
          </a:xfrm>
        </p:spPr>
        <p:txBody>
          <a:bodyPr>
            <a:normAutofit fontScale="90000"/>
          </a:bodyPr>
          <a:lstStyle/>
          <a:p>
            <a:r>
              <a:rPr lang="en-US" dirty="0"/>
              <a:t>Other Views.(</a:t>
            </a:r>
            <a:r>
              <a:rPr lang="en-US" dirty="0" err="1"/>
              <a:t>Xcoms</a:t>
            </a:r>
            <a:r>
              <a:rPr lang="en-US" dirty="0"/>
              <a:t>)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467A40-7397-F58C-DA57-3CEDD4C53C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073743"/>
            <a:ext cx="10299853" cy="28592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3B7FD6-4A92-60FB-0AB7-6C96BDF9F6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44" y="4189260"/>
            <a:ext cx="1206562" cy="7048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2C480F7-DDA3-E3A6-4DFA-7FC24FF9FA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0706" y="4189260"/>
            <a:ext cx="6426530" cy="2025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0894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6BE43-F933-32FF-8380-43EAC9EB2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BBCE0-C720-8580-0849-4B6F1BC92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2326"/>
          </a:xfrm>
        </p:spPr>
        <p:txBody>
          <a:bodyPr>
            <a:normAutofit fontScale="90000"/>
          </a:bodyPr>
          <a:lstStyle/>
          <a:p>
            <a:r>
              <a:rPr lang="en-US" dirty="0"/>
              <a:t>In admin you have the providers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495D00-01BD-55A2-DDE9-8F70B04965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69983" y="1118340"/>
            <a:ext cx="5375733" cy="35625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74C5B6-8641-A88A-EA50-F5DEB45B12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963" y="1118339"/>
            <a:ext cx="3797495" cy="31672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0AB168-A4C7-CE92-7CCC-17F899D27C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997" y="5222108"/>
            <a:ext cx="1505027" cy="1035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516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60704-71EC-871E-E0A6-070888612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B7DC41-A92A-1910-73C0-920D0649D6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0137" y="468922"/>
            <a:ext cx="3907458" cy="44886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68A0A6-147A-237A-2B7B-D89708B006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658" y="468922"/>
            <a:ext cx="5907653" cy="5028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7962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345DD-2E83-A17B-1BA6-4564FF124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BAE70-D887-23A5-2EDF-EF3DACF92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28938"/>
          </a:xfrm>
        </p:spPr>
        <p:txBody>
          <a:bodyPr>
            <a:normAutofit fontScale="90000"/>
          </a:bodyPr>
          <a:lstStyle/>
          <a:p>
            <a:r>
              <a:rPr lang="en-US" dirty="0"/>
              <a:t>Project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DC06FB-5689-1D41-369A-5B363A9CD6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9089" y="1218212"/>
            <a:ext cx="10817436" cy="304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3507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C9275-E4BB-1BA1-AC0C-FAF959E17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AEA07-0EA5-EB01-9C9A-CF5E2E56B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61140"/>
          </a:xfrm>
        </p:spPr>
        <p:txBody>
          <a:bodyPr>
            <a:normAutofit fontScale="90000"/>
          </a:bodyPr>
          <a:lstStyle/>
          <a:p>
            <a:r>
              <a:rPr lang="en-US" dirty="0"/>
              <a:t>20. Define a Dag..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9219DD-AA6D-1F1A-DF62-CA10C938D9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1" y="1013553"/>
            <a:ext cx="7678758" cy="26027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C0B3B2-BD44-7AA7-38E4-FC6A59D9B6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122" y="3922787"/>
            <a:ext cx="3067208" cy="2273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4893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43ED9-A780-E941-929A-B8E997251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36282-C33E-8180-2FCD-9DEF50F6D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761" y="144788"/>
            <a:ext cx="10515600" cy="417073"/>
          </a:xfrm>
        </p:spPr>
        <p:txBody>
          <a:bodyPr>
            <a:normAutofit fontScale="90000"/>
          </a:bodyPr>
          <a:lstStyle/>
          <a:p>
            <a:r>
              <a:rPr lang="en-US" dirty="0"/>
              <a:t>21. Create Table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B6452D-C23C-93F8-A9FA-058FB3B0DA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37859" y="884053"/>
            <a:ext cx="5658141" cy="314976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1C9D1D-E5A2-1196-55FD-DCA1DEA055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7182" y="1592662"/>
            <a:ext cx="5645440" cy="312436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8B75D56-DA68-59A0-24BC-F55EB0AF9B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7182" y="-44067"/>
            <a:ext cx="5245370" cy="1447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0474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393AC-33DE-1895-870C-9134A96CA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0CEDE-8A92-0915-66CB-F9986F218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292"/>
          </a:xfrm>
        </p:spPr>
        <p:txBody>
          <a:bodyPr>
            <a:normAutofit fontScale="90000"/>
          </a:bodyPr>
          <a:lstStyle/>
          <a:p>
            <a:r>
              <a:rPr lang="en-US" dirty="0"/>
              <a:t>Creating the task using the </a:t>
            </a:r>
            <a:r>
              <a:rPr lang="en-US" dirty="0" err="1"/>
              <a:t>sql</a:t>
            </a:r>
            <a:r>
              <a:rPr lang="en-US" dirty="0"/>
              <a:t> operator.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AAABC4-C607-D53B-04EF-0920A5927B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258768"/>
            <a:ext cx="8999863" cy="3797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7219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FE7AB-CD68-540D-7647-51D997C48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9468B-A14F-A58B-5B92-E253B8C4F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8089"/>
          </a:xfrm>
        </p:spPr>
        <p:txBody>
          <a:bodyPr>
            <a:normAutofit fontScale="90000"/>
          </a:bodyPr>
          <a:lstStyle/>
          <a:p>
            <a:r>
              <a:rPr lang="en-US" dirty="0"/>
              <a:t>22. Create </a:t>
            </a:r>
            <a:r>
              <a:rPr lang="en-US" dirty="0" err="1"/>
              <a:t>postgress</a:t>
            </a:r>
            <a:r>
              <a:rPr lang="en-US" dirty="0"/>
              <a:t> connection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15C249-80E7-0509-DF2A-C00521292E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55978" y="1109385"/>
            <a:ext cx="4621101" cy="30109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CEFF8A-E2AF-DD0A-875B-C1DE9715E7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2415" y="1109385"/>
            <a:ext cx="5550185" cy="806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7624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FB236-1DD6-9DD5-F1D7-ED36E8327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C3A27-5C7A-73FA-C8AE-5123AF251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US" dirty="0"/>
              <a:t>23. What </a:t>
            </a:r>
            <a:r>
              <a:rPr lang="en-US" dirty="0" err="1"/>
              <a:t>ia</a:t>
            </a:r>
            <a:r>
              <a:rPr lang="en-US" dirty="0"/>
              <a:t> a provider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556E29-49CD-1F26-67B1-C06CE092B3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62554" y="891748"/>
            <a:ext cx="5778797" cy="28258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DA698A-3A47-83E0-EC42-B12D804C6A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7906" y="523082"/>
            <a:ext cx="4369025" cy="14183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23FC62-1F81-F4D5-3586-3ED4C58A38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098" y="3844515"/>
            <a:ext cx="5702593" cy="254013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8D2EE5D-0DA6-5031-C755-1C21100AA3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6265" y="2225182"/>
            <a:ext cx="4972306" cy="161933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215792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A5853-DFBC-D87E-0227-105BAA93B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19C6C-CC13-F770-22D7-16737D3AF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292"/>
          </a:xfrm>
        </p:spPr>
        <p:txBody>
          <a:bodyPr>
            <a:normAutofit fontScale="90000"/>
          </a:bodyPr>
          <a:lstStyle/>
          <a:p>
            <a:r>
              <a:rPr lang="en-US" dirty="0"/>
              <a:t>24. </a:t>
            </a:r>
            <a:r>
              <a:rPr lang="en-US" dirty="0" err="1"/>
              <a:t>Secrte</a:t>
            </a:r>
            <a:r>
              <a:rPr lang="en-US" dirty="0"/>
              <a:t> weapon.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505753-B3CC-6E42-4B3A-DF2ABDD2EA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14558" y="1219512"/>
            <a:ext cx="3581584" cy="23686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429578-4FE1-41C1-6793-A08A631FD2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1095" y="448332"/>
            <a:ext cx="5429529" cy="28068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4EEE11-1FE2-B5EA-1D6E-0EE2AFC26A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558" y="3882278"/>
            <a:ext cx="4483330" cy="227341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5A2AB26-0B40-6947-9764-0D3851ED5F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1095" y="3588184"/>
            <a:ext cx="2616334" cy="272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4945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7AAED-1D6E-021B-3A28-22C70E110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F2937-0708-0383-62BC-6BCC85716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5208"/>
          </a:xfrm>
        </p:spPr>
        <p:txBody>
          <a:bodyPr>
            <a:normAutofit fontScale="90000"/>
          </a:bodyPr>
          <a:lstStyle/>
          <a:p>
            <a:r>
              <a:rPr lang="en-US" dirty="0"/>
              <a:t>Testing the task , type the below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4EAA05-7138-66AB-3441-81A7AC9717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18640" y="994056"/>
            <a:ext cx="8917725" cy="35464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218142-FB5D-898B-089F-7F5B6B79A6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640" y="4801076"/>
            <a:ext cx="7816040" cy="1691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3243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65DFE-A741-4538-64A8-64517D58A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17C9-377F-988C-C67E-E40660573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16224"/>
          </a:xfrm>
        </p:spPr>
        <p:txBody>
          <a:bodyPr>
            <a:normAutofit fontScale="90000"/>
          </a:bodyPr>
          <a:lstStyle/>
          <a:p>
            <a:r>
              <a:rPr lang="en-US" dirty="0"/>
              <a:t>25 is API available.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83C6EA-EDFD-7ECC-6F78-619D685608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34546" y="1271228"/>
            <a:ext cx="10319253" cy="4545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8283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16D97-4C49-2010-FFC2-39DD3EBB5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A2DA1-2F8D-B3DD-7BC2-0FA889F41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the task , go back to cli.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27C18F-0569-49F0-E16A-B12739C1A3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21382" y="1690688"/>
            <a:ext cx="9091253" cy="397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6921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10676-29E7-9C21-3DB2-D30F149B5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39879-3632-3A29-0EB2-E02333B5D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task , extract user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259BBC-0C88-2400-66E8-F256966BC5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3725" y="2511846"/>
            <a:ext cx="11446526" cy="218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2557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1F04D-6980-FDA3-EEEA-1D164A722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74026-1414-9C5B-E49E-8F158DEAD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0629"/>
          </a:xfrm>
        </p:spPr>
        <p:txBody>
          <a:bodyPr/>
          <a:lstStyle/>
          <a:p>
            <a:r>
              <a:rPr lang="en-US" dirty="0"/>
              <a:t>26. Other useful sensors.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6EEEBBC-95F1-EB0A-B895-3B42988509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65498" y="1490172"/>
            <a:ext cx="9454763" cy="26411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E190CB-8E6B-9F8B-0B39-06674F7749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988" y="4598438"/>
            <a:ext cx="2197213" cy="8445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B01F19-C197-A496-A6B5-173665C8A5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0856" y="4475743"/>
            <a:ext cx="3124527" cy="20996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13D8B3-0AB9-117B-F022-4B60517460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9240" y="4475743"/>
            <a:ext cx="3149762" cy="1873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6402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9B262-9441-D855-F838-B40E4DD3F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5E891-92CB-A595-E91E-038D4ADB4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207752"/>
          </a:xfrm>
        </p:spPr>
        <p:txBody>
          <a:bodyPr>
            <a:normAutofit fontScale="90000"/>
          </a:bodyPr>
          <a:lstStyle/>
          <a:p>
            <a:r>
              <a:rPr lang="en-US" dirty="0"/>
              <a:t>27. Extract Users the Classic Way.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966FEC-7689-1748-92F1-876C4B9BBA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47520" y="826031"/>
            <a:ext cx="9065964" cy="2941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3409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3B747-7CD6-7F50-2B5B-1B8668C7B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D3580-2B62-0953-4349-E88EADF53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38258"/>
          </a:xfrm>
        </p:spPr>
        <p:txBody>
          <a:bodyPr>
            <a:normAutofit fontScale="90000"/>
          </a:bodyPr>
          <a:lstStyle/>
          <a:p>
            <a:r>
              <a:rPr lang="en-US" dirty="0"/>
              <a:t>We have the users inside </a:t>
            </a:r>
            <a:r>
              <a:rPr lang="en-US" dirty="0" err="1"/>
              <a:t>github</a:t>
            </a:r>
            <a:r>
              <a:rPr lang="en-US" dirty="0"/>
              <a:t> </a:t>
            </a:r>
            <a:r>
              <a:rPr lang="en-US" dirty="0" err="1"/>
              <a:t>url</a:t>
            </a:r>
            <a:r>
              <a:rPr lang="en-US" dirty="0"/>
              <a:t> , we need to extract them.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3EB622-4706-C3AF-E1DE-762C12A9AE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34341" y="1739470"/>
            <a:ext cx="2330893" cy="41215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636FDD-653D-3788-2983-91DA264E22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8116" y="1620418"/>
            <a:ext cx="7307188" cy="4400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4909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1F1B5-75B8-BB99-7569-B8B3473E9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18BCC-3268-F5D5-3280-A86B4713A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25524"/>
          </a:xfrm>
        </p:spPr>
        <p:txBody>
          <a:bodyPr>
            <a:normAutofit fontScale="90000"/>
          </a:bodyPr>
          <a:lstStyle/>
          <a:p>
            <a:r>
              <a:rPr lang="en-US" dirty="0"/>
              <a:t>Now we test the task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732F17-9956-075C-33CA-52AB34282A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58840" y="855670"/>
            <a:ext cx="8899559" cy="40797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AD4498-7853-9DF9-2B53-6D99620CA5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018" y="5269029"/>
            <a:ext cx="9393381" cy="1466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8962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0E1CF-AF7C-B36C-385B-0B76190DA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F61B1-4570-92B7-23DC-8150AB82D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08652"/>
          </a:xfrm>
        </p:spPr>
        <p:txBody>
          <a:bodyPr>
            <a:normAutofit fontScale="90000"/>
          </a:bodyPr>
          <a:lstStyle/>
          <a:p>
            <a:r>
              <a:rPr lang="en-US" dirty="0"/>
              <a:t>28. Preferred was 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6A6F4-6080-E61E-144D-9E0D18EF61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r>
              <a:rPr lang="en-US" dirty="0"/>
              <a:t>Task decorator is the Python Operator/ can remove </a:t>
            </a:r>
            <a:r>
              <a:rPr lang="en-US" dirty="0" err="1"/>
              <a:t>Pyhton</a:t>
            </a:r>
            <a:r>
              <a:rPr lang="en-US" dirty="0"/>
              <a:t> Operator and replace with task decorator </a:t>
            </a:r>
            <a:endParaRPr lang="en-Z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2102AB-421B-8B50-E313-7309E50E47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7519" y="2530245"/>
            <a:ext cx="8057120" cy="3716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5563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719F3-2868-5534-7ECB-56ECF86D7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CF267-CCBB-D30F-9ECC-C263C5480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4901"/>
          </a:xfrm>
        </p:spPr>
        <p:txBody>
          <a:bodyPr>
            <a:normAutofit fontScale="90000"/>
          </a:bodyPr>
          <a:lstStyle/>
          <a:p>
            <a:r>
              <a:rPr lang="en-US" dirty="0"/>
              <a:t>29. Processing Users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30D0E7-C4EF-1BB2-3999-95E0CBF23C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1486863"/>
            <a:ext cx="6222670" cy="453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40057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66A29-6CEE-D2EF-B87D-DA49C55B9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AE212-116A-B95B-41F8-1138818D8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 to Docker and test the task.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32D0B6-0D4E-D7B4-1E2C-4A5F3D4FC7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690688"/>
            <a:ext cx="9813966" cy="3985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33478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D3B61-2703-C5AA-282D-A45763FB7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86F61-3CC8-4D08-5EB9-1DBB3FA5F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Verify at the files tab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18E989-C5C1-BF0D-42FD-EAAD967490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069902"/>
            <a:ext cx="2552831" cy="33402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080AB1-39EC-4368-9ACD-F38BD94BF9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2878" y="2559005"/>
            <a:ext cx="3562533" cy="1739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5619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14264-160C-3131-EB8F-8AE053EA4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7A76A-E429-1E4D-A8A6-E99DBB25C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011"/>
          </a:xfrm>
        </p:spPr>
        <p:txBody>
          <a:bodyPr>
            <a:normAutofit fontScale="90000"/>
          </a:bodyPr>
          <a:lstStyle/>
          <a:p>
            <a:r>
              <a:rPr lang="en-US" dirty="0"/>
              <a:t>30. Storing Users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1346C2-7197-7697-B882-AFD17FC6AC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35353" y="703871"/>
            <a:ext cx="5810549" cy="12764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16001E-6E78-32EC-CDA3-C375F795EC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590" y="2333568"/>
            <a:ext cx="2768742" cy="21908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88F039D-FDA9-4666-76E9-6414882008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4360" y="538762"/>
            <a:ext cx="5143764" cy="16066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EABCF15-F235-3760-A7AC-485B4CE59E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8782" y="2251020"/>
            <a:ext cx="7715018" cy="196408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4E950A7-201F-67A1-C6CD-98198D205B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13774" y="4320732"/>
            <a:ext cx="5695711" cy="2438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96252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16189-29F1-51C0-3F29-E38591A35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E2C47-AD8A-C499-EA36-24B525485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236454"/>
          </a:xfrm>
        </p:spPr>
        <p:txBody>
          <a:bodyPr>
            <a:normAutofit fontScale="90000"/>
          </a:bodyPr>
          <a:lstStyle/>
          <a:p>
            <a:r>
              <a:rPr lang="en-US" dirty="0"/>
              <a:t>We </a:t>
            </a:r>
            <a:r>
              <a:rPr lang="en-US" dirty="0" err="1"/>
              <a:t>thren</a:t>
            </a:r>
            <a:r>
              <a:rPr lang="en-US" dirty="0"/>
              <a:t> test </a:t>
            </a:r>
            <a:r>
              <a:rPr lang="en-US" dirty="0" err="1"/>
              <a:t>ther</a:t>
            </a:r>
            <a:r>
              <a:rPr lang="en-US" dirty="0"/>
              <a:t> tasks in docker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47ECE2-4348-35FA-81D5-79F55052D8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46484" y="768918"/>
            <a:ext cx="9644633" cy="278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9513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8E764-30A8-BFC8-D87C-E217DF5DA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68372-E5D8-91E3-CF05-49DB5606F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8959"/>
          </a:xfrm>
        </p:spPr>
        <p:txBody>
          <a:bodyPr>
            <a:normAutofit fontScale="90000"/>
          </a:bodyPr>
          <a:lstStyle/>
          <a:p>
            <a:r>
              <a:rPr lang="en-US" dirty="0"/>
              <a:t>31. </a:t>
            </a:r>
            <a:r>
              <a:rPr lang="en-US" sz="2700" dirty="0"/>
              <a:t>Dependencies .. We only defined tasks , have to define dependencies </a:t>
            </a:r>
            <a:endParaRPr lang="en-ZA" sz="27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E593EA-F2F8-F228-402E-4BB42C5891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02632" y="967500"/>
            <a:ext cx="8911389" cy="474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49571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6FA79-7916-C142-E495-58D3E3721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3AD03-D447-3B7B-B3AB-A75155899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997"/>
            <a:ext cx="10515600" cy="573338"/>
          </a:xfrm>
        </p:spPr>
        <p:txBody>
          <a:bodyPr>
            <a:normAutofit fontScale="90000"/>
          </a:bodyPr>
          <a:lstStyle/>
          <a:p>
            <a:r>
              <a:rPr lang="en-US" dirty="0"/>
              <a:t>Dependencies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CCDB0F-AA6F-4F3A-4D54-7902FFD07D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9956" y="609666"/>
            <a:ext cx="5930265" cy="19205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BC20AA-525F-05CC-F9B7-B826D23777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638" y="2530189"/>
            <a:ext cx="4235668" cy="6731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F5942C2-1525-17AD-A5F0-361FDB1B2F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2773" y="3359387"/>
            <a:ext cx="2552831" cy="5905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3C643CC-582F-C31F-88C0-FD84E94F61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756" y="4244327"/>
            <a:ext cx="5048509" cy="175904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45AC42C-518D-7579-B13B-2BBA71E789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5202" y="4405843"/>
            <a:ext cx="5073911" cy="1606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57108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6A23B-A2A6-A108-C318-257BA2C61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Refresh page in UI , </a:t>
            </a:r>
            <a:r>
              <a:rPr lang="en-US" dirty="0" err="1"/>
              <a:t>Grpah</a:t>
            </a:r>
            <a:r>
              <a:rPr lang="en-US" dirty="0"/>
              <a:t> page.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7FF824-3EBA-C1B6-80BD-0503726D28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11346" y="3359911"/>
            <a:ext cx="5969307" cy="1282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41750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2C516-5BDC-8788-30F7-C60F9425A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8716"/>
            <a:ext cx="10515600" cy="315911"/>
          </a:xfrm>
        </p:spPr>
        <p:txBody>
          <a:bodyPr>
            <a:normAutofit fontScale="90000"/>
          </a:bodyPr>
          <a:lstStyle/>
          <a:p>
            <a:r>
              <a:rPr lang="en-US" dirty="0"/>
              <a:t>Dag in Action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0784ED-B61D-F509-2187-75F108064B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44118" y="1037270"/>
            <a:ext cx="10515599" cy="471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93946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D4090-9F27-170B-5CE4-872554335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785B7-70B4-349D-E311-FBC88C41B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01149"/>
          </a:xfrm>
        </p:spPr>
        <p:txBody>
          <a:bodyPr>
            <a:normAutofit fontScale="90000"/>
          </a:bodyPr>
          <a:lstStyle/>
          <a:p>
            <a:r>
              <a:rPr lang="en-US" dirty="0"/>
              <a:t>Go to DAGS in UI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8CC90F-93DB-1201-1D93-C9612DC514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48144" y="1120894"/>
            <a:ext cx="5931205" cy="22543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4C3603-457A-5405-4593-1061A19A9A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933622"/>
            <a:ext cx="5658141" cy="13970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410B787-CC5D-867B-1A78-C75BE56579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1905" y="1222033"/>
            <a:ext cx="5065295" cy="3795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00166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CEF0D-7B51-05BE-5EE6-C5F758D26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E9AD5-F81C-DCDE-E467-1FDF6C1D4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3515"/>
          </a:xfrm>
        </p:spPr>
        <p:txBody>
          <a:bodyPr>
            <a:normAutofit fontScale="90000"/>
          </a:bodyPr>
          <a:lstStyle/>
          <a:p>
            <a:r>
              <a:rPr lang="en-US" dirty="0"/>
              <a:t>33. New Asset Paradigm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BC1CBA-C917-6A96-70BB-69CE27A67D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69670" y="871329"/>
            <a:ext cx="3302170" cy="9588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A74B2E-29EB-EE46-FC1A-C880F15F52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724" y="2347546"/>
            <a:ext cx="4134062" cy="1911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5411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D5030-4383-E781-3438-257E5704A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24765-8BA9-43B7-9581-83E75C217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34975"/>
          </a:xfrm>
        </p:spPr>
        <p:txBody>
          <a:bodyPr>
            <a:normAutofit fontScale="90000"/>
          </a:bodyPr>
          <a:lstStyle/>
          <a:p>
            <a:r>
              <a:rPr lang="en-US" dirty="0"/>
              <a:t>34. What is an asset?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F90F2D-C97B-EA4B-24E8-BB3E48F53E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99763" y="960867"/>
            <a:ext cx="8690057" cy="18509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01F9E4-CA20-D798-8098-FC582F5A83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937" y="3429000"/>
            <a:ext cx="4210266" cy="2305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79600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B2AC9-B160-ABF6-CCBA-7B36E4FF0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A604-ED68-CAAE-B75D-DD6069534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3515"/>
          </a:xfrm>
        </p:spPr>
        <p:txBody>
          <a:bodyPr>
            <a:normAutofit fontScale="90000"/>
          </a:bodyPr>
          <a:lstStyle/>
          <a:p>
            <a:r>
              <a:rPr lang="en-US" dirty="0"/>
              <a:t>Second reason to use assets as a base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B6998D-BAD6-F80E-99FA-A0CD22F3C0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35230" y="1377300"/>
            <a:ext cx="3253790" cy="51155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AF1D25-7B86-9B7C-1F17-1D4826A4CB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1064" y="1611932"/>
            <a:ext cx="7315576" cy="4646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12037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C0C6B-A6CC-CF76-AD8D-81DB98727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DB352-2528-CCEC-DADD-5A48D7C85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14985"/>
          </a:xfrm>
        </p:spPr>
        <p:txBody>
          <a:bodyPr>
            <a:normAutofit fontScale="90000"/>
          </a:bodyPr>
          <a:lstStyle/>
          <a:p>
            <a:r>
              <a:rPr lang="en-US" dirty="0"/>
              <a:t>Assets is better for data lineage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41D69F-8D73-5B96-4530-D881331595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0983" y="1559935"/>
            <a:ext cx="6341267" cy="37381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3DDD68-C908-3FEB-5E2A-D3E72F24AE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0932" y="1559934"/>
            <a:ext cx="4422867" cy="3972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18840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409FB-DC89-925D-9159-A9B79E8CD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19DE6-2779-62AE-9FF9-E3C288B9B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dirty="0"/>
              <a:t>35. Create first Asset.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942601-9525-8978-7945-15106ADA59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803769"/>
            <a:ext cx="6294197" cy="23166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3332E4-B1A9-3964-44DF-EE230502F4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807" y="3260621"/>
            <a:ext cx="8695793" cy="19310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96AC9B2-C6B6-18C9-063A-8FBB9A04C4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807" y="5346169"/>
            <a:ext cx="7918553" cy="1416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34497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2C8EB-9AEA-7162-6FFF-E94C6F81E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169D7-3BDF-75B9-D4CD-B0AE5B7D9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2155"/>
          </a:xfrm>
        </p:spPr>
        <p:txBody>
          <a:bodyPr/>
          <a:lstStyle/>
          <a:p>
            <a:r>
              <a:rPr lang="en-US" dirty="0"/>
              <a:t>36. Materialize the assets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5B5D11-6136-4A04-A694-2062657023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31368" y="1326603"/>
            <a:ext cx="6877403" cy="27433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FFE59B0-0046-E52F-66DE-41560B50D8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368" y="4299267"/>
            <a:ext cx="6686894" cy="2063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56023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34C72-80D3-79B9-DE37-F0B7C952E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76386-8B90-7FC5-752A-F91363017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17669"/>
          </a:xfrm>
        </p:spPr>
        <p:txBody>
          <a:bodyPr>
            <a:normAutofit fontScale="90000"/>
          </a:bodyPr>
          <a:lstStyle/>
          <a:p>
            <a:r>
              <a:rPr lang="en-US" dirty="0"/>
              <a:t>Go to UI – </a:t>
            </a:r>
            <a:r>
              <a:rPr lang="en-US" dirty="0" err="1"/>
              <a:t>Dags</a:t>
            </a:r>
            <a:r>
              <a:rPr lang="en-US" dirty="0"/>
              <a:t> view , you see the asset , click on </a:t>
            </a:r>
            <a:r>
              <a:rPr lang="en-US" dirty="0" err="1"/>
              <a:t>dags</a:t>
            </a:r>
            <a:r>
              <a:rPr lang="en-US" dirty="0"/>
              <a:t> view then on the </a:t>
            </a:r>
            <a:r>
              <a:rPr lang="en-US" dirty="0" err="1"/>
              <a:t>dage</a:t>
            </a:r>
            <a:r>
              <a:rPr lang="en-US" dirty="0"/>
              <a:t>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9CEA73-0A69-D5BA-F72B-321F8894B5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61280" y="950310"/>
            <a:ext cx="11069439" cy="18509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3819BB-67C2-0205-8ECD-310B53689D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280" y="2910550"/>
            <a:ext cx="10692250" cy="2292468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0027228B-7B9F-B65E-C580-44432BD222BC}"/>
              </a:ext>
            </a:extLst>
          </p:cNvPr>
          <p:cNvSpPr/>
          <p:nvPr/>
        </p:nvSpPr>
        <p:spPr>
          <a:xfrm>
            <a:off x="754380" y="3943350"/>
            <a:ext cx="1314450" cy="86868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ACEFFC9-810C-2578-9191-88472E131D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95" y="5488909"/>
            <a:ext cx="8474135" cy="120656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9256080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892C3-6F22-C3DE-DB88-93E2D8BA4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85D6B-2698-8B85-B6FA-D54861F8C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7865"/>
          </a:xfrm>
        </p:spPr>
        <p:txBody>
          <a:bodyPr>
            <a:normAutofit fontScale="90000"/>
          </a:bodyPr>
          <a:lstStyle/>
          <a:p>
            <a:r>
              <a:rPr lang="en-US" dirty="0"/>
              <a:t>We now turn on the toggler user on the </a:t>
            </a:r>
            <a:r>
              <a:rPr lang="en-US" dirty="0" err="1"/>
              <a:t>dag</a:t>
            </a:r>
            <a:r>
              <a:rPr lang="en-US" dirty="0"/>
              <a:t> view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24407B-3670-4D5B-AA82-695391089F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342523"/>
            <a:ext cx="3264068" cy="99700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9B4AB45-A39A-C48F-2E23-E3AB4B2BB6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6363" y="1288545"/>
            <a:ext cx="4730993" cy="21019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DF79E06-229F-A60D-6F78-7F772C1883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347" y="3962985"/>
            <a:ext cx="6350326" cy="19495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58BA4DA-BA7D-F8C0-91B6-4C092D80D9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9460" y="4020138"/>
            <a:ext cx="4476750" cy="1892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24807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52C0E-E6BD-7AD6-5377-C6EEF327A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E5AEC-ED43-021E-DBE0-A648497E0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on button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AB5538-5AF8-8A26-0758-FD38F62773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77689" y="595256"/>
            <a:ext cx="5264421" cy="2190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00358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FC3D8-EC86-8127-0800-3741F9733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C8435-323C-3A05-6362-D3E46831E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9285"/>
          </a:xfrm>
        </p:spPr>
        <p:txBody>
          <a:bodyPr>
            <a:normAutofit fontScale="90000"/>
          </a:bodyPr>
          <a:lstStyle/>
          <a:p>
            <a:r>
              <a:rPr lang="en-US" dirty="0"/>
              <a:t>37. Dependencies between assets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B1F472-3BF6-F907-A5B6-D963034860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41674" y="1576760"/>
            <a:ext cx="7796686" cy="4812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2432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9B02A-E665-7EE8-D5FF-747E07F7E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FDA65-6345-29AC-96B7-166F24B91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0705"/>
          </a:xfrm>
        </p:spPr>
        <p:txBody>
          <a:bodyPr>
            <a:normAutofit fontScale="90000"/>
          </a:bodyPr>
          <a:lstStyle/>
          <a:p>
            <a:r>
              <a:rPr lang="en-US" dirty="0"/>
              <a:t>Monitor Assets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EEF4A-3487-7244-2CCF-5642A594A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7817487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7D42F-039F-3E67-3909-36E59C388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D5202-C487-A26D-2FD4-D3E3A7074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2BDDF-ACF5-08D1-7499-ACE43CB461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245974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53B14-01D2-E3B2-6F2B-2B560DF6D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3587-8014-2182-6397-33CCC202D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1675"/>
          </a:xfrm>
        </p:spPr>
        <p:txBody>
          <a:bodyPr/>
          <a:lstStyle/>
          <a:p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A8590-5FEF-7103-DADD-0200F5371C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59662083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6C9F5-37CE-3127-F02A-FF06A5EBD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ECD62-BC7A-6CEF-258C-5E590C391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8857F-D5B1-DF26-90CB-DF0A88959D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5889456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D8FB3-4C21-B0DA-1F2D-A76B77E16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E802F-26B4-2BAC-422C-E87228129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886B7-7409-A1DA-898D-2D7FD8CBEE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9061554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4ED82-F1FA-1E7F-0E33-FE88834E5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80A50-5348-5244-3034-479C73590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88571-DF84-329B-F635-153BA3364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0834307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7FBED-3D94-A7F2-3764-60F875483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1F63E-9895-1FFD-2A52-D5F1ADB8A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1DB9D-ABDF-95E3-DFFE-DE4B6458B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9171855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CC350-9F45-0AA1-81B4-E92693B56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5CD2C-FFA6-D0BD-0421-58116AFF0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D1744-B9A3-0B0E-DDB9-0A02CCA07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1958538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1273D-8472-3950-4B39-AACFF5566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4FC04-A1EE-E3CF-B9AE-76C79B87D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4AC52-CCF0-2F98-66B4-3CB9A568F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8234031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4DA03-FCE8-DDA6-BF04-FB3D6E35E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63BC9-FFBB-9623-E9D5-FC7E6E43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64DA1-8A78-E35F-C954-C2E42CEC2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0113765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6A388-9827-E3EA-2160-7FC02C61A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484C1-125D-6AE7-70B3-A3A20AB04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2125"/>
          </a:xfrm>
        </p:spPr>
        <p:txBody>
          <a:bodyPr>
            <a:normAutofit fontScale="90000"/>
          </a:bodyPr>
          <a:lstStyle/>
          <a:p>
            <a:r>
              <a:rPr lang="en-ZA" dirty="0" err="1"/>
              <a:t>pl_Medallion_Client_BackTest</a:t>
            </a:r>
            <a:r>
              <a:rPr lang="en-ZA" dirty="0"/>
              <a:t> – ran on 4/11/2025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C3BD85-568B-0C0F-939B-0C2136150A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6730" y="1597102"/>
            <a:ext cx="10389134" cy="316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19940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0B667-F3D9-9B94-DCF8-99ADDD701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A9676-1B32-6E04-6CB6-DCD1C76DE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33FD0-FB8A-3918-B4F9-56C13C616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0087029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077CE-C3E4-DD6A-4693-39DA94905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4CCD4-FF26-FB0A-F24D-7445C179C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88C8F-2751-76EC-85F8-14C597F8A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9181189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302D0-1FE0-2509-0537-6D750069C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E7017-2520-F1AE-00E3-82E43E82D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897B8-6E14-34DB-3537-3F51137C0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43559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5680</TotalTime>
  <Words>3620</Words>
  <Application>Microsoft Office PowerPoint</Application>
  <PresentationFormat>Widescreen</PresentationFormat>
  <Paragraphs>325</Paragraphs>
  <Slides>81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85" baseType="lpstr">
      <vt:lpstr>Aptos</vt:lpstr>
      <vt:lpstr>Aptos Display</vt:lpstr>
      <vt:lpstr>Arial</vt:lpstr>
      <vt:lpstr>Office Theme</vt:lpstr>
      <vt:lpstr>Apache Airflow .</vt:lpstr>
      <vt:lpstr>Why Airflow:</vt:lpstr>
      <vt:lpstr>Visibility</vt:lpstr>
      <vt:lpstr>What is Airflow </vt:lpstr>
      <vt:lpstr>PowerPoint Presentation</vt:lpstr>
      <vt:lpstr>PowerPoint Presentation</vt:lpstr>
      <vt:lpstr>8. Core Components of Airflow:</vt:lpstr>
      <vt:lpstr>PowerPoint Presentation</vt:lpstr>
      <vt:lpstr>9. Core Concepts</vt:lpstr>
      <vt:lpstr>Operator.</vt:lpstr>
      <vt:lpstr>PowerPoint Presentation</vt:lpstr>
      <vt:lpstr>4 operators and how they fit together to define the workflow </vt:lpstr>
      <vt:lpstr>10. Airflow is not!</vt:lpstr>
      <vt:lpstr>11. Different Architectures (Single / Multinode).</vt:lpstr>
      <vt:lpstr>PowerPoint Presentation</vt:lpstr>
      <vt:lpstr>Multinode architecture.</vt:lpstr>
      <vt:lpstr>PowerPoint Presentation</vt:lpstr>
      <vt:lpstr>12. How Does it Work?</vt:lpstr>
      <vt:lpstr>13 Install Docker ..Dont Need this Fabric Has it – will investigate if bnedede </vt:lpstr>
      <vt:lpstr>Section 3- Important UI Views </vt:lpstr>
      <vt:lpstr>14. Home View</vt:lpstr>
      <vt:lpstr>The Dags view.</vt:lpstr>
      <vt:lpstr>You can filter for enabled / or disabled Dags </vt:lpstr>
      <vt:lpstr>Dag View.</vt:lpstr>
      <vt:lpstr>Dag runs View , the next menu items </vt:lpstr>
      <vt:lpstr>IN dag view you can see ttaszk instances </vt:lpstr>
      <vt:lpstr>The asset view </vt:lpstr>
      <vt:lpstr>If you click on the user asset , you get this view </vt:lpstr>
      <vt:lpstr>Other Views.(Xcoms) </vt:lpstr>
      <vt:lpstr>In admin you have the providers </vt:lpstr>
      <vt:lpstr>PowerPoint Presentation</vt:lpstr>
      <vt:lpstr>Project </vt:lpstr>
      <vt:lpstr>20. Define a Dag..</vt:lpstr>
      <vt:lpstr>21. Create Table</vt:lpstr>
      <vt:lpstr>Creating the task using the sql operator. </vt:lpstr>
      <vt:lpstr>22. Create postgress connection</vt:lpstr>
      <vt:lpstr>23. What ia a provider </vt:lpstr>
      <vt:lpstr>24. Secrte weapon. </vt:lpstr>
      <vt:lpstr>Testing the task , type the below </vt:lpstr>
      <vt:lpstr>25 is API available.</vt:lpstr>
      <vt:lpstr>Test the task , go back to cli. </vt:lpstr>
      <vt:lpstr>Next task , extract user </vt:lpstr>
      <vt:lpstr>26. Other useful sensors.</vt:lpstr>
      <vt:lpstr>27. Extract Users the Classic Way.</vt:lpstr>
      <vt:lpstr>We have the users inside github url , we need to extract them.</vt:lpstr>
      <vt:lpstr>Now we test the task </vt:lpstr>
      <vt:lpstr>28. Preferred was </vt:lpstr>
      <vt:lpstr>29. Processing Users</vt:lpstr>
      <vt:lpstr>Go to Docker and test the task. </vt:lpstr>
      <vt:lpstr>Verify at the files tab </vt:lpstr>
      <vt:lpstr>30. Storing Users</vt:lpstr>
      <vt:lpstr>We thren test ther tasks in docker </vt:lpstr>
      <vt:lpstr>31. Dependencies .. We only defined tasks , have to define dependencies </vt:lpstr>
      <vt:lpstr>Dependencies</vt:lpstr>
      <vt:lpstr>Refresh page in UI , Grpah page. </vt:lpstr>
      <vt:lpstr>Dag in Action</vt:lpstr>
      <vt:lpstr>Go to DAGS in UI </vt:lpstr>
      <vt:lpstr>33. New Asset Paradigm</vt:lpstr>
      <vt:lpstr>34. What is an asset?</vt:lpstr>
      <vt:lpstr>Second reason to use assets as a base </vt:lpstr>
      <vt:lpstr>Assets is better for data lineage </vt:lpstr>
      <vt:lpstr>35. Create first Asset.</vt:lpstr>
      <vt:lpstr>36. Materialize the assets</vt:lpstr>
      <vt:lpstr>Go to UI – Dags view , you see the asset , click on dags view then on the dage </vt:lpstr>
      <vt:lpstr>We now turn on the toggler user on the dag view </vt:lpstr>
      <vt:lpstr>Click on button</vt:lpstr>
      <vt:lpstr>37. Dependencies between assets</vt:lpstr>
      <vt:lpstr>Monitor Assets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pl_Medallion_Client_BackTest – ran on 4/11/2025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Graham Bortz</dc:creator>
  <cp:lastModifiedBy>Graham Bortz</cp:lastModifiedBy>
  <cp:revision>118</cp:revision>
  <dcterms:created xsi:type="dcterms:W3CDTF">2025-11-02T09:37:48Z</dcterms:created>
  <dcterms:modified xsi:type="dcterms:W3CDTF">2025-11-06T08:22:28Z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e93fc94-2a04-4870-acee-9c0cd4b7d590_Enabled">
    <vt:lpwstr>true</vt:lpwstr>
  </property>
  <property fmtid="{D5CDD505-2E9C-101B-9397-08002B2CF9AE}" pid="3" name="MSIP_Label_ce93fc94-2a04-4870-acee-9c0cd4b7d590_SetDate">
    <vt:lpwstr>2025-11-02T09:37:48Z</vt:lpwstr>
  </property>
  <property fmtid="{D5CDD505-2E9C-101B-9397-08002B2CF9AE}" pid="4" name="MSIP_Label_ce93fc94-2a04-4870-acee-9c0cd4b7d590_Method">
    <vt:lpwstr>Standard</vt:lpwstr>
  </property>
  <property fmtid="{D5CDD505-2E9C-101B-9397-08002B2CF9AE}" pid="5" name="MSIP_Label_ce93fc94-2a04-4870-acee-9c0cd4b7d590_Name">
    <vt:lpwstr>Internal</vt:lpwstr>
  </property>
  <property fmtid="{D5CDD505-2E9C-101B-9397-08002B2CF9AE}" pid="6" name="MSIP_Label_ce93fc94-2a04-4870-acee-9c0cd4b7d590_SiteId">
    <vt:lpwstr>cffa6640-7572-4f05-9c64-cd88068c19d4</vt:lpwstr>
  </property>
  <property fmtid="{D5CDD505-2E9C-101B-9397-08002B2CF9AE}" pid="7" name="MSIP_Label_ce93fc94-2a04-4870-acee-9c0cd4b7d590_ActionId">
    <vt:lpwstr>a7f5b0f4-0e14-4b96-964e-b0faa0765728</vt:lpwstr>
  </property>
  <property fmtid="{D5CDD505-2E9C-101B-9397-08002B2CF9AE}" pid="8" name="MSIP_Label_ce93fc94-2a04-4870-acee-9c0cd4b7d590_ContentBits">
    <vt:lpwstr>0</vt:lpwstr>
  </property>
  <property fmtid="{D5CDD505-2E9C-101B-9397-08002B2CF9AE}" pid="9" name="MSIP_Label_ce93fc94-2a04-4870-acee-9c0cd4b7d590_Tag">
    <vt:lpwstr>10, 3, 0, 1</vt:lpwstr>
  </property>
</Properties>
</file>