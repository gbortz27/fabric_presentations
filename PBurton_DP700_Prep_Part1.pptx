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70" r:id="rId26"/>
    <p:sldId id="271" r:id="rId27"/>
    <p:sldId id="272" r:id="rId28"/>
    <p:sldId id="284" r:id="rId29"/>
    <p:sldId id="285" r:id="rId30"/>
    <p:sldId id="286" r:id="rId31"/>
    <p:sldId id="287" r:id="rId32"/>
    <p:sldId id="288" r:id="rId33"/>
    <p:sldId id="294" r:id="rId34"/>
    <p:sldId id="295" r:id="rId35"/>
    <p:sldId id="296" r:id="rId36"/>
    <p:sldId id="297" r:id="rId37"/>
    <p:sldId id="298" r:id="rId38"/>
    <p:sldId id="305" r:id="rId39"/>
    <p:sldId id="299" r:id="rId40"/>
    <p:sldId id="300" r:id="rId41"/>
    <p:sldId id="301" r:id="rId42"/>
    <p:sldId id="302" r:id="rId43"/>
    <p:sldId id="303" r:id="rId44"/>
    <p:sldId id="304" r:id="rId45"/>
    <p:sldId id="289" r:id="rId46"/>
    <p:sldId id="290" r:id="rId47"/>
    <p:sldId id="291" r:id="rId48"/>
    <p:sldId id="292" r:id="rId49"/>
    <p:sldId id="293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45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413" r:id="rId86"/>
    <p:sldId id="414" r:id="rId87"/>
    <p:sldId id="415" r:id="rId88"/>
    <p:sldId id="416" r:id="rId89"/>
    <p:sldId id="417" r:id="rId90"/>
    <p:sldId id="418" r:id="rId91"/>
    <p:sldId id="419" r:id="rId92"/>
    <p:sldId id="420" r:id="rId93"/>
    <p:sldId id="421" r:id="rId94"/>
    <p:sldId id="422" r:id="rId95"/>
    <p:sldId id="423" r:id="rId9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AC833BB-E220-4B5C-832B-C3FC32762D3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70"/>
            <p14:sldId id="271"/>
            <p14:sldId id="272"/>
            <p14:sldId id="284"/>
            <p14:sldId id="285"/>
            <p14:sldId id="286"/>
            <p14:sldId id="287"/>
            <p14:sldId id="288"/>
            <p14:sldId id="294"/>
            <p14:sldId id="295"/>
            <p14:sldId id="296"/>
            <p14:sldId id="297"/>
            <p14:sldId id="298"/>
            <p14:sldId id="305"/>
            <p14:sldId id="299"/>
            <p14:sldId id="300"/>
            <p14:sldId id="301"/>
            <p14:sldId id="302"/>
            <p14:sldId id="303"/>
            <p14:sldId id="304"/>
            <p14:sldId id="289"/>
            <p14:sldId id="290"/>
            <p14:sldId id="291"/>
            <p14:sldId id="292"/>
            <p14:sldId id="293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45"/>
            <p14:sldId id="327"/>
          </p14:sldIdLst>
        </p14:section>
        <p14:section name="ConvertingDataTypes" id="{9CD6E5A3-9DED-4459-89CC-4BCC085A6647}">
          <p14:sldIdLst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</p14:sldIdLst>
        </p14:section>
        <p14:section name="S9 Transforming Data" id="{6F8001BB-7BC8-4002-AA02-8E53DFDE0E53}">
          <p14:sldIdLst/>
        </p14:section>
        <p14:section name="S10_Optimizing_Notebooks" id="{A3FA8F97-3076-4B32-8B3F-D9E2C6A81446}">
          <p14:sldIdLst/>
        </p14:section>
        <p14:section name="S12 OptPerfpormance in Notebooks" id="{C58E4FE1-1B18-4294-82B1-6CA31896323A}">
          <p14:sldIdLst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2" autoAdjust="0"/>
    <p:restoredTop sz="78614" autoAdjust="0"/>
  </p:normalViewPr>
  <p:slideViewPr>
    <p:cSldViewPr snapToGrid="0">
      <p:cViewPr varScale="1">
        <p:scale>
          <a:sx n="77" d="100"/>
          <a:sy n="77" d="100"/>
        </p:scale>
        <p:origin x="1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48D05-88E1-48DC-BFD0-15278E653D36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4C357-0044-421A-98B1-2498657850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9564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12028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1)Each spreadsheet a separates query on </a:t>
            </a:r>
            <a:r>
              <a:rPr lang="en-US" dirty="0" err="1"/>
              <a:t>lHS</a:t>
            </a:r>
            <a:r>
              <a:rPr lang="en-US" dirty="0"/>
              <a:t>,</a:t>
            </a:r>
          </a:p>
          <a:p>
            <a:r>
              <a:rPr lang="en-US" dirty="0"/>
              <a:t>2) Then </a:t>
            </a:r>
            <a:r>
              <a:rPr lang="en-US" dirty="0" err="1"/>
              <a:t>seew</a:t>
            </a:r>
            <a:r>
              <a:rPr lang="en-US" dirty="0"/>
              <a:t> applied steps for each query.</a:t>
            </a:r>
          </a:p>
          <a:p>
            <a:r>
              <a:rPr lang="en-US" dirty="0"/>
              <a:t>3) See the first step has all the sources /promoted headers , may have to delete some rows </a:t>
            </a:r>
          </a:p>
          <a:p>
            <a:r>
              <a:rPr lang="en-US" dirty="0"/>
              <a:t>4) You may want to change the initial steps, computer may have it </a:t>
            </a:r>
            <a:r>
              <a:rPr lang="en-US" dirty="0" err="1"/>
              <a:t>wroing</a:t>
            </a:r>
            <a:r>
              <a:rPr lang="en-US" dirty="0"/>
              <a:t>…,</a:t>
            </a:r>
          </a:p>
          <a:p>
            <a:r>
              <a:rPr lang="en-US" dirty="0"/>
              <a:t>5) If computer got it wring you can do it </a:t>
            </a:r>
            <a:r>
              <a:rPr lang="en-US" dirty="0" err="1"/>
              <a:t>manuallly</a:t>
            </a:r>
            <a:r>
              <a:rPr lang="en-US" dirty="0"/>
              <a:t>., afterwards for the few you would like to change </a:t>
            </a:r>
          </a:p>
          <a:p>
            <a:r>
              <a:rPr lang="en-US" dirty="0"/>
              <a:t>6) </a:t>
            </a:r>
            <a:r>
              <a:rPr lang="en-US" dirty="0" err="1"/>
              <a:t>Mnote</a:t>
            </a:r>
            <a:r>
              <a:rPr lang="en-US" dirty="0"/>
              <a:t> using Locale , for dates and decimals transformations.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6717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2120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: how many of each product have a </a:t>
            </a:r>
            <a:r>
              <a:rPr lang="en-US" dirty="0" err="1"/>
              <a:t>stocl</a:t>
            </a:r>
            <a:r>
              <a:rPr lang="en-US" dirty="0"/>
              <a:t> level of each size </a:t>
            </a:r>
          </a:p>
          <a:p>
            <a:r>
              <a:rPr lang="en-US" dirty="0"/>
              <a:t>Look </a:t>
            </a:r>
            <a:r>
              <a:rPr lang="en-US" dirty="0" err="1"/>
              <a:t>ata</a:t>
            </a:r>
            <a:r>
              <a:rPr lang="en-US" dirty="0"/>
              <a:t> </a:t>
            </a:r>
            <a:r>
              <a:rPr lang="en-US" dirty="0" err="1"/>
              <a:t>diostinct</a:t>
            </a:r>
            <a:r>
              <a:rPr lang="en-US" dirty="0"/>
              <a:t> amounts </a:t>
            </a:r>
          </a:p>
          <a:p>
            <a:r>
              <a:rPr lang="en-US" dirty="0"/>
              <a:t>Click Group By , if you selected the column its already in </a:t>
            </a:r>
            <a:r>
              <a:rPr lang="en-US" dirty="0" err="1"/>
              <a:t>GrouipBy</a:t>
            </a:r>
            <a:r>
              <a:rPr lang="en-US" dirty="0"/>
              <a:t> ..</a:t>
            </a:r>
            <a:r>
              <a:rPr lang="en-US" dirty="0" err="1"/>
              <a:t>wew</a:t>
            </a:r>
            <a:r>
              <a:rPr lang="en-US" dirty="0"/>
              <a:t> want the number of rows </a:t>
            </a:r>
          </a:p>
          <a:p>
            <a:r>
              <a:rPr lang="en-US" dirty="0"/>
              <a:t>Now remember that the detail does not exist anymore ..but </a:t>
            </a:r>
            <a:r>
              <a:rPr lang="en-US" dirty="0" err="1"/>
              <a:t>yoy</a:t>
            </a:r>
            <a:r>
              <a:rPr lang="en-US" dirty="0"/>
              <a:t> may want this detail for other queries </a:t>
            </a:r>
          </a:p>
          <a:p>
            <a:r>
              <a:rPr lang="en-US" dirty="0"/>
              <a:t>So you can get rid of it , and go to the left on the same </a:t>
            </a:r>
            <a:r>
              <a:rPr lang="en-US" dirty="0" err="1"/>
              <a:t>rtable</a:t>
            </a:r>
            <a:r>
              <a:rPr lang="en-US" dirty="0"/>
              <a:t> (Duplicate or Reference)</a:t>
            </a:r>
          </a:p>
          <a:p>
            <a:r>
              <a:rPr lang="en-ZA" dirty="0"/>
              <a:t>Duplicate ..creates identical to the existing query</a:t>
            </a:r>
          </a:p>
          <a:p>
            <a:r>
              <a:rPr lang="en-ZA" dirty="0"/>
              <a:t>We can also do REFERENCE, Go to </a:t>
            </a:r>
            <a:r>
              <a:rPr lang="en-ZA" dirty="0" err="1"/>
              <a:t>Mnage</a:t>
            </a:r>
            <a:r>
              <a:rPr lang="en-ZA" dirty="0"/>
              <a:t> in the home menu , manage reference ,,, THEN 1 </a:t>
            </a:r>
            <a:r>
              <a:rPr lang="en-ZA" dirty="0" err="1"/>
              <a:t>appled</a:t>
            </a:r>
            <a:r>
              <a:rPr lang="en-ZA" dirty="0"/>
              <a:t> query!</a:t>
            </a:r>
          </a:p>
          <a:p>
            <a:r>
              <a:rPr lang="en-ZA" dirty="0"/>
              <a:t>The source of this query is the previous query.  So don’t forget any thing you do to the first query ..will be carried through to the reference </a:t>
            </a:r>
          </a:p>
          <a:p>
            <a:r>
              <a:rPr lang="en-ZA" dirty="0"/>
              <a:t>We use Group By here with the duplicate query so we still have the other query with all the </a:t>
            </a:r>
            <a:r>
              <a:rPr lang="en-ZA" dirty="0" err="1"/>
              <a:t>recirds</a:t>
            </a:r>
            <a:r>
              <a:rPr lang="en-ZA" dirty="0"/>
              <a:t> to carry on with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05583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seconds grouping , can also add aggregation to add a second summarization ,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8282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options ..merge query as new, Can </a:t>
            </a:r>
          </a:p>
          <a:p>
            <a:r>
              <a:rPr lang="en-US" dirty="0"/>
              <a:t>We also have anti- joins ..</a:t>
            </a:r>
          </a:p>
          <a:p>
            <a:r>
              <a:rPr lang="en-US" dirty="0"/>
              <a:t>End result in Merge!</a:t>
            </a:r>
          </a:p>
          <a:p>
            <a:r>
              <a:rPr lang="en-US" dirty="0"/>
              <a:t>Need to expand the Table!</a:t>
            </a:r>
          </a:p>
          <a:p>
            <a:r>
              <a:rPr lang="en-US" dirty="0"/>
              <a:t>Note that the 2 columns have 2 Key columns …. Must take out oner of the </a:t>
            </a:r>
            <a:r>
              <a:rPr lang="en-US" dirty="0" err="1"/>
              <a:t>keyts</a:t>
            </a:r>
            <a:r>
              <a:rPr lang="en-US" dirty="0"/>
              <a:t> , don’t choose it.</a:t>
            </a:r>
          </a:p>
          <a:p>
            <a:r>
              <a:rPr lang="en-US" dirty="0" err="1"/>
              <a:t>Denorm</a:t>
            </a:r>
            <a:r>
              <a:rPr lang="en-US" dirty="0"/>
              <a:t> table contains info over multiple tables., More quicky query but </a:t>
            </a:r>
            <a:r>
              <a:rPr lang="en-US" dirty="0" err="1"/>
              <a:t>ineffient</a:t>
            </a:r>
            <a:r>
              <a:rPr lang="en-US" dirty="0"/>
              <a:t> and difficult </a:t>
            </a:r>
            <a:r>
              <a:rPr lang="en-US" dirty="0" err="1"/>
              <a:t>visiobility</a:t>
            </a:r>
            <a:r>
              <a:rPr lang="en-US" dirty="0"/>
              <a:t> wise 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9250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select many tables ..</a:t>
            </a:r>
          </a:p>
          <a:p>
            <a:r>
              <a:rPr lang="en-US" dirty="0"/>
              <a:t>Result was many nulls , </a:t>
            </a:r>
          </a:p>
          <a:p>
            <a:r>
              <a:rPr lang="en-US" dirty="0"/>
              <a:t>The 2 tables did not have the same recognizable column names.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06967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How to resolve </a:t>
            </a:r>
            <a:r>
              <a:rPr lang="en-US" dirty="0" err="1"/>
              <a:t>nulls..we</a:t>
            </a:r>
            <a:r>
              <a:rPr lang="en-US" dirty="0"/>
              <a:t> can replace values </a:t>
            </a:r>
          </a:p>
          <a:p>
            <a:pPr marL="228600" indent="-228600">
              <a:buAutoNum type="arabicParenR"/>
            </a:pPr>
            <a:r>
              <a:rPr lang="en-US" dirty="0"/>
              <a:t>In data view we have ENABLE COLUMN PROFILE , </a:t>
            </a:r>
          </a:p>
          <a:p>
            <a:pPr marL="228600" indent="-228600">
              <a:buAutoNum type="arabicParenR"/>
            </a:pPr>
            <a:r>
              <a:rPr lang="en-US" dirty="0"/>
              <a:t>Look at the other options given if you enabler column profile </a:t>
            </a:r>
          </a:p>
          <a:p>
            <a:pPr marL="228600" indent="-228600">
              <a:buAutoNum type="arabicParenR"/>
            </a:pPr>
            <a:r>
              <a:rPr lang="en-US" dirty="0"/>
              <a:t>See % of empty columns , </a:t>
            </a:r>
            <a:r>
              <a:rPr lang="en-US" dirty="0" err="1"/>
              <a:t>swhow</a:t>
            </a:r>
            <a:r>
              <a:rPr lang="en-US" dirty="0"/>
              <a:t> value distributions ..very useful </a:t>
            </a:r>
          </a:p>
          <a:p>
            <a:pPr marL="228600" indent="-228600">
              <a:buAutoNum type="arabicParenR"/>
            </a:pPr>
            <a:r>
              <a:rPr lang="en-US" dirty="0"/>
              <a:t>Unique </a:t>
            </a:r>
            <a:r>
              <a:rPr lang="en-US" dirty="0" err="1"/>
              <a:t>Vcalues</a:t>
            </a:r>
            <a:r>
              <a:rPr lang="en-US" dirty="0"/>
              <a:t> are those that do not have </a:t>
            </a:r>
            <a:r>
              <a:rPr lang="en-US" dirty="0" err="1"/>
              <a:t>dupliovcates</a:t>
            </a:r>
            <a:r>
              <a:rPr lang="en-US" dirty="0"/>
              <a:t> </a:t>
            </a:r>
            <a:r>
              <a:rPr lang="en-US" dirty="0" err="1"/>
              <a:t>ie</a:t>
            </a:r>
            <a:r>
              <a:rPr lang="en-US" dirty="0"/>
              <a:t> they have 1 value in the column.</a:t>
            </a:r>
          </a:p>
          <a:p>
            <a:pPr marL="228600" indent="-228600">
              <a:buAutoNum type="arabicParenR"/>
            </a:pPr>
            <a:r>
              <a:rPr lang="en-US" dirty="0"/>
              <a:t>You can also choose show column profile in details pane.. Only for 1 </a:t>
            </a:r>
            <a:r>
              <a:rPr lang="en-US" dirty="0" err="1"/>
              <a:t>cxolumn</a:t>
            </a:r>
            <a:r>
              <a:rPr lang="en-US" dirty="0"/>
              <a:t>. So see image ,,u get stats on that column.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3713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remove row/drop duplicates</a:t>
            </a:r>
          </a:p>
          <a:p>
            <a:r>
              <a:rPr lang="en-US" dirty="0"/>
              <a:t>You get lots of nulls from joins</a:t>
            </a:r>
          </a:p>
          <a:p>
            <a:r>
              <a:rPr lang="en-US" dirty="0"/>
              <a:t>Example of anti join , all the products that exist and are not sold.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7904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 err="1"/>
              <a:t>Stratr</a:t>
            </a:r>
            <a:r>
              <a:rPr lang="en-US" dirty="0"/>
              <a:t> transform Tab ..</a:t>
            </a:r>
            <a:r>
              <a:rPr lang="en-US" dirty="0" err="1"/>
              <a:t>lHS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r>
              <a:rPr lang="en-US" dirty="0"/>
              <a:t>Detect data type </a:t>
            </a:r>
          </a:p>
          <a:p>
            <a:pPr marL="228600" indent="-228600">
              <a:buAutoNum type="arabicParenR"/>
            </a:pPr>
            <a:r>
              <a:rPr lang="en-US" dirty="0" err="1"/>
              <a:t>Marlk</a:t>
            </a:r>
            <a:r>
              <a:rPr lang="en-US" dirty="0"/>
              <a:t> as </a:t>
            </a:r>
            <a:r>
              <a:rPr lang="en-US" dirty="0" err="1"/>
              <a:t>keyt</a:t>
            </a:r>
            <a:r>
              <a:rPr lang="en-US" dirty="0"/>
              <a:t> , make a primary Key.</a:t>
            </a:r>
          </a:p>
          <a:p>
            <a:pPr marL="228600" indent="-228600">
              <a:buAutoNum type="arabicParenR"/>
            </a:pPr>
            <a:r>
              <a:rPr lang="en-US" dirty="0"/>
              <a:t>Pivot and Unpivot.</a:t>
            </a:r>
          </a:p>
          <a:p>
            <a:pPr marL="228600" indent="-228600">
              <a:buAutoNum type="arabicParenR"/>
            </a:pPr>
            <a:r>
              <a:rPr lang="en-US" dirty="0"/>
              <a:t>Fill Down,</a:t>
            </a:r>
          </a:p>
          <a:p>
            <a:pPr marL="228600" indent="-228600">
              <a:buAutoNum type="arabicParenR"/>
            </a:pPr>
            <a:r>
              <a:rPr lang="en-US" dirty="0"/>
              <a:t>Extract allows part </a:t>
            </a:r>
            <a:r>
              <a:rPr lang="en-US" dirty="0" err="1"/>
              <a:t>oda</a:t>
            </a:r>
            <a:r>
              <a:rPr lang="en-US" dirty="0"/>
              <a:t> </a:t>
            </a:r>
            <a:r>
              <a:rPr lang="en-US" dirty="0" err="1"/>
              <a:t>colum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r>
              <a:rPr lang="en-US" dirty="0"/>
              <a:t>Add / </a:t>
            </a:r>
            <a:r>
              <a:rPr lang="en-US" dirty="0" err="1"/>
              <a:t>Subtarct</a:t>
            </a:r>
            <a:r>
              <a:rPr lang="en-US" dirty="0"/>
              <a:t> and STATS </a:t>
            </a:r>
          </a:p>
          <a:p>
            <a:pPr marL="228600" indent="-228600">
              <a:buAutoNum type="arabicParenR"/>
            </a:pPr>
            <a:r>
              <a:rPr lang="en-US" dirty="0"/>
              <a:t>Note the Date and Time </a:t>
            </a:r>
            <a:r>
              <a:rPr lang="en-US" dirty="0" err="1"/>
              <a:t>Functionsd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Time Extract time from date </a:t>
            </a:r>
            <a:r>
              <a:rPr lang="en-US" dirty="0" err="1"/>
              <a:t>ti,me</a:t>
            </a:r>
            <a:r>
              <a:rPr lang="en-US" dirty="0"/>
              <a:t> col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1941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code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6615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you have retries in a dataflow component</a:t>
            </a:r>
          </a:p>
          <a:p>
            <a:r>
              <a:rPr lang="en-US" dirty="0"/>
              <a:t>Secure </a:t>
            </a:r>
            <a:r>
              <a:rPr lang="en-US" dirty="0" err="1"/>
              <a:t>output..output</a:t>
            </a:r>
            <a:r>
              <a:rPr lang="en-US" dirty="0"/>
              <a:t> not captured in logging </a:t>
            </a:r>
          </a:p>
          <a:p>
            <a:r>
              <a:rPr lang="en-US" dirty="0"/>
              <a:t>Many other activities.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5414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parameters , you can bring into the emails </a:t>
            </a:r>
          </a:p>
          <a:p>
            <a:r>
              <a:rPr lang="en-US" dirty="0"/>
              <a:t>Note bring different messages to </a:t>
            </a:r>
            <a:r>
              <a:rPr lang="en-US" dirty="0" err="1"/>
              <a:t>failurwe</a:t>
            </a:r>
            <a:r>
              <a:rPr lang="en-US" dirty="0"/>
              <a:t> and pass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8557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mappings and the step by step process , via the data assistant.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378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the files get placed in intermediate folder before being sent onto final destination.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7758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picks a lot of </a:t>
            </a:r>
            <a:r>
              <a:rPr lang="en-US" dirty="0" err="1"/>
              <a:t>tabl;es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23501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4913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only single table allowed , note the source for the copy block.</a:t>
            </a:r>
          </a:p>
          <a:p>
            <a:r>
              <a:rPr lang="en-US" dirty="0"/>
              <a:t>Note you can use an existing table in the destination or make a new table (auto create)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73138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Especially the date Formats in the mapping settings , see date and time formats lower down,</a:t>
            </a:r>
          </a:p>
          <a:p>
            <a:r>
              <a:rPr lang="en-US" dirty="0"/>
              <a:t>Lots of settings </a:t>
            </a:r>
            <a:r>
              <a:rPr lang="en-US" dirty="0" err="1"/>
              <a:t>wrt</a:t>
            </a:r>
            <a:r>
              <a:rPr lang="en-US" dirty="0"/>
              <a:t> the throughput optimization, read through these carefully. See the circle on the right.</a:t>
            </a:r>
          </a:p>
          <a:p>
            <a:r>
              <a:rPr lang="en-US" dirty="0"/>
              <a:t>There are fault tolerance issues ..that you can set , </a:t>
            </a:r>
            <a:r>
              <a:rPr lang="en-US" dirty="0" err="1"/>
              <a:t>parllelissm</a:t>
            </a:r>
            <a:r>
              <a:rPr lang="en-US" dirty="0"/>
              <a:t> and staging </a:t>
            </a:r>
          </a:p>
          <a:p>
            <a:r>
              <a:rPr lang="en-US" dirty="0"/>
              <a:t>Seems you must put a table name in.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226981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post output to word to find the errors </a:t>
            </a:r>
          </a:p>
          <a:p>
            <a:r>
              <a:rPr lang="en-US" dirty="0"/>
              <a:t>You can view run history and export to  files.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211631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Checks to see if tables are there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7033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Schedule , or run schedule , or ellipses in the workspace </a:t>
            </a:r>
          </a:p>
          <a:p>
            <a:r>
              <a:rPr lang="en-US" dirty="0"/>
              <a:t>Click on the pipeline schedule , see the schedule options. Hourly , daily weekly.</a:t>
            </a:r>
          </a:p>
          <a:p>
            <a:r>
              <a:rPr lang="en-US" dirty="0"/>
              <a:t>Dataflows can only start on the hours or half hour, Pipelines (Every minute) </a:t>
            </a:r>
          </a:p>
          <a:p>
            <a:r>
              <a:rPr lang="en-US" dirty="0"/>
              <a:t>Start , and end , date and time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7983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ion that particular run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584937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a </a:t>
            </a:r>
            <a:r>
              <a:rPr lang="en-US" dirty="0" err="1"/>
              <a:t>goto</a:t>
            </a:r>
            <a:r>
              <a:rPr lang="en-US" dirty="0"/>
              <a:t> monitoring at bottom of </a:t>
            </a:r>
            <a:r>
              <a:rPr lang="en-US" dirty="0" err="1"/>
              <a:t>Viewe</a:t>
            </a:r>
            <a:r>
              <a:rPr lang="en-US" dirty="0"/>
              <a:t> Recent Runs , land on the right image view </a:t>
            </a:r>
          </a:p>
          <a:p>
            <a:r>
              <a:rPr lang="en-US" dirty="0"/>
              <a:t>And you can filter them, se bottom left image , and you can </a:t>
            </a:r>
            <a:r>
              <a:rPr lang="en-US" dirty="0" err="1"/>
              <a:t>addd</a:t>
            </a:r>
            <a:r>
              <a:rPr lang="en-US" dirty="0"/>
              <a:t> many columns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14730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monirtoring</a:t>
            </a:r>
            <a:r>
              <a:rPr lang="en-US" dirty="0"/>
              <a:t> hub I clicked on a pipeline and got , </a:t>
            </a:r>
            <a:r>
              <a:rPr lang="en-US" dirty="0" err="1"/>
              <a:t>lhs</a:t>
            </a:r>
            <a:r>
              <a:rPr lang="en-US" dirty="0"/>
              <a:t> image (</a:t>
            </a:r>
            <a:r>
              <a:rPr lang="en-US" dirty="0" err="1"/>
              <a:t>Tecxt</a:t>
            </a:r>
            <a:r>
              <a:rPr lang="en-US" dirty="0"/>
              <a:t> View) , if I click Gant , I get a </a:t>
            </a:r>
            <a:r>
              <a:rPr lang="en-US" dirty="0" err="1"/>
              <a:t>gant</a:t>
            </a:r>
            <a:r>
              <a:rPr lang="en-US" dirty="0"/>
              <a:t> view (image from Course)</a:t>
            </a:r>
          </a:p>
          <a:p>
            <a:r>
              <a:rPr lang="en-US" dirty="0"/>
              <a:t>Gannt , see underneath each other </a:t>
            </a:r>
          </a:p>
          <a:p>
            <a:r>
              <a:rPr lang="en-US" dirty="0"/>
              <a:t>In this screen you can make changes to the pipeline , by clicking update pipeline , top go back to editing canvas.</a:t>
            </a:r>
          </a:p>
          <a:p>
            <a:r>
              <a:rPr lang="en-US" dirty="0"/>
              <a:t>NB: you need to get to </a:t>
            </a:r>
            <a:r>
              <a:rPr lang="en-US" dirty="0" err="1"/>
              <a:t>Monitoiring</a:t>
            </a:r>
            <a:r>
              <a:rPr lang="en-US" dirty="0"/>
              <a:t> Hub to change filter </a:t>
            </a:r>
          </a:p>
          <a:p>
            <a:r>
              <a:rPr lang="en-US" dirty="0"/>
              <a:t>Can export records in the Monitoring Hub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10967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see the Foreach results in an error , click  on symbol , says </a:t>
            </a:r>
          </a:p>
          <a:p>
            <a:r>
              <a:rPr lang="en-US" dirty="0"/>
              <a:t>Also go to view run history ..and get back same screen.</a:t>
            </a:r>
          </a:p>
          <a:p>
            <a:r>
              <a:rPr lang="en-US" dirty="0" err="1"/>
              <a:t>Gp</a:t>
            </a:r>
            <a:r>
              <a:rPr lang="en-US" dirty="0"/>
              <a:t> </a:t>
            </a:r>
            <a:r>
              <a:rPr lang="en-US" dirty="0" err="1"/>
              <a:t>baxk</a:t>
            </a:r>
            <a:r>
              <a:rPr lang="en-US" dirty="0"/>
              <a:t> to pipeline from view run history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0834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back to pipeline and add email on failure , this particular failure says cant put large sting into warehouse </a:t>
            </a:r>
          </a:p>
          <a:p>
            <a:r>
              <a:rPr lang="en-US" dirty="0"/>
              <a:t>You can go to mappings and try truncation or leave out the column</a:t>
            </a:r>
          </a:p>
          <a:p>
            <a:r>
              <a:rPr lang="en-US" dirty="0"/>
              <a:t>OR go to Settings and set intelligent throughput </a:t>
            </a:r>
            <a:r>
              <a:rPr lang="en-US" dirty="0" err="1"/>
              <a:t>optoiimization</a:t>
            </a:r>
            <a:r>
              <a:rPr lang="en-US" dirty="0"/>
              <a:t> , see above default is Autio , but other options , test and see if copying is quicker </a:t>
            </a:r>
          </a:p>
          <a:p>
            <a:r>
              <a:rPr lang="en-US" dirty="0"/>
              <a:t>Can also set degree of copy </a:t>
            </a:r>
            <a:r>
              <a:rPr lang="en-US" dirty="0" err="1"/>
              <a:t>parallelism..threads</a:t>
            </a:r>
            <a:r>
              <a:rPr lang="en-US" dirty="0"/>
              <a:t> , override </a:t>
            </a:r>
            <a:r>
              <a:rPr lang="en-US" dirty="0" err="1"/>
              <a:t>defaulat</a:t>
            </a:r>
            <a:r>
              <a:rPr lang="en-US" dirty="0"/>
              <a:t> and set 1-32</a:t>
            </a:r>
          </a:p>
          <a:p>
            <a:r>
              <a:rPr lang="en-US" dirty="0" err="1"/>
              <a:t>Faualt</a:t>
            </a:r>
            <a:r>
              <a:rPr lang="en-US" dirty="0"/>
              <a:t> tolerance ..see above , can skip rows or files ..see op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38670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Cliock</a:t>
            </a:r>
            <a:r>
              <a:rPr lang="en-US" dirty="0"/>
              <a:t> on explore sampler data in Copy Data assistant in pipeline ..see above </a:t>
            </a:r>
          </a:p>
          <a:p>
            <a:r>
              <a:rPr lang="en-US" dirty="0"/>
              <a:t>See the datasets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56251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pPr marL="228600" indent="-228600">
              <a:buAutoNum type="arabicParenR"/>
            </a:pPr>
            <a:r>
              <a:rPr lang="en-US" dirty="0"/>
              <a:t>ADSL GEN 2 </a:t>
            </a:r>
          </a:p>
          <a:p>
            <a:pPr marL="228600" indent="-228600">
              <a:buAutoNum type="arabicParenR"/>
            </a:pPr>
            <a:r>
              <a:rPr lang="en-US" dirty="0"/>
              <a:t>Copy BASED ON LAST MODOIFIED DATE (NB )</a:t>
            </a:r>
          </a:p>
          <a:p>
            <a:pPr marL="228600" indent="-228600">
              <a:buAutoNum type="arabicParenR"/>
            </a:pPr>
            <a:r>
              <a:rPr lang="en-US" dirty="0"/>
              <a:t>Delete files older than 30 days </a:t>
            </a:r>
          </a:p>
          <a:p>
            <a:pPr marL="228600" indent="-228600">
              <a:buAutoNum type="arabicParenR"/>
            </a:pPr>
            <a:r>
              <a:rPr lang="en-US" dirty="0"/>
              <a:t>Move Files from one folder to another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36743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to Tables once imported , tables are </a:t>
            </a:r>
            <a:r>
              <a:rPr lang="en-US" dirty="0" err="1"/>
              <a:t>structurrdd</a:t>
            </a:r>
            <a:r>
              <a:rPr lang="en-US" dirty="0"/>
              <a:t> format.</a:t>
            </a:r>
          </a:p>
          <a:p>
            <a:r>
              <a:rPr lang="en-US" dirty="0"/>
              <a:t>Much better to use tables , </a:t>
            </a:r>
          </a:p>
          <a:p>
            <a:r>
              <a:rPr lang="en-US" dirty="0"/>
              <a:t>SQL analytics endpoint ..only have access to Tables </a:t>
            </a:r>
          </a:p>
          <a:p>
            <a:r>
              <a:rPr lang="en-US" dirty="0"/>
              <a:t>Cant use explorer ?? Much easier to do this !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2988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Must connect to </a:t>
            </a:r>
            <a:r>
              <a:rPr lang="en-US" dirty="0" err="1"/>
              <a:t>lakehouse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r>
              <a:rPr lang="en-US" dirty="0"/>
              <a:t>You can load the data from files , drag and drop and it writes the command for you </a:t>
            </a:r>
          </a:p>
          <a:p>
            <a:pPr marL="228600" indent="-228600">
              <a:buAutoNum type="arabicParenR"/>
            </a:pPr>
            <a:r>
              <a:rPr lang="en-US" dirty="0"/>
              <a:t>See </a:t>
            </a:r>
            <a:r>
              <a:rPr lang="en-US" dirty="0" err="1"/>
              <a:t>abfs</a:t>
            </a:r>
            <a:r>
              <a:rPr lang="en-US" dirty="0"/>
              <a:t> path </a:t>
            </a:r>
          </a:p>
          <a:p>
            <a:pPr marL="228600" indent="-228600">
              <a:buAutoNum type="arabicParenR"/>
            </a:pPr>
            <a:r>
              <a:rPr lang="en-US" dirty="0"/>
              <a:t>There are 3 methods with </a:t>
            </a:r>
            <a:r>
              <a:rPr lang="en-US" dirty="0" err="1"/>
              <a:t>csvs</a:t>
            </a:r>
            <a:r>
              <a:rPr lang="en-US" dirty="0"/>
              <a:t> ..</a:t>
            </a:r>
            <a:r>
              <a:rPr lang="en-US" dirty="0" err="1"/>
              <a:t>read.format</a:t>
            </a:r>
            <a:r>
              <a:rPr lang="en-US" dirty="0"/>
              <a:t> / read.csv, load </a:t>
            </a:r>
          </a:p>
          <a:p>
            <a:pPr marL="228600" indent="-228600">
              <a:buAutoNum type="arabicParenR"/>
            </a:pPr>
            <a:r>
              <a:rPr lang="en-US" dirty="0"/>
              <a:t>The lowest is </a:t>
            </a:r>
            <a:r>
              <a:rPr lang="en-US" dirty="0" err="1"/>
              <a:t>spark.read.load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65553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Pandas way , also use the file path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47105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Saving to </a:t>
            </a:r>
            <a:r>
              <a:rPr lang="en-US" dirty="0" err="1"/>
              <a:t>excel,json</a:t>
            </a:r>
            <a:r>
              <a:rPr lang="en-US" dirty="0"/>
              <a:t> or parquet is the same format of statement </a:t>
            </a:r>
          </a:p>
          <a:p>
            <a:pPr marL="228600" indent="-228600">
              <a:buAutoNum type="arabicParenR"/>
            </a:pPr>
            <a:r>
              <a:rPr lang="en-US" dirty="0"/>
              <a:t>Note when you save a file ..its a folder name .. , there are files associated with it , use that name to load it ..DONT USE INTERNAL FILE NAME in the files in that folder ..se above </a:t>
            </a:r>
          </a:p>
          <a:p>
            <a:pPr marL="228600" indent="-228600">
              <a:buAutoNum type="arabicParenR"/>
            </a:pPr>
            <a:r>
              <a:rPr lang="en-US" dirty="0"/>
              <a:t>We also save to a table , format </a:t>
            </a:r>
            <a:r>
              <a:rPr lang="en-US" dirty="0" err="1"/>
              <a:t>del;ta</a:t>
            </a:r>
            <a:r>
              <a:rPr lang="en-US" dirty="0"/>
              <a:t>..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96652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Files, Only </a:t>
            </a:r>
            <a:r>
              <a:rPr lang="en-US" dirty="0" err="1"/>
              <a:t>sql</a:t>
            </a:r>
            <a:r>
              <a:rPr lang="en-US" dirty="0"/>
              <a:t> with tables</a:t>
            </a:r>
          </a:p>
          <a:p>
            <a:r>
              <a:rPr lang="en-US" dirty="0"/>
              <a:t>Also power Bi Semantic Models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925764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2 methods of reading a table . </a:t>
            </a:r>
            <a:r>
              <a:rPr lang="en-US" dirty="0" err="1"/>
              <a:t>Read.table</a:t>
            </a:r>
            <a:r>
              <a:rPr lang="en-US" dirty="0"/>
              <a:t> ; </a:t>
            </a:r>
            <a:r>
              <a:rPr lang="en-US" dirty="0" err="1"/>
              <a:t>read.format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Or </a:t>
            </a:r>
            <a:r>
              <a:rPr lang="en-US" dirty="0" err="1"/>
              <a:t>sql</a:t>
            </a:r>
            <a:r>
              <a:rPr lang="en-US" dirty="0"/>
              <a:t>. Change to </a:t>
            </a:r>
            <a:r>
              <a:rPr lang="en-US" dirty="0" err="1"/>
              <a:t>sql</a:t>
            </a:r>
            <a:r>
              <a:rPr lang="en-US" dirty="0"/>
              <a:t> cell.  Musty be default </a:t>
            </a:r>
            <a:r>
              <a:rPr lang="en-US" dirty="0" err="1"/>
              <a:t>lakehouse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SQL is read only!!!</a:t>
            </a:r>
          </a:p>
          <a:p>
            <a:pPr marL="228600" indent="-228600">
              <a:buAutoNum type="arabicParenR"/>
            </a:pPr>
            <a:r>
              <a:rPr lang="en-US" dirty="0"/>
              <a:t>Note what to do with table , on bottom </a:t>
            </a:r>
            <a:r>
              <a:rPr lang="en-US" dirty="0" err="1"/>
              <a:t>righ</a:t>
            </a:r>
            <a:r>
              <a:rPr lang="en-US" dirty="0"/>
              <a:t> , graph or chart etc.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06939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stats on the cols </a:t>
            </a:r>
            <a:r>
              <a:rPr lang="en-US" dirty="0" err="1"/>
              <a:t>ie</a:t>
            </a:r>
            <a:r>
              <a:rPr lang="en-US" dirty="0"/>
              <a:t> </a:t>
            </a:r>
            <a:r>
              <a:rPr lang="en-US" dirty="0" err="1"/>
              <a:t>missiong</a:t>
            </a:r>
            <a:r>
              <a:rPr lang="en-US" dirty="0"/>
              <a:t> values </a:t>
            </a:r>
            <a:r>
              <a:rPr lang="en-US" dirty="0" err="1"/>
              <a:t>etc..you</a:t>
            </a:r>
            <a:r>
              <a:rPr lang="en-US" dirty="0"/>
              <a:t> also have a search bar.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16406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asked to load a table from lake house by the menu ..it used </a:t>
            </a:r>
            <a:r>
              <a:rPr lang="en-US" dirty="0" err="1"/>
              <a:t>sql</a:t>
            </a:r>
            <a:r>
              <a:rPr lang="en-US" dirty="0"/>
              <a:t> , but in a spark frame with spark.</a:t>
            </a:r>
            <a:r>
              <a:rPr lang="en-US" dirty="0" err="1"/>
              <a:t>sql</a:t>
            </a:r>
            <a:r>
              <a:rPr lang="en-US" dirty="0"/>
              <a:t>..</a:t>
            </a:r>
            <a:r>
              <a:rPr lang="en-US" dirty="0" err="1"/>
              <a:t>notive</a:t>
            </a:r>
            <a:r>
              <a:rPr lang="en-US" dirty="0"/>
              <a:t> it </a:t>
            </a:r>
            <a:r>
              <a:rPr lang="en-US" dirty="0" err="1"/>
              <a:t>namesd</a:t>
            </a:r>
            <a:r>
              <a:rPr lang="en-US" dirty="0"/>
              <a:t> the </a:t>
            </a:r>
            <a:r>
              <a:rPr lang="en-US" dirty="0" err="1"/>
              <a:t>lakehouse</a:t>
            </a:r>
            <a:r>
              <a:rPr lang="en-US" dirty="0"/>
              <a:t> ..note </a:t>
            </a:r>
            <a:r>
              <a:rPr lang="en-US" dirty="0" err="1"/>
              <a:t>lakehouse</a:t>
            </a:r>
            <a:r>
              <a:rPr lang="en-US" dirty="0"/>
              <a:t> was default.</a:t>
            </a:r>
          </a:p>
          <a:p>
            <a:r>
              <a:rPr lang="en-US" dirty="0"/>
              <a:t>Maybe you can load tables from non default </a:t>
            </a:r>
            <a:r>
              <a:rPr lang="en-US" dirty="0" err="1"/>
              <a:t>lakehouse</a:t>
            </a:r>
            <a:r>
              <a:rPr lang="en-US" dirty="0"/>
              <a:t> , as you are naming the </a:t>
            </a:r>
            <a:r>
              <a:rPr lang="en-US" dirty="0" err="1"/>
              <a:t>lakehouse</a:t>
            </a:r>
            <a:r>
              <a:rPr lang="en-US" dirty="0"/>
              <a:t>.!!! Instead of using absolute path.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013749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is not case sensitive! In speech marks.</a:t>
            </a:r>
          </a:p>
          <a:p>
            <a:r>
              <a:rPr lang="en-US" dirty="0"/>
              <a:t>Can also do </a:t>
            </a:r>
            <a:r>
              <a:rPr lang="en-US" dirty="0" err="1"/>
              <a:t>df.Country</a:t>
            </a:r>
            <a:endParaRPr lang="en-US" dirty="0"/>
          </a:p>
          <a:p>
            <a:r>
              <a:rPr lang="en-US" dirty="0"/>
              <a:t>Renaming with Alias. Must use </a:t>
            </a:r>
            <a:r>
              <a:rPr lang="en-US" dirty="0" err="1"/>
              <a:t>df</a:t>
            </a:r>
            <a:r>
              <a:rPr lang="en-US" dirty="0"/>
              <a:t>.  Ie. </a:t>
            </a:r>
            <a:r>
              <a:rPr lang="en-US" dirty="0" err="1"/>
              <a:t>df.Country.alias</a:t>
            </a:r>
            <a:r>
              <a:rPr lang="en-US" dirty="0"/>
              <a:t>(“</a:t>
            </a:r>
            <a:r>
              <a:rPr lang="en-US" dirty="0" err="1"/>
              <a:t>CountryName</a:t>
            </a:r>
            <a:r>
              <a:rPr lang="en-US" dirty="0"/>
              <a:t>”)</a:t>
            </a:r>
          </a:p>
          <a:p>
            <a:r>
              <a:rPr lang="en-US" dirty="0"/>
              <a:t>Use </a:t>
            </a:r>
            <a:r>
              <a:rPr lang="en-US" dirty="0" err="1"/>
              <a:t>df.where</a:t>
            </a:r>
            <a:r>
              <a:rPr lang="en-US" dirty="0"/>
              <a:t>, or </a:t>
            </a:r>
            <a:r>
              <a:rPr lang="en-US" dirty="0" err="1"/>
              <a:t>df</a:t>
            </a:r>
            <a:r>
              <a:rPr lang="en-US" dirty="0"/>
              <a:t> .filter , notice the whole expression is in “ “  or you can use </a:t>
            </a:r>
            <a:r>
              <a:rPr lang="en-US" dirty="0" err="1"/>
              <a:t>df.where</a:t>
            </a:r>
            <a:r>
              <a:rPr lang="en-US" dirty="0"/>
              <a:t>(“</a:t>
            </a:r>
            <a:r>
              <a:rPr lang="en-US" dirty="0" err="1"/>
              <a:t>df.Country</a:t>
            </a:r>
            <a:r>
              <a:rPr lang="en-US" dirty="0"/>
              <a:t>=‘SA’ “)</a:t>
            </a:r>
          </a:p>
          <a:p>
            <a:r>
              <a:rPr lang="en-US" dirty="0"/>
              <a:t>Notice in example you use Double and single quotation marks. One or 2 equal signs .. 2 equals when using dot notation, and != when not in string.</a:t>
            </a:r>
          </a:p>
          <a:p>
            <a:r>
              <a:rPr lang="en-US" dirty="0"/>
              <a:t>Use limit and tail for first and lasty rows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04880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withColumn</a:t>
            </a:r>
            <a:r>
              <a:rPr lang="en-US" dirty="0"/>
              <a:t>(</a:t>
            </a:r>
            <a:r>
              <a:rPr lang="en-US" dirty="0" err="1"/>
              <a:t>newcol,replacement</a:t>
            </a:r>
            <a:r>
              <a:rPr lang="en-US" dirty="0"/>
              <a:t>)</a:t>
            </a:r>
          </a:p>
          <a:p>
            <a:r>
              <a:rPr lang="en-US" dirty="0"/>
              <a:t>Can do 2 columns .., notice just add another .</a:t>
            </a:r>
            <a:r>
              <a:rPr lang="en-US" dirty="0" err="1"/>
              <a:t>withColumn</a:t>
            </a:r>
            <a:r>
              <a:rPr lang="en-US" dirty="0"/>
              <a:t>  notice \ to split </a:t>
            </a:r>
            <a:r>
              <a:rPr lang="en-US" dirty="0" err="1"/>
              <a:t>thye</a:t>
            </a:r>
            <a:r>
              <a:rPr lang="en-US" dirty="0"/>
              <a:t> row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568749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word lit to use a literal string in Python.</a:t>
            </a:r>
          </a:p>
          <a:p>
            <a:r>
              <a:rPr lang="en-US" dirty="0"/>
              <a:t>See </a:t>
            </a:r>
            <a:r>
              <a:rPr lang="en-US" dirty="0" err="1"/>
              <a:t>sql</a:t>
            </a:r>
            <a:r>
              <a:rPr lang="en-US" dirty="0"/>
              <a:t> , must terminate select statements with a semicolon , if there are multiple statements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80190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Contains in </a:t>
            </a:r>
            <a:r>
              <a:rPr lang="en-US" dirty="0" err="1"/>
              <a:t>Sparl</a:t>
            </a:r>
            <a:r>
              <a:rPr lang="en-US" dirty="0"/>
              <a:t> , LIKE in SQL, like in Spark</a:t>
            </a:r>
          </a:p>
          <a:p>
            <a:r>
              <a:rPr lang="en-US" dirty="0"/>
              <a:t>See multiple conditions </a:t>
            </a:r>
          </a:p>
          <a:p>
            <a:r>
              <a:rPr lang="en-US" dirty="0"/>
              <a:t>Note alternative using | and &amp;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75310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Default load data into </a:t>
            </a:r>
            <a:r>
              <a:rPr lang="en-US" dirty="0" err="1"/>
              <a:t>Spark..a</a:t>
            </a:r>
            <a:r>
              <a:rPr lang="en-US" dirty="0"/>
              <a:t> table uses </a:t>
            </a:r>
            <a:r>
              <a:rPr lang="en-US" dirty="0" err="1"/>
              <a:t>sql</a:t>
            </a:r>
            <a:r>
              <a:rPr lang="en-US" dirty="0"/>
              <a:t> , using </a:t>
            </a:r>
            <a:r>
              <a:rPr lang="en-US" dirty="0" err="1"/>
              <a:t>spark.sql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 err="1"/>
              <a:t>Canj</a:t>
            </a:r>
            <a:r>
              <a:rPr lang="en-US" dirty="0"/>
              <a:t> also use </a:t>
            </a:r>
            <a:r>
              <a:rPr lang="en-US" dirty="0" err="1"/>
              <a:t>read.table</a:t>
            </a:r>
            <a:r>
              <a:rPr lang="en-US" dirty="0"/>
              <a:t>, note id default its shorter , else just the table name </a:t>
            </a:r>
          </a:p>
          <a:p>
            <a:pPr marL="228600" indent="-228600">
              <a:buAutoNum type="arabicParenR"/>
            </a:pPr>
            <a:r>
              <a:rPr lang="en-US" dirty="0"/>
              <a:t>Normal select , then normal select with name change using alias. </a:t>
            </a:r>
            <a:r>
              <a:rPr lang="en-US" dirty="0" err="1"/>
              <a:t>Noticve</a:t>
            </a:r>
            <a:r>
              <a:rPr lang="en-US" dirty="0"/>
              <a:t> you have to use the .notation, you cant use </a:t>
            </a:r>
            <a:r>
              <a:rPr lang="en-US" dirty="0" err="1"/>
              <a:t>thestringliteral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 err="1"/>
              <a:t>Canb</a:t>
            </a:r>
            <a:r>
              <a:rPr lang="en-US" dirty="0"/>
              <a:t> use </a:t>
            </a:r>
            <a:r>
              <a:rPr lang="en-US" dirty="0" err="1"/>
              <a:t>withColumnRenamed</a:t>
            </a:r>
            <a:r>
              <a:rPr lang="en-US" dirty="0"/>
              <a:t> instead of alias. Order is </a:t>
            </a:r>
            <a:r>
              <a:rPr lang="en-US" dirty="0" err="1"/>
              <a:t>oldcol;umn</a:t>
            </a:r>
            <a:r>
              <a:rPr lang="en-US" dirty="0"/>
              <a:t> name , new column name in string form.</a:t>
            </a:r>
          </a:p>
          <a:p>
            <a:pPr marL="228600" indent="-228600">
              <a:buAutoNum type="arabicParenR"/>
            </a:pPr>
            <a:r>
              <a:rPr lang="en-US" dirty="0"/>
              <a:t>Note in the where clause </a:t>
            </a:r>
            <a:r>
              <a:rPr lang="en-US" dirty="0" err="1"/>
              <a:t>oneuses</a:t>
            </a:r>
            <a:r>
              <a:rPr lang="en-US" dirty="0"/>
              <a:t> the . Notation </a:t>
            </a:r>
            <a:r>
              <a:rPr lang="en-US" dirty="0" err="1"/>
              <a:t>df.Geography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r>
              <a:rPr lang="en-US" dirty="0"/>
              <a:t>You could also have the whole expression in inverted commas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70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40713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Add in new column , notice the use of </a:t>
            </a:r>
            <a:r>
              <a:rPr lang="en-US" dirty="0" err="1"/>
              <a:t>substr</a:t>
            </a:r>
            <a:r>
              <a:rPr lang="en-US" dirty="0"/>
              <a:t>.,</a:t>
            </a:r>
          </a:p>
          <a:p>
            <a:pPr marL="228600" indent="-228600">
              <a:buAutoNum type="arabicParenR"/>
            </a:pPr>
            <a:r>
              <a:rPr lang="en-US" dirty="0"/>
              <a:t>Note: </a:t>
            </a:r>
            <a:r>
              <a:rPr lang="en-US" dirty="0" err="1"/>
              <a:t>Pyspark</a:t>
            </a:r>
            <a:r>
              <a:rPr lang="en-US" dirty="0"/>
              <a:t> is a 1 based programming language </a:t>
            </a:r>
          </a:p>
          <a:p>
            <a:pPr marL="228600" indent="-228600">
              <a:buAutoNum type="arabicParenR"/>
            </a:pPr>
            <a:r>
              <a:rPr lang="en-US" dirty="0"/>
              <a:t>Multiple conditions in </a:t>
            </a:r>
            <a:r>
              <a:rPr lang="en-US" dirty="0" err="1"/>
              <a:t>speechmark</a:t>
            </a:r>
            <a:r>
              <a:rPr lang="en-US" dirty="0"/>
              <a:t> or in dot notation , note the use of single and double </a:t>
            </a:r>
            <a:r>
              <a:rPr lang="en-US" dirty="0" err="1"/>
              <a:t>qwuotation</a:t>
            </a:r>
            <a:r>
              <a:rPr lang="en-US" dirty="0"/>
              <a:t> marks.</a:t>
            </a:r>
          </a:p>
          <a:p>
            <a:pPr marL="228600" indent="-228600">
              <a:buAutoNum type="arabicParenR"/>
            </a:pPr>
            <a:r>
              <a:rPr lang="en-US" dirty="0"/>
              <a:t>You can have </a:t>
            </a:r>
            <a:r>
              <a:rPr lang="en-US" dirty="0" err="1"/>
              <a:t>sigle</a:t>
            </a:r>
            <a:r>
              <a:rPr lang="en-US" dirty="0"/>
              <a:t> on the outside and double on inside</a:t>
            </a:r>
          </a:p>
          <a:p>
            <a:pPr marL="228600" indent="-228600">
              <a:buAutoNum type="arabicParenR"/>
            </a:pPr>
            <a:r>
              <a:rPr lang="en-US" dirty="0"/>
              <a:t>See the dot notation , </a:t>
            </a:r>
            <a:r>
              <a:rPr lang="en-US" dirty="0" err="1"/>
              <a:t>isin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Using the | symbol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71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348262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Can see actual is text </a:t>
            </a:r>
          </a:p>
          <a:p>
            <a:pPr marL="228600" indent="-228600">
              <a:buAutoNum type="arabicParenR"/>
            </a:pPr>
            <a:r>
              <a:rPr lang="en-US" dirty="0"/>
              <a:t>Using describe ..notice the list in square brackets </a:t>
            </a:r>
          </a:p>
          <a:p>
            <a:pPr marL="228600" indent="-228600">
              <a:buAutoNum type="arabicParenR"/>
            </a:pPr>
            <a:r>
              <a:rPr lang="en-US" dirty="0"/>
              <a:t>Use </a:t>
            </a:r>
            <a:r>
              <a:rPr lang="en-US" dirty="0" err="1"/>
              <a:t>df</a:t>
            </a:r>
            <a:r>
              <a:rPr lang="en-US" dirty="0"/>
              <a:t>. Notation to cast the string as Int ..see its cast as Int</a:t>
            </a:r>
          </a:p>
          <a:p>
            <a:pPr marL="228600" indent="-228600">
              <a:buAutoNum type="arabicParenR"/>
            </a:pPr>
            <a:r>
              <a:rPr lang="en-US" dirty="0"/>
              <a:t>Cast in SQL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73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325200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In decimal we have precision ..the number of </a:t>
            </a:r>
            <a:r>
              <a:rPr lang="en-US" dirty="0" err="1"/>
              <a:t>digitds</a:t>
            </a:r>
            <a:r>
              <a:rPr lang="en-US" dirty="0"/>
              <a:t> and scale, the number of decimal places ..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74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43906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wish to convert while loading it. </a:t>
            </a:r>
          </a:p>
          <a:p>
            <a:pPr marL="228600" indent="-228600">
              <a:buAutoNum type="arabicParenR"/>
            </a:pPr>
            <a:r>
              <a:rPr lang="en-US" dirty="0"/>
              <a:t>Look at the </a:t>
            </a:r>
            <a:r>
              <a:rPr lang="en-US" dirty="0" err="1"/>
              <a:t>df.schema</a:t>
            </a:r>
            <a:r>
              <a:rPr lang="en-US" dirty="0"/>
              <a:t> construct. </a:t>
            </a:r>
          </a:p>
          <a:p>
            <a:pPr marL="228600" indent="-228600">
              <a:buAutoNum type="arabicParenR"/>
            </a:pPr>
            <a:r>
              <a:rPr lang="en-US" dirty="0" err="1"/>
              <a:t>Structypoe</a:t>
            </a:r>
            <a:r>
              <a:rPr lang="en-US" dirty="0"/>
              <a:t>/ </a:t>
            </a:r>
            <a:r>
              <a:rPr lang="en-US" dirty="0" err="1"/>
              <a:t>StructField</a:t>
            </a:r>
            <a:r>
              <a:rPr lang="en-US" dirty="0"/>
              <a:t> , he copies that construct into the code and places it </a:t>
            </a:r>
            <a:r>
              <a:rPr lang="en-US" dirty="0" err="1"/>
              <a:t>intoi</a:t>
            </a:r>
            <a:r>
              <a:rPr lang="en-US" dirty="0"/>
              <a:t> a variable.</a:t>
            </a:r>
          </a:p>
          <a:p>
            <a:pPr marL="228600" indent="-228600">
              <a:buAutoNum type="arabicParenR"/>
            </a:pPr>
            <a:r>
              <a:rPr lang="en-US" dirty="0"/>
              <a:t>Must import the type, all the types</a:t>
            </a:r>
          </a:p>
          <a:p>
            <a:pPr marL="228600" indent="-228600">
              <a:buAutoNum type="arabicParenR"/>
            </a:pPr>
            <a:r>
              <a:rPr lang="en-US" dirty="0"/>
              <a:t>Note how he uses </a:t>
            </a:r>
            <a:r>
              <a:rPr lang="en-US" dirty="0" err="1"/>
              <a:t>thye</a:t>
            </a:r>
            <a:r>
              <a:rPr lang="en-US" dirty="0"/>
              <a:t> Schema Target variable in the load. In the .schema construct. Ie .schema(</a:t>
            </a:r>
            <a:r>
              <a:rPr lang="en-US" dirty="0" err="1"/>
              <a:t>schemaTarget</a:t>
            </a:r>
            <a:r>
              <a:rPr lang="en-US" dirty="0"/>
              <a:t>)..where </a:t>
            </a:r>
            <a:r>
              <a:rPr lang="en-US" dirty="0" err="1"/>
              <a:t>schemaTarget</a:t>
            </a:r>
            <a:r>
              <a:rPr lang="en-US" dirty="0"/>
              <a:t> is the variable.</a:t>
            </a:r>
          </a:p>
          <a:p>
            <a:pPr marL="228600" indent="-228600">
              <a:buAutoNum type="arabicParenR"/>
            </a:pPr>
            <a:r>
              <a:rPr lang="en-US" dirty="0"/>
              <a:t>Note </a:t>
            </a:r>
            <a:r>
              <a:rPr lang="en-US" dirty="0" err="1"/>
              <a:t>thye</a:t>
            </a:r>
            <a:r>
              <a:rPr lang="en-US" dirty="0"/>
              <a:t> Actual Field is now an Integer. Then </a:t>
            </a:r>
            <a:r>
              <a:rPr lang="en-US" dirty="0" err="1"/>
              <a:t>SaveAsTable</a:t>
            </a:r>
            <a:r>
              <a:rPr lang="en-US" dirty="0"/>
              <a:t>()</a:t>
            </a:r>
          </a:p>
          <a:p>
            <a:pPr marL="228600" indent="-228600">
              <a:buAutoNum type="arabicParenR"/>
            </a:pPr>
            <a:r>
              <a:rPr lang="en-US" dirty="0"/>
              <a:t>Using </a:t>
            </a:r>
            <a:r>
              <a:rPr lang="en-US" dirty="0" err="1"/>
              <a:t>Stractype</a:t>
            </a:r>
            <a:r>
              <a:rPr lang="en-US" dirty="0"/>
              <a:t> and StrucField.1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75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12987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have a col data column as a date format ..in y m d format </a:t>
            </a:r>
          </a:p>
          <a:p>
            <a:pPr marL="228600" indent="-228600">
              <a:buAutoNum type="arabicParenR"/>
            </a:pPr>
            <a:r>
              <a:rPr lang="en-US" dirty="0"/>
              <a:t>Now we want it </a:t>
            </a:r>
            <a:r>
              <a:rPr lang="en-US" dirty="0" err="1"/>
              <a:t>castr</a:t>
            </a:r>
            <a:r>
              <a:rPr lang="en-US" dirty="0"/>
              <a:t> </a:t>
            </a:r>
            <a:r>
              <a:rPr lang="en-US" dirty="0" err="1"/>
              <a:t>asa</a:t>
            </a:r>
            <a:r>
              <a:rPr lang="en-US" dirty="0"/>
              <a:t> a string in a specific format. </a:t>
            </a:r>
          </a:p>
          <a:p>
            <a:pPr marL="228600" indent="-228600">
              <a:buAutoNum type="arabicParenR"/>
            </a:pPr>
            <a:r>
              <a:rPr lang="en-US" dirty="0"/>
              <a:t>Use a function </a:t>
            </a:r>
            <a:r>
              <a:rPr lang="en-US" dirty="0" err="1"/>
              <a:t>date_format</a:t>
            </a:r>
            <a:r>
              <a:rPr lang="en-US" dirty="0"/>
              <a:t>.. </a:t>
            </a:r>
            <a:r>
              <a:rPr lang="en-US" dirty="0" err="1"/>
              <a:t>Ssee</a:t>
            </a:r>
            <a:r>
              <a:rPr lang="en-US" dirty="0"/>
              <a:t> the construction to get it in a format different to the one </a:t>
            </a:r>
            <a:r>
              <a:rPr lang="en-US" dirty="0" err="1"/>
              <a:t>starterd</a:t>
            </a:r>
            <a:r>
              <a:rPr lang="en-US" dirty="0"/>
              <a:t> with </a:t>
            </a:r>
          </a:p>
          <a:p>
            <a:pPr marL="228600" indent="-228600">
              <a:buAutoNum type="arabicParenR"/>
            </a:pPr>
            <a:r>
              <a:rPr lang="en-US" dirty="0"/>
              <a:t>Remember </a:t>
            </a:r>
            <a:r>
              <a:rPr lang="en-US" dirty="0" err="1"/>
              <a:t>date_format</a:t>
            </a:r>
            <a:r>
              <a:rPr lang="en-US" dirty="0"/>
              <a:t> is a standalone function ..its not a method. Therefore needs a library. </a:t>
            </a:r>
            <a:r>
              <a:rPr lang="en-US" dirty="0" err="1"/>
              <a:t>Sewe</a:t>
            </a:r>
            <a:r>
              <a:rPr lang="en-US" dirty="0"/>
              <a:t> the import </a:t>
            </a:r>
          </a:p>
          <a:p>
            <a:pPr marL="228600" indent="-228600">
              <a:buAutoNum type="arabicParenR"/>
            </a:pPr>
            <a:r>
              <a:rPr lang="en-US" dirty="0"/>
              <a:t>The result is not a date. Can do a SQL.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77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07016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A STRING LITERRAL IN A SENTENCE MUST USE </a:t>
            </a:r>
            <a:r>
              <a:rPr lang="en-US" dirty="0" err="1"/>
              <a:t>lit..see</a:t>
            </a:r>
            <a:r>
              <a:rPr lang="en-US" dirty="0"/>
              <a:t> example above </a:t>
            </a:r>
          </a:p>
          <a:p>
            <a:r>
              <a:rPr lang="en-US" dirty="0"/>
              <a:t>See the SQL version of </a:t>
            </a:r>
            <a:r>
              <a:rPr lang="en-US" dirty="0" err="1"/>
              <a:t>concat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79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771390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Format </a:t>
            </a:r>
            <a:r>
              <a:rPr lang="en-US" dirty="0" err="1"/>
              <a:t>groupBy</a:t>
            </a:r>
            <a:r>
              <a:rPr lang="en-US" dirty="0"/>
              <a:t>(“Country”).sum(“Actual”)</a:t>
            </a:r>
          </a:p>
          <a:p>
            <a:r>
              <a:rPr lang="en-US" dirty="0"/>
              <a:t>Notice “Having” in SQL.  </a:t>
            </a:r>
          </a:p>
          <a:p>
            <a:r>
              <a:rPr lang="en-US" dirty="0"/>
              <a:t>Notice in HAVUNG you can use the name not the sum in the having . Some </a:t>
            </a:r>
            <a:r>
              <a:rPr lang="en-US" dirty="0" err="1"/>
              <a:t>sql</a:t>
            </a:r>
            <a:r>
              <a:rPr lang="en-US" dirty="0"/>
              <a:t> versions you cant do this. </a:t>
            </a:r>
          </a:p>
          <a:p>
            <a:r>
              <a:rPr lang="en-US" dirty="0"/>
              <a:t>You can use both alias and the calculation</a:t>
            </a:r>
          </a:p>
          <a:p>
            <a:r>
              <a:rPr lang="en-US" dirty="0"/>
              <a:t>We used </a:t>
            </a:r>
            <a:r>
              <a:rPr lang="en-US" dirty="0" err="1"/>
              <a:t>withColumnRenamed</a:t>
            </a:r>
            <a:r>
              <a:rPr lang="en-US" dirty="0"/>
              <a:t>.. Here</a:t>
            </a:r>
          </a:p>
          <a:p>
            <a:r>
              <a:rPr lang="en-US" dirty="0"/>
              <a:t>Notice Having looks at the results of an aggregation.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80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218717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Notice ..you put the desc in front of the column and wrap the column in brackets, as if desc is a function?, or is that the format requested by the </a:t>
            </a:r>
            <a:r>
              <a:rPr lang="en-US" dirty="0" err="1"/>
              <a:t>orderBY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Order by 2 consecutive columns</a:t>
            </a:r>
          </a:p>
          <a:p>
            <a:pPr marL="228600" indent="-228600">
              <a:buAutoNum type="arabicParenR"/>
            </a:pPr>
            <a:r>
              <a:rPr lang="en-US" dirty="0"/>
              <a:t>One can also use Sort , Notice the different constructs of Sort , and </a:t>
            </a:r>
            <a:r>
              <a:rPr lang="en-US" dirty="0" err="1"/>
              <a:t>ordeBy</a:t>
            </a:r>
            <a:r>
              <a:rPr lang="en-US" dirty="0"/>
              <a:t>. </a:t>
            </a:r>
            <a:r>
              <a:rPr lang="en-US" dirty="0" err="1"/>
              <a:t>OrdeBy</a:t>
            </a:r>
            <a:r>
              <a:rPr lang="en-US" dirty="0"/>
              <a:t> is best !!!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81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9299494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See all 6 in both ..</a:t>
            </a:r>
          </a:p>
          <a:p>
            <a:pPr marL="0" indent="0">
              <a:buNone/>
            </a:pPr>
            <a:r>
              <a:rPr lang="en-US" dirty="0"/>
              <a:t>2) How to remember the order in SQL , look at the </a:t>
            </a:r>
            <a:r>
              <a:rPr lang="en-US" dirty="0" err="1"/>
              <a:t>quwert</a:t>
            </a:r>
            <a:r>
              <a:rPr lang="en-US" dirty="0"/>
              <a:t> keyboard ..they are all in a line except W.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82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96049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Notice use of lit(), and we need to import functions from </a:t>
            </a:r>
            <a:r>
              <a:rPr lang="en-US" dirty="0" err="1"/>
              <a:t>pyspark</a:t>
            </a:r>
            <a:r>
              <a:rPr lang="en-US" dirty="0"/>
              <a:t> for </a:t>
            </a:r>
            <a:r>
              <a:rPr lang="en-US" dirty="0" err="1"/>
              <a:t>concat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83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071960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Note you can use the alias in Having and in the order by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84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7443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0ECF-BCBC-BF71-8BFE-D97861AF3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DF786-E20B-EEFE-1D6C-627291CED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852D3-ED57-8549-1B6C-80A565FF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3F29-DAED-4725-AB7B-9C7D46D8AD92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DDFDC-FEBC-FDB6-09EE-28036F10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982B9-7CC8-8A70-71AF-B3C6C135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641D-0D51-466F-A723-34DED944BA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3556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D951-2134-1752-933E-D853F9984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F4637-E200-7E69-E39B-A724EE7D8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FA55F-C78A-8603-9023-D192FA2B0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3F29-DAED-4725-AB7B-9C7D46D8AD92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2388A-7947-396D-67C4-C77EC1F5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ABC3A-0D4C-8C9A-E08F-C1CBC6AC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641D-0D51-466F-A723-34DED944BA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361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C87F-0BE2-9335-255E-77F22ABBC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0CDF3-BA64-56BA-8DC9-4CAB2D869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C33CA-3F93-A816-9AD3-41D34022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3F29-DAED-4725-AB7B-9C7D46D8AD92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28578-17CF-ADCD-49AE-900897A4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A43AC-9144-E64A-60E2-5397438C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641D-0D51-466F-A723-34DED944BA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627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B449-C482-803F-54DC-EA4EFCD15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03617-28B2-E67B-5CB1-F352AA626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30E4B-F2D8-5FB9-20A8-119F6BDD0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E9C5E-0067-0416-A7D3-35192132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3F29-DAED-4725-AB7B-9C7D46D8AD92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76CC6-A235-B7B4-7244-02905F7E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764A0-2210-BAFE-63A0-636BBEB5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641D-0D51-466F-A723-34DED944BA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647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1D4D8-E94F-A59B-FE2A-0257AC331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CED28-C56A-97BF-AC3C-52DDABB87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F8085-2B05-5905-6B1C-A0558170C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D99BD-4340-2872-DD08-17ADAE314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CAD3B-6B6A-3889-F9C7-171303B1C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5CE11-3CA4-CD52-BD8E-BA34F859A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3F29-DAED-4725-AB7B-9C7D46D8AD92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1E78D6-2078-7547-7E95-8C5113AB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49B21-7E7B-2AAD-1E0D-55F6D04ED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641D-0D51-466F-A723-34DED944BA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949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F662-FE26-4093-37E6-ED86732C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66897-40B5-5BBE-8B15-FC57045C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3F29-DAED-4725-AB7B-9C7D46D8AD92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6563FD-49CE-5F4E-6367-ED0561AF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636A8-D589-52FC-B766-E188BBE96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641D-0D51-466F-A723-34DED944BA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5281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9E1BC9-586A-8EEB-0CCA-B07596C2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3F29-DAED-4725-AB7B-9C7D46D8AD92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2E85CF-0B5E-E288-EEB4-F8B776398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A862C-324C-9615-9D42-838EA44C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641D-0D51-466F-A723-34DED944BA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57950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EA5F9-A584-91DD-DFBB-C534CD7E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FD09E-C3AC-A785-AA4D-71F077104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FD31-FE99-6D9F-9719-789B006DF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D8EC3-5DDE-6EAA-C7E7-347DCF79A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3F29-DAED-4725-AB7B-9C7D46D8AD92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83888-997A-B976-B8C6-C16F0910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FAFA5-A5C4-B3BF-7CA7-78970425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641D-0D51-466F-A723-34DED944BA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634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DC91-C2F1-77E5-82E4-D537062C1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E231F-9567-A126-898A-B90876ACC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CBDF6-2135-E82C-A62D-C31B07D72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41298-0D67-9E93-4C14-7A049BCD9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3F29-DAED-4725-AB7B-9C7D46D8AD92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534BC-B2F3-2E19-BFC4-CE077BF5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0863D-08E0-274D-6424-06AA7A27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641D-0D51-466F-A723-34DED944BA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2866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D182-9F8A-11F8-34EA-B828FCC9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6674F-1935-FD21-33C1-83808514A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226AF-E2DE-12E4-2175-CA5106E1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3F29-DAED-4725-AB7B-9C7D46D8AD92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D7EA5-249C-AF1E-E63B-6BD55843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3E7AA-33EB-5CF2-4A0D-A13986B8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641D-0D51-466F-A723-34DED944BA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435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32EB94-4D85-AE34-AD25-534165B004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CE393-D611-E407-9F8C-5E417CE68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88373-982E-599E-6248-A2188118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3F29-DAED-4725-AB7B-9C7D46D8AD92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5CB99-9A93-0EA1-7BF5-3694167D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DFAEE-6FD0-7162-72CE-4B49BE3B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641D-0D51-466F-A723-34DED944BA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630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8B9730-2468-24CF-7B38-87A1346D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60435-95BE-A813-6EF2-FFFFC34C4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51DCA-E210-AF20-6B9F-8C8C74440E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8A3F29-DAED-4725-AB7B-9C7D46D8AD92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1C6F9-A563-F7C1-1221-CAE40F4DE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12BC6-4934-2512-245A-3A4EE100E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E641D-0D51-466F-A723-34DED944BA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967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BE141-19F2-5504-3C0A-37C50C0761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PBurton</a:t>
            </a:r>
            <a:r>
              <a:rPr lang="en-US" dirty="0"/>
              <a:t> DP700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E386C-22FC-72A6-0030-BBA35DCD0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1805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10E1-D7A9-EA0C-B589-1F6D3CB9E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Data Flow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D29D1-6F70-D318-8055-2857008BC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Data/ More/View More to go to Cloud sources </a:t>
            </a:r>
          </a:p>
          <a:p>
            <a:r>
              <a:rPr lang="en-US" dirty="0"/>
              <a:t>Note you can get access to any thing in the lake (One Lake Data Hub</a:t>
            </a:r>
          </a:p>
          <a:p>
            <a:r>
              <a:rPr lang="en-US" dirty="0"/>
              <a:t>You have an Explorer on the side to get </a:t>
            </a:r>
            <a:r>
              <a:rPr lang="en-US" dirty="0" err="1"/>
              <a:t>tpo</a:t>
            </a:r>
            <a:r>
              <a:rPr lang="en-US" dirty="0"/>
              <a:t> different </a:t>
            </a:r>
            <a:r>
              <a:rPr lang="en-US" dirty="0" err="1"/>
              <a:t>Wspace</a:t>
            </a:r>
            <a:r>
              <a:rPr lang="en-US" dirty="0"/>
              <a:t>, if your data resides there. </a:t>
            </a:r>
          </a:p>
          <a:p>
            <a:r>
              <a:rPr lang="en-US" dirty="0"/>
              <a:t>Also Favorites.</a:t>
            </a:r>
          </a:p>
          <a:p>
            <a:r>
              <a:rPr lang="en-US" dirty="0"/>
              <a:t>New on left pane  gets you to Cloud sources </a:t>
            </a:r>
          </a:p>
          <a:p>
            <a:r>
              <a:rPr lang="en-US" dirty="0"/>
              <a:t>Also see Azure menu to go to ADLS.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57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CBC7-5525-241B-F4BC-1616FBE2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56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Speacial</a:t>
            </a:r>
            <a:r>
              <a:rPr lang="en-US" dirty="0"/>
              <a:t> notes from Lecture 12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CFEA1-74C1-DB27-CD22-10801DF7A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3892"/>
            <a:ext cx="10515600" cy="5003071"/>
          </a:xfrm>
        </p:spPr>
        <p:txBody>
          <a:bodyPr/>
          <a:lstStyle/>
          <a:p>
            <a:r>
              <a:rPr lang="en-US" dirty="0"/>
              <a:t>1) </a:t>
            </a:r>
            <a:r>
              <a:rPr lang="en-US" sz="1600" dirty="0"/>
              <a:t>remember query settings on the Right to see parts of query.</a:t>
            </a:r>
          </a:p>
          <a:p>
            <a:r>
              <a:rPr lang="en-US" sz="1600" dirty="0"/>
              <a:t>2) Note the Schema view to quickly see the columns and their data types. And change and select columns.</a:t>
            </a:r>
          </a:p>
          <a:p>
            <a:r>
              <a:rPr lang="en-US" sz="1600" dirty="0"/>
              <a:t>3) Click … to change type or remove other columns.</a:t>
            </a:r>
          </a:p>
          <a:p>
            <a:r>
              <a:rPr lang="en-US" sz="1600" dirty="0"/>
              <a:t>4) Undo applied steps </a:t>
            </a:r>
          </a:p>
          <a:p>
            <a:r>
              <a:rPr lang="en-US" sz="1600" dirty="0"/>
              <a:t>Lower half of data view/ View menu can column profile/column distribution </a:t>
            </a:r>
          </a:p>
          <a:p>
            <a:r>
              <a:rPr lang="en-US" sz="1600" dirty="0"/>
              <a:t>Note on bottom right you have icon of a </a:t>
            </a:r>
            <a:r>
              <a:rPr lang="en-US" sz="1600" dirty="0" err="1"/>
              <a:t>folw</a:t>
            </a:r>
            <a:r>
              <a:rPr lang="en-US" sz="1600" dirty="0"/>
              <a:t> chart ..toggle diagram view. – query settings in diagram mode.</a:t>
            </a:r>
          </a:p>
          <a:p>
            <a:r>
              <a:rPr lang="en-US" sz="1600" dirty="0"/>
              <a:t>Can expand and compress the diagram view blocks </a:t>
            </a:r>
          </a:p>
          <a:p>
            <a:r>
              <a:rPr lang="en-US" sz="1600" dirty="0"/>
              <a:t>Note the … to bring up </a:t>
            </a:r>
            <a:r>
              <a:rPr lang="en-US" sz="1600" dirty="0" err="1"/>
              <a:t>up</a:t>
            </a:r>
            <a:r>
              <a:rPr lang="en-US" sz="1600" dirty="0"/>
              <a:t> new menu to do something wit the query (Append </a:t>
            </a:r>
            <a:r>
              <a:rPr lang="en-US" sz="1600" dirty="0" err="1"/>
              <a:t>etc</a:t>
            </a:r>
            <a:r>
              <a:rPr lang="en-US" sz="1600" dirty="0"/>
              <a:t>) ..see below:</a:t>
            </a:r>
          </a:p>
          <a:p>
            <a:r>
              <a:rPr lang="en-US" sz="1600" dirty="0"/>
              <a:t>Its as if you pressed query settings.</a:t>
            </a:r>
          </a:p>
          <a:p>
            <a:r>
              <a:rPr lang="en-US" sz="1600" dirty="0"/>
              <a:t>Note the Script View to get full script of the </a:t>
            </a:r>
            <a:r>
              <a:rPr lang="en-US" sz="1600" dirty="0" err="1"/>
              <a:t>Fx</a:t>
            </a:r>
            <a:r>
              <a:rPr lang="en-US" sz="1600" dirty="0"/>
              <a:t> bar.</a:t>
            </a:r>
          </a:p>
          <a:p>
            <a:endParaRPr lang="en-ZA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BF3FE-05CD-FC44-2B42-660439132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156" y="4213654"/>
            <a:ext cx="4388076" cy="227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737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B869-5CAD-A24C-203A-998433141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6345"/>
          </a:xfrm>
        </p:spPr>
        <p:txBody>
          <a:bodyPr>
            <a:normAutofit fontScale="90000"/>
          </a:bodyPr>
          <a:lstStyle/>
          <a:p>
            <a:r>
              <a:rPr lang="en-US" dirty="0"/>
              <a:t>13.Destimnation …lower right or menu.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79A8-3DCA-AC52-EB4F-7A02C300F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314"/>
            <a:ext cx="10515600" cy="4780649"/>
          </a:xfrm>
        </p:spPr>
        <p:txBody>
          <a:bodyPr/>
          <a:lstStyle/>
          <a:p>
            <a:r>
              <a:rPr lang="en-US" dirty="0"/>
              <a:t>1)  5 data destinations ..LH,WH,AZURE SQL ..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2) When </a:t>
            </a:r>
            <a:r>
              <a:rPr lang="en-US" dirty="0" err="1"/>
              <a:t>selet</a:t>
            </a:r>
            <a:r>
              <a:rPr lang="en-US" dirty="0"/>
              <a:t> LH , select default selection.</a:t>
            </a:r>
          </a:p>
          <a:p>
            <a:r>
              <a:rPr lang="en-US" dirty="0"/>
              <a:t>Give table / new existing.</a:t>
            </a:r>
          </a:p>
          <a:p>
            <a:r>
              <a:rPr lang="en-US" dirty="0"/>
              <a:t>Watch settings as may be error.</a:t>
            </a:r>
          </a:p>
          <a:p>
            <a:r>
              <a:rPr lang="en-US" dirty="0"/>
              <a:t>YOU CAN ALSO IGNORE COLUMNS when looking at </a:t>
            </a:r>
            <a:r>
              <a:rPr lang="en-US" dirty="0" err="1"/>
              <a:t>settings..if</a:t>
            </a:r>
            <a:r>
              <a:rPr lang="en-US" dirty="0"/>
              <a:t> you forgot.</a:t>
            </a:r>
          </a:p>
          <a:p>
            <a:r>
              <a:rPr lang="en-US" dirty="0"/>
              <a:t>Append , </a:t>
            </a:r>
            <a:r>
              <a:rPr lang="en-US" dirty="0" err="1"/>
              <a:t>Repalce</a:t>
            </a:r>
            <a:r>
              <a:rPr lang="en-US" dirty="0"/>
              <a:t> , if replace do you want to keep the schema.,</a:t>
            </a:r>
          </a:p>
          <a:p>
            <a:r>
              <a:rPr lang="en-US" dirty="0"/>
              <a:t>Note there are many queries for many tables , if you want all output then select output for each one (DON’T forget!!@!)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63303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D5BC-BF4D-38A7-BBC9-BDB6475E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13. Always look through source and destination types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56582C-9FE1-704F-8D6B-269A52466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6575" y="2023333"/>
            <a:ext cx="9015965" cy="4351338"/>
          </a:xfrm>
        </p:spPr>
      </p:pic>
    </p:spTree>
    <p:extLst>
      <p:ext uri="{BB962C8B-B14F-4D97-AF65-F5344CB8AC3E}">
        <p14:creationId xmlns:p14="http://schemas.microsoft.com/office/powerpoint/2010/main" val="15003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D8B33-40DB-1ABB-251B-0C4DD9FC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4E0E-70B5-D5CB-5A18-1AC16FFC4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dirty="0"/>
              <a:t>14. Save As template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B9A62-20E2-EF17-6D42-A7C6C033F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Home..export</a:t>
            </a:r>
            <a:r>
              <a:rPr lang="en-US" dirty="0"/>
              <a:t> template, name it description,</a:t>
            </a:r>
          </a:p>
          <a:p>
            <a:r>
              <a:rPr lang="en-US" dirty="0"/>
              <a:t>Ends in .</a:t>
            </a:r>
            <a:r>
              <a:rPr lang="en-US" dirty="0" err="1"/>
              <a:t>pqt</a:t>
            </a:r>
            <a:r>
              <a:rPr lang="en-US" dirty="0"/>
              <a:t>, stored as parquet.</a:t>
            </a:r>
          </a:p>
          <a:p>
            <a:r>
              <a:rPr lang="en-US" dirty="0"/>
              <a:t>Then to use the </a:t>
            </a:r>
            <a:r>
              <a:rPr lang="en-US" dirty="0" err="1"/>
              <a:t>template..when</a:t>
            </a:r>
            <a:r>
              <a:rPr lang="en-US" dirty="0"/>
              <a:t> open new dataflow , near bottom of data options is a </a:t>
            </a:r>
            <a:r>
              <a:rPr lang="en-US" dirty="0" err="1"/>
              <a:t>url</a:t>
            </a:r>
            <a:r>
              <a:rPr lang="en-US" dirty="0"/>
              <a:t> “Import from PQ Template </a:t>
            </a:r>
          </a:p>
          <a:p>
            <a:r>
              <a:rPr lang="en-US" dirty="0"/>
              <a:t>Then open the template , and give credentials and see the data.= to use elsewhere </a:t>
            </a:r>
          </a:p>
          <a:p>
            <a:r>
              <a:rPr lang="en-US" dirty="0"/>
              <a:t>Go to </a:t>
            </a:r>
            <a:r>
              <a:rPr lang="en-US" dirty="0" err="1"/>
              <a:t>wspace</a:t>
            </a:r>
            <a:r>
              <a:rPr lang="en-US" dirty="0"/>
              <a:t> to schedule the template , click … on you dataflow , settings , refresh. Configure refresh schedule/ on and refresh frequency. Etc.</a:t>
            </a:r>
          </a:p>
          <a:p>
            <a:r>
              <a:rPr lang="en-US" dirty="0"/>
              <a:t>If you have source and version control </a:t>
            </a:r>
            <a:r>
              <a:rPr lang="en-US" dirty="0" err="1"/>
              <a:t>yoy</a:t>
            </a:r>
            <a:r>
              <a:rPr lang="en-US" dirty="0"/>
              <a:t> see schedule on …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40248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0782A-1738-AB92-D55A-CC7FB7791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E2F1-B716-F308-634A-9AD2DF95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7845"/>
          </a:xfrm>
        </p:spPr>
        <p:txBody>
          <a:bodyPr>
            <a:normAutofit fontScale="90000"/>
          </a:bodyPr>
          <a:lstStyle/>
          <a:p>
            <a:r>
              <a:rPr lang="en-US" dirty="0"/>
              <a:t>15.FastCopy.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4E07C-C74F-B710-60F5-6DE4D4033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Copy data in pipelines is best for large data.</a:t>
            </a:r>
          </a:p>
          <a:p>
            <a:r>
              <a:rPr lang="en-US" dirty="0"/>
              <a:t>How can you have speed of pipeline copy wit a graphical interface </a:t>
            </a:r>
          </a:p>
          <a:p>
            <a:r>
              <a:rPr lang="en-US" dirty="0"/>
              <a:t>Called fast copy…</a:t>
            </a:r>
          </a:p>
          <a:p>
            <a:r>
              <a:rPr lang="en-US" dirty="0"/>
              <a:t>Only following connectors –ADLS Gen2..(CSV / Parquet), </a:t>
            </a:r>
            <a:r>
              <a:rPr lang="en-US" dirty="0" err="1"/>
              <a:t>lakehouese</a:t>
            </a:r>
            <a:r>
              <a:rPr lang="en-US" dirty="0"/>
              <a:t>/azure </a:t>
            </a:r>
            <a:r>
              <a:rPr lang="en-US" dirty="0" err="1"/>
              <a:t>sql</a:t>
            </a:r>
            <a:r>
              <a:rPr lang="en-US" dirty="0"/>
              <a:t> db. </a:t>
            </a:r>
          </a:p>
          <a:p>
            <a:r>
              <a:rPr lang="en-US" dirty="0"/>
              <a:t>Must have </a:t>
            </a:r>
            <a:r>
              <a:rPr lang="en-US" dirty="0" err="1"/>
              <a:t>lakehouse</a:t>
            </a:r>
            <a:r>
              <a:rPr lang="en-US" dirty="0"/>
              <a:t> as destination.</a:t>
            </a:r>
          </a:p>
          <a:p>
            <a:r>
              <a:rPr lang="en-US" dirty="0"/>
              <a:t>Only some </a:t>
            </a:r>
            <a:r>
              <a:rPr lang="en-US" dirty="0" err="1"/>
              <a:t>functions..Combine</a:t>
            </a:r>
            <a:r>
              <a:rPr lang="en-US" dirty="0"/>
              <a:t> files/ choose columns / change data types . Rename / remove columns.</a:t>
            </a:r>
          </a:p>
          <a:p>
            <a:r>
              <a:rPr lang="en-US" dirty="0"/>
              <a:t>Enable it ..Home/</a:t>
            </a:r>
            <a:r>
              <a:rPr lang="en-US" dirty="0" err="1"/>
              <a:t>optiomns</a:t>
            </a:r>
            <a:r>
              <a:rPr lang="en-US" dirty="0"/>
              <a:t>/scale tab at </a:t>
            </a:r>
            <a:r>
              <a:rPr lang="en-US" dirty="0" err="1"/>
              <a:t>bottom..allow</a:t>
            </a:r>
            <a:r>
              <a:rPr lang="en-US" dirty="0"/>
              <a:t> fact copy, connectors, it will show in applied steps. </a:t>
            </a:r>
          </a:p>
          <a:p>
            <a:r>
              <a:rPr lang="en-US" dirty="0"/>
              <a:t>Will only be used in data &gt; 100 MB. In ADLS</a:t>
            </a:r>
          </a:p>
          <a:p>
            <a:r>
              <a:rPr lang="en-US" dirty="0" err="1"/>
              <a:t>Overwtrite</a:t>
            </a:r>
            <a:r>
              <a:rPr lang="en-US" dirty="0"/>
              <a:t> by right click on the query on the left , and check require fast copy.</a:t>
            </a:r>
          </a:p>
          <a:p>
            <a:r>
              <a:rPr lang="en-US" dirty="0"/>
              <a:t>Home options scale and allow use of fast copy.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1165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FDF7D-65EA-0E7E-328C-7D78090D9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02D73-018F-F1F6-C887-D7786F230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16. Monitor Transformations ,resolve errors</a:t>
            </a:r>
            <a:endParaRPr lang="en-ZA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0D958-DC83-53AB-C524-E6784B367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346" y="1690688"/>
            <a:ext cx="10515600" cy="3104721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Looking at </a:t>
            </a:r>
            <a:r>
              <a:rPr lang="en-US" sz="1800" dirty="0" err="1"/>
              <a:t>wspace</a:t>
            </a:r>
            <a:r>
              <a:rPr lang="en-US" sz="1800" dirty="0"/>
              <a:t> Gen2, see ellipses , see properties /rename it .., can go to refresh history , can show 50 refresh histories up to 6 months back, can go to 200.</a:t>
            </a:r>
          </a:p>
          <a:p>
            <a:r>
              <a:rPr lang="en-US" sz="1800" dirty="0"/>
              <a:t>Check and download as csv. Can also schedule refresh, can drill into </a:t>
            </a:r>
            <a:r>
              <a:rPr lang="en-US" sz="1800" dirty="0" err="1"/>
              <a:t>refresh..shows</a:t>
            </a:r>
            <a:r>
              <a:rPr lang="en-US" sz="1800" dirty="0"/>
              <a:t> the </a:t>
            </a:r>
            <a:r>
              <a:rPr lang="en-US" sz="1800" dirty="0" err="1"/>
              <a:t>history..and</a:t>
            </a:r>
            <a:r>
              <a:rPr lang="en-US" sz="1800" dirty="0"/>
              <a:t> can drill not it quite deeply.</a:t>
            </a:r>
          </a:p>
          <a:p>
            <a:r>
              <a:rPr lang="en-US" sz="1800" dirty="0"/>
              <a:t>Note you may have a problem in load and transforming  at the same time , you may want 2 dataflows ..</a:t>
            </a:r>
          </a:p>
          <a:p>
            <a:r>
              <a:rPr lang="en-US" sz="1800" dirty="0"/>
              <a:t>Ie fast copy to a destination and a separate </a:t>
            </a:r>
            <a:r>
              <a:rPr lang="en-US" sz="1800" dirty="0" err="1"/>
              <a:t>tx</a:t>
            </a:r>
            <a:r>
              <a:rPr lang="en-US" sz="1800" dirty="0"/>
              <a:t> after it.!; you can join 2 dataflows together.</a:t>
            </a:r>
          </a:p>
          <a:p>
            <a:r>
              <a:rPr lang="en-US" sz="1800" dirty="0"/>
              <a:t>NB: YOU CAN ASK THE DATAFLOW TO PRODUCE A STAGING TABLE!</a:t>
            </a:r>
          </a:p>
          <a:p>
            <a:r>
              <a:rPr lang="en-US" sz="1800" dirty="0"/>
              <a:t>Right click on query to enable staging , he does this for all the tables , and refreshes the </a:t>
            </a:r>
            <a:r>
              <a:rPr lang="en-US" sz="1800" dirty="0" err="1"/>
              <a:t>daflow</a:t>
            </a:r>
            <a:r>
              <a:rPr lang="en-US" sz="1800" dirty="0"/>
              <a:t> ..then can see </a:t>
            </a:r>
            <a:r>
              <a:rPr lang="en-US" sz="1800" dirty="0" err="1"/>
              <a:t>dofference</a:t>
            </a:r>
            <a:r>
              <a:rPr lang="en-US" sz="1800" dirty="0"/>
              <a:t> in times </a:t>
            </a:r>
          </a:p>
          <a:p>
            <a:r>
              <a:rPr lang="en-US" sz="1800" dirty="0"/>
              <a:t>Refresh history tells the times of various runs , for comparison.</a:t>
            </a:r>
          </a:p>
          <a:p>
            <a:r>
              <a:rPr lang="en-US" sz="1800" dirty="0"/>
              <a:t>Can </a:t>
            </a:r>
            <a:r>
              <a:rPr lang="en-US" sz="1800" dirty="0" err="1"/>
              <a:t>alsp</a:t>
            </a:r>
            <a:r>
              <a:rPr lang="en-US" sz="1800" dirty="0"/>
              <a:t> </a:t>
            </a:r>
            <a:r>
              <a:rPr lang="en-US" sz="1800" dirty="0" err="1"/>
              <a:t>downlodafthe</a:t>
            </a:r>
            <a:r>
              <a:rPr lang="en-US" sz="1800" dirty="0"/>
              <a:t> refresh history.</a:t>
            </a:r>
            <a:endParaRPr lang="en-ZA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A2894-43E1-505F-AE17-E30036D42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436" y="5314367"/>
            <a:ext cx="9379432" cy="133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40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1FB17-1A12-BC13-E114-3850731DA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3F798-2147-DCDF-170A-74940291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5707"/>
          </a:xfrm>
        </p:spPr>
        <p:txBody>
          <a:bodyPr>
            <a:normAutofit fontScale="90000"/>
          </a:bodyPr>
          <a:lstStyle/>
          <a:p>
            <a:r>
              <a:rPr lang="en-US" dirty="0"/>
              <a:t>17. Optimize a Dataflow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8679E-F1BB-4820-9506-868752F8A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35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Break complex </a:t>
            </a:r>
            <a:r>
              <a:rPr lang="en-US" sz="1800" dirty="0" err="1"/>
              <a:t>df</a:t>
            </a:r>
            <a:r>
              <a:rPr lang="en-US" sz="1800" dirty="0"/>
              <a:t> into </a:t>
            </a:r>
            <a:r>
              <a:rPr lang="en-US" sz="1800" dirty="0" err="1"/>
              <a:t>multiople</a:t>
            </a:r>
            <a:r>
              <a:rPr lang="en-US" sz="1800" dirty="0"/>
              <a:t> dataflows.</a:t>
            </a:r>
          </a:p>
          <a:p>
            <a:r>
              <a:rPr lang="en-US" sz="1800" dirty="0" err="1"/>
              <a:t>Asvantage</a:t>
            </a:r>
            <a:r>
              <a:rPr lang="en-US" sz="1800" dirty="0"/>
              <a:t> ..you may get timeout errors for complex dataflows , break it up.</a:t>
            </a:r>
          </a:p>
          <a:p>
            <a:r>
              <a:rPr lang="en-US" sz="1800" dirty="0"/>
              <a:t>In the example he has 1 dataflow , for 4 tables , rather break </a:t>
            </a:r>
            <a:r>
              <a:rPr lang="en-US" sz="1800" dirty="0" err="1"/>
              <a:t>upo</a:t>
            </a:r>
            <a:r>
              <a:rPr lang="en-US" sz="1800" dirty="0"/>
              <a:t> into 4 dataflows.</a:t>
            </a:r>
          </a:p>
          <a:p>
            <a:r>
              <a:rPr lang="en-US" sz="1800" dirty="0"/>
              <a:t>We can then sequence them using pipelines ,</a:t>
            </a:r>
          </a:p>
          <a:p>
            <a:r>
              <a:rPr lang="en-US" sz="1800" dirty="0"/>
              <a:t>Separate staging and transforming; brings in copies from the source to </a:t>
            </a:r>
            <a:r>
              <a:rPr lang="en-US" sz="1800" dirty="0" err="1"/>
              <a:t>preservre</a:t>
            </a:r>
            <a:r>
              <a:rPr lang="en-US" sz="1800" dirty="0"/>
              <a:t> , for audit purposes.</a:t>
            </a:r>
          </a:p>
          <a:p>
            <a:r>
              <a:rPr lang="en-US" sz="1800" dirty="0"/>
              <a:t>Take advantage of query folding ..</a:t>
            </a:r>
          </a:p>
          <a:p>
            <a:r>
              <a:rPr lang="en-US" sz="1800" dirty="0"/>
              <a:t>Allows DB to do some of the queries </a:t>
            </a:r>
            <a:endParaRPr lang="en-ZA" sz="1800" dirty="0"/>
          </a:p>
        </p:txBody>
      </p:sp>
    </p:spTree>
    <p:extLst>
      <p:ext uri="{BB962C8B-B14F-4D97-AF65-F5344CB8AC3E}">
        <p14:creationId xmlns:p14="http://schemas.microsoft.com/office/powerpoint/2010/main" val="3279987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0AB41-D848-9420-101E-74A5A2C28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F0F7-604D-105B-7589-845F4178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 done in DB ..not all by Fabric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85C91A-195F-1874-76D1-E08EBB669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597" y="1800911"/>
            <a:ext cx="9678706" cy="4351338"/>
          </a:xfrm>
        </p:spPr>
      </p:pic>
    </p:spTree>
    <p:extLst>
      <p:ext uri="{BB962C8B-B14F-4D97-AF65-F5344CB8AC3E}">
        <p14:creationId xmlns:p14="http://schemas.microsoft.com/office/powerpoint/2010/main" val="1009797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FBA5A-B730-3181-0DB1-DFCA4489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E171-4959-CB8D-E12B-A9CDABB9A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folding sources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BB5CB9-4AAB-D67E-6BE8-F458A5B38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7872" y="1850338"/>
            <a:ext cx="8425111" cy="4351338"/>
          </a:xfrm>
        </p:spPr>
      </p:pic>
    </p:spTree>
    <p:extLst>
      <p:ext uri="{BB962C8B-B14F-4D97-AF65-F5344CB8AC3E}">
        <p14:creationId xmlns:p14="http://schemas.microsoft.com/office/powerpoint/2010/main" val="901494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33795-683A-CC4D-F9B5-F2D575193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3F34-F4FE-7715-A637-C61760E4A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6918"/>
          </a:xfrm>
        </p:spPr>
        <p:txBody>
          <a:bodyPr>
            <a:normAutofit fontScale="90000"/>
          </a:bodyPr>
          <a:lstStyle/>
          <a:p>
            <a:r>
              <a:rPr lang="en-US" dirty="0"/>
              <a:t>Can ask the </a:t>
            </a:r>
            <a:r>
              <a:rPr lang="en-US" dirty="0" err="1"/>
              <a:t>db</a:t>
            </a:r>
            <a:r>
              <a:rPr lang="en-US" dirty="0"/>
              <a:t> to do all of the steps before getting to fabric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5EE05C-A920-0DEA-881A-001FF60B0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637" y="1902511"/>
            <a:ext cx="10236726" cy="4197566"/>
          </a:xfrm>
        </p:spPr>
      </p:pic>
    </p:spTree>
    <p:extLst>
      <p:ext uri="{BB962C8B-B14F-4D97-AF65-F5344CB8AC3E}">
        <p14:creationId xmlns:p14="http://schemas.microsoft.com/office/powerpoint/2010/main" val="467633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0A70B-8C76-18D0-8C1E-607B6A4C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5C4C-69D7-32B9-8088-4FA3E1559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2778"/>
          </a:xfrm>
        </p:spPr>
        <p:txBody>
          <a:bodyPr>
            <a:normAutofit fontScale="90000"/>
          </a:bodyPr>
          <a:lstStyle/>
          <a:p>
            <a:r>
              <a:rPr lang="en-US" dirty="0"/>
              <a:t>In query folding --- all steps compiled as </a:t>
            </a:r>
            <a:r>
              <a:rPr lang="en-US" dirty="0" err="1"/>
              <a:t>queryt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269BB9-A2B8-A3DE-ADAD-16B29D6AD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62847"/>
            <a:ext cx="10070782" cy="4351338"/>
          </a:xfrm>
        </p:spPr>
      </p:pic>
    </p:spTree>
    <p:extLst>
      <p:ext uri="{BB962C8B-B14F-4D97-AF65-F5344CB8AC3E}">
        <p14:creationId xmlns:p14="http://schemas.microsoft.com/office/powerpoint/2010/main" val="168418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94E44-3D4D-4D50-4308-1ABDD6DEA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15553-52FA-451B-31E3-7F7F0790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5134"/>
          </a:xfrm>
        </p:spPr>
        <p:txBody>
          <a:bodyPr>
            <a:normAutofit fontScale="90000"/>
          </a:bodyPr>
          <a:lstStyle/>
          <a:p>
            <a:r>
              <a:rPr lang="en-US" dirty="0"/>
              <a:t>Not all steps eligible for query folding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7BAFE1-6C08-0910-3F5C-017560ACD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920" y="1350491"/>
            <a:ext cx="9814159" cy="4351338"/>
          </a:xfrm>
        </p:spPr>
      </p:pic>
    </p:spTree>
    <p:extLst>
      <p:ext uri="{BB962C8B-B14F-4D97-AF65-F5344CB8AC3E}">
        <p14:creationId xmlns:p14="http://schemas.microsoft.com/office/powerpoint/2010/main" val="3597789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33F69-8F46-A4E0-A1B3-EC1319CBF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8CD9-10D5-D33C-26B8-778E9432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561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Optimize by moving the add index downwards moving most of the queries into </a:t>
            </a:r>
            <a:r>
              <a:rPr lang="en-US" dirty="0" err="1"/>
              <a:t>db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805BE0-C538-EED0-22FC-68ED20B19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3944" y="1825625"/>
            <a:ext cx="9424111" cy="4351338"/>
          </a:xfrm>
        </p:spPr>
      </p:pic>
    </p:spTree>
    <p:extLst>
      <p:ext uri="{BB962C8B-B14F-4D97-AF65-F5344CB8AC3E}">
        <p14:creationId xmlns:p14="http://schemas.microsoft.com/office/powerpoint/2010/main" val="757174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6437C-FB82-9E07-B42E-D1A31DCE9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70ED-CD8A-15CA-F718-2E2920DFB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9848"/>
          </a:xfrm>
        </p:spPr>
        <p:txBody>
          <a:bodyPr>
            <a:normAutofit fontScale="90000"/>
          </a:bodyPr>
          <a:lstStyle/>
          <a:p>
            <a:r>
              <a:rPr lang="en-US" dirty="0"/>
              <a:t>Ho0w to tell…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484AC-4125-8DCE-7886-67C73D7AF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078"/>
            <a:ext cx="10515600" cy="4351338"/>
          </a:xfrm>
        </p:spPr>
        <p:txBody>
          <a:bodyPr/>
          <a:lstStyle/>
          <a:p>
            <a:r>
              <a:rPr lang="en-US" dirty="0"/>
              <a:t>Right click to see if you can see query plan, if you can then </a:t>
            </a:r>
            <a:r>
              <a:rPr lang="en-US" dirty="0" err="1"/>
              <a:t>avaolavble</a:t>
            </a:r>
            <a:r>
              <a:rPr lang="en-US" dirty="0"/>
              <a:t> for query folding  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1F587-C7FB-CA63-1B12-69CCD18C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971" y="1496584"/>
            <a:ext cx="1682836" cy="22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56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5C09-162B-D1A1-3CEE-BE0A02A75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DE58A-447F-14FB-5642-23B10BB8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1" y="3812662"/>
            <a:ext cx="10515600" cy="462778"/>
          </a:xfrm>
        </p:spPr>
        <p:txBody>
          <a:bodyPr>
            <a:normAutofit fontScale="90000"/>
          </a:bodyPr>
          <a:lstStyle/>
          <a:p>
            <a:r>
              <a:rPr lang="en-US" dirty="0"/>
              <a:t>S4: Transforming Data Using DF Gen2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22734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83B76-F2B1-CB7A-891A-76089C404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F841-4641-2F96-7105-B9E2E0385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0991"/>
          </a:xfrm>
        </p:spPr>
        <p:txBody>
          <a:bodyPr>
            <a:normAutofit fontScale="90000"/>
          </a:bodyPr>
          <a:lstStyle/>
          <a:p>
            <a:r>
              <a:rPr lang="en-US" dirty="0"/>
              <a:t>18. Home Menu.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53DA68-EBD2-BBF3-2588-5F6C3C3D8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9633" y="1297001"/>
            <a:ext cx="10515600" cy="173524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F6372F-FC5B-7899-1817-12869229F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313" y="3825753"/>
            <a:ext cx="2838596" cy="259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07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82D7-1D01-F44C-D896-4F38B5B48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2835-B087-EEA4-A8FC-84083B339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253" y="302126"/>
            <a:ext cx="10515600" cy="757822"/>
          </a:xfrm>
        </p:spPr>
        <p:txBody>
          <a:bodyPr>
            <a:normAutofit/>
          </a:bodyPr>
          <a:lstStyle/>
          <a:p>
            <a:r>
              <a:rPr lang="en-US" sz="2400" dirty="0"/>
              <a:t>19. Looking at home 9Middle part to do transformations</a:t>
            </a:r>
            <a:r>
              <a:rPr lang="en-US" sz="1800" dirty="0"/>
              <a:t>.</a:t>
            </a:r>
            <a:endParaRPr lang="en-ZA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6762F-C710-4B2F-3EB9-24A00E586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Choose cols , choose other cols , go to cols , remove cols </a:t>
            </a:r>
          </a:p>
          <a:p>
            <a:r>
              <a:rPr lang="en-US" dirty="0"/>
              <a:t>Keep remove and filter rows(drop down filter </a:t>
            </a:r>
          </a:p>
          <a:p>
            <a:r>
              <a:rPr lang="en-US" dirty="0"/>
              <a:t>Note the text filters on the drop down</a:t>
            </a:r>
          </a:p>
          <a:p>
            <a:r>
              <a:rPr lang="en-US" dirty="0"/>
              <a:t>Note case sensitivity </a:t>
            </a:r>
          </a:p>
          <a:p>
            <a:r>
              <a:rPr lang="en-US" dirty="0"/>
              <a:t>Wheel icon on each step take you back to the appropriate settings box.</a:t>
            </a:r>
          </a:p>
          <a:p>
            <a:r>
              <a:rPr lang="en-US" dirty="0"/>
              <a:t>You can </a:t>
            </a:r>
            <a:r>
              <a:rPr lang="en-US" dirty="0" err="1"/>
              <a:t>alsp</a:t>
            </a:r>
            <a:r>
              <a:rPr lang="en-US" dirty="0"/>
              <a:t> change the Mo formula in a query.</a:t>
            </a:r>
          </a:p>
          <a:p>
            <a:r>
              <a:rPr lang="en-US" dirty="0"/>
              <a:t>Sort (</a:t>
            </a:r>
            <a:r>
              <a:rPr lang="en-US" dirty="0" err="1"/>
              <a:t>mkaybe</a:t>
            </a:r>
            <a:r>
              <a:rPr lang="en-US" dirty="0"/>
              <a:t> you want to use sort , then filter </a:t>
            </a:r>
          </a:p>
          <a:p>
            <a:r>
              <a:rPr lang="en-US" dirty="0"/>
              <a:t>Say you want top 20 , sort descending and then filter top 20 </a:t>
            </a:r>
          </a:p>
          <a:p>
            <a:r>
              <a:rPr lang="en-US" dirty="0"/>
              <a:t>Note the </a:t>
            </a:r>
            <a:r>
              <a:rPr lang="en-US" dirty="0" err="1"/>
              <a:t>DateTime</a:t>
            </a:r>
            <a:r>
              <a:rPr lang="en-US" dirty="0"/>
              <a:t> Filters 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3F52E4-8125-F7F2-C8BF-91562A3B9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735" y="1059948"/>
            <a:ext cx="2643466" cy="202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003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2A0E1-9F2F-2818-4865-AB5A18BBB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6ABF-B8BC-2E51-A9EA-DCEA7136C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 continued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E1209-4ACB-352C-BFFC-F1FFA2FB6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columns</a:t>
            </a:r>
          </a:p>
          <a:p>
            <a:r>
              <a:rPr lang="en-US" dirty="0"/>
              <a:t>Transform Menu, you can extract </a:t>
            </a:r>
          </a:p>
          <a:p>
            <a:r>
              <a:rPr lang="en-US" dirty="0"/>
              <a:t>You can replace values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11989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55092-C165-1695-FB9C-E07854E80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0437F-F1FB-427D-36AA-2C2C73023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5528"/>
          </a:xfrm>
        </p:spPr>
        <p:txBody>
          <a:bodyPr>
            <a:normAutofit fontScale="90000"/>
          </a:bodyPr>
          <a:lstStyle/>
          <a:p>
            <a:r>
              <a:rPr lang="en-US" dirty="0"/>
              <a:t>20.Group By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758859-48C4-51EE-0B43-A9D0B4324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3367" y="1281783"/>
            <a:ext cx="1771897" cy="1781424"/>
          </a:xfr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67113B-5A02-24DF-B2F0-E8367F6A6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0507" y="1281783"/>
            <a:ext cx="2133898" cy="234347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A22113-052B-B34C-7A7E-A2AB075A6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417" y="1134125"/>
            <a:ext cx="3743847" cy="20767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BBBABC-9A73-72C9-C99F-7CE222F09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6276" y="1063648"/>
            <a:ext cx="2463924" cy="214721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5231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D8427-1C05-772D-911E-501D8CFD9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78D6-2696-953F-2EF2-0C4BCC3E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Groupo</a:t>
            </a:r>
            <a:r>
              <a:rPr lang="en-US" dirty="0"/>
              <a:t> by 2 columns ..them </a:t>
            </a:r>
            <a:r>
              <a:rPr lang="en-US" dirty="0" err="1"/>
              <a:t>Inmenue</a:t>
            </a:r>
            <a:r>
              <a:rPr lang="en-US" dirty="0"/>
              <a:t> go </a:t>
            </a:r>
            <a:r>
              <a:rPr lang="en-US" dirty="0" err="1"/>
              <a:t>advancerd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1C2897-F1E1-532F-8F0D-462E16546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6819" y="2618324"/>
            <a:ext cx="4641651" cy="356349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EEF2F5-D62C-C4C3-F662-5D58255E9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126" y="2937780"/>
            <a:ext cx="3896269" cy="292458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1409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7A9A3-60C4-B091-CE3F-7CDD6909A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842E-32CD-3740-032D-CDD1705D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38C43E-E26A-89E3-85FC-7481F6A2AB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499" y="2552657"/>
            <a:ext cx="4721849" cy="3748752"/>
          </a:xfr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AB7566-D4DF-BBF9-CD25-19AE2654B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861" y="3221952"/>
            <a:ext cx="4887007" cy="24101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76888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18710-E660-C36C-E1B2-703E7A7F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03EEF-EC81-9FA1-D518-6C88F810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21.Merge , we want one big table to contain Cat and </a:t>
            </a:r>
            <a:r>
              <a:rPr lang="en-US" dirty="0" err="1"/>
              <a:t>Subcat</a:t>
            </a:r>
            <a:r>
              <a:rPr lang="en-US" dirty="0"/>
              <a:t> in One table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78DEC-6150-2BF4-0D33-0FE0E8BB3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Merge Query As New …the first table is the Left one and now the </a:t>
            </a:r>
            <a:r>
              <a:rPr lang="en-US" dirty="0" err="1"/>
              <a:t>righjt</a:t>
            </a:r>
            <a:r>
              <a:rPr lang="en-US" dirty="0"/>
              <a:t> one!</a:t>
            </a:r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820534-13A2-2653-CBE2-C8DB8A237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766" y="2892839"/>
            <a:ext cx="9026468" cy="341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56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28592-1E80-3185-76DF-1130AD7A2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0192-6278-2DBA-9FF3-53FDD554F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518"/>
          </a:xfrm>
        </p:spPr>
        <p:txBody>
          <a:bodyPr>
            <a:normAutofit fontScale="90000"/>
          </a:bodyPr>
          <a:lstStyle/>
          <a:p>
            <a:r>
              <a:rPr lang="en-US" dirty="0"/>
              <a:t>22. Union data using append.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5634EE-7815-E20F-F2C3-40B3918DB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6572" y="874644"/>
            <a:ext cx="7374731" cy="294198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E86A89-BD57-EDF5-278B-647E1D232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13" y="4174434"/>
            <a:ext cx="10050278" cy="20474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93703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9C7F3-7973-8E96-8C7F-B0C0E454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F6C8-B8DC-7AAA-8A29-5B0CD078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23. Null Values.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E742D8-4BEB-1E56-7AFB-BD05F5459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835473"/>
            <a:ext cx="4951743" cy="336090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AE438E-CC1F-87E0-FA93-52FE67244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059" y="396281"/>
            <a:ext cx="5220428" cy="291478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0211BA-1DA9-502E-1314-3EBA0ABB6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853855"/>
            <a:ext cx="5526487" cy="291478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920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5CAC8-240A-F914-FD0C-4E9331F98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C303-A752-ACDC-E51A-9F66576B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401"/>
          </a:xfrm>
        </p:spPr>
        <p:txBody>
          <a:bodyPr>
            <a:normAutofit fontScale="90000"/>
          </a:bodyPr>
          <a:lstStyle/>
          <a:p>
            <a:r>
              <a:rPr lang="en-US" dirty="0"/>
              <a:t>duplicates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77F224-D98F-A497-E5F4-D7907299D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0634" y="1148507"/>
            <a:ext cx="5668166" cy="1971950"/>
          </a:xfrm>
        </p:spPr>
      </p:pic>
    </p:spTree>
    <p:extLst>
      <p:ext uri="{BB962C8B-B14F-4D97-AF65-F5344CB8AC3E}">
        <p14:creationId xmlns:p14="http://schemas.microsoft.com/office/powerpoint/2010/main" val="854311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996A-71CD-9B79-0F49-50E82D4A7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B5D0-FF27-BE78-3B37-44460F7DF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24. Transform Data and Add columns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83E450-CA8E-B88A-26BE-EEFF8EAB8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86869" y="1159420"/>
            <a:ext cx="8312868" cy="4351338"/>
          </a:xfrm>
        </p:spPr>
      </p:pic>
    </p:spTree>
    <p:extLst>
      <p:ext uri="{BB962C8B-B14F-4D97-AF65-F5344CB8AC3E}">
        <p14:creationId xmlns:p14="http://schemas.microsoft.com/office/powerpoint/2010/main" val="4095480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43C1D-CEB5-9183-E6F6-503369AB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A6F11-1E33-E40F-0BB5-6B34DD14D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 </a:t>
            </a:r>
            <a:r>
              <a:rPr lang="en-US" dirty="0" err="1"/>
              <a:t>Col..Add</a:t>
            </a:r>
            <a:r>
              <a:rPr lang="en-US" dirty="0"/>
              <a:t> new </a:t>
            </a:r>
            <a:r>
              <a:rPr lang="en-US" dirty="0" err="1"/>
              <a:t>columnsd</a:t>
            </a:r>
            <a:r>
              <a:rPr lang="en-US" dirty="0"/>
              <a:t> from </a:t>
            </a:r>
            <a:r>
              <a:rPr lang="en-US" dirty="0" err="1"/>
              <a:t>formyulae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B57B31-D40A-E630-7F11-38EA47238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3568" y="1671581"/>
            <a:ext cx="5498226" cy="334455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8A1B06-E8F0-D619-37BE-7744624FD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283" y="1671581"/>
            <a:ext cx="5325218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81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46E80-84DF-F73A-E704-832000093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22008-2382-2479-C69E-4D3425FC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Pipelines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626B20-0E01-B39B-CCBD-248F129E1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2492" y="1690688"/>
            <a:ext cx="2685542" cy="4351338"/>
          </a:xfr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256160-935F-F952-E7BD-31BC3E606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924" y="2113512"/>
            <a:ext cx="5572903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83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93D94-CA2A-357D-A529-F546A313C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598E5-245A-D2A2-2BB9-0E18C9FD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6973"/>
          </a:xfrm>
        </p:spPr>
        <p:txBody>
          <a:bodyPr>
            <a:normAutofit fontScale="90000"/>
          </a:bodyPr>
          <a:lstStyle/>
          <a:p>
            <a:r>
              <a:rPr lang="en-US" dirty="0"/>
              <a:t>Note what you can add in to the email, parameters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3296F0-2014-CF3F-BF3B-2FF3A12B9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298651"/>
            <a:ext cx="9733156" cy="4946031"/>
          </a:xfrm>
        </p:spPr>
      </p:pic>
    </p:spTree>
    <p:extLst>
      <p:ext uri="{BB962C8B-B14F-4D97-AF65-F5344CB8AC3E}">
        <p14:creationId xmlns:p14="http://schemas.microsoft.com/office/powerpoint/2010/main" val="3756687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C8A0-C067-0DC1-A369-4AD297F6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7800-E573-DE27-27FF-C8C8DD2D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864"/>
            <a:ext cx="10515600" cy="437763"/>
          </a:xfrm>
        </p:spPr>
        <p:txBody>
          <a:bodyPr>
            <a:normAutofit fontScale="90000"/>
          </a:bodyPr>
          <a:lstStyle/>
          <a:p>
            <a:r>
              <a:rPr lang="en-US" dirty="0"/>
              <a:t>28. Copy Data assistant method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6068EA-F5FF-176B-A0BE-98B45C1692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0570" y="752463"/>
            <a:ext cx="10103292" cy="2753073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19E5C4-E3FA-24FA-D3F8-AD8CAE39F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85" y="3898063"/>
            <a:ext cx="11068515" cy="275307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979875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F17E1-A519-DDF7-D9B9-8225F0F7E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A0A772-3F43-7573-A6C7-DA357C41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02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Note in the Settings: Enable staging</a:t>
            </a:r>
            <a:r>
              <a:rPr lang="en-US" dirty="0"/>
              <a:t>,, </a:t>
            </a: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A2880F-CFA0-FF4C-F327-B224DD003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23" y="1527923"/>
            <a:ext cx="11126753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4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8A170-3A44-F08C-0AA3-5398B15BD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44F3B-29F8-7E65-EB60-AEA884128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3778"/>
          </a:xfrm>
        </p:spPr>
        <p:txBody>
          <a:bodyPr>
            <a:normAutofit fontScale="90000"/>
          </a:bodyPr>
          <a:lstStyle/>
          <a:p>
            <a:r>
              <a:rPr lang="en-US" dirty="0"/>
              <a:t>End of copy helper screen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D5992D-C991-AD7A-6602-FC4EA565D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14610"/>
            <a:ext cx="9358185" cy="4351338"/>
          </a:xfrm>
        </p:spPr>
      </p:pic>
    </p:spTree>
    <p:extLst>
      <p:ext uri="{BB962C8B-B14F-4D97-AF65-F5344CB8AC3E}">
        <p14:creationId xmlns:p14="http://schemas.microsoft.com/office/powerpoint/2010/main" val="1389496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A4DC1-5845-C0F6-53E2-8BD72D648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3D08-340C-05AA-9EC2-48363B205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Note that the copy assistant automatically loaded a For Each block in this case Maybe because its tables and not files / folder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73FE11-65F8-E353-51FB-120F276D3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70866" y="2141537"/>
            <a:ext cx="7186300" cy="4351338"/>
          </a:xfrm>
        </p:spPr>
      </p:pic>
    </p:spTree>
    <p:extLst>
      <p:ext uri="{BB962C8B-B14F-4D97-AF65-F5344CB8AC3E}">
        <p14:creationId xmlns:p14="http://schemas.microsoft.com/office/powerpoint/2010/main" val="2618377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F8309-4AC9-5F5A-0DA8-A254E28BC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D434-C9C7-5874-9914-6C37BDABA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Note in the Copy Block you can only select a single table .. If copy assistant it allows </a:t>
            </a:r>
            <a:r>
              <a:rPr lang="en-US" dirty="0" err="1"/>
              <a:t>myultiple</a:t>
            </a:r>
            <a:r>
              <a:rPr lang="en-US" dirty="0"/>
              <a:t> tables via automated For Each Block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83DEC6-6234-3341-E946-AACE6F290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0175" y="2141537"/>
            <a:ext cx="4132205" cy="4351338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A88253-8CFD-252F-E097-F64684BD1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88" y="2141536"/>
            <a:ext cx="5079104" cy="435133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00542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F2FE-B854-D5BB-0CCE-98435824F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D225-1ACD-A2DD-C885-B976F64A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4286"/>
          </a:xfrm>
        </p:spPr>
        <p:txBody>
          <a:bodyPr/>
          <a:lstStyle/>
          <a:p>
            <a:r>
              <a:rPr lang="en-US" dirty="0"/>
              <a:t>Note the Mappings/ Settings features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EE8AEC-E2F0-3C8B-3D4B-C9E32177C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2768" y="1825625"/>
            <a:ext cx="5257800" cy="4351338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16EF51-1529-BFD1-281F-F87C4409E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593" y="1038728"/>
            <a:ext cx="4934639" cy="528307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AD88E9-E7AE-6E2C-E19E-1B9ABCCE95B3}"/>
              </a:ext>
            </a:extLst>
          </p:cNvPr>
          <p:cNvSpPr/>
          <p:nvPr/>
        </p:nvSpPr>
        <p:spPr>
          <a:xfrm>
            <a:off x="7395411" y="4395537"/>
            <a:ext cx="3144252" cy="13796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10663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C17A-20F3-EBDB-FF4F-8B0C5ED8A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5317"/>
          </a:xfrm>
        </p:spPr>
        <p:txBody>
          <a:bodyPr>
            <a:normAutofit fontScale="90000"/>
          </a:bodyPr>
          <a:lstStyle/>
          <a:p>
            <a:r>
              <a:rPr lang="en-US" dirty="0"/>
              <a:t>This pipeline failed, now why?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23D192-3EF3-BFF6-A361-3B833D4D4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8969" y="1301842"/>
            <a:ext cx="6925642" cy="4067743"/>
          </a:xfrm>
        </p:spPr>
      </p:pic>
    </p:spTree>
    <p:extLst>
      <p:ext uri="{BB962C8B-B14F-4D97-AF65-F5344CB8AC3E}">
        <p14:creationId xmlns:p14="http://schemas.microsoft.com/office/powerpoint/2010/main" val="463163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D0BD9-15D4-021D-984F-8DD0833BE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AE3C-25E8-F2A2-E596-3A139FD4C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294"/>
            <a:ext cx="10515600" cy="629486"/>
          </a:xfrm>
        </p:spPr>
        <p:txBody>
          <a:bodyPr>
            <a:noAutofit/>
          </a:bodyPr>
          <a:lstStyle/>
          <a:p>
            <a:r>
              <a:rPr lang="en-US" sz="2000" dirty="0"/>
              <a:t>You can do a lot of things on the output </a:t>
            </a:r>
            <a:r>
              <a:rPr lang="en-US" sz="2000" dirty="0" err="1"/>
              <a:t>ie</a:t>
            </a:r>
            <a:r>
              <a:rPr lang="en-US" sz="2000" dirty="0"/>
              <a:t> filter </a:t>
            </a:r>
            <a:r>
              <a:rPr lang="en-US" sz="2000" dirty="0" err="1"/>
              <a:t>etc</a:t>
            </a:r>
            <a:r>
              <a:rPr lang="en-US" sz="2000" dirty="0"/>
              <a:t> under column options 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9E4CFE-477A-F1D8-2B0B-A1108CD71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0604" y="1157402"/>
            <a:ext cx="9831172" cy="254353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F68A37-3BC1-B5CA-A6D8-705802FDE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46" y="4010527"/>
            <a:ext cx="11441122" cy="265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720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FF728-DE6F-F7CA-76D7-511342D8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1FC2-177E-6CE1-00CA-BBFD6DFCB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5528"/>
          </a:xfrm>
        </p:spPr>
        <p:txBody>
          <a:bodyPr>
            <a:noAutofit/>
          </a:bodyPr>
          <a:lstStyle/>
          <a:p>
            <a:r>
              <a:rPr lang="en-US" sz="2800" dirty="0"/>
              <a:t>The 2 ways of copying , For Each for multipole tables and the copy assistant (For Each) , for multiple tables </a:t>
            </a:r>
            <a:endParaRPr lang="en-ZA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E888C9-0850-0206-2988-C53850CDC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4611" y="1888965"/>
            <a:ext cx="6849431" cy="4096322"/>
          </a:xfrm>
        </p:spPr>
      </p:pic>
    </p:spTree>
    <p:extLst>
      <p:ext uri="{BB962C8B-B14F-4D97-AF65-F5344CB8AC3E}">
        <p14:creationId xmlns:p14="http://schemas.microsoft.com/office/powerpoint/2010/main" val="4223761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EC74F-0269-75B7-A47C-D585A4735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DD2-87B1-4899-4AD7-7A7FABC1E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5317"/>
          </a:xfrm>
        </p:spPr>
        <p:txBody>
          <a:bodyPr>
            <a:normAutofit/>
          </a:bodyPr>
          <a:lstStyle/>
          <a:p>
            <a:r>
              <a:rPr lang="en-US" sz="2400" dirty="0"/>
              <a:t>29. Schedule and Monitor Data Pipelines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62DAB5-0FA9-E07D-3405-3905843F4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253331"/>
            <a:ext cx="7648448" cy="4351338"/>
          </a:xfr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94734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038A5-794E-FE32-0693-59E105825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7474B-82C4-9C6A-6A3F-DF7F1F975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63"/>
            <a:ext cx="10515600" cy="148221"/>
          </a:xfrm>
        </p:spPr>
        <p:txBody>
          <a:bodyPr>
            <a:normAutofit fontScale="90000"/>
          </a:bodyPr>
          <a:lstStyle/>
          <a:p>
            <a:r>
              <a:rPr lang="en-US" dirty="0"/>
              <a:t>Monitor Pipelines ..go to View run history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7AE3B2-61C6-F26C-D4C7-F6694D2F1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9863" y="545002"/>
            <a:ext cx="10515600" cy="2883998"/>
          </a:xfr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1A0124-2413-C73F-794F-0DD7C3803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569" y="3645360"/>
            <a:ext cx="10246894" cy="302397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2448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B791E-5CA8-1334-B8A7-CA2CD093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E4D3-508B-3A54-ED46-617414D7C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914"/>
            <a:ext cx="10515600" cy="501149"/>
          </a:xfrm>
        </p:spPr>
        <p:txBody>
          <a:bodyPr>
            <a:normAutofit fontScale="90000"/>
          </a:bodyPr>
          <a:lstStyle/>
          <a:p>
            <a:r>
              <a:rPr lang="en-US" dirty="0"/>
              <a:t>Click on ellipses in </a:t>
            </a:r>
            <a:r>
              <a:rPr lang="en-US" dirty="0" err="1"/>
              <a:t>wspace</a:t>
            </a:r>
            <a:r>
              <a:rPr lang="en-US" dirty="0"/>
              <a:t> / recent runs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CC9D9F-2055-A485-0F4D-EB22B454B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5966" y="786063"/>
            <a:ext cx="10297962" cy="1716505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F3B24C-8727-8485-8650-A7460192F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66" y="2927956"/>
            <a:ext cx="3153215" cy="131463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CD4556-71EC-3C01-87B9-56FDEC4B23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8947" y="2502568"/>
            <a:ext cx="7544853" cy="234239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5EDCEE-855A-A980-0939-184C28380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650" y="4667977"/>
            <a:ext cx="1933845" cy="17686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16FC85-9DCE-FA0F-12E9-7D9BBEEB87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3143" y="2855723"/>
            <a:ext cx="1600423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024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BB4C2-F114-89A1-590D-76F5D374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9E189-C1FF-AB61-8EC4-358BE944C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24685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In your Monitoring Hub ..click on ellipses , to retry the pipeline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8E74AE-5B29-91C6-70F5-5487AA75D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4921" y="952154"/>
            <a:ext cx="6554115" cy="2476846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459F2A-D460-ACB1-9BBA-FA7BA8F0A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21" y="3851765"/>
            <a:ext cx="5306943" cy="247684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384180-C052-2D56-98D1-3F7B86F57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691343"/>
            <a:ext cx="5823284" cy="291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88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9E8BA-84E0-3430-A859-80B9D071C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0DEA-88F2-5DF1-D48B-0B106D6E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6980"/>
          </a:xfrm>
        </p:spPr>
        <p:txBody>
          <a:bodyPr>
            <a:noAutofit/>
          </a:bodyPr>
          <a:lstStyle/>
          <a:p>
            <a:r>
              <a:rPr lang="en-US" sz="2800" dirty="0"/>
              <a:t>30. Identifying and resolving pipeline errors /optimize pipeline </a:t>
            </a:r>
            <a:endParaRPr lang="en-ZA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7AD6E2-72D1-0045-2D25-F692D588E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5589" y="802106"/>
            <a:ext cx="4984257" cy="311340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060A09-87BF-BBAD-FD8C-8B39C5500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877" y="990260"/>
            <a:ext cx="2867425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970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3C1EC-ADAC-3190-2F80-DC9D47EC7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D7E3E-6F32-B95C-E0CE-9987DB72D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3398"/>
          </a:xfrm>
        </p:spPr>
        <p:txBody>
          <a:bodyPr/>
          <a:lstStyle/>
          <a:p>
            <a:r>
              <a:rPr lang="en-US" dirty="0"/>
              <a:t>Get message of failure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EE336D-C26C-865C-C89C-40D2B266C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9588" y="1367064"/>
            <a:ext cx="3896269" cy="287695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529974-F2C6-B807-C064-F798FEE40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857" y="1777206"/>
            <a:ext cx="3200847" cy="4382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02AE03-EA37-7E7A-A30F-B609E5596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6487" y="1970908"/>
            <a:ext cx="3972479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0611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837A2-E5F5-1A6B-258B-F3E1166B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84BAF-C895-E1CC-9DDC-104E49C7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6506"/>
          </a:xfrm>
        </p:spPr>
        <p:txBody>
          <a:bodyPr>
            <a:normAutofit fontScale="90000"/>
          </a:bodyPr>
          <a:lstStyle/>
          <a:p>
            <a:r>
              <a:rPr lang="en-US" dirty="0"/>
              <a:t>31.Explore sample Data(copy data assistance)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5D6D42-C694-3FC9-0B4C-A9FF85380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2007" y="1031632"/>
            <a:ext cx="5229955" cy="234347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71B2FE-1C67-FDCE-35E9-981588E49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962" y="1333207"/>
            <a:ext cx="5901838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821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0B925-B651-DFFC-15D6-CA3172AA2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E878-E171-2559-1852-A6DC90E8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967"/>
          </a:xfrm>
        </p:spPr>
        <p:txBody>
          <a:bodyPr/>
          <a:lstStyle/>
          <a:p>
            <a:r>
              <a:rPr lang="en-US" dirty="0"/>
              <a:t>Look at templates for pipelines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D5D676-FDE9-AAAB-A966-DE059FCA4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225061"/>
            <a:ext cx="5296639" cy="211484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EB64BF-8293-9867-C46C-73218503E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347" y="1088553"/>
            <a:ext cx="5515745" cy="429637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5162E9F-EA93-A8D3-39AF-8173F15ECC21}"/>
              </a:ext>
            </a:extLst>
          </p:cNvPr>
          <p:cNvSpPr/>
          <p:nvPr/>
        </p:nvSpPr>
        <p:spPr>
          <a:xfrm>
            <a:off x="5455920" y="4358640"/>
            <a:ext cx="1447800" cy="1143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DAE519-0ADF-409D-D6B8-79E9A7C387FA}"/>
              </a:ext>
            </a:extLst>
          </p:cNvPr>
          <p:cNvSpPr/>
          <p:nvPr/>
        </p:nvSpPr>
        <p:spPr>
          <a:xfrm>
            <a:off x="8325219" y="4373880"/>
            <a:ext cx="1447800" cy="1143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1EF949-9711-D122-68DB-BB8F14E342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397" y="5632939"/>
            <a:ext cx="1752845" cy="11430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6E1DDAC-D3D5-0DB2-CF6B-9642466D3B20}"/>
              </a:ext>
            </a:extLst>
          </p:cNvPr>
          <p:cNvSpPr/>
          <p:nvPr/>
        </p:nvSpPr>
        <p:spPr>
          <a:xfrm>
            <a:off x="5303397" y="5536856"/>
            <a:ext cx="1447800" cy="1143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59432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F6B7C-FD30-8816-8E2B-83D43B4FE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B5D4-B05D-CEC5-4B85-D27D8176A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27325"/>
            <a:ext cx="10515600" cy="701675"/>
          </a:xfrm>
        </p:spPr>
        <p:txBody>
          <a:bodyPr/>
          <a:lstStyle/>
          <a:p>
            <a:r>
              <a:rPr lang="en-US" dirty="0"/>
              <a:t>S6 Loading and saving using notebooks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624557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EEFCE-64B8-C6C2-C0F5-5B8BB9F43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FF74-3803-8A61-A1D5-003895F15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sz="2400" dirty="0"/>
              <a:t>34. Ingest by local upload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967919-9139-5193-447E-286391571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52137" y="1459865"/>
            <a:ext cx="9243886" cy="4351338"/>
          </a:xfrm>
        </p:spPr>
      </p:pic>
    </p:spTree>
    <p:extLst>
      <p:ext uri="{BB962C8B-B14F-4D97-AF65-F5344CB8AC3E}">
        <p14:creationId xmlns:p14="http://schemas.microsoft.com/office/powerpoint/2010/main" val="3599221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721F-1356-A50E-3704-102E9C22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A644C-E8D4-A1B5-A1B2-97F0FB2C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sz="2400" dirty="0"/>
              <a:t>35. Choose best method to copy to </a:t>
            </a:r>
            <a:r>
              <a:rPr lang="en-US" sz="2400" dirty="0" err="1"/>
              <a:t>lakehouse</a:t>
            </a:r>
            <a:r>
              <a:rPr lang="en-US" sz="2400" dirty="0"/>
              <a:t> </a:t>
            </a:r>
            <a:endParaRPr lang="en-ZA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FE7C-5B42-6530-F1AA-20CD77AA8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files ..local file copy </a:t>
            </a:r>
          </a:p>
          <a:p>
            <a:r>
              <a:rPr lang="en-US" dirty="0"/>
              <a:t>One lake file explorer</a:t>
            </a:r>
          </a:p>
          <a:p>
            <a:r>
              <a:rPr lang="en-US" dirty="0"/>
              <a:t>Small data ..Dataflow gen 2, then can use </a:t>
            </a:r>
            <a:r>
              <a:rPr lang="en-US" dirty="0" err="1"/>
              <a:t>transformnations</a:t>
            </a:r>
            <a:r>
              <a:rPr lang="en-US" dirty="0"/>
              <a:t> </a:t>
            </a:r>
          </a:p>
          <a:p>
            <a:r>
              <a:rPr lang="en-US" dirty="0"/>
              <a:t>Large source ..no transformations ..use Copy/ Pipeline /</a:t>
            </a:r>
          </a:p>
          <a:p>
            <a:r>
              <a:rPr lang="en-US" dirty="0" err="1"/>
              <a:t>Notebook..large</a:t>
            </a:r>
            <a:r>
              <a:rPr lang="en-US" dirty="0"/>
              <a:t> data complex transformations., see stage </a:t>
            </a:r>
            <a:r>
              <a:rPr lang="en-US" dirty="0" err="1"/>
              <a:t>transfomations</a:t>
            </a:r>
            <a:r>
              <a:rPr lang="en-US" dirty="0"/>
              <a:t> ..then pipeline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266346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E6659-091B-8D45-B955-8E298CCE8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72D99-9139-869B-8A11-87F337399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755"/>
          </a:xfrm>
        </p:spPr>
        <p:txBody>
          <a:bodyPr>
            <a:normAutofit/>
          </a:bodyPr>
          <a:lstStyle/>
          <a:p>
            <a:r>
              <a:rPr lang="en-US" sz="2400" dirty="0"/>
              <a:t>36. Ingest to Notebook, copy to table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1D613F-F234-972D-03DA-A22EFEEA6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8159" y="944880"/>
            <a:ext cx="4887007" cy="148081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C4A31-6E23-4D15-6AA4-AEC6A798C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19" y="2334465"/>
            <a:ext cx="11155681" cy="172426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531150-09C9-848A-5766-2FD47B662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058731"/>
            <a:ext cx="11822175" cy="138131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3B9259-695F-9423-DA43-EB14E0108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84" y="5539547"/>
            <a:ext cx="11507806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409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6077B-E6E5-732D-6DB2-8CF77ABAC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E5B74-CE8D-0C8D-C0D3-33166891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755"/>
          </a:xfrm>
        </p:spPr>
        <p:txBody>
          <a:bodyPr>
            <a:normAutofit fontScale="90000"/>
          </a:bodyPr>
          <a:lstStyle/>
          <a:p>
            <a:r>
              <a:rPr lang="en-US" dirty="0"/>
              <a:t>Can also run relative path  / pandas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EC9F5A-999A-7DB0-3682-CB852959D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5800" y="1339836"/>
            <a:ext cx="10515600" cy="1055716"/>
          </a:xfr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1DD05F-945F-1B1B-B63F-747F420F0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6" y="2528762"/>
            <a:ext cx="12022228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74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FB538-4C86-0BBB-FC6B-CF7CE9F5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9850-CE63-E95C-6DD3-BB0F93178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3075"/>
          </a:xfrm>
        </p:spPr>
        <p:txBody>
          <a:bodyPr>
            <a:normAutofit/>
          </a:bodyPr>
          <a:lstStyle/>
          <a:p>
            <a:r>
              <a:rPr lang="en-US" sz="2000" dirty="0"/>
              <a:t>37.Save to file or table  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B3B427-DA08-6746-61B5-0DEA5366A1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1996" y="838200"/>
            <a:ext cx="6726409" cy="84784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DF2018-4393-11E3-A481-2B019926C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39" y="494982"/>
            <a:ext cx="4135395" cy="48965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BC3C7E-25CB-97F8-47F3-56FB97180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251" y="1847720"/>
            <a:ext cx="6373709" cy="1095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7A0208-901B-159E-8AB6-2A966E6273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51" y="5553192"/>
            <a:ext cx="8649907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86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9B1B4-734F-929C-E8C5-A8A4B4DF9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E4B2E-EF77-BAF6-EBDA-F3216E3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Why tables ..SQL Endpoint , can access with SQL.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D25C7B-3888-4437-63C0-B423D2206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5844" y="1276350"/>
            <a:ext cx="4328151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3EDC15-AC1C-D2BD-2A75-9DA4FB1ED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687" y="770357"/>
            <a:ext cx="5649113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853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E90F0-F010-7170-4780-F4323AD67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7E87-006B-CEBB-7D9D-5DBD321A4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602"/>
            <a:ext cx="10515600" cy="1325563"/>
          </a:xfrm>
        </p:spPr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FC8B5B-2806-E88D-EF38-8E47EE1CB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02920"/>
            <a:ext cx="10515600" cy="5712296"/>
          </a:xfrm>
        </p:spPr>
      </p:pic>
    </p:spTree>
    <p:extLst>
      <p:ext uri="{BB962C8B-B14F-4D97-AF65-F5344CB8AC3E}">
        <p14:creationId xmlns:p14="http://schemas.microsoft.com/office/powerpoint/2010/main" val="40787879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AB663-F033-76C6-CC41-A391C6C6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73E2-C9CF-5C3E-3E51-B8187A2DA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487"/>
            <a:ext cx="10515600" cy="549275"/>
          </a:xfrm>
        </p:spPr>
        <p:txBody>
          <a:bodyPr>
            <a:normAutofit/>
          </a:bodyPr>
          <a:lstStyle/>
          <a:p>
            <a:r>
              <a:rPr lang="en-US" sz="2400" dirty="0"/>
              <a:t>38. Loading data from a table in </a:t>
            </a:r>
            <a:r>
              <a:rPr lang="en-US" sz="2400" dirty="0" err="1"/>
              <a:t>Pyspark</a:t>
            </a:r>
            <a:r>
              <a:rPr lang="en-US" sz="2400" dirty="0"/>
              <a:t> or SQL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70C455-BA32-A1A4-A267-894AD7DDF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4585" y="1069465"/>
            <a:ext cx="5715798" cy="255598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D734AF-B0D9-CFB7-845D-4AFAA0B57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383" y="758025"/>
            <a:ext cx="6201640" cy="2867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59574A-50F6-3AE4-FAFD-062373396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75" y="4070393"/>
            <a:ext cx="4648849" cy="1752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96E79B-2B29-5708-6914-49DA331027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9844" y="4070393"/>
            <a:ext cx="5953956" cy="283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679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0683F-E9F0-C62A-91A7-A4A185E30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BC2F2-D167-DF9F-E44C-9B2055DD5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 button in Spark cell, below on bottom right , Graphs , see below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6956D2-50D4-0159-FC41-CF48B8435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40528" y="1886585"/>
            <a:ext cx="8270863" cy="4351338"/>
          </a:xfrm>
        </p:spPr>
      </p:pic>
    </p:spTree>
    <p:extLst>
      <p:ext uri="{BB962C8B-B14F-4D97-AF65-F5344CB8AC3E}">
        <p14:creationId xmlns:p14="http://schemas.microsoft.com/office/powerpoint/2010/main" val="24899340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0C669-75FE-850D-D1F7-1E40369D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86D0-8591-5A7A-3192-D80A451C3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8795"/>
          </a:xfrm>
        </p:spPr>
        <p:txBody>
          <a:bodyPr>
            <a:normAutofit fontScale="90000"/>
          </a:bodyPr>
          <a:lstStyle/>
          <a:p>
            <a:r>
              <a:rPr lang="en-US" dirty="0"/>
              <a:t>Change to a chart and customize it  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DEC65FF-39D4-676F-277C-59CF0DA35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1636" y="1825625"/>
            <a:ext cx="8688728" cy="4351338"/>
          </a:xfrm>
        </p:spPr>
      </p:pic>
    </p:spTree>
    <p:extLst>
      <p:ext uri="{BB962C8B-B14F-4D97-AF65-F5344CB8AC3E}">
        <p14:creationId xmlns:p14="http://schemas.microsoft.com/office/powerpoint/2010/main" val="31001565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F356-E675-0658-7FA8-1A5657EEB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70EA-9216-20AE-C362-0BF32B290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235"/>
          </a:xfrm>
        </p:spPr>
        <p:txBody>
          <a:bodyPr>
            <a:normAutofit/>
          </a:bodyPr>
          <a:lstStyle/>
          <a:p>
            <a:r>
              <a:rPr lang="en-US" sz="2400" dirty="0"/>
              <a:t>Customizing a chart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280159-4CCD-CF23-BFA4-CBC53FE8D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1012" y="1253331"/>
            <a:ext cx="7034376" cy="4351338"/>
          </a:xfrm>
        </p:spPr>
      </p:pic>
    </p:spTree>
    <p:extLst>
      <p:ext uri="{BB962C8B-B14F-4D97-AF65-F5344CB8AC3E}">
        <p14:creationId xmlns:p14="http://schemas.microsoft.com/office/powerpoint/2010/main" val="35389909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70A0-47AC-E718-502C-92E03B17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F4C5-1625-A1D9-0FA0-40AB80BDF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95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frame to list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5F6172-2D41-6CB9-FE9F-38C118BBFD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451" y="1209331"/>
            <a:ext cx="5744377" cy="265784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8958DF-74FD-A760-C28E-1B25C6F22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30" y="4381667"/>
            <a:ext cx="11784070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2962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E223-0474-77F8-978D-0473289BE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78D2-8A65-D927-AC6B-E8C76553A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8315"/>
          </a:xfrm>
        </p:spPr>
        <p:txBody>
          <a:bodyPr>
            <a:normAutofit fontScale="90000"/>
          </a:bodyPr>
          <a:lstStyle/>
          <a:p>
            <a:r>
              <a:rPr lang="en-US" dirty="0"/>
              <a:t>Practice Notes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96916-D197-7816-1B21-5C2DBDA3F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Cant Rename a table the same name with capitals ..its the same table , table names are not case sensitive!!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F3E71D-9588-F07E-2A2C-33BCE2B62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605" y="2982170"/>
            <a:ext cx="8411749" cy="1533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1A4CAE-BD7F-5D94-E020-DD41FE62A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605" y="5135448"/>
            <a:ext cx="4486901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1218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7081B-0ECF-44E5-30CE-C56FB84F9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4B437-7578-75BD-171E-91453CC3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3001645"/>
            <a:ext cx="5257800" cy="1325563"/>
          </a:xfrm>
        </p:spPr>
        <p:txBody>
          <a:bodyPr/>
          <a:lstStyle/>
          <a:p>
            <a:r>
              <a:rPr lang="en-US" dirty="0"/>
              <a:t>S7 Manipulating DFs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202176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23EB-67D2-60F6-C6D4-A4C40E3A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9EDD-E552-0827-EF23-FF435CF62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41. Reducing Columns </a:t>
            </a:r>
            <a:endParaRPr lang="en-ZA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C927F-337F-1D52-F791-63D68547E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DC384-48C5-29C7-6276-B332A1229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888187"/>
            <a:ext cx="3302170" cy="7302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5E90DC-8276-ACD4-05AF-EF93B14A4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630" y="681037"/>
            <a:ext cx="4083260" cy="81919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C59193-2410-FB7A-EEB7-2FC6DA8AA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00" y="1943871"/>
            <a:ext cx="4273770" cy="9779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A57B3C-08A5-1DA4-E570-8CA712EEDC14}"/>
              </a:ext>
            </a:extLst>
          </p:cNvPr>
          <p:cNvSpPr txBox="1"/>
          <p:nvPr/>
        </p:nvSpPr>
        <p:spPr>
          <a:xfrm>
            <a:off x="222663" y="3244334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41. Reducing Rows</a:t>
            </a:r>
            <a:endParaRPr lang="en-Z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7402DE-A5EF-1484-D11B-E58F3A23DA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65" y="3743306"/>
            <a:ext cx="5203406" cy="8826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CE74FA-6282-2B22-5DBC-81FA2EE267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663" y="4982360"/>
            <a:ext cx="5049981" cy="83824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3FB1AF-BEF0-83E2-D429-86E312AE63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00" y="5853037"/>
            <a:ext cx="4789616" cy="87634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92524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8B587-126A-8858-8908-7E173A34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A1576-F045-DCCD-F759-591FE430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61"/>
          </a:xfrm>
        </p:spPr>
        <p:txBody>
          <a:bodyPr>
            <a:normAutofit fontScale="90000"/>
          </a:bodyPr>
          <a:lstStyle/>
          <a:p>
            <a:r>
              <a:rPr lang="en-US" dirty="0"/>
              <a:t>Adding Columns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98C239-D2BB-EC08-599C-2D65B8469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0532" y="657619"/>
            <a:ext cx="3606985" cy="957425"/>
          </a:xfr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B578B9-2C95-3A96-FA6B-D408A8069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02" y="1833276"/>
            <a:ext cx="3778444" cy="80649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1C90A3-31A7-9410-D225-7ECC47245FEC}"/>
              </a:ext>
            </a:extLst>
          </p:cNvPr>
          <p:cNvSpPr txBox="1"/>
          <p:nvPr/>
        </p:nvSpPr>
        <p:spPr>
          <a:xfrm>
            <a:off x="451262" y="3218213"/>
            <a:ext cx="2145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44. Using Functions</a:t>
            </a:r>
            <a:endParaRPr lang="en-Z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5B3B54-0070-C4FA-7415-8D86A7F790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678" y="3796659"/>
            <a:ext cx="5188217" cy="5772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8F8C49-CE77-E8BE-3793-8136237EFA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1895" y="439387"/>
            <a:ext cx="5683542" cy="503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6619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21203-8449-D11B-8C18-F3220968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294A-1661-734D-058D-D0D33CC27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887"/>
          </a:xfrm>
        </p:spPr>
        <p:txBody>
          <a:bodyPr>
            <a:normAutofit fontScale="90000"/>
          </a:bodyPr>
          <a:lstStyle/>
          <a:p>
            <a:r>
              <a:rPr lang="en-US" dirty="0"/>
              <a:t>44. Functions Continued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01B0289-A02A-FDA7-8938-72A56179D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0"/>
            <a:ext cx="9718964" cy="4874337"/>
          </a:xfrm>
        </p:spPr>
      </p:pic>
    </p:spTree>
    <p:extLst>
      <p:ext uri="{BB962C8B-B14F-4D97-AF65-F5344CB8AC3E}">
        <p14:creationId xmlns:p14="http://schemas.microsoft.com/office/powerpoint/2010/main" val="5387776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26F50-70BF-9DA8-3D31-881260F0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0A11-2C60-01F3-87D4-F4534C06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763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Functions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E01CFB-D872-45AC-A17D-3AAA7EA31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1416" y="694595"/>
            <a:ext cx="5496245" cy="1252958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832205-A4C4-BBF1-88E3-196B62BE9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16" y="2155260"/>
            <a:ext cx="4959605" cy="139707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318635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1AD93-8383-9286-1D7D-7F8AB8B49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F25D-C46C-9719-D895-24C3F941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8951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45.More Advanced Filtering</a:t>
            </a:r>
            <a:r>
              <a:rPr lang="en-US" sz="1400" dirty="0"/>
              <a:t>.</a:t>
            </a:r>
            <a:endParaRPr lang="en-ZA" sz="1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61F2E6-254F-7CFF-6400-EF6B11957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9473" y="1024609"/>
            <a:ext cx="3448227" cy="29148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1C3D5E-74DD-FE0A-FCAE-F7BD34CE8A7F}"/>
              </a:ext>
            </a:extLst>
          </p:cNvPr>
          <p:cNvSpPr txBox="1"/>
          <p:nvPr/>
        </p:nvSpPr>
        <p:spPr>
          <a:xfrm>
            <a:off x="629587" y="655277"/>
            <a:ext cx="1112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Between.</a:t>
            </a: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0B8371-8852-1C7C-330F-89ABEE354C7A}"/>
              </a:ext>
            </a:extLst>
          </p:cNvPr>
          <p:cNvSpPr txBox="1"/>
          <p:nvPr/>
        </p:nvSpPr>
        <p:spPr>
          <a:xfrm>
            <a:off x="4874302" y="839943"/>
            <a:ext cx="343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Contains and LIKE with </a:t>
            </a:r>
            <a:r>
              <a:rPr lang="en-US" dirty="0" err="1"/>
              <a:t>Wildcars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635BE2-D9E3-B4FB-DBEF-EA619987E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202" y="1189191"/>
            <a:ext cx="6080623" cy="12928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3767F9-0E6D-A366-0736-9ECDC2243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940" y="2831257"/>
            <a:ext cx="4235668" cy="8953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346C8F-8DCD-5490-25E2-CC3156E94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057" y="4375992"/>
            <a:ext cx="4863510" cy="19273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C5CE88-68A7-04D8-B980-4892881CA6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1390" y="4075901"/>
            <a:ext cx="5875646" cy="222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6029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612C9-F926-E8CC-01B8-FB6D4757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548D-110B-4127-D680-D55C0A84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isIn</a:t>
            </a:r>
            <a:r>
              <a:rPr lang="en-US" dirty="0"/>
              <a:t> /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5BCFAC-1C8B-FF5E-01B7-CBAD3C68D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249" y="1478386"/>
            <a:ext cx="6140766" cy="123831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3EAB23-1FF1-A011-3797-EAD26AAB8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49" y="3534619"/>
            <a:ext cx="4730993" cy="158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165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B82F6-576E-30F6-ED44-E7109C0A1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D861-2951-3BF5-0069-97AD8E72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5134"/>
          </a:xfrm>
        </p:spPr>
        <p:txBody>
          <a:bodyPr>
            <a:normAutofit fontScale="90000"/>
          </a:bodyPr>
          <a:lstStyle/>
          <a:p>
            <a:r>
              <a:rPr lang="en-US" dirty="0"/>
              <a:t>47. Practice Activity 4.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69672B-583E-8477-1D3A-09B6FEEBA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8976" y="1059205"/>
            <a:ext cx="5029716" cy="2054698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24C1BA-54D8-BF18-2079-1BAD4E5C8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4729"/>
            <a:ext cx="5664491" cy="221626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7BB3DD-D3A1-D38F-6ACE-5F4485A9E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976" y="3332848"/>
            <a:ext cx="4115316" cy="93349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CAEA05-F0A4-6F79-6903-7AC73FD4BA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976" y="4485291"/>
            <a:ext cx="4026107" cy="10922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3CDD89-DEBD-48FB-A6A9-21B58A7D18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778274"/>
            <a:ext cx="5416828" cy="9779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CDD9FC-1B78-2B34-EB11-EAA4706A0C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847084"/>
            <a:ext cx="4965713" cy="93984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35B0E7-7D96-F030-0311-BF9516EBD7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4956582"/>
            <a:ext cx="5325106" cy="99700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96847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D4B32-B525-A042-F2DC-CFC3F1DCA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131"/>
            <a:ext cx="10515600" cy="166216"/>
          </a:xfrm>
        </p:spPr>
        <p:txBody>
          <a:bodyPr>
            <a:normAutofit fontScale="90000"/>
          </a:bodyPr>
          <a:lstStyle/>
          <a:p>
            <a:r>
              <a:rPr lang="en-US" dirty="0"/>
              <a:t>47. Practice continued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BFEFF6-4DE5-DD76-8E7D-331C41F68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1773" y="666905"/>
            <a:ext cx="4654789" cy="1454225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C1CC0E-52F9-7400-01A6-AACB137A5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608" y="631910"/>
            <a:ext cx="5871100" cy="15242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03632C-1D17-F7D8-3AEE-AA80162253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138" y="2429688"/>
            <a:ext cx="5436058" cy="147658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07A654-FA97-293E-E07D-697771517C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778" y="4192471"/>
            <a:ext cx="8278380" cy="15242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34166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C9969-D21A-949F-83C9-9DBDA31E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B21C0-00AE-6BF2-1B81-8C9326006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843"/>
          </a:xfrm>
        </p:spPr>
        <p:txBody>
          <a:bodyPr>
            <a:normAutofit fontScale="90000"/>
          </a:bodyPr>
          <a:lstStyle/>
          <a:p>
            <a:r>
              <a:rPr lang="en-US" dirty="0"/>
              <a:t>48. Practice activity SQL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74A26-A44B-63FE-3D4F-32759D306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Leave for later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652226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2628C-F8A5-4AC2-2641-24C6FA4F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32399-09EC-21ED-DF81-202B1D693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697" y="93278"/>
            <a:ext cx="10515600" cy="351566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50.Converting Data Types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FC0433-9C82-81B9-C4F0-C776D57C4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4879" y="444844"/>
            <a:ext cx="4220164" cy="2187146"/>
          </a:xfr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33B13B-1B3D-736F-BB66-9A2FE8E7B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656" y="444844"/>
            <a:ext cx="5372850" cy="218714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FCCDA2-E5B2-00C3-6EE0-083352B4C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328" y="2983556"/>
            <a:ext cx="4415715" cy="31512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33C035-62FC-F0D3-32C5-2C198BB03D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6656" y="2915594"/>
            <a:ext cx="5020376" cy="152421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68578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5EF92-4E82-5E0C-0EDF-D76181CA1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2D48B-BA26-147F-8451-357E638F4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6918"/>
          </a:xfrm>
        </p:spPr>
        <p:txBody>
          <a:bodyPr>
            <a:normAutofit/>
          </a:bodyPr>
          <a:lstStyle/>
          <a:p>
            <a:r>
              <a:rPr lang="en-US" sz="2400" dirty="0"/>
              <a:t>Convert Data Types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A1319D-D5E8-0CB9-D00B-DC27FC874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3209" y="997722"/>
            <a:ext cx="9989020" cy="4351338"/>
          </a:xfrm>
        </p:spPr>
      </p:pic>
    </p:spTree>
    <p:extLst>
      <p:ext uri="{BB962C8B-B14F-4D97-AF65-F5344CB8AC3E}">
        <p14:creationId xmlns:p14="http://schemas.microsoft.com/office/powerpoint/2010/main" val="30902784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99B8B-4C00-036D-4648-4A230E9D8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B777-4153-3668-E380-7A6C47417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US" sz="2400" dirty="0"/>
              <a:t>51. Import using Explicit Schema.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639CD5-1F33-34F0-3B6E-5848B651E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7498" y="859747"/>
            <a:ext cx="10515600" cy="2079201"/>
          </a:xfr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8DB348-843C-B259-D13D-3C82C3E73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28" y="3212756"/>
            <a:ext cx="11955543" cy="344753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764391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5D33D-19CA-300E-1E14-44C1E44CB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4C8F-E49A-2376-C0FA-C427F659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Display the table and see the data </a:t>
            </a:r>
            <a:r>
              <a:rPr lang="en-US" dirty="0" err="1"/>
              <a:t>taype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B3BC30-EB1A-256B-A088-DCD41501C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7512" y="1318918"/>
            <a:ext cx="5401429" cy="4220164"/>
          </a:xfrm>
        </p:spPr>
      </p:pic>
    </p:spTree>
    <p:extLst>
      <p:ext uri="{BB962C8B-B14F-4D97-AF65-F5344CB8AC3E}">
        <p14:creationId xmlns:p14="http://schemas.microsoft.com/office/powerpoint/2010/main" val="9070985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3073-438C-D2C9-0592-6AA973C83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8ABC-44C1-0559-464A-A27DA539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53858"/>
          </a:xfrm>
        </p:spPr>
        <p:txBody>
          <a:bodyPr>
            <a:normAutofit fontScale="90000"/>
          </a:bodyPr>
          <a:lstStyle/>
          <a:p>
            <a:r>
              <a:rPr lang="en-US" dirty="0"/>
              <a:t>52. </a:t>
            </a:r>
            <a:r>
              <a:rPr lang="en-US" dirty="0" err="1"/>
              <a:t>Formating</a:t>
            </a:r>
            <a:r>
              <a:rPr lang="en-US" dirty="0"/>
              <a:t> Dates as Strings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159BFA-2F50-DF0D-3894-6008B6782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784226"/>
            <a:ext cx="6268325" cy="2101678"/>
          </a:xfr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E181AC-81BD-F4A5-2D5D-117E8E4FE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67" y="3328328"/>
            <a:ext cx="5883458" cy="316454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866DFA-84EC-0575-E8F9-FF8E2D939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432" y="3282649"/>
            <a:ext cx="5214552" cy="316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837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9BA57-6B46-A8C2-477C-0959824F8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60DC-F9B7-2139-742A-2DEB59EF1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All the date formats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1524A8-CD08-4BEA-CFC3-26214A5E5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639" y="1071862"/>
            <a:ext cx="9611165" cy="5069445"/>
          </a:xfrm>
        </p:spPr>
      </p:pic>
    </p:spTree>
    <p:extLst>
      <p:ext uri="{BB962C8B-B14F-4D97-AF65-F5344CB8AC3E}">
        <p14:creationId xmlns:p14="http://schemas.microsoft.com/office/powerpoint/2010/main" val="22050261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BD532-0573-F773-80C2-ED28ECE8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899F-52E9-459E-4924-4E068E7C0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66216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the function </a:t>
            </a:r>
            <a:r>
              <a:rPr lang="en-US" dirty="0" err="1"/>
              <a:t>concat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5B80805-C9D8-EBEB-B53A-57DA2F377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843263"/>
            <a:ext cx="8772437" cy="2585737"/>
          </a:xfr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DA972A-CDE4-369F-073B-EECFA0A68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71" y="3833053"/>
            <a:ext cx="11403016" cy="16385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21794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7808F-ACC2-F16C-1AF7-CDA9F877C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39BA8-5B2B-B5AB-BCDC-7284A4F20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27. Aggregating data and refiltering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E697B8-D830-163C-455C-D78E6F571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5822" y="1253331"/>
            <a:ext cx="3467108" cy="4764410"/>
          </a:xfr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98828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8F182-51BC-3BAD-37C0-CD32596C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198A3-5D9D-4427-638D-68D216E5C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2778"/>
          </a:xfrm>
        </p:spPr>
        <p:txBody>
          <a:bodyPr>
            <a:normAutofit/>
          </a:bodyPr>
          <a:lstStyle/>
          <a:p>
            <a:r>
              <a:rPr lang="en-US" sz="2400" dirty="0"/>
              <a:t>54. Sorting the Results.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9211AE-999C-449C-4E5A-89F13661F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1418" y="1112108"/>
            <a:ext cx="3232105" cy="5251621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5BAEDB-5E28-C7AE-3CBA-233AFFEFF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994" y="1047535"/>
            <a:ext cx="3515940" cy="538076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99F352-E261-6E93-46B1-B59CA13D4F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9716" y="1047535"/>
            <a:ext cx="3770866" cy="531619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15790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93BD4-93D3-1C97-A676-186A1A27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729E-1029-2909-B0EB-48D940A15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55 Using all 6 </a:t>
            </a:r>
            <a:r>
              <a:rPr lang="en-US" dirty="0" err="1"/>
              <a:t>sql</a:t>
            </a:r>
            <a:r>
              <a:rPr lang="en-US" dirty="0"/>
              <a:t> clauses.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7832D6-7EAA-FB06-B874-4BD0EACADA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2856" y="997721"/>
            <a:ext cx="4107296" cy="5316581"/>
          </a:xfr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74650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EF93E-75EA-6155-C628-9D49A9511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532CA-9274-CE6C-4405-CD68BCD34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547"/>
            <a:ext cx="10515600" cy="238940"/>
          </a:xfrm>
        </p:spPr>
        <p:txBody>
          <a:bodyPr>
            <a:normAutofit fontScale="90000"/>
          </a:bodyPr>
          <a:lstStyle/>
          <a:p>
            <a:r>
              <a:rPr lang="en-US" dirty="0"/>
              <a:t>57. Practice activity (6)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9A79E5-1798-FDC4-B55E-F3886CCDD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9271" y="718905"/>
            <a:ext cx="9183382" cy="2308500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5F58F8-19E0-1DE8-F7DA-81717035C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71" y="3194220"/>
            <a:ext cx="6592220" cy="33136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547756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C3056-8940-92EB-DBC6-1310D3C24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76526-B82B-A3A5-9052-EF50ACAEC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9145"/>
          </a:xfrm>
        </p:spPr>
        <p:txBody>
          <a:bodyPr>
            <a:normAutofit fontScale="90000"/>
          </a:bodyPr>
          <a:lstStyle/>
          <a:p>
            <a:r>
              <a:rPr lang="en-US" dirty="0"/>
              <a:t>SQL Part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160534-6886-9129-5D27-8DC56FBF3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9919" y="755858"/>
            <a:ext cx="10515600" cy="2673142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E6901B-FA7E-AF32-CA9A-595622159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26" y="3690587"/>
            <a:ext cx="10760786" cy="280228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82290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DDDC0-B1A7-206E-A8C2-EF53F020E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C6513-2763-F29E-5425-FE239E02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90. Resolve issues with Delta Tables </a:t>
            </a:r>
            <a:r>
              <a:rPr lang="en-US" sz="2400"/>
              <a:t>File Sozes</a:t>
            </a:r>
            <a:endParaRPr lang="en-ZA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18258-0ABC-3A25-4DA0-8067C852D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44875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E7D97-7D62-3214-60B3-4C9A2BB96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B301-BFCE-8506-8369-ACAD2D062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F6357-B61A-6D4C-235C-F11FEC52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81769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CFC7-E59A-34DF-B13E-CD95FC7F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9C4B1-558C-C123-B28A-B330F56FC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498D6-7B76-AE58-97C2-E2F24A2F0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55375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871A8-C245-09B2-10DD-7145E1207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A402D-396D-61A3-8C09-A3D8E5871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B36D-C71B-4A42-49A9-C4647D9BD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6093039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5B9F-BC8F-7A6E-58B2-F72CACF5F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1B39B-1BB3-B7ED-46D0-7B9A2511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E9476-9CF8-EBCD-7F50-3B07C1477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18813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141C8-743B-9690-AC6F-00BC0E68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C916-1B0A-CF35-DF89-8EC2E313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E2A1D-43C5-550A-B9DB-4E6AB31EB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986450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D8389-7ED2-B05C-C0BD-591CFAD1A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B88F-AB51-5E1C-2A80-6883CF17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ED5EC-DE06-6756-BCFE-D9895A97D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36902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5739-3ACC-3B6B-16FA-0BE71EE1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C34F-73E7-165B-9E2C-1C42D8EA0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30886-5A18-7B3F-E523-60163316F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942386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32802-5EC5-6DF7-27ED-CC3DDB554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B6A1F-7C7B-5037-3F58-446A79B5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4C2DF-2111-AE9E-2ABA-743ECBCAE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77194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CF1AD-08BE-6763-7F8B-9E97AD3E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57F0A-874E-87D8-3D10-DE45C466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4AE80-E33E-D4E4-A7BF-F6E5ECF92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290321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147F1-1F60-4B50-B3E7-7C856BCEE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E2DCC-7E25-5F2D-CD5A-D11F0E17D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285A3-7CCC-B899-BFFB-FB6982A3C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3746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19433</TotalTime>
  <Words>3782</Words>
  <Application>Microsoft Office PowerPoint</Application>
  <PresentationFormat>Widescreen</PresentationFormat>
  <Paragraphs>384</Paragraphs>
  <Slides>95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9" baseType="lpstr">
      <vt:lpstr>Aptos</vt:lpstr>
      <vt:lpstr>Aptos Display</vt:lpstr>
      <vt:lpstr>Arial</vt:lpstr>
      <vt:lpstr>Office Theme</vt:lpstr>
      <vt:lpstr>PBurton DP700</vt:lpstr>
      <vt:lpstr>12. Data Flow</vt:lpstr>
      <vt:lpstr>Speacial notes from Lecture 12</vt:lpstr>
      <vt:lpstr>13.Destimnation …lower right or menu.</vt:lpstr>
      <vt:lpstr>13. Always look through source and destination types </vt:lpstr>
      <vt:lpstr>14. Save As template </vt:lpstr>
      <vt:lpstr>15.FastCopy.</vt:lpstr>
      <vt:lpstr>16. Monitor Transformations ,resolve errors</vt:lpstr>
      <vt:lpstr>17. Optimize a Dataflow</vt:lpstr>
      <vt:lpstr>Queries done in DB ..not all by Fabric </vt:lpstr>
      <vt:lpstr>Query folding sources</vt:lpstr>
      <vt:lpstr>Can ask the db to do all of the steps before getting to fabric </vt:lpstr>
      <vt:lpstr>In query folding --- all steps compiled as queryt </vt:lpstr>
      <vt:lpstr>Not all steps eligible for query folding </vt:lpstr>
      <vt:lpstr>Optimize by moving the add index downwards moving most of the queries into db </vt:lpstr>
      <vt:lpstr>Ho0w to tell…</vt:lpstr>
      <vt:lpstr>S4: Transforming Data Using DF Gen2</vt:lpstr>
      <vt:lpstr>18. Home Menu.</vt:lpstr>
      <vt:lpstr>19. Looking at home 9Middle part to do transformations.</vt:lpstr>
      <vt:lpstr>19 continued</vt:lpstr>
      <vt:lpstr>20.Group By </vt:lpstr>
      <vt:lpstr>Groupo by 2 columns ..them Inmenue go advancerd </vt:lpstr>
      <vt:lpstr>PowerPoint Presentation</vt:lpstr>
      <vt:lpstr>21.Merge , we want one big table to contain Cat and Subcat in One table</vt:lpstr>
      <vt:lpstr>22. Union data using append.</vt:lpstr>
      <vt:lpstr>23. Null Values.</vt:lpstr>
      <vt:lpstr>duplicates</vt:lpstr>
      <vt:lpstr>24. Transform Data and Add columns</vt:lpstr>
      <vt:lpstr>Custom Col..Add new columnsd from formyulae</vt:lpstr>
      <vt:lpstr>Using Pipelines</vt:lpstr>
      <vt:lpstr>Note what you can add in to the email, parameters </vt:lpstr>
      <vt:lpstr>28. Copy Data assistant method </vt:lpstr>
      <vt:lpstr>Note in the Settings: Enable staging,, </vt:lpstr>
      <vt:lpstr>End of copy helper screen </vt:lpstr>
      <vt:lpstr>Note that the copy assistant automatically loaded a For Each block in this case Maybe because its tables and not files / folder </vt:lpstr>
      <vt:lpstr>Note in the Copy Block you can only select a single table .. If copy assistant it allows myultiple tables via automated For Each Block</vt:lpstr>
      <vt:lpstr>Note the Mappings/ Settings features </vt:lpstr>
      <vt:lpstr>This pipeline failed, now why?</vt:lpstr>
      <vt:lpstr>You can do a lot of things on the output ie filter etc under column options </vt:lpstr>
      <vt:lpstr>The 2 ways of copying , For Each for multipole tables and the copy assistant (For Each) , for multiple tables </vt:lpstr>
      <vt:lpstr>29. Schedule and Monitor Data Pipelines</vt:lpstr>
      <vt:lpstr>Monitor Pipelines ..go to View run history </vt:lpstr>
      <vt:lpstr>Click on ellipses in wspace / recent runs </vt:lpstr>
      <vt:lpstr>In your Monitoring Hub ..click on ellipses , to retry the pipeline </vt:lpstr>
      <vt:lpstr>30. Identifying and resolving pipeline errors /optimize pipeline </vt:lpstr>
      <vt:lpstr>Get message of failure </vt:lpstr>
      <vt:lpstr>31.Explore sample Data(copy data assistance)</vt:lpstr>
      <vt:lpstr>Look at templates for pipelines </vt:lpstr>
      <vt:lpstr>S6 Loading and saving using notebooks </vt:lpstr>
      <vt:lpstr>34. Ingest by local upload </vt:lpstr>
      <vt:lpstr>35. Choose best method to copy to lakehouse </vt:lpstr>
      <vt:lpstr>36. Ingest to Notebook, copy to table</vt:lpstr>
      <vt:lpstr>Can also run relative path  / pandas</vt:lpstr>
      <vt:lpstr>37.Save to file or table  </vt:lpstr>
      <vt:lpstr>Why tables ..SQL Endpoint , can access with SQL. </vt:lpstr>
      <vt:lpstr>PowerPoint Presentation</vt:lpstr>
      <vt:lpstr>38. Loading data from a table in Pyspark or SQL </vt:lpstr>
      <vt:lpstr>Inspect button in Spark cell, below on bottom right , Graphs , see below</vt:lpstr>
      <vt:lpstr>Change to a chart and customize it  </vt:lpstr>
      <vt:lpstr>Customizing a chart </vt:lpstr>
      <vt:lpstr>Data frame to list </vt:lpstr>
      <vt:lpstr>Practice Notes</vt:lpstr>
      <vt:lpstr>S7 Manipulating DFs</vt:lpstr>
      <vt:lpstr>41. Reducing Columns </vt:lpstr>
      <vt:lpstr>Adding Columns </vt:lpstr>
      <vt:lpstr>44. Functions Continued</vt:lpstr>
      <vt:lpstr>Using Functions</vt:lpstr>
      <vt:lpstr>45.More Advanced Filtering.</vt:lpstr>
      <vt:lpstr>isIn /</vt:lpstr>
      <vt:lpstr>47. Practice Activity 4.</vt:lpstr>
      <vt:lpstr>47. Practice continued</vt:lpstr>
      <vt:lpstr>48. Practice activity SQL</vt:lpstr>
      <vt:lpstr>50.Converting Data Types</vt:lpstr>
      <vt:lpstr>Convert Data Types </vt:lpstr>
      <vt:lpstr>51. Import using Explicit Schema.</vt:lpstr>
      <vt:lpstr>Display the table and see the data taype </vt:lpstr>
      <vt:lpstr>52. Formating Dates as Strings</vt:lpstr>
      <vt:lpstr>All the date formats </vt:lpstr>
      <vt:lpstr>Using the function concat </vt:lpstr>
      <vt:lpstr>27. Aggregating data and refiltering </vt:lpstr>
      <vt:lpstr>54. Sorting the Results.</vt:lpstr>
      <vt:lpstr>55 Using all 6 sql clauses.</vt:lpstr>
      <vt:lpstr>57. Practice activity (6)</vt:lpstr>
      <vt:lpstr>SQL Part </vt:lpstr>
      <vt:lpstr>90. Resolve issues with Delta Tables File Sozes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Bortz</dc:creator>
  <cp:lastModifiedBy>Graham Bortz</cp:lastModifiedBy>
  <cp:revision>195</cp:revision>
  <dcterms:created xsi:type="dcterms:W3CDTF">2025-08-30T19:07:16Z</dcterms:created>
  <dcterms:modified xsi:type="dcterms:W3CDTF">2025-11-26T05:29:59Z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d8a90e-c522-4829-9625-db8c70f8b095_Enabled">
    <vt:lpwstr>true</vt:lpwstr>
  </property>
  <property fmtid="{D5CDD505-2E9C-101B-9397-08002B2CF9AE}" pid="3" name="MSIP_Label_66d8a90e-c522-4829-9625-db8c70f8b095_SetDate">
    <vt:lpwstr>2025-11-26T05:27:23Z</vt:lpwstr>
  </property>
  <property fmtid="{D5CDD505-2E9C-101B-9397-08002B2CF9AE}" pid="4" name="MSIP_Label_66d8a90e-c522-4829-9625-db8c70f8b095_Method">
    <vt:lpwstr>Privileged</vt:lpwstr>
  </property>
  <property fmtid="{D5CDD505-2E9C-101B-9397-08002B2CF9AE}" pid="5" name="MSIP_Label_66d8a90e-c522-4829-9625-db8c70f8b095_Name">
    <vt:lpwstr>Public</vt:lpwstr>
  </property>
  <property fmtid="{D5CDD505-2E9C-101B-9397-08002B2CF9AE}" pid="6" name="MSIP_Label_66d8a90e-c522-4829-9625-db8c70f8b095_SiteId">
    <vt:lpwstr>cffa6640-7572-4f05-9c64-cd88068c19d4</vt:lpwstr>
  </property>
  <property fmtid="{D5CDD505-2E9C-101B-9397-08002B2CF9AE}" pid="7" name="MSIP_Label_66d8a90e-c522-4829-9625-db8c70f8b095_ActionId">
    <vt:lpwstr>994190f2-b8fa-4926-972e-80339cac3617</vt:lpwstr>
  </property>
  <property fmtid="{D5CDD505-2E9C-101B-9397-08002B2CF9AE}" pid="8" name="MSIP_Label_66d8a90e-c522-4829-9625-db8c70f8b095_ContentBits">
    <vt:lpwstr>0</vt:lpwstr>
  </property>
  <property fmtid="{D5CDD505-2E9C-101B-9397-08002B2CF9AE}" pid="9" name="MSIP_Label_66d8a90e-c522-4829-9625-db8c70f8b095_Tag">
    <vt:lpwstr>10, 0, 1, 1</vt:lpwstr>
  </property>
</Properties>
</file>