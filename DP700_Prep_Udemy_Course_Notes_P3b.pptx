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523" r:id="rId3"/>
    <p:sldId id="524" r:id="rId4"/>
    <p:sldId id="525" r:id="rId5"/>
    <p:sldId id="526" r:id="rId6"/>
    <p:sldId id="527" r:id="rId7"/>
    <p:sldId id="528" r:id="rId8"/>
    <p:sldId id="529" r:id="rId9"/>
    <p:sldId id="530" r:id="rId10"/>
    <p:sldId id="531" r:id="rId11"/>
    <p:sldId id="532" r:id="rId12"/>
    <p:sldId id="533" r:id="rId13"/>
    <p:sldId id="534" r:id="rId14"/>
    <p:sldId id="535" r:id="rId15"/>
    <p:sldId id="536" r:id="rId16"/>
    <p:sldId id="537" r:id="rId17"/>
    <p:sldId id="538" r:id="rId18"/>
    <p:sldId id="539" r:id="rId19"/>
    <p:sldId id="540" r:id="rId20"/>
    <p:sldId id="541" r:id="rId21"/>
    <p:sldId id="542" r:id="rId22"/>
    <p:sldId id="555" r:id="rId23"/>
    <p:sldId id="543" r:id="rId24"/>
    <p:sldId id="54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5" autoAdjust="0"/>
    <p:restoredTop sz="94660"/>
  </p:normalViewPr>
  <p:slideViewPr>
    <p:cSldViewPr snapToGrid="0" showGuides="1">
      <p:cViewPr varScale="1">
        <p:scale>
          <a:sx n="75" d="100"/>
          <a:sy n="75" d="100"/>
        </p:scale>
        <p:origin x="96" y="51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B8A6A-5A34-422D-8812-9341729F2297}" type="datetimeFigureOut">
              <a:rPr lang="en-ZA" smtClean="0"/>
              <a:t>2025/11/26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0CDF3E-0522-486A-A53A-71954008ECB5}" type="slidenum">
              <a:rPr lang="en-ZA" smtClean="0"/>
              <a:t>‹#›</a:t>
            </a:fld>
            <a:endParaRPr lang="en-ZA"/>
          </a:p>
        </p:txBody>
      </p:sp>
    </p:spTree>
    <p:extLst>
      <p:ext uri="{BB962C8B-B14F-4D97-AF65-F5344CB8AC3E}">
        <p14:creationId xmlns:p14="http://schemas.microsoft.com/office/powerpoint/2010/main" val="149847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Clickj</a:t>
            </a:r>
            <a:r>
              <a:rPr lang="en-US" dirty="0"/>
              <a:t> on Source control and you will see your notebook , Select the Notebook…and commit and you see Git Status Synched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2</a:t>
            </a:fld>
            <a:endParaRPr lang="en-ZA"/>
          </a:p>
        </p:txBody>
      </p:sp>
    </p:spTree>
    <p:extLst>
      <p:ext uri="{BB962C8B-B14F-4D97-AF65-F5344CB8AC3E}">
        <p14:creationId xmlns:p14="http://schemas.microsoft.com/office/powerpoint/2010/main" val="2217022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 Go to Branch Main …      , on the Left in </a:t>
            </a:r>
            <a:r>
              <a:rPr lang="en-US" dirty="0" err="1"/>
              <a:t>FabricDev</a:t>
            </a:r>
            <a:r>
              <a:rPr lang="en-US" dirty="0"/>
              <a:t> ,,you do not see anything .. Above it was in the feature </a:t>
            </a:r>
            <a:r>
              <a:rPr lang="en-US" dirty="0" err="1"/>
              <a:t>Brancjh</a:t>
            </a:r>
            <a:r>
              <a:rPr lang="en-US" dirty="0"/>
              <a:t> in your Dev </a:t>
            </a:r>
            <a:r>
              <a:rPr lang="en-US" dirty="0" err="1"/>
              <a:t>Wspace</a:t>
            </a:r>
            <a:r>
              <a:rPr lang="en-US" dirty="0"/>
              <a:t> ..</a:t>
            </a:r>
          </a:p>
          <a:p>
            <a:pPr marL="228600" indent="-228600">
              <a:buAutoNum type="arabicParenR" startAt="2"/>
            </a:pPr>
            <a:r>
              <a:rPr lang="en-US" dirty="0"/>
              <a:t>See where arrow is the Notebook does not appear there. Ie IT IS NOT IN THE MAIN BRANCH.!!! We have not done a PULL </a:t>
            </a:r>
            <a:r>
              <a:rPr lang="en-US" dirty="0" err="1"/>
              <a:t>reqiuest</a:t>
            </a:r>
            <a:r>
              <a:rPr lang="en-US" dirty="0"/>
              <a:t>.</a:t>
            </a:r>
          </a:p>
          <a:p>
            <a:pPr marL="228600" indent="-228600">
              <a:buAutoNum type="arabicParenR" startAt="2"/>
            </a:pPr>
            <a:r>
              <a:rPr lang="en-US" dirty="0"/>
              <a:t>We need to get it to the main branch  WE NEED TO MASKE THE PULL REQYEST.</a:t>
            </a:r>
          </a:p>
          <a:p>
            <a:pPr marL="228600" indent="-228600">
              <a:buAutoNum type="arabicParenR" startAt="2"/>
            </a:pPr>
            <a:r>
              <a:rPr lang="en-US" dirty="0"/>
              <a:t>Go to Branches on the LEFT Panels and go to all in </a:t>
            </a:r>
            <a:r>
              <a:rPr lang="en-US" dirty="0" err="1"/>
              <a:t>ther</a:t>
            </a:r>
            <a:r>
              <a:rPr lang="en-US" dirty="0"/>
              <a:t> central panel;..  See next page.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3</a:t>
            </a:fld>
            <a:endParaRPr lang="en-ZA"/>
          </a:p>
        </p:txBody>
      </p:sp>
    </p:spTree>
    <p:extLst>
      <p:ext uri="{BB962C8B-B14F-4D97-AF65-F5344CB8AC3E}">
        <p14:creationId xmlns:p14="http://schemas.microsoft.com/office/powerpoint/2010/main" val="2658111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 Feature under branch, and then go to pull request.. See bottom left, Middle see New Pull request</a:t>
            </a:r>
          </a:p>
          <a:p>
            <a:r>
              <a:rPr lang="en-US" dirty="0"/>
              <a:t>You </a:t>
            </a:r>
            <a:r>
              <a:rPr lang="en-US" dirty="0" err="1"/>
              <a:t>wiiol</a:t>
            </a:r>
            <a:r>
              <a:rPr lang="en-US" dirty="0"/>
              <a:t> </a:t>
            </a:r>
            <a:r>
              <a:rPr lang="en-US" dirty="0" err="1"/>
              <a:t>thern</a:t>
            </a:r>
            <a:r>
              <a:rPr lang="en-US" dirty="0"/>
              <a:t> see a title description and at the bottom you see a Create Button.</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4</a:t>
            </a:fld>
            <a:endParaRPr lang="en-ZA"/>
          </a:p>
        </p:txBody>
      </p:sp>
    </p:spTree>
    <p:extLst>
      <p:ext uri="{BB962C8B-B14F-4D97-AF65-F5344CB8AC3E}">
        <p14:creationId xmlns:p14="http://schemas.microsoft.com/office/powerpoint/2010/main" val="2810065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on Approve and Click on Complete..</a:t>
            </a:r>
          </a:p>
          <a:p>
            <a:r>
              <a:rPr lang="en-US" dirty="0"/>
              <a:t>See the ticked Boxes , Note the delete ..you have merged the feature1, no need to keep it. </a:t>
            </a:r>
          </a:p>
          <a:p>
            <a:r>
              <a:rPr lang="en-US" dirty="0"/>
              <a:t>Click on Complete Merge /…  see Merging Pull Request.</a:t>
            </a:r>
          </a:p>
          <a:p>
            <a:r>
              <a:rPr lang="en-US" dirty="0"/>
              <a:t>Results in Merged ..bottom Right.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5</a:t>
            </a:fld>
            <a:endParaRPr lang="en-ZA"/>
          </a:p>
        </p:txBody>
      </p:sp>
    </p:spTree>
    <p:extLst>
      <p:ext uri="{BB962C8B-B14F-4D97-AF65-F5344CB8AC3E}">
        <p14:creationId xmlns:p14="http://schemas.microsoft.com/office/powerpoint/2010/main" val="1098522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to Branches / Main</a:t>
            </a:r>
          </a:p>
          <a:p>
            <a:r>
              <a:rPr lang="en-US" dirty="0"/>
              <a:t>Now click on the folder and you see the notebook appears under “main”, it did not appear there before!</a:t>
            </a:r>
          </a:p>
          <a:p>
            <a:r>
              <a:rPr lang="en-US" dirty="0"/>
              <a:t>Now we go back to Live Mode in the Fabric CICD </a:t>
            </a:r>
            <a:r>
              <a:rPr lang="en-US" dirty="0" err="1"/>
              <a:t>Wspace</a:t>
            </a:r>
            <a:r>
              <a:rPr lang="en-US" dirty="0"/>
              <a:t> …REMEMBER WE SHOULD NOT SEE THE ASSET IN THE LIVE MODE UNTILL WE PRESS UPDATE !!!</a:t>
            </a:r>
          </a:p>
          <a:p>
            <a:r>
              <a:rPr lang="en-US" dirty="0"/>
              <a:t>See middle </a:t>
            </a:r>
            <a:r>
              <a:rPr lang="en-US" dirty="0" err="1"/>
              <a:t>bottom..No</a:t>
            </a:r>
            <a:r>
              <a:rPr lang="en-US" dirty="0"/>
              <a:t> Notebook there yet ! </a:t>
            </a:r>
          </a:p>
          <a:p>
            <a:r>
              <a:rPr lang="en-US" dirty="0"/>
              <a:t>See the Source Control in Live Mode has an </a:t>
            </a:r>
            <a:r>
              <a:rPr lang="en-US" dirty="0" err="1"/>
              <a:t>aleret</a:t>
            </a:r>
            <a:r>
              <a:rPr lang="en-US" dirty="0"/>
              <a:t> …red ..click on it and you will </a:t>
            </a:r>
            <a:r>
              <a:rPr lang="en-US" dirty="0" err="1"/>
              <a:t>swee</a:t>
            </a:r>
            <a:r>
              <a:rPr lang="en-US" dirty="0"/>
              <a:t> updates ..bottom right , click on update all button ..see result overleaf </a:t>
            </a:r>
          </a:p>
          <a:p>
            <a:r>
              <a:rPr lang="en-US" dirty="0"/>
              <a:t>All the updates in the main branch will go to the Main Workspace. See overleaf.</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6</a:t>
            </a:fld>
            <a:endParaRPr lang="en-ZA"/>
          </a:p>
        </p:txBody>
      </p:sp>
    </p:spTree>
    <p:extLst>
      <p:ext uri="{BB962C8B-B14F-4D97-AF65-F5344CB8AC3E}">
        <p14:creationId xmlns:p14="http://schemas.microsoft.com/office/powerpoint/2010/main" val="1816915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Eventually you should see Synched</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7</a:t>
            </a:fld>
            <a:endParaRPr lang="en-ZA"/>
          </a:p>
        </p:txBody>
      </p:sp>
    </p:spTree>
    <p:extLst>
      <p:ext uri="{BB962C8B-B14F-4D97-AF65-F5344CB8AC3E}">
        <p14:creationId xmlns:p14="http://schemas.microsoft.com/office/powerpoint/2010/main" val="794507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Everything can be deployed.</a:t>
            </a:r>
          </a:p>
          <a:p>
            <a:r>
              <a:rPr lang="en-US" dirty="0"/>
              <a:t>Lets see how these deployment Pipelines work.</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10</a:t>
            </a:fld>
            <a:endParaRPr lang="en-ZA"/>
          </a:p>
        </p:txBody>
      </p:sp>
    </p:spTree>
    <p:extLst>
      <p:ext uri="{BB962C8B-B14F-4D97-AF65-F5344CB8AC3E}">
        <p14:creationId xmlns:p14="http://schemas.microsoft.com/office/powerpoint/2010/main" val="3867204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We need to create new workspaces </a:t>
            </a:r>
            <a:r>
              <a:rPr lang="en-US" dirty="0" err="1"/>
              <a:t>ie</a:t>
            </a:r>
            <a:r>
              <a:rPr lang="en-US" dirty="0"/>
              <a:t> QA / Prod </a:t>
            </a:r>
          </a:p>
          <a:p>
            <a:pPr marL="228600" indent="-228600">
              <a:buAutoNum type="arabicParenR"/>
            </a:pPr>
            <a:r>
              <a:rPr lang="en-US" dirty="0"/>
              <a:t>Shown above is Prod.</a:t>
            </a:r>
          </a:p>
          <a:p>
            <a:pPr marL="228600" indent="-228600">
              <a:buAutoNum type="arabicParenR"/>
            </a:pPr>
            <a:r>
              <a:rPr lang="en-US" dirty="0"/>
              <a:t>See Deployment Pipelines, Click New Pipeline </a:t>
            </a:r>
          </a:p>
          <a:p>
            <a:pPr marL="228600" indent="-228600">
              <a:buAutoNum type="arabicParenR"/>
            </a:pPr>
            <a:r>
              <a:rPr lang="en-US" dirty="0" err="1"/>
              <a:t>Dev_Test_Prod</a:t>
            </a:r>
            <a:r>
              <a:rPr lang="en-US" dirty="0"/>
              <a:t> is generic </a:t>
            </a:r>
            <a:r>
              <a:rPr lang="en-US" dirty="0" err="1"/>
              <a:t>stabdard</a:t>
            </a:r>
            <a:r>
              <a:rPr lang="en-US" dirty="0"/>
              <a:t> to follow.</a:t>
            </a:r>
          </a:p>
          <a:p>
            <a:pPr marL="228600" indent="-228600">
              <a:buAutoNum type="arabicParenR"/>
            </a:pPr>
            <a:r>
              <a:rPr lang="en-US" dirty="0"/>
              <a:t>Now we =need to </a:t>
            </a:r>
            <a:r>
              <a:rPr lang="en-US" dirty="0" err="1"/>
              <a:t>attache</a:t>
            </a:r>
            <a:r>
              <a:rPr lang="en-US" dirty="0"/>
              <a:t> the workspace to Dev.. Get the pencil in Dev .. See Stage Settings , Development , set as Public .. See the tick </a:t>
            </a:r>
          </a:p>
          <a:p>
            <a:pPr marL="228600" indent="-228600">
              <a:buAutoNum type="arabicParenR"/>
            </a:pPr>
            <a:r>
              <a:rPr lang="en-US" dirty="0"/>
              <a:t>Then Go to Test ..</a:t>
            </a:r>
            <a:r>
              <a:rPr lang="en-US" dirty="0" err="1"/>
              <a:t>etc</a:t>
            </a:r>
            <a:r>
              <a:rPr lang="en-US" dirty="0"/>
              <a:t> and </a:t>
            </a:r>
            <a:r>
              <a:rPr lang="en-US" dirty="0" err="1"/>
              <a:t>Proiduction</a:t>
            </a:r>
            <a:r>
              <a:rPr lang="en-US" dirty="0"/>
              <a:t> ..CREATE and CONTINUE!</a:t>
            </a:r>
          </a:p>
          <a:p>
            <a:pPr marL="228600" indent="-228600">
              <a:buAutoNum type="arabicParenR"/>
            </a:pP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11</a:t>
            </a:fld>
            <a:endParaRPr lang="en-ZA"/>
          </a:p>
        </p:txBody>
      </p:sp>
    </p:spTree>
    <p:extLst>
      <p:ext uri="{BB962C8B-B14F-4D97-AF65-F5344CB8AC3E}">
        <p14:creationId xmlns:p14="http://schemas.microsoft.com/office/powerpoint/2010/main" val="10830481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assign the previous empty workspaces to the 3 blocks and click the tick in all 3 </a:t>
            </a:r>
          </a:p>
          <a:p>
            <a:r>
              <a:rPr lang="en-US" dirty="0"/>
              <a:t>After each stage it will be assigned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13</a:t>
            </a:fld>
            <a:endParaRPr lang="en-ZA"/>
          </a:p>
        </p:txBody>
      </p:sp>
    </p:spTree>
    <p:extLst>
      <p:ext uri="{BB962C8B-B14F-4D97-AF65-F5344CB8AC3E}">
        <p14:creationId xmlns:p14="http://schemas.microsoft.com/office/powerpoint/2010/main" val="4082688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Click on Dev First , you will see the notebook and all assets as they are in that </a:t>
            </a:r>
            <a:r>
              <a:rPr lang="en-US" dirty="0" err="1"/>
              <a:t>wspace</a:t>
            </a:r>
            <a:r>
              <a:rPr lang="en-US" dirty="0"/>
              <a:t> .. Only in the Dev ..Note the other 2 were empty.</a:t>
            </a:r>
          </a:p>
          <a:p>
            <a:pPr marL="228600" indent="-228600">
              <a:buAutoNum type="arabicParenR"/>
            </a:pPr>
            <a:r>
              <a:rPr lang="en-US" dirty="0"/>
              <a:t>So we click on Dev. And see its notebook…Now we click on QA and see its notebook., see what it says. .. Only in Source which means is needs to be INSERTED into that </a:t>
            </a:r>
            <a:r>
              <a:rPr lang="en-US" dirty="0" err="1"/>
              <a:t>wspace</a:t>
            </a:r>
            <a:r>
              <a:rPr lang="en-US" dirty="0"/>
              <a:t> </a:t>
            </a:r>
          </a:p>
          <a:p>
            <a:pPr marL="228600" indent="-228600">
              <a:buAutoNum type="arabicParenR"/>
            </a:pPr>
            <a:r>
              <a:rPr lang="en-US" dirty="0"/>
              <a:t>If you go to production ..there is nothing as it does not see Dev ..only QA</a:t>
            </a:r>
          </a:p>
          <a:p>
            <a:pPr marL="228600" indent="-228600">
              <a:buAutoNum type="arabicParenR"/>
            </a:pPr>
            <a:r>
              <a:rPr lang="en-US" dirty="0"/>
              <a:t>So now click on QA and Deploy from Development in the drop </a:t>
            </a:r>
            <a:r>
              <a:rPr lang="en-US" dirty="0" err="1"/>
              <a:t>downm</a:t>
            </a:r>
            <a:r>
              <a:rPr lang="en-US" dirty="0"/>
              <a:t> above the stage item </a:t>
            </a:r>
          </a:p>
          <a:p>
            <a:pPr marL="228600" indent="-228600">
              <a:buAutoNum type="arabicParenR"/>
            </a:pPr>
            <a:r>
              <a:rPr lang="en-US" dirty="0"/>
              <a:t>Now we go back to Dev .. Seer the Notebook ..then back top QA, Deploy from Dev and click on the Select Stage Item Box , click on box to choose the item or all the items </a:t>
            </a:r>
            <a:endParaRPr lang="en-ZA" dirty="0"/>
          </a:p>
          <a:p>
            <a:pPr marL="228600" indent="-228600">
              <a:buAutoNum type="arabicParenR"/>
            </a:pPr>
            <a:r>
              <a:rPr lang="en-ZA" dirty="0"/>
              <a:t>The box is visible on Hover, notice the button Deploy! ..Click on it!  See overleaf</a:t>
            </a:r>
            <a:endParaRPr lang="en-US" dirty="0"/>
          </a:p>
        </p:txBody>
      </p:sp>
      <p:sp>
        <p:nvSpPr>
          <p:cNvPr id="4" name="Slide Number Placeholder 3"/>
          <p:cNvSpPr>
            <a:spLocks noGrp="1"/>
          </p:cNvSpPr>
          <p:nvPr>
            <p:ph type="sldNum" sz="quarter" idx="5"/>
          </p:nvPr>
        </p:nvSpPr>
        <p:spPr/>
        <p:txBody>
          <a:bodyPr/>
          <a:lstStyle/>
          <a:p>
            <a:fld id="{C6B6BF0D-08FC-4CF2-8F18-07FB08671681}" type="slidenum">
              <a:rPr lang="en-ZA" smtClean="0"/>
              <a:t>14</a:t>
            </a:fld>
            <a:endParaRPr lang="en-ZA"/>
          </a:p>
        </p:txBody>
      </p:sp>
    </p:spTree>
    <p:extLst>
      <p:ext uri="{BB962C8B-B14F-4D97-AF65-F5344CB8AC3E}">
        <p14:creationId xmlns:p14="http://schemas.microsoft.com/office/powerpoint/2010/main" val="848892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Deploy. The results shows the Notebook now </a:t>
            </a:r>
            <a:r>
              <a:rPr lang="en-US" dirty="0" err="1"/>
              <a:t>deployes</a:t>
            </a:r>
            <a:r>
              <a:rPr lang="en-US" dirty="0"/>
              <a:t> to QA. Now see </a:t>
            </a:r>
            <a:r>
              <a:rPr lang="en-US" dirty="0" err="1"/>
              <a:t>thye</a:t>
            </a:r>
            <a:r>
              <a:rPr lang="en-US" dirty="0"/>
              <a:t> Notebook in QA environment. Notice message in QA Deployed… successful deployment.. </a:t>
            </a:r>
          </a:p>
          <a:p>
            <a:r>
              <a:rPr lang="en-US" dirty="0"/>
              <a:t>Same As Source ..</a:t>
            </a:r>
          </a:p>
          <a:p>
            <a:r>
              <a:rPr lang="en-US" dirty="0"/>
              <a:t>See now only in Source . As the </a:t>
            </a:r>
            <a:r>
              <a:rPr lang="en-US" dirty="0" err="1"/>
              <a:t>assests</a:t>
            </a:r>
            <a:r>
              <a:rPr lang="en-US" dirty="0"/>
              <a:t> are available in QA..</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15</a:t>
            </a:fld>
            <a:endParaRPr lang="en-ZA"/>
          </a:p>
        </p:txBody>
      </p:sp>
    </p:spTree>
    <p:extLst>
      <p:ext uri="{BB962C8B-B14F-4D97-AF65-F5344CB8AC3E}">
        <p14:creationId xmlns:p14="http://schemas.microsoft.com/office/powerpoint/2010/main" val="3882153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should test the deployment in QA before deploy to Production , now all changes are in production </a:t>
            </a:r>
          </a:p>
          <a:p>
            <a:r>
              <a:rPr lang="en-US" dirty="0"/>
              <a:t>See same as source , when click on Production.</a:t>
            </a:r>
          </a:p>
          <a:p>
            <a:r>
              <a:rPr lang="en-US" dirty="0"/>
              <a:t>We are now going to Deploy to Production my environment </a:t>
            </a:r>
          </a:p>
          <a:p>
            <a:r>
              <a:rPr lang="en-US" dirty="0"/>
              <a:t>Everything is tracked in the notebook , if I change something.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16</a:t>
            </a:fld>
            <a:endParaRPr lang="en-ZA"/>
          </a:p>
        </p:txBody>
      </p:sp>
    </p:spTree>
    <p:extLst>
      <p:ext uri="{BB962C8B-B14F-4D97-AF65-F5344CB8AC3E}">
        <p14:creationId xmlns:p14="http://schemas.microsoft.com/office/powerpoint/2010/main" val="1897979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US" dirty="0"/>
              <a:t>He has a main workspace DP700 Dev ..where he has many assets. He wants to deploy this one throughout… </a:t>
            </a:r>
          </a:p>
          <a:p>
            <a:pPr marL="228600" indent="-228600">
              <a:buAutoNum type="arabicParenR"/>
            </a:pPr>
            <a:r>
              <a:rPr lang="en-US" dirty="0"/>
              <a:t>We make a QA </a:t>
            </a:r>
            <a:r>
              <a:rPr lang="en-US" dirty="0" err="1"/>
              <a:t>wspace</a:t>
            </a:r>
            <a:r>
              <a:rPr lang="en-US" dirty="0"/>
              <a:t> and Prod Space for our </a:t>
            </a:r>
            <a:r>
              <a:rPr lang="en-US" dirty="0" err="1"/>
              <a:t>wspace</a:t>
            </a:r>
            <a:r>
              <a:rPr lang="en-US" dirty="0"/>
              <a:t>..</a:t>
            </a:r>
            <a:r>
              <a:rPr lang="en-US" dirty="0" err="1"/>
              <a:t>ie</a:t>
            </a:r>
            <a:r>
              <a:rPr lang="en-US" dirty="0"/>
              <a:t> Say </a:t>
            </a:r>
            <a:r>
              <a:rPr lang="en-US" dirty="0" err="1"/>
              <a:t>WFlowTest</a:t>
            </a:r>
            <a:endParaRPr lang="en-US" dirty="0"/>
          </a:p>
          <a:p>
            <a:pPr marL="228600" indent="-228600">
              <a:buAutoNum type="arabicParenR"/>
            </a:pPr>
            <a:r>
              <a:rPr lang="en-US" dirty="0"/>
              <a:t>The 3 dots </a:t>
            </a:r>
            <a:r>
              <a:rPr lang="en-US" dirty="0" err="1"/>
              <a:t>ansDeplyment</a:t>
            </a:r>
            <a:r>
              <a:rPr lang="en-US" dirty="0"/>
              <a:t> Pipeline , New Pipeline </a:t>
            </a:r>
          </a:p>
          <a:p>
            <a:pPr marL="228600" indent="-228600">
              <a:buAutoNum type="arabicParenR"/>
            </a:pPr>
            <a:r>
              <a:rPr lang="en-US" dirty="0"/>
              <a:t>Next Rename the Test to QA , save an create and continue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17</a:t>
            </a:fld>
            <a:endParaRPr lang="en-ZA"/>
          </a:p>
        </p:txBody>
      </p:sp>
    </p:spTree>
    <p:extLst>
      <p:ext uri="{BB962C8B-B14F-4D97-AF65-F5344CB8AC3E}">
        <p14:creationId xmlns:p14="http://schemas.microsoft.com/office/powerpoint/2010/main" val="1017748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existing </a:t>
            </a:r>
            <a:r>
              <a:rPr lang="en-US" dirty="0" err="1"/>
              <a:t>wspace</a:t>
            </a:r>
            <a:r>
              <a:rPr lang="en-US" dirty="0"/>
              <a:t> and the </a:t>
            </a:r>
            <a:r>
              <a:rPr lang="en-US" dirty="0" err="1"/>
              <a:t>ther</a:t>
            </a:r>
            <a:r>
              <a:rPr lang="en-US" dirty="0"/>
              <a:t> 2 , QA and Prod. Then assign them to the blocks </a:t>
            </a:r>
          </a:p>
          <a:p>
            <a:r>
              <a:rPr lang="en-US" dirty="0"/>
              <a:t>May get a message .. Dataflow1 , not supported , Continue </a:t>
            </a:r>
          </a:p>
          <a:p>
            <a:r>
              <a:rPr lang="en-US" dirty="0"/>
              <a:t>THEN QA and assign , Then Production …</a:t>
            </a:r>
          </a:p>
          <a:p>
            <a:r>
              <a:rPr lang="en-US" dirty="0"/>
              <a:t>The go back to DEV and see long list of assets , GO Back to QA , and again you will see only in source as before ,  see </a:t>
            </a:r>
            <a:r>
              <a:rPr lang="en-US" dirty="0" err="1"/>
              <a:t>centre</a:t>
            </a:r>
            <a:r>
              <a:rPr lang="en-US" dirty="0"/>
              <a:t> bottom! </a:t>
            </a:r>
          </a:p>
          <a:p>
            <a:r>
              <a:rPr lang="en-US" dirty="0"/>
              <a:t>Now we want to put all the items if they are ready , we don’t have to deploy all ..pick what you think is ready. And Click On Deploy.. And you get a list prior to actual deploy so that u can check</a:t>
            </a:r>
          </a:p>
          <a:p>
            <a:endParaRPr lang="en-US" dirty="0"/>
          </a:p>
          <a:p>
            <a:r>
              <a:rPr lang="en-US" dirty="0"/>
              <a:t>Some stuff may be unsupported ..</a:t>
            </a:r>
            <a:r>
              <a:rPr lang="en-US" dirty="0" err="1"/>
              <a:t>sql</a:t>
            </a:r>
            <a:r>
              <a:rPr lang="en-US" dirty="0"/>
              <a:t> endpoints </a:t>
            </a:r>
            <a:r>
              <a:rPr lang="en-US" dirty="0" err="1"/>
              <a:t>etc</a:t>
            </a:r>
            <a:r>
              <a:rPr lang="en-US" dirty="0"/>
              <a:t> </a:t>
            </a:r>
          </a:p>
          <a:p>
            <a:endParaRPr lang="en-US" dirty="0"/>
          </a:p>
          <a:p>
            <a:r>
              <a:rPr lang="en-US" dirty="0"/>
              <a:t>You may get some errors / this is in preview …Turn off the top button and redeploy , see bottom right , New Deployment Pipeline , OR refresh the page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18</a:t>
            </a:fld>
            <a:endParaRPr lang="en-ZA"/>
          </a:p>
        </p:txBody>
      </p:sp>
    </p:spTree>
    <p:extLst>
      <p:ext uri="{BB962C8B-B14F-4D97-AF65-F5344CB8AC3E}">
        <p14:creationId xmlns:p14="http://schemas.microsoft.com/office/powerpoint/2010/main" val="27063359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some of things unsupported ; just a </a:t>
            </a:r>
            <a:r>
              <a:rPr lang="en-US" dirty="0" err="1"/>
              <a:t>sql</a:t>
            </a:r>
            <a:r>
              <a:rPr lang="en-US" dirty="0"/>
              <a:t> endpoint ..no problem..</a:t>
            </a:r>
          </a:p>
          <a:p>
            <a:r>
              <a:rPr lang="en-US" dirty="0"/>
              <a:t>Sometimes u will see errors , it’s a new Ui </a:t>
            </a:r>
            <a:r>
              <a:rPr lang="en-US" dirty="0" err="1"/>
              <a:t>ie</a:t>
            </a:r>
            <a:r>
              <a:rPr lang="en-US" dirty="0"/>
              <a:t> new deployment pipelines </a:t>
            </a:r>
          </a:p>
          <a:p>
            <a:r>
              <a:rPr lang="en-US" dirty="0"/>
              <a:t>Sometimes it will show different from source..</a:t>
            </a:r>
          </a:p>
          <a:p>
            <a:r>
              <a:rPr lang="en-US" dirty="0"/>
              <a:t>The ones that we did not deploy(on purpose)  ..will show only in Source still. Allows you to keep track continuously.</a:t>
            </a:r>
          </a:p>
          <a:p>
            <a:r>
              <a:rPr lang="en-US" dirty="0"/>
              <a:t>We then go to production and  select all, then deploy.</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19</a:t>
            </a:fld>
            <a:endParaRPr lang="en-ZA"/>
          </a:p>
        </p:txBody>
      </p:sp>
    </p:spTree>
    <p:extLst>
      <p:ext uri="{BB962C8B-B14F-4D97-AF65-F5344CB8AC3E}">
        <p14:creationId xmlns:p14="http://schemas.microsoft.com/office/powerpoint/2010/main" val="1354341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though it shows unsupported it will deploy all of them. </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21</a:t>
            </a:fld>
            <a:endParaRPr lang="en-ZA"/>
          </a:p>
        </p:txBody>
      </p:sp>
    </p:spTree>
    <p:extLst>
      <p:ext uri="{BB962C8B-B14F-4D97-AF65-F5344CB8AC3E}">
        <p14:creationId xmlns:p14="http://schemas.microsoft.com/office/powerpoint/2010/main" val="4085856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old interface , you </a:t>
            </a:r>
            <a:r>
              <a:rPr lang="en-US" dirty="0" err="1"/>
              <a:t>cn</a:t>
            </a:r>
            <a:r>
              <a:rPr lang="en-US" dirty="0"/>
              <a:t> </a:t>
            </a:r>
            <a:r>
              <a:rPr lang="en-US" dirty="0" err="1"/>
              <a:t>presss</a:t>
            </a:r>
            <a:r>
              <a:rPr lang="en-US" dirty="0"/>
              <a:t> on button and compare the resources between pipeline stages </a:t>
            </a:r>
          </a:p>
          <a:p>
            <a:r>
              <a:rPr lang="en-US" dirty="0"/>
              <a:t>The </a:t>
            </a:r>
            <a:r>
              <a:rPr lang="en-US" dirty="0" err="1"/>
              <a:t>oprange</a:t>
            </a:r>
            <a:r>
              <a:rPr lang="en-US" dirty="0"/>
              <a:t> cross means there is a mismatch …</a:t>
            </a:r>
          </a:p>
          <a:p>
            <a:r>
              <a:rPr lang="en-US" dirty="0"/>
              <a:t>QA and Prod are fine </a:t>
            </a:r>
          </a:p>
          <a:p>
            <a:r>
              <a:rPr lang="en-US" dirty="0"/>
              <a:t>Always </a:t>
            </a:r>
            <a:r>
              <a:rPr lang="en-US" dirty="0" err="1"/>
              <a:t>compatre</a:t>
            </a:r>
            <a:r>
              <a:rPr lang="en-US" dirty="0"/>
              <a:t> before you deploy , but you can do the deploy without </a:t>
            </a:r>
            <a:r>
              <a:rPr lang="en-US" dirty="0" err="1"/>
              <a:t>coparing</a:t>
            </a:r>
            <a:r>
              <a:rPr lang="en-US" dirty="0"/>
              <a:t>.</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22</a:t>
            </a:fld>
            <a:endParaRPr lang="en-ZA"/>
          </a:p>
        </p:txBody>
      </p:sp>
    </p:spTree>
    <p:extLst>
      <p:ext uri="{BB962C8B-B14F-4D97-AF65-F5344CB8AC3E}">
        <p14:creationId xmlns:p14="http://schemas.microsoft.com/office/powerpoint/2010/main" val="3082355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get error messages </a:t>
            </a:r>
          </a:p>
          <a:p>
            <a:r>
              <a:rPr lang="en-US" dirty="0"/>
              <a:t>Go to documentation on Deployment pipelines and see message</a:t>
            </a:r>
          </a:p>
          <a:p>
            <a:r>
              <a:rPr lang="en-US" dirty="0"/>
              <a:t>Get list of supported items , many in Preview, </a:t>
            </a:r>
          </a:p>
          <a:p>
            <a:r>
              <a:rPr lang="en-US" dirty="0"/>
              <a:t>Don’t deploy activator or environment ..these </a:t>
            </a:r>
            <a:r>
              <a:rPr lang="en-US" dirty="0" err="1"/>
              <a:t>rae</a:t>
            </a:r>
            <a:r>
              <a:rPr lang="en-US" dirty="0"/>
              <a:t> in </a:t>
            </a:r>
            <a:r>
              <a:rPr lang="en-US" dirty="0" err="1"/>
              <a:t>Prebview</a:t>
            </a:r>
            <a:r>
              <a:rPr lang="en-US" dirty="0"/>
              <a:t>..</a:t>
            </a:r>
            <a:endParaRPr lang="en-ZA" dirty="0"/>
          </a:p>
        </p:txBody>
      </p:sp>
      <p:sp>
        <p:nvSpPr>
          <p:cNvPr id="4" name="Slide Number Placeholder 3"/>
          <p:cNvSpPr>
            <a:spLocks noGrp="1"/>
          </p:cNvSpPr>
          <p:nvPr>
            <p:ph type="sldNum" sz="quarter" idx="5"/>
          </p:nvPr>
        </p:nvSpPr>
        <p:spPr/>
        <p:txBody>
          <a:bodyPr/>
          <a:lstStyle/>
          <a:p>
            <a:fld id="{C6B6BF0D-08FC-4CF2-8F18-07FB08671681}" type="slidenum">
              <a:rPr lang="en-ZA" smtClean="0"/>
              <a:t>23</a:t>
            </a:fld>
            <a:endParaRPr lang="en-ZA"/>
          </a:p>
        </p:txBody>
      </p:sp>
    </p:spTree>
    <p:extLst>
      <p:ext uri="{BB962C8B-B14F-4D97-AF65-F5344CB8AC3E}">
        <p14:creationId xmlns:p14="http://schemas.microsoft.com/office/powerpoint/2010/main" val="1160729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A5A2-A336-3023-679B-03A208A82A7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D7327BD9-8EBD-6CCC-E17C-6F4C29ECBB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EF829F6E-70F3-37AB-AFC3-19916CF18255}"/>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D2EF904E-EBF4-1412-C96D-BCE65B8E2A0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41A6FC4-21AC-D627-3778-00B580131AD9}"/>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19943189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A84E2F-648A-4B77-2149-B9AB7AC8059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7FC591B3-FB3B-CA77-DB81-BB11185015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0D7A1B0-C6CC-2E5F-D5AB-417770D55A5B}"/>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96693D79-C934-17FA-5AB4-1D642CB584C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9066FCD5-AEC9-1B70-CFE9-3BC00566CD86}"/>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4286400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80D8D-3661-60C0-0870-340575DCBF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8DAD0669-1465-D31E-6C0A-BE9C2282CA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11E62E-625B-CE82-9C8E-EEC6FC69CF00}"/>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1565F2C3-E2D7-C27C-C2A6-5DFC9696C3E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E6586B1A-FF98-63FF-0865-A8727D8DE41D}"/>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3394964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A14BA-0058-9CD5-3456-452DD27B8E7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F194958-DAEA-BA12-DE84-EF4690554A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13586488-88D5-A3DA-4B89-EF35006C0E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AE658479-1712-B74B-C6AE-F364EB944DEF}"/>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6" name="Footer Placeholder 5">
            <a:extLst>
              <a:ext uri="{FF2B5EF4-FFF2-40B4-BE49-F238E27FC236}">
                <a16:creationId xmlns:a16="http://schemas.microsoft.com/office/drawing/2014/main" id="{1153326D-830F-9C73-0DF6-210AC83060A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57BFE6E-F8C2-73AB-F538-1998775CF533}"/>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1995299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7ECB7-E09B-3506-8990-D4231D5F62E4}"/>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7210F74-96B7-B881-DCEB-58D1D071D4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82F236-1E32-CBC2-4FC4-73B7A6C3D3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126E86A9-7A89-21B3-69FC-D9DF08F3EA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2CF9B-CAF6-5816-5048-E2DC44DE3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6A20CBFE-F09B-8DFF-5F85-EC9134AB0DE3}"/>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8" name="Footer Placeholder 7">
            <a:extLst>
              <a:ext uri="{FF2B5EF4-FFF2-40B4-BE49-F238E27FC236}">
                <a16:creationId xmlns:a16="http://schemas.microsoft.com/office/drawing/2014/main" id="{3C3DB966-41D8-94DA-7EFF-2363CF7F509A}"/>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18E9FF54-B203-4932-D68A-127D763B533D}"/>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236557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A4ADC-7D34-2E3B-AF9D-DE98F618829B}"/>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A2578F9D-8A5E-783D-11FC-6F47097FCD66}"/>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4" name="Footer Placeholder 3">
            <a:extLst>
              <a:ext uri="{FF2B5EF4-FFF2-40B4-BE49-F238E27FC236}">
                <a16:creationId xmlns:a16="http://schemas.microsoft.com/office/drawing/2014/main" id="{9BC003F0-5564-A161-C5BF-60591AF93FB3}"/>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5DE92D8C-D178-50CA-0B3D-A924E6109750}"/>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162797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4E9185-1867-2B99-9AC9-06AACC9C20D0}"/>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3" name="Footer Placeholder 2">
            <a:extLst>
              <a:ext uri="{FF2B5EF4-FFF2-40B4-BE49-F238E27FC236}">
                <a16:creationId xmlns:a16="http://schemas.microsoft.com/office/drawing/2014/main" id="{E3C163B6-E44A-B9DE-90BD-EEFD98F05E49}"/>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8FE49E74-5B89-20E0-A3FC-0ABB5C62C55E}"/>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26562539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AA8AB-FA0E-E231-84C5-BB64CACEF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70E07583-4FB4-6E4E-315B-8BAC67D710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2E8D11EC-481D-97CC-3317-66D2C530C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24D4E8-7510-3E9F-FFCF-017B7AAB26D4}"/>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6" name="Footer Placeholder 5">
            <a:extLst>
              <a:ext uri="{FF2B5EF4-FFF2-40B4-BE49-F238E27FC236}">
                <a16:creationId xmlns:a16="http://schemas.microsoft.com/office/drawing/2014/main" id="{A6938EFD-395F-3A8E-4147-2E757507AB10}"/>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CD4632E4-4D6B-4D75-AE20-6EF925BFDC3C}"/>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2635969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39E2-0484-8251-3ABB-C0E14D0436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77AADC99-ED1C-8BD4-F94A-AFDE400D88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DEE706CA-4D8F-E003-82A3-50ACF1D9E0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6CBDAF-AF5B-B4B6-13E0-FB0A420B02B6}"/>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6" name="Footer Placeholder 5">
            <a:extLst>
              <a:ext uri="{FF2B5EF4-FFF2-40B4-BE49-F238E27FC236}">
                <a16:creationId xmlns:a16="http://schemas.microsoft.com/office/drawing/2014/main" id="{E71A9143-A006-21CF-D368-DFB3B99AFA8B}"/>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DC45E215-A55C-34CA-9743-042BFB109BC5}"/>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239096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76164-2816-369D-4046-68FA13C0C17F}"/>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5A8B7ECF-96F5-3256-F216-1D7FB1FF49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46F8108-F397-54BA-690C-D2903D3E7CF2}"/>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5A2ED153-20D3-C2B3-ED57-D69A9C3F031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5C4FFD9F-4946-E782-2964-387A39F12D8C}"/>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1795039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45951C-D773-F5AC-67E3-FC2D8B05457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07C2171A-3B2B-89A5-155D-C42FFD14DA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5470CA3-34FE-BF57-130E-0135EE844EA1}"/>
              </a:ext>
            </a:extLst>
          </p:cNvPr>
          <p:cNvSpPr>
            <a:spLocks noGrp="1"/>
          </p:cNvSpPr>
          <p:nvPr>
            <p:ph type="dt" sz="half" idx="10"/>
          </p:nvPr>
        </p:nvSpPr>
        <p:spPr/>
        <p:txBody>
          <a:body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D013345C-FECD-6EE5-6A81-A12996DFBB6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CCEA627-DF10-6D42-4C60-38910347C7B1}"/>
              </a:ext>
            </a:extLst>
          </p:cNvPr>
          <p:cNvSpPr>
            <a:spLocks noGrp="1"/>
          </p:cNvSpPr>
          <p:nvPr>
            <p:ph type="sldNum" sz="quarter" idx="12"/>
          </p:nvPr>
        </p:nvSpPr>
        <p:spPr/>
        <p:txBody>
          <a:bodyPr/>
          <a:lstStyle/>
          <a:p>
            <a:fld id="{E40CB2ED-8EBB-4ECE-865F-A2FAA64EC7DF}" type="slidenum">
              <a:rPr lang="en-ZA" smtClean="0"/>
              <a:t>‹#›</a:t>
            </a:fld>
            <a:endParaRPr lang="en-ZA"/>
          </a:p>
        </p:txBody>
      </p:sp>
    </p:spTree>
    <p:extLst>
      <p:ext uri="{BB962C8B-B14F-4D97-AF65-F5344CB8AC3E}">
        <p14:creationId xmlns:p14="http://schemas.microsoft.com/office/powerpoint/2010/main" val="1029678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4ED110-E667-3AA3-8784-9C15B765B2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3EC2B26C-6577-9684-56BC-9E512B93CF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772115B-EBA6-9DBD-FD1B-C0533579FB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AE65EB-15DA-4392-9CC0-3010BD662886}" type="datetimeFigureOut">
              <a:rPr lang="en-ZA" smtClean="0"/>
              <a:t>2025/11/26</a:t>
            </a:fld>
            <a:endParaRPr lang="en-ZA"/>
          </a:p>
        </p:txBody>
      </p:sp>
      <p:sp>
        <p:nvSpPr>
          <p:cNvPr id="5" name="Footer Placeholder 4">
            <a:extLst>
              <a:ext uri="{FF2B5EF4-FFF2-40B4-BE49-F238E27FC236}">
                <a16:creationId xmlns:a16="http://schemas.microsoft.com/office/drawing/2014/main" id="{BCB55B91-9129-0075-C2BF-3E16DA0BA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120596FC-4FB3-1E2A-9BB4-F161ED1BBD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0CB2ED-8EBB-4ECE-865F-A2FAA64EC7DF}" type="slidenum">
              <a:rPr lang="en-ZA" smtClean="0"/>
              <a:t>‹#›</a:t>
            </a:fld>
            <a:endParaRPr lang="en-ZA"/>
          </a:p>
        </p:txBody>
      </p:sp>
    </p:spTree>
    <p:extLst>
      <p:ext uri="{BB962C8B-B14F-4D97-AF65-F5344CB8AC3E}">
        <p14:creationId xmlns:p14="http://schemas.microsoft.com/office/powerpoint/2010/main" val="1564911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1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2AE59-F366-1EB3-63FB-68E17A69DBA3}"/>
              </a:ext>
            </a:extLst>
          </p:cNvPr>
          <p:cNvSpPr>
            <a:spLocks noGrp="1"/>
          </p:cNvSpPr>
          <p:nvPr>
            <p:ph type="ctrTitle"/>
          </p:nvPr>
        </p:nvSpPr>
        <p:spPr/>
        <p:txBody>
          <a:bodyPr/>
          <a:lstStyle/>
          <a:p>
            <a:r>
              <a:rPr lang="en-US" dirty="0" err="1"/>
              <a:t>Patrt</a:t>
            </a:r>
            <a:r>
              <a:rPr lang="en-US"/>
              <a:t> 3 b</a:t>
            </a:r>
            <a:endParaRPr lang="en-ZA"/>
          </a:p>
        </p:txBody>
      </p:sp>
      <p:sp>
        <p:nvSpPr>
          <p:cNvPr id="3" name="Subtitle 2">
            <a:extLst>
              <a:ext uri="{FF2B5EF4-FFF2-40B4-BE49-F238E27FC236}">
                <a16:creationId xmlns:a16="http://schemas.microsoft.com/office/drawing/2014/main" id="{E9C2A444-9E20-E791-2006-6BF05CADC75F}"/>
              </a:ext>
            </a:extLst>
          </p:cNvPr>
          <p:cNvSpPr>
            <a:spLocks noGrp="1"/>
          </p:cNvSpPr>
          <p:nvPr>
            <p:ph type="subTitle" idx="1"/>
          </p:nvPr>
        </p:nvSpPr>
        <p:spPr/>
        <p:txBody>
          <a:bodyPr/>
          <a:lstStyle/>
          <a:p>
            <a:endParaRPr lang="en-ZA"/>
          </a:p>
        </p:txBody>
      </p:sp>
    </p:spTree>
    <p:extLst>
      <p:ext uri="{BB962C8B-B14F-4D97-AF65-F5344CB8AC3E}">
        <p14:creationId xmlns:p14="http://schemas.microsoft.com/office/powerpoint/2010/main" val="1051429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DAC45-5567-73C2-20B1-039F9D55AD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5CDD8-AAE7-0805-473E-117295631E4A}"/>
              </a:ext>
            </a:extLst>
          </p:cNvPr>
          <p:cNvSpPr>
            <a:spLocks noGrp="1"/>
          </p:cNvSpPr>
          <p:nvPr>
            <p:ph type="title"/>
          </p:nvPr>
        </p:nvSpPr>
        <p:spPr>
          <a:xfrm>
            <a:off x="838200" y="365126"/>
            <a:ext cx="10515600" cy="170133"/>
          </a:xfrm>
        </p:spPr>
        <p:txBody>
          <a:bodyPr>
            <a:normAutofit fontScale="90000"/>
          </a:bodyPr>
          <a:lstStyle/>
          <a:p>
            <a:r>
              <a:rPr lang="en-US" dirty="0"/>
              <a:t>137, Feature Branches </a:t>
            </a:r>
            <a:endParaRPr lang="en-ZA" dirty="0"/>
          </a:p>
        </p:txBody>
      </p:sp>
      <p:pic>
        <p:nvPicPr>
          <p:cNvPr id="5" name="Content Placeholder 4">
            <a:extLst>
              <a:ext uri="{FF2B5EF4-FFF2-40B4-BE49-F238E27FC236}">
                <a16:creationId xmlns:a16="http://schemas.microsoft.com/office/drawing/2014/main" id="{317F60C6-0E82-65BF-4FF2-61E0AB70607C}"/>
              </a:ext>
            </a:extLst>
          </p:cNvPr>
          <p:cNvPicPr>
            <a:picLocks noGrp="1" noChangeAspect="1"/>
          </p:cNvPicPr>
          <p:nvPr>
            <p:ph idx="1"/>
          </p:nvPr>
        </p:nvPicPr>
        <p:blipFill>
          <a:blip r:embed="rId3"/>
          <a:stretch>
            <a:fillRect/>
          </a:stretch>
        </p:blipFill>
        <p:spPr>
          <a:xfrm>
            <a:off x="350650" y="850334"/>
            <a:ext cx="8769801" cy="1701887"/>
          </a:xfrm>
          <a:ln w="28575">
            <a:solidFill>
              <a:schemeClr val="tx1"/>
            </a:solidFill>
          </a:ln>
        </p:spPr>
      </p:pic>
      <p:pic>
        <p:nvPicPr>
          <p:cNvPr id="7" name="Picture 6">
            <a:extLst>
              <a:ext uri="{FF2B5EF4-FFF2-40B4-BE49-F238E27FC236}">
                <a16:creationId xmlns:a16="http://schemas.microsoft.com/office/drawing/2014/main" id="{C2F77FCD-6691-C974-FEA7-D3635A7D48A3}"/>
              </a:ext>
            </a:extLst>
          </p:cNvPr>
          <p:cNvPicPr>
            <a:picLocks noChangeAspect="1"/>
          </p:cNvPicPr>
          <p:nvPr/>
        </p:nvPicPr>
        <p:blipFill>
          <a:blip r:embed="rId4"/>
          <a:stretch>
            <a:fillRect/>
          </a:stretch>
        </p:blipFill>
        <p:spPr>
          <a:xfrm>
            <a:off x="350650" y="2867296"/>
            <a:ext cx="5105662" cy="2173425"/>
          </a:xfrm>
          <a:prstGeom prst="rect">
            <a:avLst/>
          </a:prstGeom>
          <a:ln w="28575">
            <a:solidFill>
              <a:schemeClr val="tx1"/>
            </a:solidFill>
          </a:ln>
        </p:spPr>
      </p:pic>
      <p:pic>
        <p:nvPicPr>
          <p:cNvPr id="9" name="Picture 8">
            <a:extLst>
              <a:ext uri="{FF2B5EF4-FFF2-40B4-BE49-F238E27FC236}">
                <a16:creationId xmlns:a16="http://schemas.microsoft.com/office/drawing/2014/main" id="{47C78C64-1A8E-4681-93EC-B25F63490E7D}"/>
              </a:ext>
            </a:extLst>
          </p:cNvPr>
          <p:cNvPicPr>
            <a:picLocks noChangeAspect="1"/>
          </p:cNvPicPr>
          <p:nvPr/>
        </p:nvPicPr>
        <p:blipFill>
          <a:blip r:embed="rId5"/>
          <a:stretch>
            <a:fillRect/>
          </a:stretch>
        </p:blipFill>
        <p:spPr>
          <a:xfrm>
            <a:off x="5897291" y="2688876"/>
            <a:ext cx="3029106" cy="2719465"/>
          </a:xfrm>
          <a:prstGeom prst="rect">
            <a:avLst/>
          </a:prstGeom>
          <a:ln w="28575">
            <a:solidFill>
              <a:schemeClr val="tx1"/>
            </a:solidFill>
          </a:ln>
        </p:spPr>
      </p:pic>
      <p:pic>
        <p:nvPicPr>
          <p:cNvPr id="11" name="Picture 10">
            <a:extLst>
              <a:ext uri="{FF2B5EF4-FFF2-40B4-BE49-F238E27FC236}">
                <a16:creationId xmlns:a16="http://schemas.microsoft.com/office/drawing/2014/main" id="{3B15D6FB-1820-A173-B2EF-D1DD1B9AA1D6}"/>
              </a:ext>
            </a:extLst>
          </p:cNvPr>
          <p:cNvPicPr>
            <a:picLocks noChangeAspect="1"/>
          </p:cNvPicPr>
          <p:nvPr/>
        </p:nvPicPr>
        <p:blipFill>
          <a:blip r:embed="rId6"/>
          <a:stretch>
            <a:fillRect/>
          </a:stretch>
        </p:blipFill>
        <p:spPr>
          <a:xfrm>
            <a:off x="309004" y="5544996"/>
            <a:ext cx="8617393" cy="1204072"/>
          </a:xfrm>
          <a:prstGeom prst="rect">
            <a:avLst/>
          </a:prstGeom>
          <a:ln w="28575">
            <a:solidFill>
              <a:schemeClr val="tx1"/>
            </a:solidFill>
          </a:ln>
        </p:spPr>
      </p:pic>
    </p:spTree>
    <p:extLst>
      <p:ext uri="{BB962C8B-B14F-4D97-AF65-F5344CB8AC3E}">
        <p14:creationId xmlns:p14="http://schemas.microsoft.com/office/powerpoint/2010/main" val="2670602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90D13-5EFE-DF26-73D3-9A3E4AA7B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809AA0-3FF3-5929-B635-D895F75F7AD2}"/>
              </a:ext>
            </a:extLst>
          </p:cNvPr>
          <p:cNvSpPr>
            <a:spLocks noGrp="1"/>
          </p:cNvSpPr>
          <p:nvPr>
            <p:ph type="title"/>
          </p:nvPr>
        </p:nvSpPr>
        <p:spPr>
          <a:xfrm>
            <a:off x="838200" y="265577"/>
            <a:ext cx="10515600" cy="415460"/>
          </a:xfrm>
        </p:spPr>
        <p:txBody>
          <a:bodyPr>
            <a:noAutofit/>
          </a:bodyPr>
          <a:lstStyle/>
          <a:p>
            <a:r>
              <a:rPr lang="en-US" sz="2400" dirty="0"/>
              <a:t>Go back to main </a:t>
            </a:r>
            <a:r>
              <a:rPr lang="en-US" sz="2400" dirty="0" err="1"/>
              <a:t>wspace</a:t>
            </a:r>
            <a:r>
              <a:rPr lang="en-US" sz="2400" dirty="0"/>
              <a:t> and see the notebook now in your Gir Repo </a:t>
            </a:r>
            <a:r>
              <a:rPr lang="en-US" sz="2400" dirty="0" err="1"/>
              <a:t>FabricCIDEV</a:t>
            </a:r>
            <a:endParaRPr lang="en-ZA" sz="2400" dirty="0"/>
          </a:p>
        </p:txBody>
      </p:sp>
      <p:pic>
        <p:nvPicPr>
          <p:cNvPr id="5" name="Content Placeholder 4">
            <a:extLst>
              <a:ext uri="{FF2B5EF4-FFF2-40B4-BE49-F238E27FC236}">
                <a16:creationId xmlns:a16="http://schemas.microsoft.com/office/drawing/2014/main" id="{81B9D613-2347-26BA-C377-3FAB913EBC5D}"/>
              </a:ext>
            </a:extLst>
          </p:cNvPr>
          <p:cNvPicPr>
            <a:picLocks noGrp="1" noChangeAspect="1"/>
          </p:cNvPicPr>
          <p:nvPr>
            <p:ph idx="1"/>
          </p:nvPr>
        </p:nvPicPr>
        <p:blipFill>
          <a:blip r:embed="rId3"/>
          <a:stretch>
            <a:fillRect/>
          </a:stretch>
        </p:blipFill>
        <p:spPr>
          <a:xfrm>
            <a:off x="581722" y="765205"/>
            <a:ext cx="10515600" cy="2524645"/>
          </a:xfrm>
          <a:ln w="28575">
            <a:solidFill>
              <a:schemeClr val="tx1"/>
            </a:solidFill>
          </a:ln>
        </p:spPr>
      </p:pic>
      <p:pic>
        <p:nvPicPr>
          <p:cNvPr id="7" name="Picture 6">
            <a:extLst>
              <a:ext uri="{FF2B5EF4-FFF2-40B4-BE49-F238E27FC236}">
                <a16:creationId xmlns:a16="http://schemas.microsoft.com/office/drawing/2014/main" id="{6E393C0C-1884-36DC-3311-81BDC062599D}"/>
              </a:ext>
            </a:extLst>
          </p:cNvPr>
          <p:cNvPicPr>
            <a:picLocks noChangeAspect="1"/>
          </p:cNvPicPr>
          <p:nvPr/>
        </p:nvPicPr>
        <p:blipFill>
          <a:blip r:embed="rId4"/>
          <a:stretch>
            <a:fillRect/>
          </a:stretch>
        </p:blipFill>
        <p:spPr>
          <a:xfrm>
            <a:off x="838200" y="3647919"/>
            <a:ext cx="9817605" cy="2444876"/>
          </a:xfrm>
          <a:prstGeom prst="rect">
            <a:avLst/>
          </a:prstGeom>
          <a:ln w="28575">
            <a:solidFill>
              <a:schemeClr val="tx1"/>
            </a:solidFill>
          </a:ln>
        </p:spPr>
      </p:pic>
      <p:cxnSp>
        <p:nvCxnSpPr>
          <p:cNvPr id="9" name="Straight Arrow Connector 8">
            <a:extLst>
              <a:ext uri="{FF2B5EF4-FFF2-40B4-BE49-F238E27FC236}">
                <a16:creationId xmlns:a16="http://schemas.microsoft.com/office/drawing/2014/main" id="{BD4780C9-A231-B18F-FEF2-E95BA56E54D1}"/>
              </a:ext>
            </a:extLst>
          </p:cNvPr>
          <p:cNvCxnSpPr/>
          <p:nvPr/>
        </p:nvCxnSpPr>
        <p:spPr>
          <a:xfrm flipV="1">
            <a:off x="89210" y="4638907"/>
            <a:ext cx="1326995" cy="84749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6281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0563D-4238-C51F-2540-E192FAF34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75DD0-FFA7-3609-95FB-82C4FC031E50}"/>
              </a:ext>
            </a:extLst>
          </p:cNvPr>
          <p:cNvSpPr>
            <a:spLocks noGrp="1"/>
          </p:cNvSpPr>
          <p:nvPr>
            <p:ph type="title"/>
          </p:nvPr>
        </p:nvSpPr>
        <p:spPr>
          <a:xfrm>
            <a:off x="838200" y="365126"/>
            <a:ext cx="10515600" cy="147830"/>
          </a:xfrm>
        </p:spPr>
        <p:txBody>
          <a:bodyPr>
            <a:normAutofit fontScale="90000"/>
          </a:bodyPr>
          <a:lstStyle/>
          <a:p>
            <a:r>
              <a:rPr lang="en-US" dirty="0"/>
              <a:t>Branches All..</a:t>
            </a:r>
            <a:endParaRPr lang="en-ZA" dirty="0"/>
          </a:p>
        </p:txBody>
      </p:sp>
      <p:pic>
        <p:nvPicPr>
          <p:cNvPr id="5" name="Content Placeholder 4">
            <a:extLst>
              <a:ext uri="{FF2B5EF4-FFF2-40B4-BE49-F238E27FC236}">
                <a16:creationId xmlns:a16="http://schemas.microsoft.com/office/drawing/2014/main" id="{59610F30-3AA0-7F56-E597-7A5177251E35}"/>
              </a:ext>
            </a:extLst>
          </p:cNvPr>
          <p:cNvPicPr>
            <a:picLocks noGrp="1" noChangeAspect="1"/>
          </p:cNvPicPr>
          <p:nvPr>
            <p:ph idx="1"/>
          </p:nvPr>
        </p:nvPicPr>
        <p:blipFill>
          <a:blip r:embed="rId3"/>
          <a:stretch>
            <a:fillRect/>
          </a:stretch>
        </p:blipFill>
        <p:spPr>
          <a:xfrm>
            <a:off x="626327" y="507615"/>
            <a:ext cx="8788852" cy="2173312"/>
          </a:xfrm>
          <a:ln w="28575">
            <a:solidFill>
              <a:schemeClr val="tx1"/>
            </a:solidFill>
          </a:ln>
        </p:spPr>
      </p:pic>
      <p:pic>
        <p:nvPicPr>
          <p:cNvPr id="7" name="Picture 6">
            <a:extLst>
              <a:ext uri="{FF2B5EF4-FFF2-40B4-BE49-F238E27FC236}">
                <a16:creationId xmlns:a16="http://schemas.microsoft.com/office/drawing/2014/main" id="{CE74F7E3-DEEE-1767-34C3-77094AD05BC2}"/>
              </a:ext>
            </a:extLst>
          </p:cNvPr>
          <p:cNvPicPr>
            <a:picLocks noChangeAspect="1"/>
          </p:cNvPicPr>
          <p:nvPr/>
        </p:nvPicPr>
        <p:blipFill>
          <a:blip r:embed="rId4"/>
          <a:stretch>
            <a:fillRect/>
          </a:stretch>
        </p:blipFill>
        <p:spPr>
          <a:xfrm>
            <a:off x="326235" y="2823416"/>
            <a:ext cx="3779131" cy="2762969"/>
          </a:xfrm>
          <a:prstGeom prst="rect">
            <a:avLst/>
          </a:prstGeom>
          <a:ln w="28575">
            <a:solidFill>
              <a:schemeClr val="tx1"/>
            </a:solidFill>
          </a:ln>
        </p:spPr>
      </p:pic>
      <p:pic>
        <p:nvPicPr>
          <p:cNvPr id="11" name="Picture 10">
            <a:extLst>
              <a:ext uri="{FF2B5EF4-FFF2-40B4-BE49-F238E27FC236}">
                <a16:creationId xmlns:a16="http://schemas.microsoft.com/office/drawing/2014/main" id="{10026F33-8391-B019-4251-0841A6A435DD}"/>
              </a:ext>
            </a:extLst>
          </p:cNvPr>
          <p:cNvPicPr>
            <a:picLocks noChangeAspect="1"/>
          </p:cNvPicPr>
          <p:nvPr/>
        </p:nvPicPr>
        <p:blipFill>
          <a:blip r:embed="rId5"/>
          <a:stretch>
            <a:fillRect/>
          </a:stretch>
        </p:blipFill>
        <p:spPr>
          <a:xfrm>
            <a:off x="4282068" y="2680927"/>
            <a:ext cx="6456067" cy="1968601"/>
          </a:xfrm>
          <a:prstGeom prst="rect">
            <a:avLst/>
          </a:prstGeom>
          <a:ln w="12700">
            <a:solidFill>
              <a:schemeClr val="tx1"/>
            </a:solidFill>
          </a:ln>
        </p:spPr>
      </p:pic>
      <p:pic>
        <p:nvPicPr>
          <p:cNvPr id="13" name="Picture 12">
            <a:extLst>
              <a:ext uri="{FF2B5EF4-FFF2-40B4-BE49-F238E27FC236}">
                <a16:creationId xmlns:a16="http://schemas.microsoft.com/office/drawing/2014/main" id="{77C49AC4-BF2A-0541-BE32-8865E20D7DA1}"/>
              </a:ext>
            </a:extLst>
          </p:cNvPr>
          <p:cNvPicPr>
            <a:picLocks noChangeAspect="1"/>
          </p:cNvPicPr>
          <p:nvPr/>
        </p:nvPicPr>
        <p:blipFill>
          <a:blip r:embed="rId6"/>
          <a:stretch>
            <a:fillRect/>
          </a:stretch>
        </p:blipFill>
        <p:spPr>
          <a:xfrm>
            <a:off x="4458769" y="4962292"/>
            <a:ext cx="6102664" cy="1649957"/>
          </a:xfrm>
          <a:prstGeom prst="rect">
            <a:avLst/>
          </a:prstGeom>
        </p:spPr>
      </p:pic>
    </p:spTree>
    <p:extLst>
      <p:ext uri="{BB962C8B-B14F-4D97-AF65-F5344CB8AC3E}">
        <p14:creationId xmlns:p14="http://schemas.microsoft.com/office/powerpoint/2010/main" val="2537044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DAD5-FE7F-051F-2FC2-A1C4F0531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47E2-0B02-254C-82C0-5C3EA0C77B83}"/>
              </a:ext>
            </a:extLst>
          </p:cNvPr>
          <p:cNvSpPr>
            <a:spLocks noGrp="1"/>
          </p:cNvSpPr>
          <p:nvPr>
            <p:ph type="title"/>
          </p:nvPr>
        </p:nvSpPr>
        <p:spPr>
          <a:xfrm>
            <a:off x="838200" y="365126"/>
            <a:ext cx="10515600" cy="426612"/>
          </a:xfrm>
        </p:spPr>
        <p:txBody>
          <a:bodyPr>
            <a:normAutofit fontScale="90000"/>
          </a:bodyPr>
          <a:lstStyle/>
          <a:p>
            <a:r>
              <a:rPr lang="en-US" dirty="0" err="1"/>
              <a:t>Clickj</a:t>
            </a:r>
            <a:r>
              <a:rPr lang="en-US" dirty="0"/>
              <a:t> on Approve on the Right </a:t>
            </a:r>
            <a:endParaRPr lang="en-ZA" dirty="0"/>
          </a:p>
        </p:txBody>
      </p:sp>
      <p:pic>
        <p:nvPicPr>
          <p:cNvPr id="5" name="Content Placeholder 4">
            <a:extLst>
              <a:ext uri="{FF2B5EF4-FFF2-40B4-BE49-F238E27FC236}">
                <a16:creationId xmlns:a16="http://schemas.microsoft.com/office/drawing/2014/main" id="{FFBCAB58-7100-FF1A-777E-0542AA4F8F75}"/>
              </a:ext>
            </a:extLst>
          </p:cNvPr>
          <p:cNvPicPr>
            <a:picLocks noGrp="1" noChangeAspect="1"/>
          </p:cNvPicPr>
          <p:nvPr>
            <p:ph idx="1"/>
          </p:nvPr>
        </p:nvPicPr>
        <p:blipFill>
          <a:blip r:embed="rId3"/>
          <a:stretch>
            <a:fillRect/>
          </a:stretch>
        </p:blipFill>
        <p:spPr>
          <a:xfrm>
            <a:off x="470210" y="1124033"/>
            <a:ext cx="10515600" cy="2743693"/>
          </a:xfrm>
          <a:ln w="38100">
            <a:solidFill>
              <a:schemeClr val="tx1"/>
            </a:solidFill>
          </a:ln>
        </p:spPr>
      </p:pic>
      <p:pic>
        <p:nvPicPr>
          <p:cNvPr id="7" name="Picture 6">
            <a:extLst>
              <a:ext uri="{FF2B5EF4-FFF2-40B4-BE49-F238E27FC236}">
                <a16:creationId xmlns:a16="http://schemas.microsoft.com/office/drawing/2014/main" id="{BDDB22D6-60AF-DCDD-08DF-0665F78D0737}"/>
              </a:ext>
            </a:extLst>
          </p:cNvPr>
          <p:cNvPicPr>
            <a:picLocks noChangeAspect="1"/>
          </p:cNvPicPr>
          <p:nvPr/>
        </p:nvPicPr>
        <p:blipFill>
          <a:blip r:embed="rId4"/>
          <a:stretch>
            <a:fillRect/>
          </a:stretch>
        </p:blipFill>
        <p:spPr>
          <a:xfrm>
            <a:off x="659780" y="4200021"/>
            <a:ext cx="4807197" cy="2527430"/>
          </a:xfrm>
          <a:prstGeom prst="rect">
            <a:avLst/>
          </a:prstGeom>
          <a:ln w="28575">
            <a:solidFill>
              <a:schemeClr val="tx1"/>
            </a:solidFill>
          </a:ln>
        </p:spPr>
      </p:pic>
      <p:pic>
        <p:nvPicPr>
          <p:cNvPr id="9" name="Picture 8">
            <a:extLst>
              <a:ext uri="{FF2B5EF4-FFF2-40B4-BE49-F238E27FC236}">
                <a16:creationId xmlns:a16="http://schemas.microsoft.com/office/drawing/2014/main" id="{9A61ED87-94AD-BC72-F3E0-5F9BDABFC752}"/>
              </a:ext>
            </a:extLst>
          </p:cNvPr>
          <p:cNvPicPr>
            <a:picLocks noChangeAspect="1"/>
          </p:cNvPicPr>
          <p:nvPr/>
        </p:nvPicPr>
        <p:blipFill>
          <a:blip r:embed="rId5"/>
          <a:stretch>
            <a:fillRect/>
          </a:stretch>
        </p:blipFill>
        <p:spPr>
          <a:xfrm>
            <a:off x="5811712" y="4047530"/>
            <a:ext cx="6036527" cy="1494625"/>
          </a:xfrm>
          <a:prstGeom prst="rect">
            <a:avLst/>
          </a:prstGeom>
          <a:ln w="28575">
            <a:solidFill>
              <a:schemeClr val="tx1"/>
            </a:solidFill>
          </a:ln>
        </p:spPr>
      </p:pic>
      <p:pic>
        <p:nvPicPr>
          <p:cNvPr id="11" name="Picture 10">
            <a:extLst>
              <a:ext uri="{FF2B5EF4-FFF2-40B4-BE49-F238E27FC236}">
                <a16:creationId xmlns:a16="http://schemas.microsoft.com/office/drawing/2014/main" id="{7834F4DC-4D38-8251-6F85-D92AA741220D}"/>
              </a:ext>
            </a:extLst>
          </p:cNvPr>
          <p:cNvPicPr>
            <a:picLocks noChangeAspect="1"/>
          </p:cNvPicPr>
          <p:nvPr/>
        </p:nvPicPr>
        <p:blipFill>
          <a:blip r:embed="rId6"/>
          <a:stretch>
            <a:fillRect/>
          </a:stretch>
        </p:blipFill>
        <p:spPr>
          <a:xfrm>
            <a:off x="5811712" y="5389305"/>
            <a:ext cx="5869122" cy="1338146"/>
          </a:xfrm>
          <a:prstGeom prst="rect">
            <a:avLst/>
          </a:prstGeom>
          <a:ln w="28575">
            <a:solidFill>
              <a:schemeClr val="tx1"/>
            </a:solidFill>
          </a:ln>
        </p:spPr>
      </p:pic>
    </p:spTree>
    <p:extLst>
      <p:ext uri="{BB962C8B-B14F-4D97-AF65-F5344CB8AC3E}">
        <p14:creationId xmlns:p14="http://schemas.microsoft.com/office/powerpoint/2010/main" val="1407355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77A5F-DAEF-7D2B-14E3-08BDA7A50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F3295-57BC-5B16-B566-B3FB2343D34C}"/>
              </a:ext>
            </a:extLst>
          </p:cNvPr>
          <p:cNvSpPr>
            <a:spLocks noGrp="1"/>
          </p:cNvSpPr>
          <p:nvPr>
            <p:ph type="title"/>
          </p:nvPr>
        </p:nvSpPr>
        <p:spPr>
          <a:xfrm>
            <a:off x="838200" y="365125"/>
            <a:ext cx="10515600" cy="92075"/>
          </a:xfrm>
        </p:spPr>
        <p:txBody>
          <a:bodyPr>
            <a:normAutofit fontScale="90000"/>
          </a:bodyPr>
          <a:lstStyle/>
          <a:p>
            <a:r>
              <a:rPr lang="en-US" dirty="0"/>
              <a:t>Now he proves its done…</a:t>
            </a:r>
            <a:endParaRPr lang="en-ZA" dirty="0"/>
          </a:p>
        </p:txBody>
      </p:sp>
      <p:pic>
        <p:nvPicPr>
          <p:cNvPr id="5" name="Content Placeholder 4">
            <a:extLst>
              <a:ext uri="{FF2B5EF4-FFF2-40B4-BE49-F238E27FC236}">
                <a16:creationId xmlns:a16="http://schemas.microsoft.com/office/drawing/2014/main" id="{B105DD67-19BB-9CB7-4142-FD1E205CEF17}"/>
              </a:ext>
            </a:extLst>
          </p:cNvPr>
          <p:cNvPicPr>
            <a:picLocks noGrp="1" noChangeAspect="1"/>
          </p:cNvPicPr>
          <p:nvPr>
            <p:ph idx="1"/>
          </p:nvPr>
        </p:nvPicPr>
        <p:blipFill>
          <a:blip r:embed="rId3"/>
          <a:stretch>
            <a:fillRect/>
          </a:stretch>
        </p:blipFill>
        <p:spPr>
          <a:xfrm>
            <a:off x="378101" y="896675"/>
            <a:ext cx="4343623" cy="1851946"/>
          </a:xfrm>
          <a:ln w="28575">
            <a:solidFill>
              <a:schemeClr val="tx1"/>
            </a:solidFill>
          </a:ln>
        </p:spPr>
      </p:pic>
      <p:pic>
        <p:nvPicPr>
          <p:cNvPr id="7" name="Picture 6">
            <a:extLst>
              <a:ext uri="{FF2B5EF4-FFF2-40B4-BE49-F238E27FC236}">
                <a16:creationId xmlns:a16="http://schemas.microsoft.com/office/drawing/2014/main" id="{E4FF8142-83E8-7057-4021-E6AA7AF1B3DA}"/>
              </a:ext>
            </a:extLst>
          </p:cNvPr>
          <p:cNvPicPr>
            <a:picLocks noChangeAspect="1"/>
          </p:cNvPicPr>
          <p:nvPr/>
        </p:nvPicPr>
        <p:blipFill>
          <a:blip r:embed="rId4"/>
          <a:stretch>
            <a:fillRect/>
          </a:stretch>
        </p:blipFill>
        <p:spPr>
          <a:xfrm>
            <a:off x="5087417" y="877238"/>
            <a:ext cx="6363027" cy="1871383"/>
          </a:xfrm>
          <a:prstGeom prst="rect">
            <a:avLst/>
          </a:prstGeom>
        </p:spPr>
      </p:pic>
      <p:pic>
        <p:nvPicPr>
          <p:cNvPr id="9" name="Picture 8">
            <a:extLst>
              <a:ext uri="{FF2B5EF4-FFF2-40B4-BE49-F238E27FC236}">
                <a16:creationId xmlns:a16="http://schemas.microsoft.com/office/drawing/2014/main" id="{7882AFF6-4053-7A41-3084-951B02E49279}"/>
              </a:ext>
            </a:extLst>
          </p:cNvPr>
          <p:cNvPicPr>
            <a:picLocks noChangeAspect="1"/>
          </p:cNvPicPr>
          <p:nvPr/>
        </p:nvPicPr>
        <p:blipFill>
          <a:blip r:embed="rId5"/>
          <a:stretch>
            <a:fillRect/>
          </a:stretch>
        </p:blipFill>
        <p:spPr>
          <a:xfrm>
            <a:off x="378101" y="3429000"/>
            <a:ext cx="3491372" cy="2680001"/>
          </a:xfrm>
          <a:prstGeom prst="rect">
            <a:avLst/>
          </a:prstGeom>
        </p:spPr>
      </p:pic>
      <p:pic>
        <p:nvPicPr>
          <p:cNvPr id="13" name="Picture 12">
            <a:extLst>
              <a:ext uri="{FF2B5EF4-FFF2-40B4-BE49-F238E27FC236}">
                <a16:creationId xmlns:a16="http://schemas.microsoft.com/office/drawing/2014/main" id="{F4E61716-4DB3-C455-E67D-B1F6EB7304C4}"/>
              </a:ext>
            </a:extLst>
          </p:cNvPr>
          <p:cNvPicPr>
            <a:picLocks noChangeAspect="1"/>
          </p:cNvPicPr>
          <p:nvPr/>
        </p:nvPicPr>
        <p:blipFill>
          <a:blip r:embed="rId6"/>
          <a:stretch>
            <a:fillRect/>
          </a:stretch>
        </p:blipFill>
        <p:spPr>
          <a:xfrm>
            <a:off x="4326110" y="3262361"/>
            <a:ext cx="3111754" cy="3378374"/>
          </a:xfrm>
          <a:prstGeom prst="rect">
            <a:avLst/>
          </a:prstGeom>
        </p:spPr>
      </p:pic>
      <p:pic>
        <p:nvPicPr>
          <p:cNvPr id="15" name="Picture 14">
            <a:extLst>
              <a:ext uri="{FF2B5EF4-FFF2-40B4-BE49-F238E27FC236}">
                <a16:creationId xmlns:a16="http://schemas.microsoft.com/office/drawing/2014/main" id="{DDF954DB-6BAE-EF3E-F5DA-65AE74401C8F}"/>
              </a:ext>
            </a:extLst>
          </p:cNvPr>
          <p:cNvPicPr>
            <a:picLocks noChangeAspect="1"/>
          </p:cNvPicPr>
          <p:nvPr/>
        </p:nvPicPr>
        <p:blipFill>
          <a:blip r:embed="rId7"/>
          <a:stretch>
            <a:fillRect/>
          </a:stretch>
        </p:blipFill>
        <p:spPr>
          <a:xfrm>
            <a:off x="7605132" y="3301905"/>
            <a:ext cx="2837167" cy="3190970"/>
          </a:xfrm>
          <a:prstGeom prst="rect">
            <a:avLst/>
          </a:prstGeom>
        </p:spPr>
      </p:pic>
      <p:pic>
        <p:nvPicPr>
          <p:cNvPr id="17" name="Picture 16">
            <a:extLst>
              <a:ext uri="{FF2B5EF4-FFF2-40B4-BE49-F238E27FC236}">
                <a16:creationId xmlns:a16="http://schemas.microsoft.com/office/drawing/2014/main" id="{9434CD75-3225-1C32-024C-40432E507929}"/>
              </a:ext>
            </a:extLst>
          </p:cNvPr>
          <p:cNvPicPr>
            <a:picLocks noChangeAspect="1"/>
          </p:cNvPicPr>
          <p:nvPr/>
        </p:nvPicPr>
        <p:blipFill>
          <a:blip r:embed="rId8"/>
          <a:stretch>
            <a:fillRect/>
          </a:stretch>
        </p:blipFill>
        <p:spPr>
          <a:xfrm>
            <a:off x="10609567" y="3324062"/>
            <a:ext cx="1435174" cy="3168813"/>
          </a:xfrm>
          <a:prstGeom prst="rect">
            <a:avLst/>
          </a:prstGeom>
        </p:spPr>
      </p:pic>
    </p:spTree>
    <p:extLst>
      <p:ext uri="{BB962C8B-B14F-4D97-AF65-F5344CB8AC3E}">
        <p14:creationId xmlns:p14="http://schemas.microsoft.com/office/powerpoint/2010/main" val="1511919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192E7-BD54-6860-ABBC-81FB635FB9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B3F06-1B7E-D726-92F1-72AABC7B8657}"/>
              </a:ext>
            </a:extLst>
          </p:cNvPr>
          <p:cNvSpPr>
            <a:spLocks noGrp="1"/>
          </p:cNvSpPr>
          <p:nvPr>
            <p:ph type="title"/>
          </p:nvPr>
        </p:nvSpPr>
        <p:spPr>
          <a:xfrm>
            <a:off x="838200" y="365126"/>
            <a:ext cx="10515600" cy="158982"/>
          </a:xfrm>
        </p:spPr>
        <p:txBody>
          <a:bodyPr>
            <a:normAutofit fontScale="90000"/>
          </a:bodyPr>
          <a:lstStyle/>
          <a:p>
            <a:r>
              <a:rPr lang="en-US" dirty="0"/>
              <a:t>Notebook appears in the workspace</a:t>
            </a:r>
            <a:endParaRPr lang="en-ZA" dirty="0"/>
          </a:p>
        </p:txBody>
      </p:sp>
      <p:pic>
        <p:nvPicPr>
          <p:cNvPr id="5" name="Content Placeholder 4">
            <a:extLst>
              <a:ext uri="{FF2B5EF4-FFF2-40B4-BE49-F238E27FC236}">
                <a16:creationId xmlns:a16="http://schemas.microsoft.com/office/drawing/2014/main" id="{8D3FF8B5-EEAE-48E0-0424-9774EEE2DFB6}"/>
              </a:ext>
            </a:extLst>
          </p:cNvPr>
          <p:cNvPicPr>
            <a:picLocks noGrp="1" noChangeAspect="1"/>
          </p:cNvPicPr>
          <p:nvPr>
            <p:ph idx="1"/>
          </p:nvPr>
        </p:nvPicPr>
        <p:blipFill>
          <a:blip r:embed="rId3"/>
          <a:stretch>
            <a:fillRect/>
          </a:stretch>
        </p:blipFill>
        <p:spPr>
          <a:xfrm>
            <a:off x="176945" y="754479"/>
            <a:ext cx="6926381" cy="3744885"/>
          </a:xfrm>
          <a:ln w="28575">
            <a:solidFill>
              <a:schemeClr val="tx1"/>
            </a:solidFill>
          </a:ln>
        </p:spPr>
      </p:pic>
      <p:pic>
        <p:nvPicPr>
          <p:cNvPr id="7" name="Picture 6">
            <a:extLst>
              <a:ext uri="{FF2B5EF4-FFF2-40B4-BE49-F238E27FC236}">
                <a16:creationId xmlns:a16="http://schemas.microsoft.com/office/drawing/2014/main" id="{29676500-EAF6-119A-F5BB-592129A31087}"/>
              </a:ext>
            </a:extLst>
          </p:cNvPr>
          <p:cNvPicPr>
            <a:picLocks noChangeAspect="1"/>
          </p:cNvPicPr>
          <p:nvPr/>
        </p:nvPicPr>
        <p:blipFill>
          <a:blip r:embed="rId4"/>
          <a:stretch>
            <a:fillRect/>
          </a:stretch>
        </p:blipFill>
        <p:spPr>
          <a:xfrm>
            <a:off x="309826" y="4729735"/>
            <a:ext cx="6331275" cy="1899990"/>
          </a:xfrm>
          <a:prstGeom prst="rect">
            <a:avLst/>
          </a:prstGeom>
          <a:ln w="28575">
            <a:solidFill>
              <a:schemeClr val="tx1"/>
            </a:solidFill>
          </a:ln>
        </p:spPr>
      </p:pic>
    </p:spTree>
    <p:extLst>
      <p:ext uri="{BB962C8B-B14F-4D97-AF65-F5344CB8AC3E}">
        <p14:creationId xmlns:p14="http://schemas.microsoft.com/office/powerpoint/2010/main" val="4022136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F9CEF-110B-214C-F50D-75627F248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7C7BD-A047-070E-4F64-B09002865F6B}"/>
              </a:ext>
            </a:extLst>
          </p:cNvPr>
          <p:cNvSpPr>
            <a:spLocks noGrp="1"/>
          </p:cNvSpPr>
          <p:nvPr>
            <p:ph type="title"/>
          </p:nvPr>
        </p:nvSpPr>
        <p:spPr>
          <a:xfrm>
            <a:off x="838200" y="365125"/>
            <a:ext cx="10515600" cy="292797"/>
          </a:xfrm>
        </p:spPr>
        <p:txBody>
          <a:bodyPr>
            <a:normAutofit fontScale="90000"/>
          </a:bodyPr>
          <a:lstStyle/>
          <a:p>
            <a:r>
              <a:rPr lang="en-US" sz="2800" dirty="0"/>
              <a:t>Now another developer ..Go to Source Control, Brack out to new Workspace </a:t>
            </a:r>
            <a:endParaRPr lang="en-ZA" sz="2800" dirty="0"/>
          </a:p>
        </p:txBody>
      </p:sp>
      <p:pic>
        <p:nvPicPr>
          <p:cNvPr id="5" name="Content Placeholder 4">
            <a:extLst>
              <a:ext uri="{FF2B5EF4-FFF2-40B4-BE49-F238E27FC236}">
                <a16:creationId xmlns:a16="http://schemas.microsoft.com/office/drawing/2014/main" id="{398A6AC3-12A6-83FB-D4B6-04AD8A3E74E2}"/>
              </a:ext>
            </a:extLst>
          </p:cNvPr>
          <p:cNvPicPr>
            <a:picLocks noGrp="1" noChangeAspect="1"/>
          </p:cNvPicPr>
          <p:nvPr>
            <p:ph idx="1"/>
          </p:nvPr>
        </p:nvPicPr>
        <p:blipFill>
          <a:blip r:embed="rId2"/>
          <a:stretch>
            <a:fillRect/>
          </a:stretch>
        </p:blipFill>
        <p:spPr>
          <a:xfrm>
            <a:off x="396670" y="943124"/>
            <a:ext cx="4953255" cy="3473629"/>
          </a:xfrm>
          <a:ln w="28575">
            <a:solidFill>
              <a:schemeClr val="tx1"/>
            </a:solidFill>
          </a:ln>
        </p:spPr>
      </p:pic>
    </p:spTree>
    <p:extLst>
      <p:ext uri="{BB962C8B-B14F-4D97-AF65-F5344CB8AC3E}">
        <p14:creationId xmlns:p14="http://schemas.microsoft.com/office/powerpoint/2010/main" val="3463470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23FE-57C9-1DDF-C837-60E949A68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733935-A279-7F44-B17F-8D1606C94B32}"/>
              </a:ext>
            </a:extLst>
          </p:cNvPr>
          <p:cNvSpPr>
            <a:spLocks noGrp="1"/>
          </p:cNvSpPr>
          <p:nvPr>
            <p:ph type="title"/>
          </p:nvPr>
        </p:nvSpPr>
        <p:spPr>
          <a:xfrm>
            <a:off x="604024" y="361794"/>
            <a:ext cx="10515600" cy="638485"/>
          </a:xfrm>
        </p:spPr>
        <p:txBody>
          <a:bodyPr>
            <a:normAutofit/>
          </a:bodyPr>
          <a:lstStyle/>
          <a:p>
            <a:r>
              <a:rPr lang="en-US" sz="2000" dirty="0"/>
              <a:t>Next is to go to CD part ..DEV – top TEST and THEN PROD ..The deployment </a:t>
            </a:r>
            <a:endParaRPr lang="en-ZA" sz="2000" dirty="0"/>
          </a:p>
        </p:txBody>
      </p:sp>
      <p:pic>
        <p:nvPicPr>
          <p:cNvPr id="5" name="Content Placeholder 4">
            <a:extLst>
              <a:ext uri="{FF2B5EF4-FFF2-40B4-BE49-F238E27FC236}">
                <a16:creationId xmlns:a16="http://schemas.microsoft.com/office/drawing/2014/main" id="{9E6A8A78-E8FE-FDFB-AA30-7DC059DF9C49}"/>
              </a:ext>
            </a:extLst>
          </p:cNvPr>
          <p:cNvPicPr>
            <a:picLocks noGrp="1" noChangeAspect="1"/>
          </p:cNvPicPr>
          <p:nvPr>
            <p:ph idx="1"/>
          </p:nvPr>
        </p:nvPicPr>
        <p:blipFill>
          <a:blip r:embed="rId2"/>
          <a:stretch>
            <a:fillRect/>
          </a:stretch>
        </p:blipFill>
        <p:spPr>
          <a:xfrm>
            <a:off x="844574" y="1613976"/>
            <a:ext cx="5105662" cy="4083260"/>
          </a:xfrm>
        </p:spPr>
      </p:pic>
    </p:spTree>
    <p:extLst>
      <p:ext uri="{BB962C8B-B14F-4D97-AF65-F5344CB8AC3E}">
        <p14:creationId xmlns:p14="http://schemas.microsoft.com/office/powerpoint/2010/main" val="219640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0121-A9D9-A39B-775C-AA42CC84D351}"/>
              </a:ext>
            </a:extLst>
          </p:cNvPr>
          <p:cNvSpPr>
            <a:spLocks noGrp="1"/>
          </p:cNvSpPr>
          <p:nvPr>
            <p:ph type="title"/>
          </p:nvPr>
        </p:nvSpPr>
        <p:spPr>
          <a:xfrm>
            <a:off x="838200" y="365126"/>
            <a:ext cx="10515600" cy="315912"/>
          </a:xfrm>
        </p:spPr>
        <p:txBody>
          <a:bodyPr>
            <a:normAutofit fontScale="90000"/>
          </a:bodyPr>
          <a:lstStyle/>
          <a:p>
            <a:r>
              <a:rPr lang="en-US" dirty="0"/>
              <a:t>138. Continuous Deployment/Delivery. </a:t>
            </a:r>
            <a:endParaRPr lang="en-ZA" dirty="0"/>
          </a:p>
        </p:txBody>
      </p:sp>
      <p:pic>
        <p:nvPicPr>
          <p:cNvPr id="9" name="Content Placeholder 8">
            <a:extLst>
              <a:ext uri="{FF2B5EF4-FFF2-40B4-BE49-F238E27FC236}">
                <a16:creationId xmlns:a16="http://schemas.microsoft.com/office/drawing/2014/main" id="{B0E137B6-B42A-2674-582A-6147EECA2AA9}"/>
              </a:ext>
            </a:extLst>
          </p:cNvPr>
          <p:cNvPicPr>
            <a:picLocks noGrp="1" noChangeAspect="1"/>
          </p:cNvPicPr>
          <p:nvPr>
            <p:ph idx="1"/>
          </p:nvPr>
        </p:nvPicPr>
        <p:blipFill>
          <a:blip r:embed="rId3"/>
          <a:stretch>
            <a:fillRect/>
          </a:stretch>
        </p:blipFill>
        <p:spPr>
          <a:xfrm>
            <a:off x="838200" y="1253331"/>
            <a:ext cx="9788912" cy="4351338"/>
          </a:xfrm>
        </p:spPr>
      </p:pic>
    </p:spTree>
    <p:extLst>
      <p:ext uri="{BB962C8B-B14F-4D97-AF65-F5344CB8AC3E}">
        <p14:creationId xmlns:p14="http://schemas.microsoft.com/office/powerpoint/2010/main" val="918245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8B7B-7E2C-0678-1850-78FADBBC8255}"/>
              </a:ext>
            </a:extLst>
          </p:cNvPr>
          <p:cNvSpPr>
            <a:spLocks noGrp="1"/>
          </p:cNvSpPr>
          <p:nvPr>
            <p:ph type="title"/>
          </p:nvPr>
        </p:nvSpPr>
        <p:spPr>
          <a:xfrm>
            <a:off x="838200" y="365126"/>
            <a:ext cx="10515600" cy="315912"/>
          </a:xfrm>
        </p:spPr>
        <p:txBody>
          <a:bodyPr>
            <a:normAutofit fontScale="90000"/>
          </a:bodyPr>
          <a:lstStyle/>
          <a:p>
            <a:r>
              <a:rPr lang="en-US" dirty="0"/>
              <a:t>139.</a:t>
            </a:r>
            <a:r>
              <a:rPr lang="en-US" sz="2700" dirty="0"/>
              <a:t>Deployment Pipelines Setup</a:t>
            </a:r>
            <a:endParaRPr lang="en-ZA" sz="2700" dirty="0"/>
          </a:p>
        </p:txBody>
      </p:sp>
      <p:pic>
        <p:nvPicPr>
          <p:cNvPr id="5" name="Content Placeholder 4">
            <a:extLst>
              <a:ext uri="{FF2B5EF4-FFF2-40B4-BE49-F238E27FC236}">
                <a16:creationId xmlns:a16="http://schemas.microsoft.com/office/drawing/2014/main" id="{DD21C608-AFFD-716B-B611-40CDFEB31294}"/>
              </a:ext>
            </a:extLst>
          </p:cNvPr>
          <p:cNvPicPr>
            <a:picLocks noGrp="1" noChangeAspect="1"/>
          </p:cNvPicPr>
          <p:nvPr>
            <p:ph idx="1"/>
          </p:nvPr>
        </p:nvPicPr>
        <p:blipFill>
          <a:blip r:embed="rId3"/>
          <a:stretch>
            <a:fillRect/>
          </a:stretch>
        </p:blipFill>
        <p:spPr>
          <a:xfrm>
            <a:off x="406547" y="1497169"/>
            <a:ext cx="2306008" cy="2807202"/>
          </a:xfrm>
        </p:spPr>
      </p:pic>
      <p:pic>
        <p:nvPicPr>
          <p:cNvPr id="7" name="Picture 6">
            <a:extLst>
              <a:ext uri="{FF2B5EF4-FFF2-40B4-BE49-F238E27FC236}">
                <a16:creationId xmlns:a16="http://schemas.microsoft.com/office/drawing/2014/main" id="{E59FC24D-E7F3-81E1-7B6D-2D3F8DA70688}"/>
              </a:ext>
            </a:extLst>
          </p:cNvPr>
          <p:cNvPicPr>
            <a:picLocks noChangeAspect="1"/>
          </p:cNvPicPr>
          <p:nvPr/>
        </p:nvPicPr>
        <p:blipFill>
          <a:blip r:embed="rId4"/>
          <a:stretch>
            <a:fillRect/>
          </a:stretch>
        </p:blipFill>
        <p:spPr>
          <a:xfrm>
            <a:off x="5464097" y="211987"/>
            <a:ext cx="6436612" cy="2676179"/>
          </a:xfrm>
          <a:prstGeom prst="rect">
            <a:avLst/>
          </a:prstGeom>
        </p:spPr>
      </p:pic>
      <p:pic>
        <p:nvPicPr>
          <p:cNvPr id="9" name="Picture 8">
            <a:extLst>
              <a:ext uri="{FF2B5EF4-FFF2-40B4-BE49-F238E27FC236}">
                <a16:creationId xmlns:a16="http://schemas.microsoft.com/office/drawing/2014/main" id="{A0063D08-4667-CACC-866F-D1CC440AC9EB}"/>
              </a:ext>
            </a:extLst>
          </p:cNvPr>
          <p:cNvPicPr>
            <a:picLocks noChangeAspect="1"/>
          </p:cNvPicPr>
          <p:nvPr/>
        </p:nvPicPr>
        <p:blipFill>
          <a:blip r:embed="rId5"/>
          <a:stretch>
            <a:fillRect/>
          </a:stretch>
        </p:blipFill>
        <p:spPr>
          <a:xfrm>
            <a:off x="4184666" y="3041305"/>
            <a:ext cx="7501812" cy="1263066"/>
          </a:xfrm>
          <a:prstGeom prst="rect">
            <a:avLst/>
          </a:prstGeom>
        </p:spPr>
      </p:pic>
      <p:pic>
        <p:nvPicPr>
          <p:cNvPr id="11" name="Picture 10">
            <a:extLst>
              <a:ext uri="{FF2B5EF4-FFF2-40B4-BE49-F238E27FC236}">
                <a16:creationId xmlns:a16="http://schemas.microsoft.com/office/drawing/2014/main" id="{411B4FAB-07B8-A13C-861E-BF1997479993}"/>
              </a:ext>
            </a:extLst>
          </p:cNvPr>
          <p:cNvPicPr>
            <a:picLocks noChangeAspect="1"/>
          </p:cNvPicPr>
          <p:nvPr/>
        </p:nvPicPr>
        <p:blipFill>
          <a:blip r:embed="rId6"/>
          <a:stretch>
            <a:fillRect/>
          </a:stretch>
        </p:blipFill>
        <p:spPr>
          <a:xfrm>
            <a:off x="406547" y="4651380"/>
            <a:ext cx="1978365" cy="2104493"/>
          </a:xfrm>
          <a:prstGeom prst="rect">
            <a:avLst/>
          </a:prstGeom>
        </p:spPr>
      </p:pic>
      <p:pic>
        <p:nvPicPr>
          <p:cNvPr id="13" name="Picture 12">
            <a:extLst>
              <a:ext uri="{FF2B5EF4-FFF2-40B4-BE49-F238E27FC236}">
                <a16:creationId xmlns:a16="http://schemas.microsoft.com/office/drawing/2014/main" id="{306598A9-4D98-B3DD-64EC-73D2ABCEB6F7}"/>
              </a:ext>
            </a:extLst>
          </p:cNvPr>
          <p:cNvPicPr>
            <a:picLocks noChangeAspect="1"/>
          </p:cNvPicPr>
          <p:nvPr/>
        </p:nvPicPr>
        <p:blipFill>
          <a:blip r:embed="rId7"/>
          <a:stretch>
            <a:fillRect/>
          </a:stretch>
        </p:blipFill>
        <p:spPr>
          <a:xfrm>
            <a:off x="2947666" y="4541516"/>
            <a:ext cx="2306008" cy="2324219"/>
          </a:xfrm>
          <a:prstGeom prst="rect">
            <a:avLst/>
          </a:prstGeom>
        </p:spPr>
      </p:pic>
      <p:pic>
        <p:nvPicPr>
          <p:cNvPr id="15" name="Picture 14">
            <a:extLst>
              <a:ext uri="{FF2B5EF4-FFF2-40B4-BE49-F238E27FC236}">
                <a16:creationId xmlns:a16="http://schemas.microsoft.com/office/drawing/2014/main" id="{274F3CDA-2685-4B6E-70D6-1144B35DD107}"/>
              </a:ext>
            </a:extLst>
          </p:cNvPr>
          <p:cNvPicPr>
            <a:picLocks noChangeAspect="1"/>
          </p:cNvPicPr>
          <p:nvPr/>
        </p:nvPicPr>
        <p:blipFill>
          <a:blip r:embed="rId8"/>
          <a:stretch>
            <a:fillRect/>
          </a:stretch>
        </p:blipFill>
        <p:spPr>
          <a:xfrm>
            <a:off x="5174165" y="4783874"/>
            <a:ext cx="3256158" cy="1862140"/>
          </a:xfrm>
          <a:prstGeom prst="rect">
            <a:avLst/>
          </a:prstGeom>
        </p:spPr>
      </p:pic>
    </p:spTree>
    <p:extLst>
      <p:ext uri="{BB962C8B-B14F-4D97-AF65-F5344CB8AC3E}">
        <p14:creationId xmlns:p14="http://schemas.microsoft.com/office/powerpoint/2010/main" val="3921745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8EF1C-C056-D6D8-5181-AEED6F38F5D4}"/>
              </a:ext>
            </a:extLst>
          </p:cNvPr>
          <p:cNvSpPr>
            <a:spLocks noGrp="1"/>
          </p:cNvSpPr>
          <p:nvPr>
            <p:ph type="title"/>
          </p:nvPr>
        </p:nvSpPr>
        <p:spPr/>
        <p:txBody>
          <a:bodyPr/>
          <a:lstStyle/>
          <a:p>
            <a:r>
              <a:rPr lang="en-US" dirty="0"/>
              <a:t>Deployment Pipeline</a:t>
            </a:r>
            <a:endParaRPr lang="en-ZA" dirty="0"/>
          </a:p>
        </p:txBody>
      </p:sp>
      <p:pic>
        <p:nvPicPr>
          <p:cNvPr id="5" name="Content Placeholder 4">
            <a:extLst>
              <a:ext uri="{FF2B5EF4-FFF2-40B4-BE49-F238E27FC236}">
                <a16:creationId xmlns:a16="http://schemas.microsoft.com/office/drawing/2014/main" id="{B613EAE7-E917-4E7B-970F-0C74BAE94E88}"/>
              </a:ext>
            </a:extLst>
          </p:cNvPr>
          <p:cNvPicPr>
            <a:picLocks noGrp="1" noChangeAspect="1"/>
          </p:cNvPicPr>
          <p:nvPr>
            <p:ph idx="1"/>
          </p:nvPr>
        </p:nvPicPr>
        <p:blipFill>
          <a:blip r:embed="rId2"/>
          <a:stretch>
            <a:fillRect/>
          </a:stretch>
        </p:blipFill>
        <p:spPr>
          <a:xfrm>
            <a:off x="2073068" y="1877110"/>
            <a:ext cx="8045863" cy="4248368"/>
          </a:xfrm>
        </p:spPr>
      </p:pic>
    </p:spTree>
    <p:extLst>
      <p:ext uri="{BB962C8B-B14F-4D97-AF65-F5344CB8AC3E}">
        <p14:creationId xmlns:p14="http://schemas.microsoft.com/office/powerpoint/2010/main" val="4091931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6082E-67A1-1CC7-387C-304A8BA8D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33EAA-B5E0-B64E-61C9-8DC7B21EECA7}"/>
              </a:ext>
            </a:extLst>
          </p:cNvPr>
          <p:cNvSpPr>
            <a:spLocks noGrp="1"/>
          </p:cNvSpPr>
          <p:nvPr>
            <p:ph type="title"/>
          </p:nvPr>
        </p:nvSpPr>
        <p:spPr>
          <a:xfrm>
            <a:off x="838200" y="365126"/>
            <a:ext cx="10515600" cy="237040"/>
          </a:xfrm>
        </p:spPr>
        <p:txBody>
          <a:bodyPr>
            <a:normAutofit fontScale="90000"/>
          </a:bodyPr>
          <a:lstStyle/>
          <a:p>
            <a:r>
              <a:rPr lang="en-US" dirty="0"/>
              <a:t>Result is the 3 environment </a:t>
            </a:r>
            <a:endParaRPr lang="en-ZA" dirty="0"/>
          </a:p>
        </p:txBody>
      </p:sp>
      <p:pic>
        <p:nvPicPr>
          <p:cNvPr id="5" name="Content Placeholder 4">
            <a:extLst>
              <a:ext uri="{FF2B5EF4-FFF2-40B4-BE49-F238E27FC236}">
                <a16:creationId xmlns:a16="http://schemas.microsoft.com/office/drawing/2014/main" id="{28E976F7-33F4-7EB8-EC7A-42B2158F425B}"/>
              </a:ext>
            </a:extLst>
          </p:cNvPr>
          <p:cNvPicPr>
            <a:picLocks noGrp="1" noChangeAspect="1"/>
          </p:cNvPicPr>
          <p:nvPr>
            <p:ph idx="1"/>
          </p:nvPr>
        </p:nvPicPr>
        <p:blipFill>
          <a:blip r:embed="rId3"/>
          <a:stretch>
            <a:fillRect/>
          </a:stretch>
        </p:blipFill>
        <p:spPr>
          <a:xfrm>
            <a:off x="472733" y="882766"/>
            <a:ext cx="10287529" cy="1809349"/>
          </a:xfrm>
          <a:ln w="19050">
            <a:solidFill>
              <a:schemeClr val="tx1"/>
            </a:solidFill>
          </a:ln>
        </p:spPr>
      </p:pic>
      <p:pic>
        <p:nvPicPr>
          <p:cNvPr id="7" name="Picture 6">
            <a:extLst>
              <a:ext uri="{FF2B5EF4-FFF2-40B4-BE49-F238E27FC236}">
                <a16:creationId xmlns:a16="http://schemas.microsoft.com/office/drawing/2014/main" id="{3A48AB27-8D89-EA3B-1439-A63C92228852}"/>
              </a:ext>
            </a:extLst>
          </p:cNvPr>
          <p:cNvPicPr>
            <a:picLocks noChangeAspect="1"/>
          </p:cNvPicPr>
          <p:nvPr/>
        </p:nvPicPr>
        <p:blipFill>
          <a:blip r:embed="rId4"/>
          <a:stretch>
            <a:fillRect/>
          </a:stretch>
        </p:blipFill>
        <p:spPr>
          <a:xfrm>
            <a:off x="393353" y="2861204"/>
            <a:ext cx="10446287" cy="2142830"/>
          </a:xfrm>
          <a:prstGeom prst="rect">
            <a:avLst/>
          </a:prstGeom>
        </p:spPr>
      </p:pic>
      <p:pic>
        <p:nvPicPr>
          <p:cNvPr id="9" name="Picture 8">
            <a:extLst>
              <a:ext uri="{FF2B5EF4-FFF2-40B4-BE49-F238E27FC236}">
                <a16:creationId xmlns:a16="http://schemas.microsoft.com/office/drawing/2014/main" id="{E3D79A82-0367-8739-4482-20459A5704E0}"/>
              </a:ext>
            </a:extLst>
          </p:cNvPr>
          <p:cNvPicPr>
            <a:picLocks noChangeAspect="1"/>
          </p:cNvPicPr>
          <p:nvPr/>
        </p:nvPicPr>
        <p:blipFill>
          <a:blip r:embed="rId5"/>
          <a:stretch>
            <a:fillRect/>
          </a:stretch>
        </p:blipFill>
        <p:spPr>
          <a:xfrm>
            <a:off x="561943" y="5250410"/>
            <a:ext cx="3225966" cy="1449647"/>
          </a:xfrm>
          <a:prstGeom prst="rect">
            <a:avLst/>
          </a:prstGeom>
        </p:spPr>
      </p:pic>
      <p:pic>
        <p:nvPicPr>
          <p:cNvPr id="11" name="Picture 10">
            <a:extLst>
              <a:ext uri="{FF2B5EF4-FFF2-40B4-BE49-F238E27FC236}">
                <a16:creationId xmlns:a16="http://schemas.microsoft.com/office/drawing/2014/main" id="{1BAC8256-01B3-9AAD-2A32-215D87C9A8A5}"/>
              </a:ext>
            </a:extLst>
          </p:cNvPr>
          <p:cNvPicPr>
            <a:picLocks noChangeAspect="1"/>
          </p:cNvPicPr>
          <p:nvPr/>
        </p:nvPicPr>
        <p:blipFill>
          <a:blip r:embed="rId6"/>
          <a:stretch>
            <a:fillRect/>
          </a:stretch>
        </p:blipFill>
        <p:spPr>
          <a:xfrm>
            <a:off x="3869473" y="5173123"/>
            <a:ext cx="7611427" cy="1676847"/>
          </a:xfrm>
          <a:prstGeom prst="rect">
            <a:avLst/>
          </a:prstGeom>
        </p:spPr>
      </p:pic>
    </p:spTree>
    <p:extLst>
      <p:ext uri="{BB962C8B-B14F-4D97-AF65-F5344CB8AC3E}">
        <p14:creationId xmlns:p14="http://schemas.microsoft.com/office/powerpoint/2010/main" val="4015534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8606-9D22-822E-9A58-0E546F022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065CD0-BA53-3DA9-472F-A35F2D0E99F1}"/>
              </a:ext>
            </a:extLst>
          </p:cNvPr>
          <p:cNvSpPr>
            <a:spLocks noGrp="1"/>
          </p:cNvSpPr>
          <p:nvPr>
            <p:ph type="title"/>
          </p:nvPr>
        </p:nvSpPr>
        <p:spPr>
          <a:xfrm>
            <a:off x="838200" y="365125"/>
            <a:ext cx="10515600" cy="437763"/>
          </a:xfrm>
        </p:spPr>
        <p:txBody>
          <a:bodyPr>
            <a:normAutofit/>
          </a:bodyPr>
          <a:lstStyle/>
          <a:p>
            <a:r>
              <a:rPr lang="en-US" sz="2400" dirty="0"/>
              <a:t>Now we synch the changes to each of the workspaces </a:t>
            </a:r>
            <a:endParaRPr lang="en-ZA" sz="2400" dirty="0"/>
          </a:p>
        </p:txBody>
      </p:sp>
      <p:pic>
        <p:nvPicPr>
          <p:cNvPr id="5" name="Content Placeholder 4">
            <a:extLst>
              <a:ext uri="{FF2B5EF4-FFF2-40B4-BE49-F238E27FC236}">
                <a16:creationId xmlns:a16="http://schemas.microsoft.com/office/drawing/2014/main" id="{933BC3A0-0345-7342-1BC2-3373081DBEB4}"/>
              </a:ext>
            </a:extLst>
          </p:cNvPr>
          <p:cNvPicPr>
            <a:picLocks noGrp="1" noChangeAspect="1"/>
          </p:cNvPicPr>
          <p:nvPr>
            <p:ph idx="1"/>
          </p:nvPr>
        </p:nvPicPr>
        <p:blipFill>
          <a:blip r:embed="rId3"/>
          <a:stretch>
            <a:fillRect/>
          </a:stretch>
        </p:blipFill>
        <p:spPr>
          <a:xfrm>
            <a:off x="196210" y="1044248"/>
            <a:ext cx="5334794" cy="1576289"/>
          </a:xfrm>
          <a:ln w="19050">
            <a:solidFill>
              <a:schemeClr val="tx1"/>
            </a:solidFill>
          </a:ln>
        </p:spPr>
      </p:pic>
      <p:pic>
        <p:nvPicPr>
          <p:cNvPr id="7" name="Picture 6">
            <a:extLst>
              <a:ext uri="{FF2B5EF4-FFF2-40B4-BE49-F238E27FC236}">
                <a16:creationId xmlns:a16="http://schemas.microsoft.com/office/drawing/2014/main" id="{5812C97F-B82B-C37A-64D5-8F333FAF4D31}"/>
              </a:ext>
            </a:extLst>
          </p:cNvPr>
          <p:cNvPicPr>
            <a:picLocks noChangeAspect="1"/>
          </p:cNvPicPr>
          <p:nvPr/>
        </p:nvPicPr>
        <p:blipFill>
          <a:blip r:embed="rId4"/>
          <a:stretch>
            <a:fillRect/>
          </a:stretch>
        </p:blipFill>
        <p:spPr>
          <a:xfrm>
            <a:off x="6096000" y="1044248"/>
            <a:ext cx="5334794" cy="1576290"/>
          </a:xfrm>
          <a:prstGeom prst="rect">
            <a:avLst/>
          </a:prstGeom>
          <a:ln w="28575">
            <a:solidFill>
              <a:schemeClr val="tx1"/>
            </a:solidFill>
          </a:ln>
        </p:spPr>
      </p:pic>
      <p:pic>
        <p:nvPicPr>
          <p:cNvPr id="9" name="Picture 8">
            <a:extLst>
              <a:ext uri="{FF2B5EF4-FFF2-40B4-BE49-F238E27FC236}">
                <a16:creationId xmlns:a16="http://schemas.microsoft.com/office/drawing/2014/main" id="{B60E5149-7E70-577F-BBEB-9CBDCA705965}"/>
              </a:ext>
            </a:extLst>
          </p:cNvPr>
          <p:cNvPicPr>
            <a:picLocks noChangeAspect="1"/>
          </p:cNvPicPr>
          <p:nvPr/>
        </p:nvPicPr>
        <p:blipFill>
          <a:blip r:embed="rId5"/>
          <a:stretch>
            <a:fillRect/>
          </a:stretch>
        </p:blipFill>
        <p:spPr>
          <a:xfrm>
            <a:off x="307722" y="2861897"/>
            <a:ext cx="10243190" cy="2055791"/>
          </a:xfrm>
          <a:prstGeom prst="rect">
            <a:avLst/>
          </a:prstGeom>
          <a:ln w="28575">
            <a:solidFill>
              <a:schemeClr val="tx1"/>
            </a:solidFill>
          </a:ln>
        </p:spPr>
      </p:pic>
      <p:pic>
        <p:nvPicPr>
          <p:cNvPr id="11" name="Picture 10">
            <a:extLst>
              <a:ext uri="{FF2B5EF4-FFF2-40B4-BE49-F238E27FC236}">
                <a16:creationId xmlns:a16="http://schemas.microsoft.com/office/drawing/2014/main" id="{EEBCAD8D-1AF4-44CC-8D9C-25B3CB21CBA5}"/>
              </a:ext>
            </a:extLst>
          </p:cNvPr>
          <p:cNvPicPr>
            <a:picLocks noChangeAspect="1"/>
          </p:cNvPicPr>
          <p:nvPr/>
        </p:nvPicPr>
        <p:blipFill>
          <a:blip r:embed="rId6"/>
          <a:stretch>
            <a:fillRect/>
          </a:stretch>
        </p:blipFill>
        <p:spPr>
          <a:xfrm>
            <a:off x="395531" y="5077637"/>
            <a:ext cx="5581523" cy="1780363"/>
          </a:xfrm>
          <a:prstGeom prst="rect">
            <a:avLst/>
          </a:prstGeom>
          <a:ln w="19050">
            <a:solidFill>
              <a:schemeClr val="tx1"/>
            </a:solidFill>
          </a:ln>
        </p:spPr>
      </p:pic>
      <p:pic>
        <p:nvPicPr>
          <p:cNvPr id="13" name="Picture 12">
            <a:extLst>
              <a:ext uri="{FF2B5EF4-FFF2-40B4-BE49-F238E27FC236}">
                <a16:creationId xmlns:a16="http://schemas.microsoft.com/office/drawing/2014/main" id="{4BDB2D3E-4B1B-6AAC-A882-AC822F960C5F}"/>
              </a:ext>
            </a:extLst>
          </p:cNvPr>
          <p:cNvPicPr>
            <a:picLocks noChangeAspect="1"/>
          </p:cNvPicPr>
          <p:nvPr/>
        </p:nvPicPr>
        <p:blipFill>
          <a:blip r:embed="rId7"/>
          <a:stretch>
            <a:fillRect/>
          </a:stretch>
        </p:blipFill>
        <p:spPr>
          <a:xfrm>
            <a:off x="6096000" y="5077637"/>
            <a:ext cx="5865541" cy="1698953"/>
          </a:xfrm>
          <a:prstGeom prst="rect">
            <a:avLst/>
          </a:prstGeom>
          <a:ln w="28575">
            <a:solidFill>
              <a:schemeClr val="tx1"/>
            </a:solidFill>
          </a:ln>
        </p:spPr>
      </p:pic>
    </p:spTree>
    <p:extLst>
      <p:ext uri="{BB962C8B-B14F-4D97-AF65-F5344CB8AC3E}">
        <p14:creationId xmlns:p14="http://schemas.microsoft.com/office/powerpoint/2010/main" val="4172548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E1E3-6F61-7E8E-B4FB-19368AC29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C2E605-473D-B05D-0890-8C3A445505EF}"/>
              </a:ext>
            </a:extLst>
          </p:cNvPr>
          <p:cNvSpPr>
            <a:spLocks noGrp="1"/>
          </p:cNvSpPr>
          <p:nvPr>
            <p:ph type="title"/>
          </p:nvPr>
        </p:nvSpPr>
        <p:spPr>
          <a:xfrm>
            <a:off x="838200" y="365125"/>
            <a:ext cx="10515600" cy="460065"/>
          </a:xfrm>
        </p:spPr>
        <p:txBody>
          <a:bodyPr>
            <a:normAutofit fontScale="90000"/>
          </a:bodyPr>
          <a:lstStyle/>
          <a:p>
            <a:r>
              <a:rPr lang="en-US" dirty="0"/>
              <a:t>Message Deploy to this stage </a:t>
            </a:r>
            <a:endParaRPr lang="en-ZA" dirty="0"/>
          </a:p>
        </p:txBody>
      </p:sp>
      <p:pic>
        <p:nvPicPr>
          <p:cNvPr id="5" name="Content Placeholder 4">
            <a:extLst>
              <a:ext uri="{FF2B5EF4-FFF2-40B4-BE49-F238E27FC236}">
                <a16:creationId xmlns:a16="http://schemas.microsoft.com/office/drawing/2014/main" id="{14910D13-F7D6-824C-505B-436DCCBEFF64}"/>
              </a:ext>
            </a:extLst>
          </p:cNvPr>
          <p:cNvPicPr>
            <a:picLocks noGrp="1" noChangeAspect="1"/>
          </p:cNvPicPr>
          <p:nvPr>
            <p:ph idx="1"/>
          </p:nvPr>
        </p:nvPicPr>
        <p:blipFill>
          <a:blip r:embed="rId3"/>
          <a:stretch>
            <a:fillRect/>
          </a:stretch>
        </p:blipFill>
        <p:spPr>
          <a:xfrm>
            <a:off x="446335" y="1181338"/>
            <a:ext cx="5553022" cy="2152878"/>
          </a:xfrm>
        </p:spPr>
      </p:pic>
      <p:pic>
        <p:nvPicPr>
          <p:cNvPr id="7" name="Picture 6">
            <a:extLst>
              <a:ext uri="{FF2B5EF4-FFF2-40B4-BE49-F238E27FC236}">
                <a16:creationId xmlns:a16="http://schemas.microsoft.com/office/drawing/2014/main" id="{0D54C97F-090D-E8C1-8C7B-74549F7055CA}"/>
              </a:ext>
            </a:extLst>
          </p:cNvPr>
          <p:cNvPicPr>
            <a:picLocks noChangeAspect="1"/>
          </p:cNvPicPr>
          <p:nvPr/>
        </p:nvPicPr>
        <p:blipFill>
          <a:blip r:embed="rId4"/>
          <a:stretch>
            <a:fillRect/>
          </a:stretch>
        </p:blipFill>
        <p:spPr>
          <a:xfrm>
            <a:off x="6400800" y="1133358"/>
            <a:ext cx="4953000" cy="2152878"/>
          </a:xfrm>
          <a:prstGeom prst="rect">
            <a:avLst/>
          </a:prstGeom>
          <a:ln w="28575">
            <a:solidFill>
              <a:schemeClr val="tx1"/>
            </a:solidFill>
          </a:ln>
        </p:spPr>
      </p:pic>
      <p:pic>
        <p:nvPicPr>
          <p:cNvPr id="9" name="Picture 8">
            <a:extLst>
              <a:ext uri="{FF2B5EF4-FFF2-40B4-BE49-F238E27FC236}">
                <a16:creationId xmlns:a16="http://schemas.microsoft.com/office/drawing/2014/main" id="{4D315161-241B-9A94-FC5A-E7418D79DC06}"/>
              </a:ext>
            </a:extLst>
          </p:cNvPr>
          <p:cNvPicPr>
            <a:picLocks noChangeAspect="1"/>
          </p:cNvPicPr>
          <p:nvPr/>
        </p:nvPicPr>
        <p:blipFill>
          <a:blip r:embed="rId5"/>
          <a:stretch>
            <a:fillRect/>
          </a:stretch>
        </p:blipFill>
        <p:spPr>
          <a:xfrm>
            <a:off x="226286" y="3989079"/>
            <a:ext cx="5869714" cy="1466925"/>
          </a:xfrm>
          <a:prstGeom prst="rect">
            <a:avLst/>
          </a:prstGeom>
          <a:ln w="28575">
            <a:solidFill>
              <a:schemeClr val="tx1"/>
            </a:solidFill>
          </a:ln>
        </p:spPr>
      </p:pic>
      <p:pic>
        <p:nvPicPr>
          <p:cNvPr id="11" name="Picture 10">
            <a:extLst>
              <a:ext uri="{FF2B5EF4-FFF2-40B4-BE49-F238E27FC236}">
                <a16:creationId xmlns:a16="http://schemas.microsoft.com/office/drawing/2014/main" id="{8E6D3452-6F27-A5C0-E274-26BABE5CA4D1}"/>
              </a:ext>
            </a:extLst>
          </p:cNvPr>
          <p:cNvPicPr>
            <a:picLocks noChangeAspect="1"/>
          </p:cNvPicPr>
          <p:nvPr/>
        </p:nvPicPr>
        <p:blipFill>
          <a:blip r:embed="rId6"/>
          <a:stretch>
            <a:fillRect/>
          </a:stretch>
        </p:blipFill>
        <p:spPr>
          <a:xfrm>
            <a:off x="6590370" y="3813110"/>
            <a:ext cx="4848490" cy="2207661"/>
          </a:xfrm>
          <a:prstGeom prst="rect">
            <a:avLst/>
          </a:prstGeom>
          <a:ln w="28575">
            <a:solidFill>
              <a:schemeClr val="tx1"/>
            </a:solidFill>
          </a:ln>
        </p:spPr>
      </p:pic>
    </p:spTree>
    <p:extLst>
      <p:ext uri="{BB962C8B-B14F-4D97-AF65-F5344CB8AC3E}">
        <p14:creationId xmlns:p14="http://schemas.microsoft.com/office/powerpoint/2010/main" val="1792751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78400-4F23-E7EA-0E1D-340358BFA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80891-4369-2101-72FB-C0284E8B0FCA}"/>
              </a:ext>
            </a:extLst>
          </p:cNvPr>
          <p:cNvSpPr>
            <a:spLocks noGrp="1"/>
          </p:cNvSpPr>
          <p:nvPr>
            <p:ph type="title"/>
          </p:nvPr>
        </p:nvSpPr>
        <p:spPr>
          <a:xfrm>
            <a:off x="838200" y="365125"/>
            <a:ext cx="10515600" cy="493519"/>
          </a:xfrm>
        </p:spPr>
        <p:txBody>
          <a:bodyPr>
            <a:normAutofit fontScale="90000"/>
          </a:bodyPr>
          <a:lstStyle/>
          <a:p>
            <a:r>
              <a:rPr lang="en-US" dirty="0"/>
              <a:t>Go to Prod and deploy to Prod</a:t>
            </a:r>
            <a:endParaRPr lang="en-ZA" dirty="0"/>
          </a:p>
        </p:txBody>
      </p:sp>
      <p:pic>
        <p:nvPicPr>
          <p:cNvPr id="5" name="Content Placeholder 4">
            <a:extLst>
              <a:ext uri="{FF2B5EF4-FFF2-40B4-BE49-F238E27FC236}">
                <a16:creationId xmlns:a16="http://schemas.microsoft.com/office/drawing/2014/main" id="{4449756D-6BC5-8A68-EF09-1E8BB8C3CCF0}"/>
              </a:ext>
            </a:extLst>
          </p:cNvPr>
          <p:cNvPicPr>
            <a:picLocks noGrp="1" noChangeAspect="1"/>
          </p:cNvPicPr>
          <p:nvPr>
            <p:ph idx="1"/>
          </p:nvPr>
        </p:nvPicPr>
        <p:blipFill>
          <a:blip r:embed="rId3"/>
          <a:stretch>
            <a:fillRect/>
          </a:stretch>
        </p:blipFill>
        <p:spPr>
          <a:xfrm>
            <a:off x="584807" y="1033889"/>
            <a:ext cx="9171281" cy="2188813"/>
          </a:xfrm>
          <a:ln w="28575">
            <a:solidFill>
              <a:schemeClr val="tx1"/>
            </a:solidFill>
          </a:ln>
        </p:spPr>
      </p:pic>
      <p:pic>
        <p:nvPicPr>
          <p:cNvPr id="7" name="Picture 6">
            <a:extLst>
              <a:ext uri="{FF2B5EF4-FFF2-40B4-BE49-F238E27FC236}">
                <a16:creationId xmlns:a16="http://schemas.microsoft.com/office/drawing/2014/main" id="{EE670D9C-E332-87F7-AFD9-1CFF3136029A}"/>
              </a:ext>
            </a:extLst>
          </p:cNvPr>
          <p:cNvPicPr>
            <a:picLocks noChangeAspect="1"/>
          </p:cNvPicPr>
          <p:nvPr/>
        </p:nvPicPr>
        <p:blipFill>
          <a:blip r:embed="rId4"/>
          <a:stretch>
            <a:fillRect/>
          </a:stretch>
        </p:blipFill>
        <p:spPr>
          <a:xfrm>
            <a:off x="195490" y="3724510"/>
            <a:ext cx="4220393" cy="2857576"/>
          </a:xfrm>
          <a:prstGeom prst="rect">
            <a:avLst/>
          </a:prstGeom>
        </p:spPr>
      </p:pic>
      <p:pic>
        <p:nvPicPr>
          <p:cNvPr id="11" name="Picture 10">
            <a:extLst>
              <a:ext uri="{FF2B5EF4-FFF2-40B4-BE49-F238E27FC236}">
                <a16:creationId xmlns:a16="http://schemas.microsoft.com/office/drawing/2014/main" id="{66394F0E-D60F-B1E7-FF69-609070D3EC7C}"/>
              </a:ext>
            </a:extLst>
          </p:cNvPr>
          <p:cNvPicPr>
            <a:picLocks noChangeAspect="1"/>
          </p:cNvPicPr>
          <p:nvPr/>
        </p:nvPicPr>
        <p:blipFill>
          <a:blip r:embed="rId5"/>
          <a:stretch>
            <a:fillRect/>
          </a:stretch>
        </p:blipFill>
        <p:spPr>
          <a:xfrm>
            <a:off x="4897849" y="3635298"/>
            <a:ext cx="6186463" cy="2946787"/>
          </a:xfrm>
          <a:prstGeom prst="rect">
            <a:avLst/>
          </a:prstGeom>
          <a:ln w="28575">
            <a:solidFill>
              <a:schemeClr val="tx1"/>
            </a:solidFill>
          </a:ln>
        </p:spPr>
      </p:pic>
    </p:spTree>
    <p:extLst>
      <p:ext uri="{BB962C8B-B14F-4D97-AF65-F5344CB8AC3E}">
        <p14:creationId xmlns:p14="http://schemas.microsoft.com/office/powerpoint/2010/main" val="3999438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B7F5E-C5CD-2C83-D886-1EB90D958A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0501A-9DD7-F98D-3F71-5CA178013441}"/>
              </a:ext>
            </a:extLst>
          </p:cNvPr>
          <p:cNvSpPr>
            <a:spLocks noGrp="1"/>
          </p:cNvSpPr>
          <p:nvPr>
            <p:ph type="title"/>
          </p:nvPr>
        </p:nvSpPr>
        <p:spPr>
          <a:xfrm>
            <a:off x="838200" y="365126"/>
            <a:ext cx="10515600" cy="315912"/>
          </a:xfrm>
        </p:spPr>
        <p:txBody>
          <a:bodyPr>
            <a:normAutofit fontScale="90000"/>
          </a:bodyPr>
          <a:lstStyle/>
          <a:p>
            <a:r>
              <a:rPr lang="en-US" dirty="0"/>
              <a:t>141..End to End Deployment</a:t>
            </a:r>
            <a:endParaRPr lang="en-ZA" dirty="0"/>
          </a:p>
        </p:txBody>
      </p:sp>
      <p:pic>
        <p:nvPicPr>
          <p:cNvPr id="5" name="Picture 4">
            <a:extLst>
              <a:ext uri="{FF2B5EF4-FFF2-40B4-BE49-F238E27FC236}">
                <a16:creationId xmlns:a16="http://schemas.microsoft.com/office/drawing/2014/main" id="{FDFB0D9C-2BAD-E236-9A46-27A6C902B83A}"/>
              </a:ext>
            </a:extLst>
          </p:cNvPr>
          <p:cNvPicPr>
            <a:picLocks noChangeAspect="1"/>
          </p:cNvPicPr>
          <p:nvPr/>
        </p:nvPicPr>
        <p:blipFill>
          <a:blip r:embed="rId3"/>
          <a:stretch>
            <a:fillRect/>
          </a:stretch>
        </p:blipFill>
        <p:spPr>
          <a:xfrm>
            <a:off x="473521" y="1529411"/>
            <a:ext cx="2895527" cy="1458487"/>
          </a:xfrm>
          <a:prstGeom prst="rect">
            <a:avLst/>
          </a:prstGeom>
        </p:spPr>
      </p:pic>
      <p:pic>
        <p:nvPicPr>
          <p:cNvPr id="7" name="Picture 6">
            <a:extLst>
              <a:ext uri="{FF2B5EF4-FFF2-40B4-BE49-F238E27FC236}">
                <a16:creationId xmlns:a16="http://schemas.microsoft.com/office/drawing/2014/main" id="{3FDD0121-BEB5-2ADC-4B4C-8308A948619E}"/>
              </a:ext>
            </a:extLst>
          </p:cNvPr>
          <p:cNvPicPr>
            <a:picLocks noChangeAspect="1"/>
          </p:cNvPicPr>
          <p:nvPr/>
        </p:nvPicPr>
        <p:blipFill>
          <a:blip r:embed="rId4"/>
          <a:stretch>
            <a:fillRect/>
          </a:stretch>
        </p:blipFill>
        <p:spPr>
          <a:xfrm>
            <a:off x="4017044" y="1334681"/>
            <a:ext cx="2959252" cy="1847945"/>
          </a:xfrm>
          <a:prstGeom prst="rect">
            <a:avLst/>
          </a:prstGeom>
        </p:spPr>
      </p:pic>
      <p:pic>
        <p:nvPicPr>
          <p:cNvPr id="9" name="Picture 8">
            <a:extLst>
              <a:ext uri="{FF2B5EF4-FFF2-40B4-BE49-F238E27FC236}">
                <a16:creationId xmlns:a16="http://schemas.microsoft.com/office/drawing/2014/main" id="{D9FD233A-376E-8817-6480-58601AA1AEF5}"/>
              </a:ext>
            </a:extLst>
          </p:cNvPr>
          <p:cNvPicPr>
            <a:picLocks noChangeAspect="1"/>
          </p:cNvPicPr>
          <p:nvPr/>
        </p:nvPicPr>
        <p:blipFill>
          <a:blip r:embed="rId5"/>
          <a:stretch>
            <a:fillRect/>
          </a:stretch>
        </p:blipFill>
        <p:spPr>
          <a:xfrm>
            <a:off x="7305318" y="1195360"/>
            <a:ext cx="4413161" cy="2233640"/>
          </a:xfrm>
          <a:prstGeom prst="rect">
            <a:avLst/>
          </a:prstGeom>
        </p:spPr>
      </p:pic>
      <p:pic>
        <p:nvPicPr>
          <p:cNvPr id="11" name="Picture 10">
            <a:extLst>
              <a:ext uri="{FF2B5EF4-FFF2-40B4-BE49-F238E27FC236}">
                <a16:creationId xmlns:a16="http://schemas.microsoft.com/office/drawing/2014/main" id="{6625CD42-DB02-B8F9-D4D6-65FBD8FB3A33}"/>
              </a:ext>
            </a:extLst>
          </p:cNvPr>
          <p:cNvPicPr>
            <a:picLocks noChangeAspect="1"/>
          </p:cNvPicPr>
          <p:nvPr/>
        </p:nvPicPr>
        <p:blipFill>
          <a:blip r:embed="rId6"/>
          <a:stretch>
            <a:fillRect/>
          </a:stretch>
        </p:blipFill>
        <p:spPr>
          <a:xfrm>
            <a:off x="509549" y="3724132"/>
            <a:ext cx="2197213" cy="2768742"/>
          </a:xfrm>
          <a:prstGeom prst="rect">
            <a:avLst/>
          </a:prstGeom>
        </p:spPr>
      </p:pic>
      <p:pic>
        <p:nvPicPr>
          <p:cNvPr id="13" name="Picture 12">
            <a:extLst>
              <a:ext uri="{FF2B5EF4-FFF2-40B4-BE49-F238E27FC236}">
                <a16:creationId xmlns:a16="http://schemas.microsoft.com/office/drawing/2014/main" id="{538532CF-0CBC-8ABA-E5FB-8FCBF3BA4589}"/>
              </a:ext>
            </a:extLst>
          </p:cNvPr>
          <p:cNvPicPr>
            <a:picLocks noChangeAspect="1"/>
          </p:cNvPicPr>
          <p:nvPr/>
        </p:nvPicPr>
        <p:blipFill>
          <a:blip r:embed="rId7"/>
          <a:stretch>
            <a:fillRect/>
          </a:stretch>
        </p:blipFill>
        <p:spPr>
          <a:xfrm>
            <a:off x="2946740" y="4030999"/>
            <a:ext cx="5912154" cy="2082907"/>
          </a:xfrm>
          <a:prstGeom prst="rect">
            <a:avLst/>
          </a:prstGeom>
        </p:spPr>
      </p:pic>
    </p:spTree>
    <p:extLst>
      <p:ext uri="{BB962C8B-B14F-4D97-AF65-F5344CB8AC3E}">
        <p14:creationId xmlns:p14="http://schemas.microsoft.com/office/powerpoint/2010/main" val="42038586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DF668-6555-6AEE-7633-38DFEF780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92BD08-B74A-1F56-91DA-E66F2BE8C535}"/>
              </a:ext>
            </a:extLst>
          </p:cNvPr>
          <p:cNvSpPr>
            <a:spLocks noGrp="1"/>
          </p:cNvSpPr>
          <p:nvPr>
            <p:ph type="title"/>
          </p:nvPr>
        </p:nvSpPr>
        <p:spPr/>
        <p:txBody>
          <a:bodyPr>
            <a:normAutofit/>
          </a:bodyPr>
          <a:lstStyle/>
          <a:p>
            <a:r>
              <a:rPr lang="en-US" sz="2400" dirty="0"/>
              <a:t>Go Back to the Pipeline to Dev and Assign the </a:t>
            </a:r>
            <a:r>
              <a:rPr lang="en-US" sz="2400" dirty="0" err="1"/>
              <a:t>wspace</a:t>
            </a:r>
            <a:r>
              <a:rPr lang="en-US" sz="2400" dirty="0"/>
              <a:t> to the block. By drop down </a:t>
            </a:r>
            <a:endParaRPr lang="en-ZA" sz="2400" dirty="0"/>
          </a:p>
        </p:txBody>
      </p:sp>
      <p:pic>
        <p:nvPicPr>
          <p:cNvPr id="5" name="Content Placeholder 4">
            <a:extLst>
              <a:ext uri="{FF2B5EF4-FFF2-40B4-BE49-F238E27FC236}">
                <a16:creationId xmlns:a16="http://schemas.microsoft.com/office/drawing/2014/main" id="{D7EB672E-87AC-FA6B-DC48-780BE7D10440}"/>
              </a:ext>
            </a:extLst>
          </p:cNvPr>
          <p:cNvPicPr>
            <a:picLocks noGrp="1" noChangeAspect="1"/>
          </p:cNvPicPr>
          <p:nvPr>
            <p:ph idx="1"/>
          </p:nvPr>
        </p:nvPicPr>
        <p:blipFill>
          <a:blip r:embed="rId3"/>
          <a:stretch>
            <a:fillRect/>
          </a:stretch>
        </p:blipFill>
        <p:spPr>
          <a:xfrm>
            <a:off x="615725" y="1690688"/>
            <a:ext cx="1790792" cy="1619333"/>
          </a:xfrm>
        </p:spPr>
      </p:pic>
      <p:pic>
        <p:nvPicPr>
          <p:cNvPr id="7" name="Picture 6">
            <a:extLst>
              <a:ext uri="{FF2B5EF4-FFF2-40B4-BE49-F238E27FC236}">
                <a16:creationId xmlns:a16="http://schemas.microsoft.com/office/drawing/2014/main" id="{C62DB12F-CAB2-33FD-EB4B-FD610B67D62F}"/>
              </a:ext>
            </a:extLst>
          </p:cNvPr>
          <p:cNvPicPr>
            <a:picLocks noChangeAspect="1"/>
          </p:cNvPicPr>
          <p:nvPr/>
        </p:nvPicPr>
        <p:blipFill>
          <a:blip r:embed="rId4"/>
          <a:stretch>
            <a:fillRect/>
          </a:stretch>
        </p:blipFill>
        <p:spPr>
          <a:xfrm>
            <a:off x="2819232" y="1690688"/>
            <a:ext cx="3276768" cy="1854295"/>
          </a:xfrm>
          <a:prstGeom prst="rect">
            <a:avLst/>
          </a:prstGeom>
        </p:spPr>
      </p:pic>
      <p:pic>
        <p:nvPicPr>
          <p:cNvPr id="9" name="Picture 8">
            <a:extLst>
              <a:ext uri="{FF2B5EF4-FFF2-40B4-BE49-F238E27FC236}">
                <a16:creationId xmlns:a16="http://schemas.microsoft.com/office/drawing/2014/main" id="{3AA10E29-B358-F9E2-D704-86711FCB3B10}"/>
              </a:ext>
            </a:extLst>
          </p:cNvPr>
          <p:cNvPicPr>
            <a:picLocks noChangeAspect="1"/>
          </p:cNvPicPr>
          <p:nvPr/>
        </p:nvPicPr>
        <p:blipFill>
          <a:blip r:embed="rId5"/>
          <a:stretch>
            <a:fillRect/>
          </a:stretch>
        </p:blipFill>
        <p:spPr>
          <a:xfrm>
            <a:off x="6508715" y="1836745"/>
            <a:ext cx="1549480" cy="1562180"/>
          </a:xfrm>
          <a:prstGeom prst="rect">
            <a:avLst/>
          </a:prstGeom>
        </p:spPr>
      </p:pic>
      <p:pic>
        <p:nvPicPr>
          <p:cNvPr id="11" name="Picture 10">
            <a:extLst>
              <a:ext uri="{FF2B5EF4-FFF2-40B4-BE49-F238E27FC236}">
                <a16:creationId xmlns:a16="http://schemas.microsoft.com/office/drawing/2014/main" id="{394C3862-8C88-235D-D096-35F5E46AA30D}"/>
              </a:ext>
            </a:extLst>
          </p:cNvPr>
          <p:cNvPicPr>
            <a:picLocks noChangeAspect="1"/>
          </p:cNvPicPr>
          <p:nvPr/>
        </p:nvPicPr>
        <p:blipFill>
          <a:blip r:embed="rId6"/>
          <a:stretch>
            <a:fillRect/>
          </a:stretch>
        </p:blipFill>
        <p:spPr>
          <a:xfrm>
            <a:off x="8515474" y="1410603"/>
            <a:ext cx="1714588" cy="1149409"/>
          </a:xfrm>
          <a:prstGeom prst="rect">
            <a:avLst/>
          </a:prstGeom>
        </p:spPr>
      </p:pic>
      <p:pic>
        <p:nvPicPr>
          <p:cNvPr id="13" name="Picture 12">
            <a:extLst>
              <a:ext uri="{FF2B5EF4-FFF2-40B4-BE49-F238E27FC236}">
                <a16:creationId xmlns:a16="http://schemas.microsoft.com/office/drawing/2014/main" id="{85BAF94D-011E-0A49-0760-5367A4824B5E}"/>
              </a:ext>
            </a:extLst>
          </p:cNvPr>
          <p:cNvPicPr>
            <a:picLocks noChangeAspect="1"/>
          </p:cNvPicPr>
          <p:nvPr/>
        </p:nvPicPr>
        <p:blipFill>
          <a:blip r:embed="rId7"/>
          <a:stretch>
            <a:fillRect/>
          </a:stretch>
        </p:blipFill>
        <p:spPr>
          <a:xfrm>
            <a:off x="162446" y="3958953"/>
            <a:ext cx="3636822" cy="2734840"/>
          </a:xfrm>
          <a:prstGeom prst="rect">
            <a:avLst/>
          </a:prstGeom>
        </p:spPr>
      </p:pic>
      <p:pic>
        <p:nvPicPr>
          <p:cNvPr id="15" name="Picture 14">
            <a:extLst>
              <a:ext uri="{FF2B5EF4-FFF2-40B4-BE49-F238E27FC236}">
                <a16:creationId xmlns:a16="http://schemas.microsoft.com/office/drawing/2014/main" id="{DC38D941-0480-78D2-57CC-903182287C76}"/>
              </a:ext>
            </a:extLst>
          </p:cNvPr>
          <p:cNvPicPr>
            <a:picLocks noChangeAspect="1"/>
          </p:cNvPicPr>
          <p:nvPr/>
        </p:nvPicPr>
        <p:blipFill>
          <a:blip r:embed="rId8"/>
          <a:stretch>
            <a:fillRect/>
          </a:stretch>
        </p:blipFill>
        <p:spPr>
          <a:xfrm>
            <a:off x="3950392" y="3944874"/>
            <a:ext cx="3853338" cy="2444876"/>
          </a:xfrm>
          <a:prstGeom prst="rect">
            <a:avLst/>
          </a:prstGeom>
          <a:ln w="28575">
            <a:solidFill>
              <a:schemeClr val="tx1"/>
            </a:solidFill>
          </a:ln>
        </p:spPr>
      </p:pic>
      <p:pic>
        <p:nvPicPr>
          <p:cNvPr id="17" name="Picture 16">
            <a:extLst>
              <a:ext uri="{FF2B5EF4-FFF2-40B4-BE49-F238E27FC236}">
                <a16:creationId xmlns:a16="http://schemas.microsoft.com/office/drawing/2014/main" id="{7E243C6E-3C14-48F9-F31A-A59522447F37}"/>
              </a:ext>
            </a:extLst>
          </p:cNvPr>
          <p:cNvPicPr>
            <a:picLocks noChangeAspect="1"/>
          </p:cNvPicPr>
          <p:nvPr/>
        </p:nvPicPr>
        <p:blipFill>
          <a:blip r:embed="rId9"/>
          <a:stretch>
            <a:fillRect/>
          </a:stretch>
        </p:blipFill>
        <p:spPr>
          <a:xfrm>
            <a:off x="8425358" y="2500354"/>
            <a:ext cx="2928442" cy="1295614"/>
          </a:xfrm>
          <a:prstGeom prst="rect">
            <a:avLst/>
          </a:prstGeom>
          <a:ln w="19050">
            <a:solidFill>
              <a:schemeClr val="tx1"/>
            </a:solidFill>
          </a:ln>
        </p:spPr>
      </p:pic>
      <p:pic>
        <p:nvPicPr>
          <p:cNvPr id="19" name="Picture 18">
            <a:extLst>
              <a:ext uri="{FF2B5EF4-FFF2-40B4-BE49-F238E27FC236}">
                <a16:creationId xmlns:a16="http://schemas.microsoft.com/office/drawing/2014/main" id="{A06E789D-51C9-02BD-70DE-24505E22E7DC}"/>
              </a:ext>
            </a:extLst>
          </p:cNvPr>
          <p:cNvPicPr>
            <a:picLocks noChangeAspect="1"/>
          </p:cNvPicPr>
          <p:nvPr/>
        </p:nvPicPr>
        <p:blipFill>
          <a:blip r:embed="rId10"/>
          <a:stretch>
            <a:fillRect/>
          </a:stretch>
        </p:blipFill>
        <p:spPr>
          <a:xfrm>
            <a:off x="8345455" y="3821359"/>
            <a:ext cx="2928442" cy="1978684"/>
          </a:xfrm>
          <a:prstGeom prst="rect">
            <a:avLst/>
          </a:prstGeom>
        </p:spPr>
      </p:pic>
      <p:pic>
        <p:nvPicPr>
          <p:cNvPr id="21" name="Picture 20">
            <a:extLst>
              <a:ext uri="{FF2B5EF4-FFF2-40B4-BE49-F238E27FC236}">
                <a16:creationId xmlns:a16="http://schemas.microsoft.com/office/drawing/2014/main" id="{16A458C9-BD8E-D872-567E-C78A3956E7DB}"/>
              </a:ext>
            </a:extLst>
          </p:cNvPr>
          <p:cNvPicPr>
            <a:picLocks noChangeAspect="1"/>
          </p:cNvPicPr>
          <p:nvPr/>
        </p:nvPicPr>
        <p:blipFill>
          <a:blip r:embed="rId11"/>
          <a:stretch>
            <a:fillRect/>
          </a:stretch>
        </p:blipFill>
        <p:spPr>
          <a:xfrm>
            <a:off x="8345455" y="5825434"/>
            <a:ext cx="2928442" cy="1257365"/>
          </a:xfrm>
          <a:prstGeom prst="rect">
            <a:avLst/>
          </a:prstGeom>
        </p:spPr>
      </p:pic>
    </p:spTree>
    <p:extLst>
      <p:ext uri="{BB962C8B-B14F-4D97-AF65-F5344CB8AC3E}">
        <p14:creationId xmlns:p14="http://schemas.microsoft.com/office/powerpoint/2010/main" val="2670875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EC809-7375-336D-F661-76A3BF5C7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77A6E-2D83-FA9E-5075-B5223D541E9B}"/>
              </a:ext>
            </a:extLst>
          </p:cNvPr>
          <p:cNvSpPr>
            <a:spLocks noGrp="1"/>
          </p:cNvSpPr>
          <p:nvPr>
            <p:ph type="title"/>
          </p:nvPr>
        </p:nvSpPr>
        <p:spPr>
          <a:xfrm>
            <a:off x="838200" y="365125"/>
            <a:ext cx="10515600" cy="729579"/>
          </a:xfrm>
        </p:spPr>
        <p:txBody>
          <a:bodyPr/>
          <a:lstStyle/>
          <a:p>
            <a:r>
              <a:rPr lang="en-ZA" dirty="0"/>
              <a:t>Result of deployment ..Unsupported etc</a:t>
            </a:r>
          </a:p>
        </p:txBody>
      </p:sp>
      <p:pic>
        <p:nvPicPr>
          <p:cNvPr id="5" name="Content Placeholder 4">
            <a:extLst>
              <a:ext uri="{FF2B5EF4-FFF2-40B4-BE49-F238E27FC236}">
                <a16:creationId xmlns:a16="http://schemas.microsoft.com/office/drawing/2014/main" id="{D626D960-C707-66B5-CB09-C32E20EB0287}"/>
              </a:ext>
            </a:extLst>
          </p:cNvPr>
          <p:cNvPicPr>
            <a:picLocks noGrp="1" noChangeAspect="1"/>
          </p:cNvPicPr>
          <p:nvPr>
            <p:ph idx="1"/>
          </p:nvPr>
        </p:nvPicPr>
        <p:blipFill>
          <a:blip r:embed="rId3"/>
          <a:stretch>
            <a:fillRect/>
          </a:stretch>
        </p:blipFill>
        <p:spPr>
          <a:xfrm>
            <a:off x="452093" y="1270438"/>
            <a:ext cx="10187189" cy="3459217"/>
          </a:xfrm>
        </p:spPr>
      </p:pic>
      <p:pic>
        <p:nvPicPr>
          <p:cNvPr id="4" name="Picture 3">
            <a:extLst>
              <a:ext uri="{FF2B5EF4-FFF2-40B4-BE49-F238E27FC236}">
                <a16:creationId xmlns:a16="http://schemas.microsoft.com/office/drawing/2014/main" id="{F8F685AA-3DE8-B478-DC44-93A0A149F27E}"/>
              </a:ext>
            </a:extLst>
          </p:cNvPr>
          <p:cNvPicPr>
            <a:picLocks noChangeAspect="1"/>
          </p:cNvPicPr>
          <p:nvPr/>
        </p:nvPicPr>
        <p:blipFill>
          <a:blip r:embed="rId4"/>
          <a:stretch>
            <a:fillRect/>
          </a:stretch>
        </p:blipFill>
        <p:spPr>
          <a:xfrm>
            <a:off x="1104824" y="5323903"/>
            <a:ext cx="7207620" cy="939848"/>
          </a:xfrm>
          <a:prstGeom prst="rect">
            <a:avLst/>
          </a:prstGeom>
        </p:spPr>
      </p:pic>
    </p:spTree>
    <p:extLst>
      <p:ext uri="{BB962C8B-B14F-4D97-AF65-F5344CB8AC3E}">
        <p14:creationId xmlns:p14="http://schemas.microsoft.com/office/powerpoint/2010/main" val="743985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F7C2B-B9B1-F8AD-1AF0-9057484DF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A4291-7F50-5EA5-A70A-3B19B63957E1}"/>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03D7B8C9-0FF8-1580-77C1-33E6F63A87D8}"/>
              </a:ext>
            </a:extLst>
          </p:cNvPr>
          <p:cNvPicPr>
            <a:picLocks noGrp="1" noChangeAspect="1"/>
          </p:cNvPicPr>
          <p:nvPr>
            <p:ph idx="1"/>
          </p:nvPr>
        </p:nvPicPr>
        <p:blipFill>
          <a:blip r:embed="rId2"/>
          <a:stretch>
            <a:fillRect/>
          </a:stretch>
        </p:blipFill>
        <p:spPr>
          <a:xfrm>
            <a:off x="716335" y="609407"/>
            <a:ext cx="10997444" cy="5034648"/>
          </a:xfrm>
        </p:spPr>
      </p:pic>
    </p:spTree>
    <p:extLst>
      <p:ext uri="{BB962C8B-B14F-4D97-AF65-F5344CB8AC3E}">
        <p14:creationId xmlns:p14="http://schemas.microsoft.com/office/powerpoint/2010/main" val="1227620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739A0-E837-5312-08B4-32FE01456A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7BB63-9F6A-2C38-1964-DBE1C0A6F678}"/>
              </a:ext>
            </a:extLst>
          </p:cNvPr>
          <p:cNvSpPr>
            <a:spLocks noGrp="1"/>
          </p:cNvSpPr>
          <p:nvPr>
            <p:ph type="title"/>
          </p:nvPr>
        </p:nvSpPr>
        <p:spPr/>
        <p:txBody>
          <a:bodyPr/>
          <a:lstStyle/>
          <a:p>
            <a:endParaRPr lang="en-ZA"/>
          </a:p>
        </p:txBody>
      </p:sp>
      <p:pic>
        <p:nvPicPr>
          <p:cNvPr id="5" name="Content Placeholder 4">
            <a:extLst>
              <a:ext uri="{FF2B5EF4-FFF2-40B4-BE49-F238E27FC236}">
                <a16:creationId xmlns:a16="http://schemas.microsoft.com/office/drawing/2014/main" id="{7F20544F-C4B5-BF77-F76E-3FD5B9AB3585}"/>
              </a:ext>
            </a:extLst>
          </p:cNvPr>
          <p:cNvPicPr>
            <a:picLocks noGrp="1" noChangeAspect="1"/>
          </p:cNvPicPr>
          <p:nvPr>
            <p:ph idx="1"/>
          </p:nvPr>
        </p:nvPicPr>
        <p:blipFill>
          <a:blip r:embed="rId3"/>
          <a:stretch>
            <a:fillRect/>
          </a:stretch>
        </p:blipFill>
        <p:spPr>
          <a:xfrm>
            <a:off x="689741" y="660564"/>
            <a:ext cx="10812517" cy="5536872"/>
          </a:xfrm>
          <a:ln w="38100">
            <a:solidFill>
              <a:schemeClr val="tx1"/>
            </a:solidFill>
          </a:ln>
        </p:spPr>
      </p:pic>
    </p:spTree>
    <p:extLst>
      <p:ext uri="{BB962C8B-B14F-4D97-AF65-F5344CB8AC3E}">
        <p14:creationId xmlns:p14="http://schemas.microsoft.com/office/powerpoint/2010/main" val="969453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2D4E2-B7BE-B9D8-825C-59050E959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1902B-B3DC-0C35-449F-477286BE5187}"/>
              </a:ext>
            </a:extLst>
          </p:cNvPr>
          <p:cNvSpPr>
            <a:spLocks noGrp="1"/>
          </p:cNvSpPr>
          <p:nvPr>
            <p:ph type="title"/>
          </p:nvPr>
        </p:nvSpPr>
        <p:spPr>
          <a:xfrm>
            <a:off x="838200" y="365126"/>
            <a:ext cx="10515600" cy="580806"/>
          </a:xfrm>
        </p:spPr>
        <p:txBody>
          <a:bodyPr>
            <a:normAutofit fontScale="90000"/>
          </a:bodyPr>
          <a:lstStyle/>
          <a:p>
            <a:r>
              <a:rPr lang="en-US" dirty="0"/>
              <a:t>142. Deployment Errors</a:t>
            </a:r>
            <a:endParaRPr lang="en-ZA" dirty="0"/>
          </a:p>
        </p:txBody>
      </p:sp>
      <p:pic>
        <p:nvPicPr>
          <p:cNvPr id="5" name="Content Placeholder 4">
            <a:extLst>
              <a:ext uri="{FF2B5EF4-FFF2-40B4-BE49-F238E27FC236}">
                <a16:creationId xmlns:a16="http://schemas.microsoft.com/office/drawing/2014/main" id="{1BED771B-449E-ABB5-EF2C-10623EECF34C}"/>
              </a:ext>
            </a:extLst>
          </p:cNvPr>
          <p:cNvPicPr>
            <a:picLocks noGrp="1" noChangeAspect="1"/>
          </p:cNvPicPr>
          <p:nvPr>
            <p:ph idx="1"/>
          </p:nvPr>
        </p:nvPicPr>
        <p:blipFill>
          <a:blip r:embed="rId3"/>
          <a:stretch>
            <a:fillRect/>
          </a:stretch>
        </p:blipFill>
        <p:spPr>
          <a:xfrm>
            <a:off x="1098293" y="1230573"/>
            <a:ext cx="9969100" cy="2363965"/>
          </a:xfrm>
          <a:ln w="28575">
            <a:solidFill>
              <a:schemeClr val="tx1"/>
            </a:solidFill>
          </a:ln>
        </p:spPr>
      </p:pic>
      <p:pic>
        <p:nvPicPr>
          <p:cNvPr id="7" name="Picture 6">
            <a:extLst>
              <a:ext uri="{FF2B5EF4-FFF2-40B4-BE49-F238E27FC236}">
                <a16:creationId xmlns:a16="http://schemas.microsoft.com/office/drawing/2014/main" id="{513BAFF2-69F8-BB0E-062B-AAF2B7F80F4E}"/>
              </a:ext>
            </a:extLst>
          </p:cNvPr>
          <p:cNvPicPr>
            <a:picLocks noChangeAspect="1"/>
          </p:cNvPicPr>
          <p:nvPr/>
        </p:nvPicPr>
        <p:blipFill>
          <a:blip r:embed="rId4"/>
          <a:stretch>
            <a:fillRect/>
          </a:stretch>
        </p:blipFill>
        <p:spPr>
          <a:xfrm>
            <a:off x="950391" y="3784586"/>
            <a:ext cx="5372376" cy="2648086"/>
          </a:xfrm>
          <a:prstGeom prst="rect">
            <a:avLst/>
          </a:prstGeom>
        </p:spPr>
      </p:pic>
    </p:spTree>
    <p:extLst>
      <p:ext uri="{BB962C8B-B14F-4D97-AF65-F5344CB8AC3E}">
        <p14:creationId xmlns:p14="http://schemas.microsoft.com/office/powerpoint/2010/main" val="878870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AC71B-6D44-609C-177E-DE2B4E4A3D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7E3F3-BF8F-9A30-DAF8-3A6D7FDD80BE}"/>
              </a:ext>
            </a:extLst>
          </p:cNvPr>
          <p:cNvSpPr>
            <a:spLocks noGrp="1"/>
          </p:cNvSpPr>
          <p:nvPr>
            <p:ph type="title"/>
          </p:nvPr>
        </p:nvSpPr>
        <p:spPr/>
        <p:txBody>
          <a:bodyPr/>
          <a:lstStyle/>
          <a:p>
            <a:endParaRPr lang="en-ZA" dirty="0"/>
          </a:p>
        </p:txBody>
      </p:sp>
      <p:pic>
        <p:nvPicPr>
          <p:cNvPr id="5" name="Content Placeholder 4">
            <a:extLst>
              <a:ext uri="{FF2B5EF4-FFF2-40B4-BE49-F238E27FC236}">
                <a16:creationId xmlns:a16="http://schemas.microsoft.com/office/drawing/2014/main" id="{3EAC59F0-225D-E7F7-FBDC-B201E8A09582}"/>
              </a:ext>
            </a:extLst>
          </p:cNvPr>
          <p:cNvPicPr>
            <a:picLocks noGrp="1" noChangeAspect="1"/>
          </p:cNvPicPr>
          <p:nvPr>
            <p:ph idx="1"/>
          </p:nvPr>
        </p:nvPicPr>
        <p:blipFill>
          <a:blip r:embed="rId3"/>
          <a:stretch>
            <a:fillRect/>
          </a:stretch>
        </p:blipFill>
        <p:spPr>
          <a:xfrm>
            <a:off x="638877" y="365125"/>
            <a:ext cx="4267160" cy="2309546"/>
          </a:xfrm>
        </p:spPr>
      </p:pic>
      <p:pic>
        <p:nvPicPr>
          <p:cNvPr id="7" name="Picture 6">
            <a:extLst>
              <a:ext uri="{FF2B5EF4-FFF2-40B4-BE49-F238E27FC236}">
                <a16:creationId xmlns:a16="http://schemas.microsoft.com/office/drawing/2014/main" id="{CEE219C2-3FF1-7CFB-F13C-FF7E6AC6850F}"/>
              </a:ext>
            </a:extLst>
          </p:cNvPr>
          <p:cNvPicPr>
            <a:picLocks noChangeAspect="1"/>
          </p:cNvPicPr>
          <p:nvPr/>
        </p:nvPicPr>
        <p:blipFill>
          <a:blip r:embed="rId4"/>
          <a:stretch>
            <a:fillRect/>
          </a:stretch>
        </p:blipFill>
        <p:spPr>
          <a:xfrm>
            <a:off x="461661" y="3429000"/>
            <a:ext cx="5372376" cy="2140060"/>
          </a:xfrm>
          <a:prstGeom prst="rect">
            <a:avLst/>
          </a:prstGeom>
        </p:spPr>
      </p:pic>
      <p:pic>
        <p:nvPicPr>
          <p:cNvPr id="9" name="Picture 8">
            <a:extLst>
              <a:ext uri="{FF2B5EF4-FFF2-40B4-BE49-F238E27FC236}">
                <a16:creationId xmlns:a16="http://schemas.microsoft.com/office/drawing/2014/main" id="{0D7B8F84-B053-CCEE-5FCE-C2C59D885411}"/>
              </a:ext>
            </a:extLst>
          </p:cNvPr>
          <p:cNvPicPr>
            <a:picLocks noChangeAspect="1"/>
          </p:cNvPicPr>
          <p:nvPr/>
        </p:nvPicPr>
        <p:blipFill>
          <a:blip r:embed="rId5"/>
          <a:stretch>
            <a:fillRect/>
          </a:stretch>
        </p:blipFill>
        <p:spPr>
          <a:xfrm>
            <a:off x="6512734" y="534928"/>
            <a:ext cx="3924038" cy="5424438"/>
          </a:xfrm>
          <a:prstGeom prst="rect">
            <a:avLst/>
          </a:prstGeom>
        </p:spPr>
      </p:pic>
    </p:spTree>
    <p:extLst>
      <p:ext uri="{BB962C8B-B14F-4D97-AF65-F5344CB8AC3E}">
        <p14:creationId xmlns:p14="http://schemas.microsoft.com/office/powerpoint/2010/main" val="4083638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C19DB-855F-F4D3-AB2E-658C4AA94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FED08-8AFA-3F0E-C64F-056684AE129F}"/>
              </a:ext>
            </a:extLst>
          </p:cNvPr>
          <p:cNvSpPr>
            <a:spLocks noGrp="1"/>
          </p:cNvSpPr>
          <p:nvPr>
            <p:ph type="title"/>
          </p:nvPr>
        </p:nvSpPr>
        <p:spPr/>
        <p:txBody>
          <a:bodyPr/>
          <a:lstStyle/>
          <a:p>
            <a:r>
              <a:rPr lang="en-US" dirty="0"/>
              <a:t>Some artifacts will result in errors </a:t>
            </a:r>
            <a:endParaRPr lang="en-ZA" dirty="0"/>
          </a:p>
        </p:txBody>
      </p:sp>
      <p:pic>
        <p:nvPicPr>
          <p:cNvPr id="5" name="Content Placeholder 4">
            <a:extLst>
              <a:ext uri="{FF2B5EF4-FFF2-40B4-BE49-F238E27FC236}">
                <a16:creationId xmlns:a16="http://schemas.microsoft.com/office/drawing/2014/main" id="{E8B43F7A-D80C-B465-953D-2C9F43757304}"/>
              </a:ext>
            </a:extLst>
          </p:cNvPr>
          <p:cNvPicPr>
            <a:picLocks noGrp="1" noChangeAspect="1"/>
          </p:cNvPicPr>
          <p:nvPr>
            <p:ph idx="1"/>
          </p:nvPr>
        </p:nvPicPr>
        <p:blipFill>
          <a:blip r:embed="rId2"/>
          <a:stretch>
            <a:fillRect/>
          </a:stretch>
        </p:blipFill>
        <p:spPr>
          <a:xfrm>
            <a:off x="3273280" y="2683601"/>
            <a:ext cx="5645440" cy="2635385"/>
          </a:xfrm>
        </p:spPr>
      </p:pic>
    </p:spTree>
    <p:extLst>
      <p:ext uri="{BB962C8B-B14F-4D97-AF65-F5344CB8AC3E}">
        <p14:creationId xmlns:p14="http://schemas.microsoft.com/office/powerpoint/2010/main" val="2288329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1258</Words>
  <Application>Microsoft Office PowerPoint</Application>
  <PresentationFormat>Widescreen</PresentationFormat>
  <Paragraphs>107</Paragraphs>
  <Slides>24</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Patrt 3 b</vt:lpstr>
      <vt:lpstr>137, Feature Branches </vt:lpstr>
      <vt:lpstr>Go back to main wspace and see the notebook now in your Gir Repo FabricCIDEV</vt:lpstr>
      <vt:lpstr>Branches All..</vt:lpstr>
      <vt:lpstr>Clickj on Approve on the Right </vt:lpstr>
      <vt:lpstr>Now he proves its done…</vt:lpstr>
      <vt:lpstr>Notebook appears in the workspace</vt:lpstr>
      <vt:lpstr>Now another developer ..Go to Source Control, Brack out to new Workspace </vt:lpstr>
      <vt:lpstr>Next is to go to CD part ..DEV – top TEST and THEN PROD ..The deployment </vt:lpstr>
      <vt:lpstr>138. Continuous Deployment/Delivery. </vt:lpstr>
      <vt:lpstr>139.Deployment Pipelines Setup</vt:lpstr>
      <vt:lpstr>Deployment Pipeline</vt:lpstr>
      <vt:lpstr>Result is the 3 environment </vt:lpstr>
      <vt:lpstr>Now we synch the changes to each of the workspaces </vt:lpstr>
      <vt:lpstr>Message Deploy to this stage </vt:lpstr>
      <vt:lpstr>Go to Prod and deploy to Prod</vt:lpstr>
      <vt:lpstr>141..End to End Deployment</vt:lpstr>
      <vt:lpstr>Go Back to the Pipeline to Dev and Assign the wspace to the block. By drop down </vt:lpstr>
      <vt:lpstr>Result of deployment ..Unsupported etc</vt:lpstr>
      <vt:lpstr>PowerPoint Presentation</vt:lpstr>
      <vt:lpstr>PowerPoint Presentation</vt:lpstr>
      <vt:lpstr>142. Deployment Errors</vt:lpstr>
      <vt:lpstr>PowerPoint Presentation</vt:lpstr>
      <vt:lpstr>Some artifacts will result in errors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Graham Bortz</dc:creator>
  <cp:lastModifiedBy>Graham Bortz</cp:lastModifiedBy>
  <cp:revision>2</cp:revision>
  <dcterms:created xsi:type="dcterms:W3CDTF">2025-11-26T05:46:16Z</dcterms:created>
  <dcterms:modified xsi:type="dcterms:W3CDTF">2025-11-26T05:47:35Z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93fc94-2a04-4870-acee-9c0cd4b7d590_Enabled">
    <vt:lpwstr>true</vt:lpwstr>
  </property>
  <property fmtid="{D5CDD505-2E9C-101B-9397-08002B2CF9AE}" pid="3" name="MSIP_Label_ce93fc94-2a04-4870-acee-9c0cd4b7d590_SetDate">
    <vt:lpwstr>2025-11-26T05:46:16Z</vt:lpwstr>
  </property>
  <property fmtid="{D5CDD505-2E9C-101B-9397-08002B2CF9AE}" pid="4" name="MSIP_Label_ce93fc94-2a04-4870-acee-9c0cd4b7d590_Method">
    <vt:lpwstr>Standard</vt:lpwstr>
  </property>
  <property fmtid="{D5CDD505-2E9C-101B-9397-08002B2CF9AE}" pid="5" name="MSIP_Label_ce93fc94-2a04-4870-acee-9c0cd4b7d590_Name">
    <vt:lpwstr>Internal</vt:lpwstr>
  </property>
  <property fmtid="{D5CDD505-2E9C-101B-9397-08002B2CF9AE}" pid="6" name="MSIP_Label_ce93fc94-2a04-4870-acee-9c0cd4b7d590_SiteId">
    <vt:lpwstr>cffa6640-7572-4f05-9c64-cd88068c19d4</vt:lpwstr>
  </property>
  <property fmtid="{D5CDD505-2E9C-101B-9397-08002B2CF9AE}" pid="7" name="MSIP_Label_ce93fc94-2a04-4870-acee-9c0cd4b7d590_ActionId">
    <vt:lpwstr>8f637942-d106-4635-8ac9-a01164ca41fe</vt:lpwstr>
  </property>
  <property fmtid="{D5CDD505-2E9C-101B-9397-08002B2CF9AE}" pid="8" name="MSIP_Label_ce93fc94-2a04-4870-acee-9c0cd4b7d590_ContentBits">
    <vt:lpwstr>0</vt:lpwstr>
  </property>
  <property fmtid="{D5CDD505-2E9C-101B-9397-08002B2CF9AE}" pid="9" name="MSIP_Label_ce93fc94-2a04-4870-acee-9c0cd4b7d590_Tag">
    <vt:lpwstr>10, 3, 0, 1</vt:lpwstr>
  </property>
</Properties>
</file>